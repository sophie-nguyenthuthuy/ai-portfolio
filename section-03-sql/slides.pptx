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schemas.openxmlformats.org/officeDocument/2006/relationships/slide" Target="slides/slide73.xml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79" Type="http://schemas.openxmlformats.org/officeDocument/2006/relationships/slide" Target="slides/slide75.xml"/><Relationship Id="rId34" Type="http://schemas.openxmlformats.org/officeDocument/2006/relationships/slide" Target="slides/slide30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3 — SQL. Đây là kỹ năng nền tảng mà mọi vai trò Data đều cần.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Dữ liệu doanh nghiệp 90% nằm trong database, không phải file CSV.</a:t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Chuẩn cho dữ liệu có cấu trúc và các giao dịch.</a:t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Tốt cho dữ liệu phi cấu trúc và mở rộng ngang.</a:t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Không có cái nào 'tốt hơn' — tuỳ bài toán.</a:t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SQL là kỹ năng nhà tuyển dụng test nhiều nhất.</a:t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Giờ ta cài database để thực hành thật.</a:t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Học SQL phải có database để gõ thật.</a:t>
            </a:r>
            <a:endParaRPr/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Khoá dùng DuckDB cho nhanh + PostgreSQL cho thực tế.</a:t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Không cần server — tuyệt cho người mới.</a:t>
            </a:r>
            <a:endParaRPr/>
          </a:p>
        </p:txBody>
      </p:sp>
      <p:sp>
        <p:nvSpPr>
          <p:cNvPr id="214" name="Google Shape;2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Đây là môi trường giống doanh nghiệp.</a:t>
            </a:r>
            <a:endParaRPr/>
          </a:p>
        </p:txBody>
      </p:sp>
      <p:sp>
        <p:nvSpPr>
          <p:cNvPr id="227" name="Google Shape;22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Dùng dataset này xuyên suốt cả section.</a:t>
            </a:r>
            <a:endParaRPr/>
          </a:p>
        </p:txBody>
      </p:sp>
      <p:sp>
        <p:nvSpPr>
          <p:cNvPr id="246" name="Google Shape;24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Giờ ta viết câu truy vấn đầu tiên.</a:t>
            </a:r>
            <a:endParaRPr/>
          </a:p>
        </p:txBody>
      </p:sp>
      <p:sp>
        <p:nvSpPr>
          <p:cNvPr id="262" name="Google Shape;26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từ khoá này là 70% công việc SQL hằng ngày.</a:t>
            </a:r>
            <a:endParaRPr/>
          </a:p>
        </p:txBody>
      </p:sp>
      <p:sp>
        <p:nvSpPr>
          <p:cNvPr id="279" name="Google Shape;27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Tránh SELECT * trong production.</a:t>
            </a:r>
            <a:endParaRPr/>
          </a:p>
        </p:txBody>
      </p:sp>
      <p:sp>
        <p:nvSpPr>
          <p:cNvPr id="293" name="Google Shape;29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LIKE kết hợp ký tự % để tìm gần đúng.</a:t>
            </a:r>
            <a:endParaRPr/>
          </a:p>
        </p:txBody>
      </p:sp>
      <p:sp>
        <p:nvSpPr>
          <p:cNvPr id="308" name="Google Shape;30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Hay kết hợp với LIMIT để lấy top.</a:t>
            </a:r>
            <a:endParaRPr/>
          </a:p>
        </p:txBody>
      </p:sp>
      <p:sp>
        <p:nvSpPr>
          <p:cNvPr id="325" name="Google Shape;32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Quan trọng khi bảng có hàng triệu dòng.</a:t>
            </a:r>
            <a:endParaRPr/>
          </a:p>
        </p:txBody>
      </p:sp>
      <p:sp>
        <p:nvSpPr>
          <p:cNvPr id="347" name="Google Shape;34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Giờ ta tính toán trên nhóm dữ liệu.</a:t>
            </a:r>
            <a:endParaRPr/>
          </a:p>
        </p:txBody>
      </p:sp>
      <p:sp>
        <p:nvSpPr>
          <p:cNvPr id="363" name="Google Shape;36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Đây là nơi SQL trả lời câu hỏi kinh doanh.</a:t>
            </a:r>
            <a:endParaRPr/>
          </a:p>
        </p:txBody>
      </p:sp>
      <p:sp>
        <p:nvSpPr>
          <p:cNvPr id="382" name="Google Shape;38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Gộp nhiều dòng thành một giá trị duy nhất.</a:t>
            </a:r>
            <a:endParaRPr/>
          </a:p>
        </p:txBody>
      </p:sp>
      <p:sp>
        <p:nvSpPr>
          <p:cNvPr id="396" name="Google Shape;39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Giống groupby trong Pandas.</a:t>
            </a:r>
            <a:endParaRPr/>
          </a:p>
        </p:txBody>
      </p:sp>
      <p:sp>
        <p:nvSpPr>
          <p:cNvPr id="413" name="Google Shape;41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⚠ Câu hỏi phỏng vấn kinh điển.</a:t>
            </a:r>
            <a:endParaRPr/>
          </a:p>
        </p:txBody>
      </p:sp>
      <p:sp>
        <p:nvSpPr>
          <p:cNvPr id="435" name="Google Shape;43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Liên hệ với phân tích bán lẻ.</a:t>
            </a:r>
            <a:endParaRPr/>
          </a:p>
        </p:txBody>
      </p:sp>
      <p:sp>
        <p:nvSpPr>
          <p:cNvPr id="457" name="Google Shape;45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Giờ ta nối nhiều bảng lại với nhau.</a:t>
            </a:r>
            <a:endParaRPr/>
          </a:p>
        </p:txBody>
      </p:sp>
      <p:sp>
        <p:nvSpPr>
          <p:cNvPr id="472" name="Google Shape;47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Dữ liệu thật nằm rải ở nhiều bảng — JOIN gom lại.</a:t>
            </a:r>
            <a:endParaRPr/>
          </a:p>
        </p:txBody>
      </p:sp>
      <p:sp>
        <p:nvSpPr>
          <p:cNvPr id="489" name="Google Shape;48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Khoá ngoại (foreign key) nối các bảng.</a:t>
            </a:r>
            <a:endParaRPr/>
          </a:p>
        </p:txBody>
      </p:sp>
      <p:sp>
        <p:nvSpPr>
          <p:cNvPr id="503" name="Google Shape;50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JOIN mặc định, dùng nhiều nhất.</a:t>
            </a:r>
            <a:endParaRPr/>
          </a:p>
        </p:txBody>
      </p:sp>
      <p:sp>
        <p:nvSpPr>
          <p:cNvPr id="534" name="Google Shape;53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LEFT JOIN giúp tìm khách hàng chưa mua hàng.</a:t>
            </a:r>
            <a:endParaRPr/>
          </a:p>
        </p:txBody>
      </p:sp>
      <p:sp>
        <p:nvSpPr>
          <p:cNvPr id="548" name="Google Shape;54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Self join cho quan hệ phân cấp (nhân viên – quản lý).</a:t>
            </a:r>
            <a:endParaRPr/>
          </a:p>
        </p:txBody>
      </p:sp>
      <p:sp>
        <p:nvSpPr>
          <p:cNvPr id="564" name="Google Shape;564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Giờ ta lồng truy vấn vào nhau.</a:t>
            </a:r>
            <a:endParaRPr/>
          </a:p>
        </p:txBody>
      </p:sp>
      <p:sp>
        <p:nvSpPr>
          <p:cNvPr id="580" name="Google Shape;58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Khi một câu SELECT không đủ, ta lồng chúng.</a:t>
            </a:r>
            <a:endParaRPr/>
          </a:p>
        </p:txBody>
      </p:sp>
      <p:sp>
        <p:nvSpPr>
          <p:cNvPr id="601" name="Google Shape;60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Ví dụ: khách chi tiêu trên mức trung bình.</a:t>
            </a:r>
            <a:endParaRPr/>
          </a:p>
        </p:txBody>
      </p:sp>
      <p:sp>
        <p:nvSpPr>
          <p:cNvPr id="615" name="Google Shape;61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Mạnh nhưng chậm — lưu ý hiệu năng.</a:t>
            </a:r>
            <a:endParaRPr/>
          </a:p>
        </p:txBody>
      </p:sp>
      <p:sp>
        <p:nvSpPr>
          <p:cNvPr id="628" name="Google Shape;62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Dễ đọc hơn subquery lồng nhiều tầng.</a:t>
            </a:r>
            <a:endParaRPr/>
          </a:p>
        </p:txBody>
      </p:sp>
      <p:sp>
        <p:nvSpPr>
          <p:cNvPr id="643" name="Google Shape;64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Dùng cho sơ đồ tổ chức, danh mục lồng nhau.</a:t>
            </a:r>
            <a:endParaRPr/>
          </a:p>
        </p:txBody>
      </p:sp>
      <p:sp>
        <p:nvSpPr>
          <p:cNvPr id="656" name="Google Shape;656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Giờ tới phần phân biệt junior với senior — window function.</a:t>
            </a:r>
            <a:endParaRPr/>
          </a:p>
        </p:txBody>
      </p:sp>
      <p:sp>
        <p:nvSpPr>
          <p:cNvPr id="676" name="Google Shape;676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Biết cái này, bạn vượt 80% người học SQL.</a:t>
            </a:r>
            <a:endParaRPr/>
          </a:p>
        </p:txBody>
      </p:sp>
      <p:sp>
        <p:nvSpPr>
          <p:cNvPr id="693" name="Google Shape;693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Điểm khác biệt cốt lõi so với GROUP BY.</a:t>
            </a:r>
            <a:endParaRPr/>
          </a:p>
        </p:txBody>
      </p:sp>
      <p:sp>
        <p:nvSpPr>
          <p:cNvPr id="707" name="Google Shape;707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PARTITION giống GROUP BY nhưng giữ nguyên dòng.</a:t>
            </a:r>
            <a:endParaRPr/>
          </a:p>
        </p:txBody>
      </p:sp>
      <p:sp>
        <p:nvSpPr>
          <p:cNvPr id="732" name="Google Shape;732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Lấy Top N mỗi nhóm — bài toán cực phổ biến.</a:t>
            </a:r>
            <a:endParaRPr/>
          </a:p>
        </p:txBody>
      </p:sp>
      <p:sp>
        <p:nvSpPr>
          <p:cNvPr id="747" name="Google Shape;747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Cốt lõi cho phân tích chuỗi thời gian bằng SQL.</a:t>
            </a:r>
            <a:endParaRPr/>
          </a:p>
        </p:txBody>
      </p:sp>
      <p:sp>
        <p:nvSpPr>
          <p:cNvPr id="792" name="Google Shape;792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6" name="Google Shape;80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Dùng cho biểu đồ tích luỹ.</a:t>
            </a:r>
            <a:endParaRPr/>
          </a:p>
        </p:txBody>
      </p:sp>
      <p:sp>
        <p:nvSpPr>
          <p:cNvPr id="807" name="Google Shape;807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Giờ ta làm truy vấn chạy nhanh hơn.</a:t>
            </a:r>
            <a:endParaRPr/>
          </a:p>
        </p:txBody>
      </p:sp>
      <p:sp>
        <p:nvSpPr>
          <p:cNvPr id="820" name="Google Shape;820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Truy vấn chậm trên triệu dòng = thiếu index.</a:t>
            </a:r>
            <a:endParaRPr/>
          </a:p>
        </p:txBody>
      </p:sp>
      <p:sp>
        <p:nvSpPr>
          <p:cNvPr id="839" name="Google Shape;839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Không index = đọc từng dòng (full scan).</a:t>
            </a:r>
            <a:endParaRPr/>
          </a:p>
        </p:txBody>
      </p:sp>
      <p:sp>
        <p:nvSpPr>
          <p:cNvPr id="853" name="Google Shape;853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0" name="Google Shape;87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⚠ Câu hỏi phỏng vấn: index có nhược điểm gì?</a:t>
            </a:r>
            <a:endParaRPr/>
          </a:p>
        </p:txBody>
      </p:sp>
      <p:sp>
        <p:nvSpPr>
          <p:cNvPr id="871" name="Google Shape;871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4" name="Google Shape;904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Công cụ debug hiệu năng số 1.</a:t>
            </a:r>
            <a:endParaRPr/>
          </a:p>
        </p:txBody>
      </p:sp>
      <p:sp>
        <p:nvSpPr>
          <p:cNvPr id="905" name="Google Shape;905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Vài mẹo đơn giản giải quyết 80% truy vấn chậm.</a:t>
            </a:r>
            <a:endParaRPr/>
          </a:p>
        </p:txBody>
      </p:sp>
      <p:sp>
        <p:nvSpPr>
          <p:cNvPr id="918" name="Google Shape;918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Giờ ta tự động hoá logic ngay trong database.</a:t>
            </a:r>
            <a:endParaRPr/>
          </a:p>
        </p:txBody>
      </p:sp>
      <p:sp>
        <p:nvSpPr>
          <p:cNvPr id="935" name="Google Shape;935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1" name="Google Shape;951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không chỉ chứa dữ liệu — nó còn chạy logic.</a:t>
            </a:r>
            <a:endParaRPr/>
          </a:p>
        </p:txBody>
      </p:sp>
      <p:sp>
        <p:nvSpPr>
          <p:cNvPr id="952" name="Google Shape;952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5" name="Google Shape;965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Dùng cho các báo cáo lặp lại.</a:t>
            </a:r>
            <a:endParaRPr/>
          </a:p>
        </p:txBody>
      </p:sp>
      <p:sp>
        <p:nvSpPr>
          <p:cNvPr id="966" name="Google Shape;966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" name="Google Shape;980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Đóng gói nghiệp vụ phức tạp.</a:t>
            </a:r>
            <a:endParaRPr/>
          </a:p>
        </p:txBody>
      </p:sp>
      <p:sp>
        <p:nvSpPr>
          <p:cNvPr id="981" name="Google Shape;981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" name="Google Shape;993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Mạnh nhưng dùng cẩn thận, khó debug.</a:t>
            </a:r>
            <a:endParaRPr/>
          </a:p>
        </p:txBody>
      </p:sp>
      <p:sp>
        <p:nvSpPr>
          <p:cNvPr id="994" name="Google Shape;994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5" name="Google Shape;1015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Hiểu để đọc được hệ thống doanh nghiệp.</a:t>
            </a:r>
            <a:endParaRPr/>
          </a:p>
        </p:txBody>
      </p:sp>
      <p:sp>
        <p:nvSpPr>
          <p:cNvPr id="1016" name="Google Shape;1016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0" name="Google Shape;104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Giờ ta phân biệt hai thế giới của dữ liệu.</a:t>
            </a:r>
            <a:endParaRPr/>
          </a:p>
        </p:txBody>
      </p:sp>
      <p:sp>
        <p:nvSpPr>
          <p:cNvPr id="1041" name="Google Shape;1041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7" name="Google Shape;1057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Hiểu cái này = hiểu cách dữ liệu chảy trong doanh nghiệp.</a:t>
            </a:r>
            <a:endParaRPr/>
          </a:p>
        </p:txBody>
      </p:sp>
      <p:sp>
        <p:nvSpPr>
          <p:cNvPr id="1058" name="Google Shape;1058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1" name="Google Shape;1071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Tối ưu cho ghi và cập nhật.</a:t>
            </a:r>
            <a:endParaRPr/>
          </a:p>
        </p:txBody>
      </p:sp>
      <p:sp>
        <p:nvSpPr>
          <p:cNvPr id="1072" name="Google Shape;1072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0" name="Google Shape;1090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Tối ưu cho đọc và báo cáo.</a:t>
            </a:r>
            <a:endParaRPr/>
          </a:p>
        </p:txBody>
      </p:sp>
      <p:sp>
        <p:nvSpPr>
          <p:cNvPr id="1091" name="Google Shape;1091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8" name="Google Shape;1108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Nền tảng thiết kế data warehouse.</a:t>
            </a:r>
            <a:endParaRPr/>
          </a:p>
        </p:txBody>
      </p:sp>
      <p:sp>
        <p:nvSpPr>
          <p:cNvPr id="1109" name="Google Shape;1109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2" name="Google Shape;1132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Star phổ biến nhất trong thực tế.</a:t>
            </a:r>
            <a:endParaRPr/>
          </a:p>
        </p:txBody>
      </p:sp>
      <p:sp>
        <p:nvSpPr>
          <p:cNvPr id="1133" name="Google Shape;1133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4" name="Google Shape;1164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Giờ ta đưa dữ liệu SQL vào Python để phân tích.</a:t>
            </a:r>
            <a:endParaRPr/>
          </a:p>
        </p:txBody>
      </p:sp>
      <p:sp>
        <p:nvSpPr>
          <p:cNvPr id="1165" name="Google Shape;1165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1" name="Google Shape;1181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Đây là cầu nối thực tế: lấy dữ liệu từ DB vào Pandas.</a:t>
            </a:r>
            <a:endParaRPr/>
          </a:p>
        </p:txBody>
      </p:sp>
      <p:sp>
        <p:nvSpPr>
          <p:cNvPr id="1182" name="Google Shape;1182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5" name="Google Shape;1195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Quy trình hằng ngày của Data Analyst / Data Scientist.</a:t>
            </a:r>
            <a:endParaRPr/>
          </a:p>
        </p:txBody>
      </p:sp>
      <p:sp>
        <p:nvSpPr>
          <p:cNvPr id="1196" name="Google Shape;1196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7" name="Google Shape;1217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SQLAlchemy linh hoạt, dùng nhiều nhất.</a:t>
            </a:r>
            <a:endParaRPr/>
          </a:p>
        </p:txBody>
      </p:sp>
      <p:sp>
        <p:nvSpPr>
          <p:cNvPr id="1218" name="Google Shape;1218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2" name="Google Shape;1232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Kết hợp sức mạnh của SQL với Pandas.</a:t>
            </a:r>
            <a:endParaRPr/>
          </a:p>
        </p:txBody>
      </p:sp>
      <p:sp>
        <p:nvSpPr>
          <p:cNvPr id="1233" name="Google Shape;1233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5" name="Google Shape;1245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Nhấn mạnh an toàn — quan trọng trong production.</a:t>
            </a:r>
            <a:endParaRPr/>
          </a:p>
        </p:txBody>
      </p:sp>
      <p:sp>
        <p:nvSpPr>
          <p:cNvPr id="1246" name="Google Shape;1246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0" name="Google Shape;1260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Giờ ráp tất cả vào một dự án SQL thật.</a:t>
            </a:r>
            <a:endParaRPr/>
          </a:p>
        </p:txBody>
      </p:sp>
      <p:sp>
        <p:nvSpPr>
          <p:cNvPr id="1261" name="Google Shape;1261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7" name="Google Shape;1277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Ráp mọi kỹ năng SQL vào một bài toán thật.</a:t>
            </a:r>
            <a:endParaRPr/>
          </a:p>
        </p:txBody>
      </p:sp>
      <p:sp>
        <p:nvSpPr>
          <p:cNvPr id="1278" name="Google Shape;1278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9" name="Google Shape;1289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Bối cảnh ngân hàng — quen thuộc tại Việt Nam.</a:t>
            </a:r>
            <a:endParaRPr/>
          </a:p>
        </p:txBody>
      </p:sp>
      <p:sp>
        <p:nvSpPr>
          <p:cNvPr id="1290" name="Google Shape;1290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6" name="Google Shape;1306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Chuẩn hoá để tránh trùng lặp dữ liệu.</a:t>
            </a:r>
            <a:endParaRPr/>
          </a:p>
        </p:txBody>
      </p:sp>
      <p:sp>
        <p:nvSpPr>
          <p:cNvPr id="1307" name="Google Shape;1307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4" name="Google Shape;1344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Áp dụng SELECT / GROUP BY đã học.</a:t>
            </a:r>
            <a:endParaRPr/>
          </a:p>
        </p:txBody>
      </p:sp>
      <p:sp>
        <p:nvSpPr>
          <p:cNvPr id="1345" name="Google Shape;1345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7" name="Google Shape;1357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Đây là phần khiến CV của bạn nổi bật.</a:t>
            </a:r>
            <a:endParaRPr/>
          </a:p>
        </p:txBody>
      </p:sp>
      <p:sp>
        <p:nvSpPr>
          <p:cNvPr id="1358" name="Google Shape;1358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0" name="Google Shape;1370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Liên hệ tới Capstone fraud detection ở Section sau.</a:t>
            </a:r>
            <a:endParaRPr/>
          </a:p>
        </p:txBody>
      </p:sp>
      <p:sp>
        <p:nvSpPr>
          <p:cNvPr id="1371" name="Google Shape;1371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3" name="Google Shape;1383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Có Python + SQL rồi. Giờ ta xây nền toán cho ML!</a:t>
            </a:r>
            <a:endParaRPr/>
          </a:p>
        </p:txBody>
      </p:sp>
      <p:sp>
        <p:nvSpPr>
          <p:cNvPr id="1384" name="Google Shape;1384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66767" y="876267"/>
            <a:ext cx="147038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SECTION 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066767" y="2828313"/>
            <a:ext cx="16639101" cy="14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2750"/>
              <a:buFont typeface="Courier New"/>
              <a:buNone/>
            </a:pPr>
            <a:r>
              <a:rPr b="1" i="0" lang="en-US" sz="1275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SQL</a:t>
            </a:r>
            <a:endParaRPr b="0" i="0" sz="1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066767" y="4609373"/>
            <a:ext cx="9669465" cy="6781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Cơ sở dữ liệu &amp; truy vấn dữ liệu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066767" y="5943534"/>
            <a:ext cx="9274140" cy="944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Viết truy vấn từ cơ bản đến nâng cao, phân biệt OLTP/OLAP, thiết kế schema và kết nối Python với cơ sở dữ liệu.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066767" y="8900749"/>
            <a:ext cx="2238954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338759" y="9039391"/>
            <a:ext cx="1771171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12 LECTURES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458104" y="8900749"/>
            <a:ext cx="1686553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3730096" y="9039391"/>
            <a:ext cx="1218770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~115 phút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297041" y="8900749"/>
            <a:ext cx="3737240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569033" y="9039391"/>
            <a:ext cx="3305374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Mini-Project cuối section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3730967" y="9601234"/>
            <a:ext cx="359497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Mastering AI &amp; Data Science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1066767" y="3123654"/>
            <a:ext cx="147038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LECTURE 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2613339" y="3245859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2822856" y="3131592"/>
            <a:ext cx="19528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66767" y="3749063"/>
            <a:ext cx="7927121" cy="25582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CSDL quan hệ vs NoSQL — khi nào dùng cái nào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066767" y="6805249"/>
            <a:ext cx="7419295" cy="4914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Cơ sở dữ liệu — nơi dữ liệu thật sống.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9525001" y="2428875"/>
            <a:ext cx="7696234" cy="5524500"/>
          </a:xfrm>
          <a:prstGeom prst="roundRect">
            <a:avLst>
              <a:gd fmla="val 3103" name="adj"/>
            </a:avLst>
          </a:prstGeom>
          <a:solidFill>
            <a:srgbClr val="1B1B25"/>
          </a:solidFill>
          <a:ln cap="flat" cmpd="sng" w="10575">
            <a:solidFill>
              <a:srgbClr val="FFFFFF">
                <a:alpha val="2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2713246" y="4869408"/>
            <a:ext cx="131974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AI IMAGE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091693" y="5242967"/>
            <a:ext cx="4562766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A6A4B6"/>
                </a:solidFill>
                <a:latin typeface="Courier New"/>
                <a:ea typeface="Courier New"/>
                <a:cs typeface="Courier New"/>
                <a:sym typeface="Courier New"/>
              </a:rPr>
              <a:t>Kho dữ liệu với nhiều ngăn chứa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5591153" y="9601234"/>
            <a:ext cx="17062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S3 · Lecture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1707555" y="884204"/>
            <a:ext cx="28387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CSDL quan hệ vs NoSQL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Cơ sở dữ liệu quan hệ (RDBMS)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1066767" y="4654931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1438176" y="4561252"/>
            <a:ext cx="2489862" cy="397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Dữ liệu lưu dạng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941796" y="4529501"/>
            <a:ext cx="912283" cy="445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bảng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438176" y="4561252"/>
            <a:ext cx="7274178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, các bảng có quan hệ với nhau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438176" y="5449177"/>
            <a:ext cx="7544569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Hàng = bản ghi, cột = thuộc tính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1066767" y="6160823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1438176" y="6067144"/>
            <a:ext cx="5484737" cy="397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Schema cố định, được truy vấn bằng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853122" y="6035394"/>
            <a:ext cx="771393" cy="445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438176" y="6521153"/>
            <a:ext cx="6293443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Cấu trúc định nghĩa trước khi nạp dữ liệu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66767" y="7232799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1438176" y="7096787"/>
            <a:ext cx="5226609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MySQL · PostgreSQL · SQL Server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0579614" y="4978797"/>
            <a:ext cx="2247884" cy="2092027"/>
          </a:xfrm>
          <a:prstGeom prst="roundRect">
            <a:avLst>
              <a:gd fmla="val 5464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10590197" y="4989380"/>
            <a:ext cx="2226717" cy="549176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10780697" y="5113205"/>
            <a:ext cx="1921917" cy="3396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5F3EE"/>
                </a:solidFill>
                <a:latin typeface="Courier New"/>
                <a:ea typeface="Courier New"/>
                <a:cs typeface="Courier New"/>
                <a:sym typeface="Courier New"/>
              </a:rPr>
              <a:t>customers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0590197" y="5538556"/>
            <a:ext cx="222671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10780697" y="5658148"/>
            <a:ext cx="1921917" cy="339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id (PK)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0590197" y="6074007"/>
            <a:ext cx="222671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10780697" y="6193598"/>
            <a:ext cx="1921917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0590197" y="6567124"/>
            <a:ext cx="222671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10780697" y="6686716"/>
            <a:ext cx="1921917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city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2827497" y="6012904"/>
            <a:ext cx="742900" cy="23813"/>
          </a:xfrm>
          <a:prstGeom prst="rect">
            <a:avLst/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13570397" y="4978797"/>
            <a:ext cx="2596224" cy="2092027"/>
          </a:xfrm>
          <a:prstGeom prst="roundRect">
            <a:avLst>
              <a:gd fmla="val 5464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13580980" y="4989380"/>
            <a:ext cx="2575057" cy="549176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13771480" y="5113205"/>
            <a:ext cx="2271309" cy="3396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5F3EE"/>
                </a:solidFill>
                <a:latin typeface="Courier New"/>
                <a:ea typeface="Courier New"/>
                <a:cs typeface="Courier New"/>
                <a:sym typeface="Courier New"/>
              </a:rPr>
              <a:t>orders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3580980" y="5538556"/>
            <a:ext cx="257505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13771480" y="5658148"/>
            <a:ext cx="2271309" cy="339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customer_id (FK)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3580980" y="6074007"/>
            <a:ext cx="257505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3771480" y="6193598"/>
            <a:ext cx="2271309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amount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3580980" y="6567124"/>
            <a:ext cx="257505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13771480" y="6686716"/>
            <a:ext cx="2271309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created_at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1707555" y="884204"/>
            <a:ext cx="28387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CSDL quan hệ vs NoSQL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NoSQL — linh hoạt về schema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066767" y="2543721"/>
            <a:ext cx="7953376" cy="1355080"/>
          </a:xfrm>
          <a:prstGeom prst="roundRect">
            <a:avLst>
              <a:gd fmla="val 11247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1382117" y="2942167"/>
            <a:ext cx="123775" cy="123775"/>
          </a:xfrm>
          <a:prstGeom prst="roundRect">
            <a:avLst>
              <a:gd fmla="val 30782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1639177" y="2840054"/>
            <a:ext cx="1400936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Document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382117" y="3282405"/>
            <a:ext cx="7542355" cy="358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JSON lồng nhau, mỗi bản ghi tự mô tả — MongoDB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9267776" y="2543721"/>
            <a:ext cx="7953458" cy="1355080"/>
          </a:xfrm>
          <a:prstGeom prst="roundRect">
            <a:avLst>
              <a:gd fmla="val 11247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9583126" y="2942167"/>
            <a:ext cx="123775" cy="123775"/>
          </a:xfrm>
          <a:prstGeom prst="roundRect">
            <a:avLst>
              <a:gd fmla="val 30782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9840185" y="2840054"/>
            <a:ext cx="1465511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Key–Value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9583126" y="3282405"/>
            <a:ext cx="7542440" cy="358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Tra cứu siêu nhanh theo khoá — Redis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066767" y="4146434"/>
            <a:ext cx="7953376" cy="1355080"/>
          </a:xfrm>
          <a:prstGeom prst="roundRect">
            <a:avLst>
              <a:gd fmla="val 11247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1382117" y="4544880"/>
            <a:ext cx="123775" cy="123775"/>
          </a:xfrm>
          <a:prstGeom prst="roundRect">
            <a:avLst>
              <a:gd fmla="val 30782" name="adj"/>
            </a:avLst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1639177" y="4442768"/>
            <a:ext cx="880699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382117" y="4885118"/>
            <a:ext cx="7542355" cy="358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Quan hệ là trung tâm — Neo4j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9267776" y="4146434"/>
            <a:ext cx="7953458" cy="1355080"/>
          </a:xfrm>
          <a:prstGeom prst="roundRect">
            <a:avLst>
              <a:gd fmla="val 11247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9583126" y="4544880"/>
            <a:ext cx="123775" cy="123775"/>
          </a:xfrm>
          <a:prstGeom prst="roundRect">
            <a:avLst>
              <a:gd fmla="val 30782" name="adj"/>
            </a:avLst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9840185" y="4442768"/>
            <a:ext cx="1054001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Column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9583126" y="4885118"/>
            <a:ext cx="7542440" cy="358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Tối ưu cho cột &amp; quy mô lớn — Cassandra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AE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1707555" y="884204"/>
            <a:ext cx="28387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CSDL quan hệ vs NoSQL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Khi nào dùng cái nào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066767" y="5026174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1314417" y="4510766"/>
            <a:ext cx="3830798" cy="3439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A8A9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A8A96"/>
                </a:solidFill>
                <a:latin typeface="Arial"/>
                <a:ea typeface="Arial"/>
                <a:cs typeface="Arial"/>
                <a:sym typeface="Arial"/>
              </a:rPr>
              <a:t>TIÊU CHÍ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266862" y="5026174"/>
            <a:ext cx="6236312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5514512" y="4510766"/>
            <a:ext cx="5928102" cy="3439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A8A9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A8A96"/>
                </a:solidFill>
                <a:latin typeface="Arial"/>
                <a:ea typeface="Arial"/>
                <a:cs typeface="Arial"/>
                <a:sym typeface="Arial"/>
              </a:rPr>
              <a:t>RDBMS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1503175" y="5026174"/>
            <a:ext cx="5718060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11750825" y="4510766"/>
            <a:ext cx="5394301" cy="3439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A8A9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A8A96"/>
                </a:solidFill>
                <a:latin typeface="Arial"/>
                <a:ea typeface="Arial"/>
                <a:cs typeface="Arial"/>
                <a:sym typeface="Arial"/>
              </a:rPr>
              <a:t>NOSQL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1066767" y="5797600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1314417" y="5241016"/>
            <a:ext cx="38307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Cấu trúc dữ liệu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266862" y="5797600"/>
            <a:ext cx="6236312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5514512" y="5241016"/>
            <a:ext cx="5928102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Có cấu trúc, quan hệ chặt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1503175" y="5797600"/>
            <a:ext cx="5718060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11750825" y="5241016"/>
            <a:ext cx="5394301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Linh hoạt, schema thay đổi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066767" y="6569026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1314417" y="6012442"/>
            <a:ext cx="38307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Điểm mạnh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266862" y="6569026"/>
            <a:ext cx="6236312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5514512" y="6012442"/>
            <a:ext cx="5928102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Giao dịch, báo cáo, toàn vẹn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1503175" y="6569026"/>
            <a:ext cx="5718060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11750825" y="6012442"/>
            <a:ext cx="5394301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Mở rộng ngang, quy mô lớn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066767" y="7340451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1314417" y="6783867"/>
            <a:ext cx="38307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Ví dụ bài toán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266862" y="7340451"/>
            <a:ext cx="6236312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5514512" y="6783867"/>
            <a:ext cx="5928102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Ngân hàng, bán hàng, kế toán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1503175" y="7340451"/>
            <a:ext cx="5718060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11750825" y="6783867"/>
            <a:ext cx="5394301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Log, IoT, mạng xã hội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1707555" y="884204"/>
            <a:ext cx="28387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CSDL quan hệ vs NoSQL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1066767" y="3779986"/>
            <a:ext cx="10877244" cy="14780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SQL vẫn là ngôn ngữ phổ quát của dữ liệu.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066767" y="6112950"/>
            <a:ext cx="8532202" cy="13981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Mọi vai trò Data — Analyst, Engineer, Scientist — đều cần SQL. Đây là kỹ năng nhà tuyển dụng kiểm tra nhiều nhất.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1707555" y="884204"/>
            <a:ext cx="9632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1066767" y="2543721"/>
            <a:ext cx="2770022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1338759" y="2682363"/>
            <a:ext cx="2309140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RDBMS vs NoSQL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989173" y="2543721"/>
            <a:ext cx="3185336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4261164" y="2682363"/>
            <a:ext cx="2736912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Khi nào dùng cái nào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7326892" y="2543721"/>
            <a:ext cx="3588908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7598883" y="2682363"/>
            <a:ext cx="3152592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SQL — kỹ năng nền tảng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1066767" y="8855108"/>
            <a:ext cx="7732183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Bài tiếp · Cài đặt cơ sở dữ liệu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8783257" y="8918609"/>
            <a:ext cx="46274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3240"/>
              <a:buFont typeface="Arial"/>
              <a:buNone/>
            </a:pPr>
            <a:r>
              <a:rPr b="1" i="0" lang="en-US" sz="324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/>
          <p:nvPr/>
        </p:nvSpPr>
        <p:spPr>
          <a:xfrm>
            <a:off x="1066767" y="2896939"/>
            <a:ext cx="147038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LECTURE 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2613339" y="3019144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2822856" y="2904877"/>
            <a:ext cx="19612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~9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1066767" y="3522348"/>
            <a:ext cx="7927121" cy="25582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Cài đặt MySQL / PostgreSQL / DuckDB local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1066767" y="6578534"/>
            <a:ext cx="7419295" cy="944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Dựng database trên máy bạn — học SQL phải có nơi gõ thật.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9525001" y="2428875"/>
            <a:ext cx="7696234" cy="5524500"/>
          </a:xfrm>
          <a:prstGeom prst="roundRect">
            <a:avLst>
              <a:gd fmla="val 3103" name="adj"/>
            </a:avLst>
          </a:prstGeom>
          <a:solidFill>
            <a:srgbClr val="1B1B25"/>
          </a:solidFill>
          <a:ln cap="flat" cmpd="sng" w="10575">
            <a:solidFill>
              <a:srgbClr val="FFFFFF">
                <a:alpha val="2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12713246" y="4869408"/>
            <a:ext cx="131974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AI IMAGE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10797369" y="5242967"/>
            <a:ext cx="5151496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A6A4B6"/>
                </a:solidFill>
                <a:latin typeface="Courier New"/>
                <a:ea typeface="Courier New"/>
                <a:cs typeface="Courier New"/>
                <a:sym typeface="Courier New"/>
              </a:rPr>
              <a:t>3 logo: MySQL · PostgreSQL · DuckDB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5535176" y="9601234"/>
            <a:ext cx="176225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S3 · Lecture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AE3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1707555" y="884204"/>
            <a:ext cx="2391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Cài đặt cơ sở dữ liệu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Chọn database nào để học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1066767" y="5026174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5266862" y="5026174"/>
            <a:ext cx="5566089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5514512" y="4510766"/>
            <a:ext cx="5237772" cy="3439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A8A9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A8A96"/>
                </a:solidFill>
                <a:latin typeface="Arial"/>
                <a:ea typeface="Arial"/>
                <a:cs typeface="Arial"/>
                <a:sym typeface="Arial"/>
              </a:rPr>
              <a:t>DUCKDB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10832952" y="5026174"/>
            <a:ext cx="6388282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11080602" y="4510766"/>
            <a:ext cx="6084631" cy="3439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A8A9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A8A96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1066767" y="5797600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1314417" y="5241016"/>
            <a:ext cx="38307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Cài đặt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266862" y="5797600"/>
            <a:ext cx="5566089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5514512" y="5241016"/>
            <a:ext cx="5237772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pip install — chạy ngay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10832952" y="5797600"/>
            <a:ext cx="6388282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11080602" y="5241016"/>
            <a:ext cx="6084631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Cài server riêng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1066767" y="6569026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1314417" y="6012442"/>
            <a:ext cx="38307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Phù hợp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5266862" y="6569026"/>
            <a:ext cx="5566089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5514512" y="6012442"/>
            <a:ext cx="5237772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Học nhanh, phân tích local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10832952" y="6569026"/>
            <a:ext cx="6388282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11080602" y="6012442"/>
            <a:ext cx="6084631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Môi trường giống doanh nghiệp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066767" y="7340451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1314417" y="6783867"/>
            <a:ext cx="38307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Khoá học dùng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5266862" y="7340451"/>
            <a:ext cx="5566089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5514512" y="6783867"/>
            <a:ext cx="5237772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Mặc định khi luyện tập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10832952" y="7340451"/>
            <a:ext cx="6388282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11080602" y="6783867"/>
            <a:ext cx="6084631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Khi mô phỏng thực tế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1707555" y="884204"/>
            <a:ext cx="2391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Cài đặt cơ sở dữ liệu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Cài DuckDB — không cần server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1066767" y="3793381"/>
            <a:ext cx="16154467" cy="3537975"/>
          </a:xfrm>
          <a:prstGeom prst="roundRect">
            <a:avLst>
              <a:gd fmla="val 4846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1491159" y="4160623"/>
            <a:ext cx="15790318" cy="2841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6F6C88"/>
              </a:buClr>
              <a:buSzPts val="2250"/>
              <a:buFont typeface="Courier New"/>
              <a:buNone/>
            </a:pPr>
            <a:r>
              <a:rPr b="0" i="1" lang="en-US" sz="2250" u="none" cap="none" strike="noStrike">
                <a:solidFill>
                  <a:srgbClr val="6F6C88"/>
                </a:solidFill>
                <a:latin typeface="Courier New"/>
                <a:ea typeface="Courier New"/>
                <a:cs typeface="Courier New"/>
                <a:sym typeface="Courier New"/>
              </a:rPr>
              <a:t># Cài đặt chỉ với một dòng 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pip install duckdb </a:t>
            </a:r>
            <a:r>
              <a:rPr b="0" i="1" lang="en-US" sz="2250" u="none" cap="none" strike="noStrike">
                <a:solidFill>
                  <a:srgbClr val="6F6C88"/>
                </a:solidFill>
                <a:latin typeface="Courier New"/>
                <a:ea typeface="Courier New"/>
                <a:cs typeface="Courier New"/>
                <a:sym typeface="Courier New"/>
              </a:rPr>
              <a:t># Chạy SQL ngay bên trong Python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duckdb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duckdb. 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62D3C6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sql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2250" u="none" cap="none" strike="noStrike">
                <a:solidFill>
                  <a:srgbClr val="F3B780"/>
                </a:solidFill>
                <a:latin typeface="Courier New"/>
                <a:ea typeface="Courier New"/>
                <a:cs typeface="Courier New"/>
                <a:sym typeface="Courier New"/>
              </a:rPr>
              <a:t>"SELECT 42 AS answer"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0" i="0" lang="en-US" sz="2250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show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1066767" y="7679449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1257184" y="7565182"/>
            <a:ext cx="65930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Tuyệt vời cho người mới: không server, không cấu hình.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1707555" y="884204"/>
            <a:ext cx="2391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Cài đặt cơ sở dữ liệu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1066767" y="1577909"/>
            <a:ext cx="9641958" cy="1169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Cài PostgreSQL — môi trường doanh nghiệp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1066767" y="5362195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1438176" y="5226183"/>
            <a:ext cx="7144474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Tải &amp; cài server PostgreSQL từ trang chính thức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1066767" y="6024646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1438176" y="5925675"/>
            <a:ext cx="4765794" cy="397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Quản lý bằng công cụ trực quan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1438176" y="6379683"/>
            <a:ext cx="5845742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pgAdmin hoặc DBeaver để xem bảng, chạy query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1066767" y="7091330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1438176" y="6955317"/>
            <a:ext cx="6834056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Đây là môi trường gần với sản phẩm thật nhất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9525001" y="4212250"/>
            <a:ext cx="7696234" cy="4191000"/>
          </a:xfrm>
          <a:prstGeom prst="roundRect">
            <a:avLst>
              <a:gd fmla="val 4091" name="adj"/>
            </a:avLst>
          </a:prstGeom>
          <a:solidFill>
            <a:srgbClr val="ECEAE3"/>
          </a:solidFill>
          <a:ln cap="flat" cmpd="sng" w="10575">
            <a:solidFill>
              <a:srgbClr val="5A4FE0">
                <a:alpha val="4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12868689" y="5986033"/>
            <a:ext cx="1008856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SCREEN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11459680" y="6359591"/>
            <a:ext cx="3826874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Kết nối pgAdmin tới server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"/>
          <p:cNvSpPr/>
          <p:nvPr/>
        </p:nvSpPr>
        <p:spPr>
          <a:xfrm>
            <a:off x="1707555" y="884204"/>
            <a:ext cx="2391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Cài đặt cơ sở dữ liệu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Nạp dữ liệu mẫu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1066767" y="4722565"/>
            <a:ext cx="7696234" cy="2604492"/>
          </a:xfrm>
          <a:prstGeom prst="roundRect">
            <a:avLst>
              <a:gd fmla="val 6583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"/>
          <p:cNvSpPr/>
          <p:nvPr/>
        </p:nvSpPr>
        <p:spPr>
          <a:xfrm>
            <a:off x="1434009" y="5032656"/>
            <a:ext cx="7192637" cy="20224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F6C88"/>
              </a:buClr>
              <a:buSzPts val="1875"/>
              <a:buFont typeface="Courier New"/>
              <a:buNone/>
            </a:pPr>
            <a:r>
              <a:rPr b="0" i="1" lang="en-US" sz="1875" u="none" cap="none" strike="noStrike">
                <a:solidFill>
                  <a:srgbClr val="6F6C88"/>
                </a:solidFill>
                <a:latin typeface="Courier New"/>
                <a:ea typeface="Courier New"/>
                <a:cs typeface="Courier New"/>
                <a:sym typeface="Courier New"/>
              </a:rPr>
              <a:t>-- Tạo bảng từ file CSV bán lẻ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sales 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AS SELECT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75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read_csv_auto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75" u="none" cap="none" strike="noStrike">
                <a:solidFill>
                  <a:srgbClr val="F3B780"/>
                </a:solidFill>
                <a:latin typeface="Courier New"/>
                <a:ea typeface="Courier New"/>
                <a:cs typeface="Courier New"/>
                <a:sym typeface="Courier New"/>
              </a:rPr>
              <a:t>'retail.csv'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75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(*)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sales;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9525001" y="5410564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9896410" y="5274552"/>
            <a:ext cx="3707561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Import file CSV vào bảng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9525001" y="6073015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9896410" y="5974044"/>
            <a:ext cx="6488976" cy="397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Dùng một dataset bán lẻ xuyên suốt section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9896410" y="6428052"/>
            <a:ext cx="6488977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Mọi ví dụ SQL sau này dựa trên bộ dữ liệu này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5"/>
          <p:cNvSpPr/>
          <p:nvPr/>
        </p:nvSpPr>
        <p:spPr>
          <a:xfrm>
            <a:off x="1707555" y="884204"/>
            <a:ext cx="9632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1066767" y="2543721"/>
            <a:ext cx="1551781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"/>
          <p:cNvSpPr/>
          <p:nvPr/>
        </p:nvSpPr>
        <p:spPr>
          <a:xfrm>
            <a:off x="1338759" y="2682363"/>
            <a:ext cx="1083998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DuckDB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2770932" y="2543721"/>
            <a:ext cx="3490599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3042923" y="2682363"/>
            <a:ext cx="3051333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PostgreSQL + pgAdmin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6413914" y="2543721"/>
            <a:ext cx="2560423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"/>
          <p:cNvSpPr/>
          <p:nvPr/>
        </p:nvSpPr>
        <p:spPr>
          <a:xfrm>
            <a:off x="6685905" y="2682363"/>
            <a:ext cx="2093252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Nạp dữ liệu mẫu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1066767" y="8855108"/>
            <a:ext cx="6428426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Bài tiếp · SELECT cơ bản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7517474" y="8918609"/>
            <a:ext cx="46274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3240"/>
              <a:buFont typeface="Arial"/>
              <a:buNone/>
            </a:pPr>
            <a:r>
              <a:rPr b="1" i="0" lang="en-US" sz="324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"/>
          <p:cNvSpPr/>
          <p:nvPr/>
        </p:nvSpPr>
        <p:spPr>
          <a:xfrm>
            <a:off x="1066767" y="3316966"/>
            <a:ext cx="147038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LECTURE 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2613339" y="3439170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6"/>
          <p:cNvSpPr/>
          <p:nvPr/>
        </p:nvSpPr>
        <p:spPr>
          <a:xfrm>
            <a:off x="2822856" y="3324903"/>
            <a:ext cx="19612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~9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1066767" y="3942374"/>
            <a:ext cx="7927121" cy="17182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SELECT, WHERE, ORDER BY, LIMIT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1066767" y="6158508"/>
            <a:ext cx="7419295" cy="944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Truy vấn dữ liệu — bước đầu tiên, và là 70% công việc SQL hằng ngày.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9525001" y="2428875"/>
            <a:ext cx="7696234" cy="5524500"/>
          </a:xfrm>
          <a:prstGeom prst="roundRect">
            <a:avLst>
              <a:gd fmla="val 3103" name="adj"/>
            </a:avLst>
          </a:prstGeom>
          <a:solidFill>
            <a:srgbClr val="1B1B25"/>
          </a:solidFill>
          <a:ln cap="flat" cmpd="sng" w="10575">
            <a:solidFill>
              <a:srgbClr val="FFFFFF">
                <a:alpha val="2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6"/>
          <p:cNvSpPr/>
          <p:nvPr/>
        </p:nvSpPr>
        <p:spPr>
          <a:xfrm>
            <a:off x="12713246" y="4869408"/>
            <a:ext cx="131974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AI IMAGE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11533261" y="5242967"/>
            <a:ext cx="3679713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A6A4B6"/>
                </a:solidFill>
                <a:latin typeface="Courier New"/>
                <a:ea typeface="Courier New"/>
                <a:cs typeface="Courier New"/>
                <a:sym typeface="Courier New"/>
              </a:rPr>
              <a:t>Câu lệnh SELECT phát sáng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15531952" y="9601234"/>
            <a:ext cx="176548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S3 · Lecture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7"/>
          <p:cNvSpPr/>
          <p:nvPr/>
        </p:nvSpPr>
        <p:spPr>
          <a:xfrm>
            <a:off x="1707555" y="884204"/>
            <a:ext cx="188843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Truy vấn cơ bản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SELECT &amp; FROM — lấy cột từ bảng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1066767" y="3751048"/>
            <a:ext cx="16154467" cy="3590892"/>
          </a:xfrm>
          <a:prstGeom prst="roundRect">
            <a:avLst>
              <a:gd fmla="val 4775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7"/>
          <p:cNvSpPr/>
          <p:nvPr/>
        </p:nvSpPr>
        <p:spPr>
          <a:xfrm>
            <a:off x="1491159" y="4118289"/>
            <a:ext cx="15790318" cy="2894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6F6C88"/>
              </a:buClr>
              <a:buSzPts val="2250"/>
              <a:buFont typeface="Courier New"/>
              <a:buNone/>
            </a:pPr>
            <a:r>
              <a:rPr b="0" i="1" lang="en-US" sz="2250" u="none" cap="none" strike="noStrike">
                <a:solidFill>
                  <a:srgbClr val="6F6C88"/>
                </a:solidFill>
                <a:latin typeface="Courier New"/>
                <a:ea typeface="Courier New"/>
                <a:cs typeface="Courier New"/>
                <a:sym typeface="Courier New"/>
              </a:rPr>
              <a:t>-- Chọn cột cụ thể từ một bảng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name, city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customers; </a:t>
            </a:r>
            <a:r>
              <a:rPr b="0" i="1" lang="en-US" sz="2250" u="none" cap="none" strike="noStrike">
                <a:solidFill>
                  <a:srgbClr val="6F6C88"/>
                </a:solidFill>
                <a:latin typeface="Courier New"/>
                <a:ea typeface="Courier New"/>
                <a:cs typeface="Courier New"/>
                <a:sym typeface="Courier New"/>
              </a:rPr>
              <a:t>-- SELECT * lấy tất cả cột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customers;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1066767" y="7705908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7"/>
          <p:cNvSpPr/>
          <p:nvPr/>
        </p:nvSpPr>
        <p:spPr>
          <a:xfrm>
            <a:off x="1257184" y="7591640"/>
            <a:ext cx="7384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Tránh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2052753" y="7570474"/>
            <a:ext cx="1296260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SELECT *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3406097" y="7591640"/>
            <a:ext cx="4594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trong production — chỉ lấy cột bạn cần.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8"/>
          <p:cNvSpPr/>
          <p:nvPr/>
        </p:nvSpPr>
        <p:spPr>
          <a:xfrm>
            <a:off x="1707555" y="884204"/>
            <a:ext cx="188843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Truy vấn cơ bản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WHERE — lọc dòng theo điều kiện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1066767" y="4696106"/>
            <a:ext cx="7696234" cy="2657409"/>
          </a:xfrm>
          <a:prstGeom prst="roundRect">
            <a:avLst>
              <a:gd fmla="val 6452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8"/>
          <p:cNvSpPr/>
          <p:nvPr/>
        </p:nvSpPr>
        <p:spPr>
          <a:xfrm>
            <a:off x="1434009" y="5006198"/>
            <a:ext cx="7192637" cy="2075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name, amount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orders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city = </a:t>
            </a:r>
            <a:r>
              <a:rPr b="0" i="0" lang="en-US" sz="1875" u="none" cap="none" strike="noStrike">
                <a:solidFill>
                  <a:srgbClr val="F3B780"/>
                </a:solidFill>
                <a:latin typeface="Courier New"/>
                <a:ea typeface="Courier New"/>
                <a:cs typeface="Courier New"/>
                <a:sym typeface="Courier New"/>
              </a:rPr>
              <a:t>'Hà Nội'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amount </a:t>
            </a:r>
            <a:r>
              <a:rPr b="0" i="0" lang="en-US" sz="1875" u="none" cap="none" strike="noStrike">
                <a:solidFill>
                  <a:srgbClr val="9AA0B3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75" u="none" cap="none" strike="noStrike">
                <a:solidFill>
                  <a:srgbClr val="F49B9B"/>
                </a:solidFill>
                <a:latin typeface="Courier New"/>
                <a:ea typeface="Courier New"/>
                <a:cs typeface="Courier New"/>
                <a:sym typeface="Courier New"/>
              </a:rPr>
              <a:t>500000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name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LIKE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75" u="none" cap="none" strike="noStrike">
                <a:solidFill>
                  <a:srgbClr val="F3B780"/>
                </a:solidFill>
                <a:latin typeface="Courier New"/>
                <a:ea typeface="Courier New"/>
                <a:cs typeface="Courier New"/>
                <a:sym typeface="Courier New"/>
              </a:rPr>
              <a:t>'Nguyễn%'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9525001" y="5273477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8"/>
          <p:cNvSpPr/>
          <p:nvPr/>
        </p:nvSpPr>
        <p:spPr>
          <a:xfrm>
            <a:off x="9896410" y="5137464"/>
            <a:ext cx="5081833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AND · OR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kết hợp nhiều điều kiện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9525001" y="5941219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8"/>
          <p:cNvSpPr/>
          <p:nvPr/>
        </p:nvSpPr>
        <p:spPr>
          <a:xfrm>
            <a:off x="9896410" y="5805207"/>
            <a:ext cx="6983858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IN · BETWEEN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cho danh sách &amp; khoảng giá trị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9525001" y="6608961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8"/>
          <p:cNvSpPr/>
          <p:nvPr/>
        </p:nvSpPr>
        <p:spPr>
          <a:xfrm>
            <a:off x="9896410" y="6472949"/>
            <a:ext cx="5037463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LIKE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với ký tự </a:t>
            </a: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%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để tìm gần đúng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9"/>
          <p:cNvSpPr/>
          <p:nvPr/>
        </p:nvSpPr>
        <p:spPr>
          <a:xfrm>
            <a:off x="1707555" y="884204"/>
            <a:ext cx="188843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Truy vấn cơ bản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ORDER BY — sắp xếp kết quả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1066767" y="5103565"/>
            <a:ext cx="7696234" cy="1842492"/>
          </a:xfrm>
          <a:prstGeom prst="roundRect">
            <a:avLst>
              <a:gd fmla="val 9305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9"/>
          <p:cNvSpPr/>
          <p:nvPr/>
        </p:nvSpPr>
        <p:spPr>
          <a:xfrm>
            <a:off x="1434009" y="5413656"/>
            <a:ext cx="7192637" cy="12604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name, revenue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customers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revenue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DESC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9525001" y="4753405"/>
            <a:ext cx="7696234" cy="2542811"/>
          </a:xfrm>
          <a:prstGeom prst="roundRect">
            <a:avLst>
              <a:gd fmla="val 4495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9"/>
          <p:cNvSpPr/>
          <p:nvPr/>
        </p:nvSpPr>
        <p:spPr>
          <a:xfrm>
            <a:off x="9535584" y="4763989"/>
            <a:ext cx="7675067" cy="549176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9726084" y="4887814"/>
            <a:ext cx="7524319" cy="3396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5F3EE"/>
                </a:solidFill>
                <a:latin typeface="Courier New"/>
                <a:ea typeface="Courier New"/>
                <a:cs typeface="Courier New"/>
                <a:sym typeface="Courier New"/>
              </a:rPr>
              <a:t>Kết quả · revenue DESC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9535584" y="5313164"/>
            <a:ext cx="767506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9726084" y="5432756"/>
            <a:ext cx="7524319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Mai Anh 9.8M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9535584" y="5806282"/>
            <a:ext cx="767506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9"/>
          <p:cNvSpPr/>
          <p:nvPr/>
        </p:nvSpPr>
        <p:spPr>
          <a:xfrm>
            <a:off x="9726084" y="5925873"/>
            <a:ext cx="7524319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Quốc Bảo 7.1M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9535584" y="6299399"/>
            <a:ext cx="767506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9"/>
          <p:cNvSpPr/>
          <p:nvPr/>
        </p:nvSpPr>
        <p:spPr>
          <a:xfrm>
            <a:off x="9726084" y="6418990"/>
            <a:ext cx="7524319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Thu Hà 5.6M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9535584" y="6792516"/>
            <a:ext cx="767506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9"/>
          <p:cNvSpPr/>
          <p:nvPr/>
        </p:nvSpPr>
        <p:spPr>
          <a:xfrm>
            <a:off x="9726084" y="6912108"/>
            <a:ext cx="7524319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Minh Khôi 4.2M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0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1707555" y="884204"/>
            <a:ext cx="188843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Truy vấn cơ bản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LIMIT — giới hạn số dòng trả về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1066767" y="4709336"/>
            <a:ext cx="7696234" cy="2630951"/>
          </a:xfrm>
          <a:prstGeom prst="roundRect">
            <a:avLst>
              <a:gd fmla="val 6517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0"/>
          <p:cNvSpPr/>
          <p:nvPr/>
        </p:nvSpPr>
        <p:spPr>
          <a:xfrm>
            <a:off x="1434009" y="5019427"/>
            <a:ext cx="7192637" cy="20488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F6C88"/>
              </a:buClr>
              <a:buSzPts val="1875"/>
              <a:buFont typeface="Courier New"/>
              <a:buNone/>
            </a:pPr>
            <a:r>
              <a:rPr b="0" i="1" lang="en-US" sz="1875" u="none" cap="none" strike="noStrike">
                <a:solidFill>
                  <a:srgbClr val="6F6C88"/>
                </a:solidFill>
                <a:latin typeface="Courier New"/>
                <a:ea typeface="Courier New"/>
                <a:cs typeface="Courier New"/>
                <a:sym typeface="Courier New"/>
              </a:rPr>
              <a:t>-- Top 5 khách hàng theo doanh thu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name, revenue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customers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revenue 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DESC LIMIT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75" u="none" cap="none" strike="noStrike">
                <a:solidFill>
                  <a:srgbClr val="F49B9B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9525001" y="5407918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0"/>
          <p:cNvSpPr/>
          <p:nvPr/>
        </p:nvSpPr>
        <p:spPr>
          <a:xfrm>
            <a:off x="9896410" y="5271906"/>
            <a:ext cx="3798855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Lấy nhanh </a:t>
            </a: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Top N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kết quả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9525001" y="6075661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9896410" y="5976690"/>
            <a:ext cx="6527470" cy="397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Cực quan trọng khi bảng có hàng triệu dòng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9896410" y="6430698"/>
            <a:ext cx="652747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Không tải toàn bộ dữ liệu khi chỉ cần vài dòng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1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1"/>
          <p:cNvSpPr/>
          <p:nvPr/>
        </p:nvSpPr>
        <p:spPr>
          <a:xfrm>
            <a:off x="1707555" y="884204"/>
            <a:ext cx="9632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1"/>
          <p:cNvSpPr/>
          <p:nvPr/>
        </p:nvSpPr>
        <p:spPr>
          <a:xfrm>
            <a:off x="1066767" y="2543721"/>
            <a:ext cx="1547399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1"/>
          <p:cNvSpPr/>
          <p:nvPr/>
        </p:nvSpPr>
        <p:spPr>
          <a:xfrm>
            <a:off x="1338759" y="2682363"/>
            <a:ext cx="1079616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2766550" y="2543721"/>
            <a:ext cx="1489273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1"/>
          <p:cNvSpPr/>
          <p:nvPr/>
        </p:nvSpPr>
        <p:spPr>
          <a:xfrm>
            <a:off x="3038541" y="2682363"/>
            <a:ext cx="1021490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1"/>
          <p:cNvSpPr/>
          <p:nvPr/>
        </p:nvSpPr>
        <p:spPr>
          <a:xfrm>
            <a:off x="4408207" y="2543721"/>
            <a:ext cx="1858367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1"/>
          <p:cNvSpPr/>
          <p:nvPr/>
        </p:nvSpPr>
        <p:spPr>
          <a:xfrm>
            <a:off x="4680198" y="2682363"/>
            <a:ext cx="1390584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ORDER BY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6418958" y="2543721"/>
            <a:ext cx="1237010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1"/>
          <p:cNvSpPr/>
          <p:nvPr/>
        </p:nvSpPr>
        <p:spPr>
          <a:xfrm>
            <a:off x="6690949" y="2682363"/>
            <a:ext cx="769226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LIMIT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1066767" y="8855108"/>
            <a:ext cx="9492668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Bài tiếp · Hàm tổng hợp &amp; GROUP BY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10492467" y="8918609"/>
            <a:ext cx="46274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3240"/>
              <a:buFont typeface="Arial"/>
              <a:buNone/>
            </a:pPr>
            <a:r>
              <a:rPr b="1" i="0" lang="en-US" sz="324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2"/>
          <p:cNvSpPr/>
          <p:nvPr/>
        </p:nvSpPr>
        <p:spPr>
          <a:xfrm>
            <a:off x="1066767" y="3123654"/>
            <a:ext cx="147038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LECTURE 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2613339" y="3245859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2"/>
          <p:cNvSpPr/>
          <p:nvPr/>
        </p:nvSpPr>
        <p:spPr>
          <a:xfrm>
            <a:off x="2822856" y="3131592"/>
            <a:ext cx="19612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~9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1066767" y="3749063"/>
            <a:ext cx="7927121" cy="25582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Hàm tổng hợp — GROUP BY &amp; HAVING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1066767" y="6805249"/>
            <a:ext cx="7419295" cy="4914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Đây là nơi SQL trả lời các câu hỏi kinh doanh.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9525001" y="2428875"/>
            <a:ext cx="7696234" cy="5524500"/>
          </a:xfrm>
          <a:prstGeom prst="roundRect">
            <a:avLst>
              <a:gd fmla="val 3103" name="adj"/>
            </a:avLst>
          </a:prstGeom>
          <a:solidFill>
            <a:srgbClr val="1B1B25"/>
          </a:solidFill>
          <a:ln cap="flat" cmpd="sng" w="10575">
            <a:solidFill>
              <a:srgbClr val="FFFFFF">
                <a:alpha val="2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>
            <a:off x="12713246" y="4869408"/>
            <a:ext cx="131974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AI IMAGE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10502963" y="5242967"/>
            <a:ext cx="5740226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A6A4B6"/>
                </a:solidFill>
                <a:latin typeface="Courier New"/>
                <a:ea typeface="Courier New"/>
                <a:cs typeface="Courier New"/>
                <a:sym typeface="Courier New"/>
              </a:rPr>
              <a:t>Nhiều dòng dữ liệu gộp thành một con số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15522361" y="9601234"/>
            <a:ext cx="177507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S3 · Lecture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3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3"/>
          <p:cNvSpPr/>
          <p:nvPr/>
        </p:nvSpPr>
        <p:spPr>
          <a:xfrm>
            <a:off x="1707555" y="884204"/>
            <a:ext cx="260875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Tổng hợp &amp; gom nhóm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1066767" y="1577909"/>
            <a:ext cx="9641958" cy="1169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Hàm tổng hợp — gộp nhiều dòng thành một giá trị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1066767" y="5556415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3"/>
          <p:cNvSpPr/>
          <p:nvPr/>
        </p:nvSpPr>
        <p:spPr>
          <a:xfrm>
            <a:off x="1438176" y="5420403"/>
            <a:ext cx="3708157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COUNT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— đếm số dòng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1066767" y="6224158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3"/>
          <p:cNvSpPr/>
          <p:nvPr/>
        </p:nvSpPr>
        <p:spPr>
          <a:xfrm>
            <a:off x="1438176" y="6088145"/>
            <a:ext cx="4831028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SUM · AVG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— tổng &amp; trung bình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1066767" y="6891900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3"/>
          <p:cNvSpPr/>
          <p:nvPr/>
        </p:nvSpPr>
        <p:spPr>
          <a:xfrm>
            <a:off x="1438176" y="6755888"/>
            <a:ext cx="5151837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MIN · MAX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— nhỏ nhất &amp; lớn nhất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9525001" y="4979045"/>
            <a:ext cx="7696234" cy="2657409"/>
          </a:xfrm>
          <a:prstGeom prst="roundRect">
            <a:avLst>
              <a:gd fmla="val 6452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9892242" y="5289137"/>
            <a:ext cx="7192637" cy="2075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875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(*)     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so_don,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2D3C6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(amount) 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doanh_thu,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2D3C6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avg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(amount) 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trung_binh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orders;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4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4"/>
          <p:cNvSpPr/>
          <p:nvPr/>
        </p:nvSpPr>
        <p:spPr>
          <a:xfrm>
            <a:off x="1707555" y="884204"/>
            <a:ext cx="260875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Tổng hợp &amp; gom nhóm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1066767" y="1577909"/>
            <a:ext cx="9641958" cy="1169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GROUP BY — gom nhóm trước khi tổng hợp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1066767" y="4377449"/>
            <a:ext cx="5041967" cy="1179959"/>
          </a:xfrm>
          <a:prstGeom prst="roundRect">
            <a:avLst>
              <a:gd fmla="val 11301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4"/>
          <p:cNvSpPr/>
          <p:nvPr/>
        </p:nvSpPr>
        <p:spPr>
          <a:xfrm>
            <a:off x="1237428" y="4635666"/>
            <a:ext cx="4700644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Dữ liệu thô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1237428" y="5039899"/>
            <a:ext cx="470064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mọi đơn hàng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6070634" y="4774241"/>
            <a:ext cx="590484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6623017" y="4377449"/>
            <a:ext cx="5041967" cy="1179959"/>
          </a:xfrm>
          <a:prstGeom prst="roundRect">
            <a:avLst>
              <a:gd fmla="val 11301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6793679" y="4635666"/>
            <a:ext cx="4700644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Gom theo vùng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6793679" y="5039899"/>
            <a:ext cx="470064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Bắc · Trung · Nam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11626883" y="4774241"/>
            <a:ext cx="590484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12179267" y="4377449"/>
            <a:ext cx="5041967" cy="1179959"/>
          </a:xfrm>
          <a:prstGeom prst="roundRect">
            <a:avLst>
              <a:gd fmla="val 11301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12349929" y="4635666"/>
            <a:ext cx="4700644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Tính tổng mỗi nhóm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12349929" y="5039899"/>
            <a:ext cx="470064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doanh thu từng vùng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1066767" y="5995541"/>
            <a:ext cx="7239001" cy="1842492"/>
          </a:xfrm>
          <a:prstGeom prst="roundRect">
            <a:avLst>
              <a:gd fmla="val 9305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4"/>
          <p:cNvSpPr/>
          <p:nvPr/>
        </p:nvSpPr>
        <p:spPr>
          <a:xfrm>
            <a:off x="1434009" y="6305633"/>
            <a:ext cx="6721687" cy="12604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region, </a:t>
            </a:r>
            <a:r>
              <a:rPr b="0" i="0" lang="en-US" sz="1875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(amount)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orders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region;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AE3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5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5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5"/>
          <p:cNvSpPr/>
          <p:nvPr/>
        </p:nvSpPr>
        <p:spPr>
          <a:xfrm>
            <a:off x="1707555" y="884204"/>
            <a:ext cx="260875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Tổng hợp &amp; gom nhóm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5"/>
          <p:cNvSpPr/>
          <p:nvPr/>
        </p:nvSpPr>
        <p:spPr>
          <a:xfrm>
            <a:off x="1066767" y="1577909"/>
            <a:ext cx="9641958" cy="1169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HAVING vs WHERE — lọc trước hay sau khi gom nhóm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5"/>
          <p:cNvSpPr/>
          <p:nvPr/>
        </p:nvSpPr>
        <p:spPr>
          <a:xfrm>
            <a:off x="1066767" y="5160533"/>
            <a:ext cx="5041967" cy="1206417"/>
          </a:xfrm>
          <a:prstGeom prst="roundRect">
            <a:avLst>
              <a:gd fmla="val 11053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5"/>
          <p:cNvSpPr/>
          <p:nvPr/>
        </p:nvSpPr>
        <p:spPr>
          <a:xfrm>
            <a:off x="1237428" y="5418749"/>
            <a:ext cx="4700644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5"/>
          <p:cNvSpPr/>
          <p:nvPr/>
        </p:nvSpPr>
        <p:spPr>
          <a:xfrm>
            <a:off x="1237428" y="5822984"/>
            <a:ext cx="470064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lọc </a:t>
            </a: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dòng </a:t>
            </a: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· trước nhóm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6070634" y="5570554"/>
            <a:ext cx="590484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5"/>
          <p:cNvSpPr/>
          <p:nvPr/>
        </p:nvSpPr>
        <p:spPr>
          <a:xfrm>
            <a:off x="6623017" y="5173762"/>
            <a:ext cx="5041967" cy="1179959"/>
          </a:xfrm>
          <a:prstGeom prst="roundRect">
            <a:avLst>
              <a:gd fmla="val 11301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5"/>
          <p:cNvSpPr/>
          <p:nvPr/>
        </p:nvSpPr>
        <p:spPr>
          <a:xfrm>
            <a:off x="6793679" y="5431979"/>
            <a:ext cx="4700644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GROUP BY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6793679" y="5836212"/>
            <a:ext cx="470064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gom nhóm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/>
          <p:nvPr/>
        </p:nvSpPr>
        <p:spPr>
          <a:xfrm>
            <a:off x="11626883" y="5570554"/>
            <a:ext cx="590484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5"/>
          <p:cNvSpPr/>
          <p:nvPr/>
        </p:nvSpPr>
        <p:spPr>
          <a:xfrm>
            <a:off x="12179267" y="5160533"/>
            <a:ext cx="5041967" cy="1206417"/>
          </a:xfrm>
          <a:prstGeom prst="roundRect">
            <a:avLst>
              <a:gd fmla="val 11053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5"/>
          <p:cNvSpPr/>
          <p:nvPr/>
        </p:nvSpPr>
        <p:spPr>
          <a:xfrm>
            <a:off x="12349929" y="5418749"/>
            <a:ext cx="4700644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HAVING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5"/>
          <p:cNvSpPr/>
          <p:nvPr/>
        </p:nvSpPr>
        <p:spPr>
          <a:xfrm>
            <a:off x="12349929" y="5822984"/>
            <a:ext cx="470064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lọc </a:t>
            </a: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nhóm </a:t>
            </a: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· sau nhóm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5"/>
          <p:cNvSpPr/>
          <p:nvPr/>
        </p:nvSpPr>
        <p:spPr>
          <a:xfrm>
            <a:off x="1066767" y="6872800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5"/>
          <p:cNvSpPr/>
          <p:nvPr/>
        </p:nvSpPr>
        <p:spPr>
          <a:xfrm>
            <a:off x="1257184" y="6763825"/>
            <a:ext cx="748231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⚠ Câu hỏi phỏng vấn kinh điển: phân biệt WHERE và HAVING.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6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6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6"/>
          <p:cNvSpPr/>
          <p:nvPr/>
        </p:nvSpPr>
        <p:spPr>
          <a:xfrm>
            <a:off x="1707555" y="884204"/>
            <a:ext cx="260875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Tổng hợp &amp; gom nhóm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6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Ví dụ thực tế — vùng có doanh thu lớn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6"/>
          <p:cNvSpPr/>
          <p:nvPr/>
        </p:nvSpPr>
        <p:spPr>
          <a:xfrm>
            <a:off x="1066767" y="3969246"/>
            <a:ext cx="16154467" cy="3154495"/>
          </a:xfrm>
          <a:prstGeom prst="roundRect">
            <a:avLst>
              <a:gd fmla="val 5435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6"/>
          <p:cNvSpPr/>
          <p:nvPr/>
        </p:nvSpPr>
        <p:spPr>
          <a:xfrm>
            <a:off x="1491159" y="4336488"/>
            <a:ext cx="15790318" cy="24581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6F6C88"/>
              </a:buClr>
              <a:buSzPts val="2250"/>
              <a:buFont typeface="Courier New"/>
              <a:buNone/>
            </a:pPr>
            <a:r>
              <a:rPr b="0" i="1" lang="en-US" sz="2250" u="none" cap="none" strike="noStrike">
                <a:solidFill>
                  <a:srgbClr val="6F6C88"/>
                </a:solidFill>
                <a:latin typeface="Courier New"/>
                <a:ea typeface="Courier New"/>
                <a:cs typeface="Courier New"/>
                <a:sym typeface="Courier New"/>
              </a:rPr>
              <a:t>-- Vùng có tổng doanh thu trên 1 tỷ đồng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region, </a:t>
            </a:r>
            <a:r>
              <a:rPr b="0" i="0" lang="en-US" sz="2250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(amount)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doanh_thu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orders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region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HAVING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2250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(amount) </a:t>
            </a:r>
            <a:r>
              <a:rPr b="0" i="0" lang="en-US" sz="2250" u="none" cap="none" strike="noStrike">
                <a:solidFill>
                  <a:srgbClr val="9AA0B3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2250" u="none" cap="none" strike="noStrike">
                <a:solidFill>
                  <a:srgbClr val="F49B9B"/>
                </a:solidFill>
                <a:latin typeface="Courier New"/>
                <a:ea typeface="Courier New"/>
                <a:cs typeface="Courier New"/>
                <a:sym typeface="Courier New"/>
              </a:rPr>
              <a:t>1000000000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6"/>
          <p:cNvSpPr/>
          <p:nvPr/>
        </p:nvSpPr>
        <p:spPr>
          <a:xfrm>
            <a:off x="1066767" y="7487709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6"/>
          <p:cNvSpPr/>
          <p:nvPr/>
        </p:nvSpPr>
        <p:spPr>
          <a:xfrm>
            <a:off x="1257184" y="7373442"/>
            <a:ext cx="358714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WHERE không dùng được với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6"/>
          <p:cNvSpPr/>
          <p:nvPr/>
        </p:nvSpPr>
        <p:spPr>
          <a:xfrm>
            <a:off x="4873129" y="7352275"/>
            <a:ext cx="829022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sum()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6"/>
          <p:cNvSpPr/>
          <p:nvPr/>
        </p:nvSpPr>
        <p:spPr>
          <a:xfrm>
            <a:off x="5759235" y="7373442"/>
            <a:ext cx="48833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— phải dùng HAVING sau khi gom nhóm.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7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7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7"/>
          <p:cNvSpPr/>
          <p:nvPr/>
        </p:nvSpPr>
        <p:spPr>
          <a:xfrm>
            <a:off x="1707555" y="884204"/>
            <a:ext cx="9632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7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7"/>
          <p:cNvSpPr/>
          <p:nvPr/>
        </p:nvSpPr>
        <p:spPr>
          <a:xfrm>
            <a:off x="1066767" y="2543721"/>
            <a:ext cx="2328747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7"/>
          <p:cNvSpPr/>
          <p:nvPr/>
        </p:nvSpPr>
        <p:spPr>
          <a:xfrm>
            <a:off x="1338759" y="2682363"/>
            <a:ext cx="1860963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Hàm tổng hợp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7"/>
          <p:cNvSpPr/>
          <p:nvPr/>
        </p:nvSpPr>
        <p:spPr>
          <a:xfrm>
            <a:off x="3547897" y="2543721"/>
            <a:ext cx="1884082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7"/>
          <p:cNvSpPr/>
          <p:nvPr/>
        </p:nvSpPr>
        <p:spPr>
          <a:xfrm>
            <a:off x="3819889" y="2682363"/>
            <a:ext cx="1416298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GROUP BY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7"/>
          <p:cNvSpPr/>
          <p:nvPr/>
        </p:nvSpPr>
        <p:spPr>
          <a:xfrm>
            <a:off x="5584362" y="2543721"/>
            <a:ext cx="2886521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7"/>
          <p:cNvSpPr/>
          <p:nvPr/>
        </p:nvSpPr>
        <p:spPr>
          <a:xfrm>
            <a:off x="5856354" y="2682363"/>
            <a:ext cx="2429134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HAVING vs WHERE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7"/>
          <p:cNvSpPr/>
          <p:nvPr/>
        </p:nvSpPr>
        <p:spPr>
          <a:xfrm>
            <a:off x="1066767" y="8855108"/>
            <a:ext cx="8134833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Bài tiếp · JOIN — nối nhiều bảng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7"/>
          <p:cNvSpPr/>
          <p:nvPr/>
        </p:nvSpPr>
        <p:spPr>
          <a:xfrm>
            <a:off x="9174180" y="8918609"/>
            <a:ext cx="46274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3240"/>
              <a:buFont typeface="Arial"/>
              <a:buNone/>
            </a:pPr>
            <a:r>
              <a:rPr b="1" i="0" lang="en-US" sz="324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8"/>
          <p:cNvSpPr/>
          <p:nvPr/>
        </p:nvSpPr>
        <p:spPr>
          <a:xfrm>
            <a:off x="1066767" y="3316966"/>
            <a:ext cx="147038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LECTURE 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8"/>
          <p:cNvSpPr/>
          <p:nvPr/>
        </p:nvSpPr>
        <p:spPr>
          <a:xfrm>
            <a:off x="2613339" y="3439170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8"/>
          <p:cNvSpPr/>
          <p:nvPr/>
        </p:nvSpPr>
        <p:spPr>
          <a:xfrm>
            <a:off x="2822856" y="3324903"/>
            <a:ext cx="20559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~10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8"/>
          <p:cNvSpPr/>
          <p:nvPr/>
        </p:nvSpPr>
        <p:spPr>
          <a:xfrm>
            <a:off x="1066767" y="3942374"/>
            <a:ext cx="7927121" cy="17182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JOIN — INNER, LEFT, RIGHT, FULL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8"/>
          <p:cNvSpPr/>
          <p:nvPr/>
        </p:nvSpPr>
        <p:spPr>
          <a:xfrm>
            <a:off x="1066767" y="6158508"/>
            <a:ext cx="7419295" cy="944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Dữ liệu thật nằm rải ở nhiều bảng — JOIN gom chúng lại.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8"/>
          <p:cNvSpPr/>
          <p:nvPr/>
        </p:nvSpPr>
        <p:spPr>
          <a:xfrm>
            <a:off x="9525001" y="2428875"/>
            <a:ext cx="7696234" cy="5524500"/>
          </a:xfrm>
          <a:prstGeom prst="roundRect">
            <a:avLst>
              <a:gd fmla="val 3103" name="adj"/>
            </a:avLst>
          </a:prstGeom>
          <a:solidFill>
            <a:srgbClr val="1B1B25"/>
          </a:solidFill>
          <a:ln cap="flat" cmpd="sng" w="10575">
            <a:solidFill>
              <a:srgbClr val="FFFFFF">
                <a:alpha val="2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8"/>
          <p:cNvSpPr/>
          <p:nvPr/>
        </p:nvSpPr>
        <p:spPr>
          <a:xfrm>
            <a:off x="12713246" y="4869408"/>
            <a:ext cx="131974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AI IMAGE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8"/>
          <p:cNvSpPr/>
          <p:nvPr/>
        </p:nvSpPr>
        <p:spPr>
          <a:xfrm>
            <a:off x="11018112" y="5242967"/>
            <a:ext cx="4709927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A6A4B6"/>
                </a:solidFill>
                <a:latin typeface="Courier New"/>
                <a:ea typeface="Courier New"/>
                <a:cs typeface="Courier New"/>
                <a:sym typeface="Courier New"/>
              </a:rPr>
              <a:t>Hai bảng ghép lại qua khoá chung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8"/>
          <p:cNvSpPr/>
          <p:nvPr/>
        </p:nvSpPr>
        <p:spPr>
          <a:xfrm>
            <a:off x="15531952" y="9601234"/>
            <a:ext cx="176548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S3 · Lecture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9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9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9"/>
          <p:cNvSpPr/>
          <p:nvPr/>
        </p:nvSpPr>
        <p:spPr>
          <a:xfrm>
            <a:off x="1707555" y="884204"/>
            <a:ext cx="15878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Nối các bảng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9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Vì sao cần JOIN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9"/>
          <p:cNvSpPr/>
          <p:nvPr/>
        </p:nvSpPr>
        <p:spPr>
          <a:xfrm>
            <a:off x="1066767" y="5190960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9"/>
          <p:cNvSpPr/>
          <p:nvPr/>
        </p:nvSpPr>
        <p:spPr>
          <a:xfrm>
            <a:off x="1438176" y="5054947"/>
            <a:ext cx="7544569" cy="905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Thông tin khách hàng ở một bảng, đơn hàng ở bảng khác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9"/>
          <p:cNvSpPr/>
          <p:nvPr/>
        </p:nvSpPr>
        <p:spPr>
          <a:xfrm>
            <a:off x="1066767" y="6287327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9"/>
          <p:cNvSpPr/>
          <p:nvPr/>
        </p:nvSpPr>
        <p:spPr>
          <a:xfrm>
            <a:off x="1438176" y="6193648"/>
            <a:ext cx="1192328" cy="397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Nối qua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9"/>
          <p:cNvSpPr/>
          <p:nvPr/>
        </p:nvSpPr>
        <p:spPr>
          <a:xfrm>
            <a:off x="2644262" y="6161898"/>
            <a:ext cx="2156983" cy="445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khoá liên kết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9"/>
          <p:cNvSpPr/>
          <p:nvPr/>
        </p:nvSpPr>
        <p:spPr>
          <a:xfrm>
            <a:off x="4815003" y="6193648"/>
            <a:ext cx="1767963" cy="397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(key) chung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9"/>
          <p:cNvSpPr/>
          <p:nvPr/>
        </p:nvSpPr>
        <p:spPr>
          <a:xfrm>
            <a:off x="1438176" y="6647656"/>
            <a:ext cx="7068169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Khoá ngoại — foreign key — trỏ về khoá chính của bảng kia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9"/>
          <p:cNvSpPr/>
          <p:nvPr/>
        </p:nvSpPr>
        <p:spPr>
          <a:xfrm>
            <a:off x="10579614" y="5225355"/>
            <a:ext cx="2247884" cy="1598910"/>
          </a:xfrm>
          <a:prstGeom prst="roundRect">
            <a:avLst>
              <a:gd fmla="val 7149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9"/>
          <p:cNvSpPr/>
          <p:nvPr/>
        </p:nvSpPr>
        <p:spPr>
          <a:xfrm>
            <a:off x="10590197" y="5235939"/>
            <a:ext cx="2226717" cy="549176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9"/>
          <p:cNvSpPr/>
          <p:nvPr/>
        </p:nvSpPr>
        <p:spPr>
          <a:xfrm>
            <a:off x="10780697" y="5359764"/>
            <a:ext cx="1921917" cy="3396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5F3EE"/>
                </a:solidFill>
                <a:latin typeface="Courier New"/>
                <a:ea typeface="Courier New"/>
                <a:cs typeface="Courier New"/>
                <a:sym typeface="Courier New"/>
              </a:rPr>
              <a:t>customers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9"/>
          <p:cNvSpPr/>
          <p:nvPr/>
        </p:nvSpPr>
        <p:spPr>
          <a:xfrm>
            <a:off x="10590197" y="5785115"/>
            <a:ext cx="222671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9"/>
          <p:cNvSpPr/>
          <p:nvPr/>
        </p:nvSpPr>
        <p:spPr>
          <a:xfrm>
            <a:off x="10780697" y="5904707"/>
            <a:ext cx="1921917" cy="339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id (PK)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9"/>
          <p:cNvSpPr/>
          <p:nvPr/>
        </p:nvSpPr>
        <p:spPr>
          <a:xfrm>
            <a:off x="10590197" y="6320565"/>
            <a:ext cx="222671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9"/>
          <p:cNvSpPr/>
          <p:nvPr/>
        </p:nvSpPr>
        <p:spPr>
          <a:xfrm>
            <a:off x="10780697" y="6440157"/>
            <a:ext cx="1921917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9"/>
          <p:cNvSpPr/>
          <p:nvPr/>
        </p:nvSpPr>
        <p:spPr>
          <a:xfrm>
            <a:off x="12827497" y="6012904"/>
            <a:ext cx="742900" cy="23813"/>
          </a:xfrm>
          <a:prstGeom prst="rect">
            <a:avLst/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9"/>
          <p:cNvSpPr/>
          <p:nvPr/>
        </p:nvSpPr>
        <p:spPr>
          <a:xfrm>
            <a:off x="13570397" y="5225355"/>
            <a:ext cx="2596224" cy="1598910"/>
          </a:xfrm>
          <a:prstGeom prst="roundRect">
            <a:avLst>
              <a:gd fmla="val 7149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9"/>
          <p:cNvSpPr/>
          <p:nvPr/>
        </p:nvSpPr>
        <p:spPr>
          <a:xfrm>
            <a:off x="13580980" y="5235939"/>
            <a:ext cx="2575057" cy="549176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9"/>
          <p:cNvSpPr/>
          <p:nvPr/>
        </p:nvSpPr>
        <p:spPr>
          <a:xfrm>
            <a:off x="13771480" y="5359764"/>
            <a:ext cx="2271309" cy="3396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5F3EE"/>
                </a:solidFill>
                <a:latin typeface="Courier New"/>
                <a:ea typeface="Courier New"/>
                <a:cs typeface="Courier New"/>
                <a:sym typeface="Courier New"/>
              </a:rPr>
              <a:t>orders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9"/>
          <p:cNvSpPr/>
          <p:nvPr/>
        </p:nvSpPr>
        <p:spPr>
          <a:xfrm>
            <a:off x="13580980" y="5785115"/>
            <a:ext cx="257505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9"/>
          <p:cNvSpPr/>
          <p:nvPr/>
        </p:nvSpPr>
        <p:spPr>
          <a:xfrm>
            <a:off x="13771480" y="5904707"/>
            <a:ext cx="2271309" cy="339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customer_id (FK)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9"/>
          <p:cNvSpPr/>
          <p:nvPr/>
        </p:nvSpPr>
        <p:spPr>
          <a:xfrm>
            <a:off x="13580980" y="6320565"/>
            <a:ext cx="257505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9"/>
          <p:cNvSpPr/>
          <p:nvPr/>
        </p:nvSpPr>
        <p:spPr>
          <a:xfrm>
            <a:off x="13771480" y="6440157"/>
            <a:ext cx="2271309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amount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AE3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0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0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0"/>
          <p:cNvSpPr/>
          <p:nvPr/>
        </p:nvSpPr>
        <p:spPr>
          <a:xfrm>
            <a:off x="1707555" y="884204"/>
            <a:ext cx="15878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Nối các bảng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0"/>
          <p:cNvSpPr/>
          <p:nvPr/>
        </p:nvSpPr>
        <p:spPr>
          <a:xfrm>
            <a:off x="1066767" y="1577909"/>
            <a:ext cx="9641958" cy="1169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INNER JOIN — chỉ giữ dòng khớp cả hai bảng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0" name="Google Shape;54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767" y="4402750"/>
            <a:ext cx="7696234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0"/>
          <p:cNvSpPr/>
          <p:nvPr/>
        </p:nvSpPr>
        <p:spPr>
          <a:xfrm>
            <a:off x="9525001" y="5892933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0"/>
          <p:cNvSpPr/>
          <p:nvPr/>
        </p:nvSpPr>
        <p:spPr>
          <a:xfrm>
            <a:off x="9896410" y="5756920"/>
            <a:ext cx="5783574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Là JOIN </a:t>
            </a: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mặc định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và dùng nhiều nhất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0"/>
          <p:cNvSpPr/>
          <p:nvPr/>
        </p:nvSpPr>
        <p:spPr>
          <a:xfrm>
            <a:off x="9525001" y="6560675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0"/>
          <p:cNvSpPr/>
          <p:nvPr/>
        </p:nvSpPr>
        <p:spPr>
          <a:xfrm>
            <a:off x="9896410" y="6424662"/>
            <a:ext cx="7427641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Loại bỏ mọi dòng không có cặp khớp ở cả hai bên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AE3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1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1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1"/>
          <p:cNvSpPr/>
          <p:nvPr/>
        </p:nvSpPr>
        <p:spPr>
          <a:xfrm>
            <a:off x="1707555" y="884204"/>
            <a:ext cx="15878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Nối các bảng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1"/>
          <p:cNvSpPr/>
          <p:nvPr/>
        </p:nvSpPr>
        <p:spPr>
          <a:xfrm>
            <a:off x="1066767" y="1577909"/>
            <a:ext cx="9641958" cy="1169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LEFT / RIGHT JOIN — giữ trọn một bên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4" name="Google Shape;55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767" y="4980781"/>
            <a:ext cx="7696234" cy="2653854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31"/>
          <p:cNvSpPr/>
          <p:nvPr/>
        </p:nvSpPr>
        <p:spPr>
          <a:xfrm>
            <a:off x="9525001" y="5556415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1"/>
          <p:cNvSpPr/>
          <p:nvPr/>
        </p:nvSpPr>
        <p:spPr>
          <a:xfrm>
            <a:off x="9896410" y="5420403"/>
            <a:ext cx="6287141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Giữ </a:t>
            </a: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tất cả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dòng của bảng trái (hoặc phải)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1"/>
          <p:cNvSpPr/>
          <p:nvPr/>
        </p:nvSpPr>
        <p:spPr>
          <a:xfrm>
            <a:off x="9525001" y="6224158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1"/>
          <p:cNvSpPr/>
          <p:nvPr/>
        </p:nvSpPr>
        <p:spPr>
          <a:xfrm>
            <a:off x="9896410" y="6088145"/>
            <a:ext cx="6390358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Không có cặp khớp → cột bên kia là </a:t>
            </a: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1"/>
          <p:cNvSpPr/>
          <p:nvPr/>
        </p:nvSpPr>
        <p:spPr>
          <a:xfrm>
            <a:off x="9525001" y="6891900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1"/>
          <p:cNvSpPr/>
          <p:nvPr/>
        </p:nvSpPr>
        <p:spPr>
          <a:xfrm>
            <a:off x="9896410" y="6755888"/>
            <a:ext cx="7311649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LEFT JOIN giúp tìm khách hàng </a:t>
            </a: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chưa từng mua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AE3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2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2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2"/>
          <p:cNvSpPr/>
          <p:nvPr/>
        </p:nvSpPr>
        <p:spPr>
          <a:xfrm>
            <a:off x="1707555" y="884204"/>
            <a:ext cx="15878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Nối các bảng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2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FULL JOIN &amp; self join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0" name="Google Shape;57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767" y="4119811"/>
            <a:ext cx="7696234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32"/>
          <p:cNvSpPr/>
          <p:nvPr/>
        </p:nvSpPr>
        <p:spPr>
          <a:xfrm>
            <a:off x="9525001" y="5405272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2"/>
          <p:cNvSpPr/>
          <p:nvPr/>
        </p:nvSpPr>
        <p:spPr>
          <a:xfrm>
            <a:off x="9896410" y="5269260"/>
            <a:ext cx="6945279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FULL JOIN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— giữ tất cả dòng của cả hai bảng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2"/>
          <p:cNvSpPr/>
          <p:nvPr/>
        </p:nvSpPr>
        <p:spPr>
          <a:xfrm>
            <a:off x="9525001" y="6073015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2"/>
          <p:cNvSpPr/>
          <p:nvPr/>
        </p:nvSpPr>
        <p:spPr>
          <a:xfrm>
            <a:off x="9896410" y="5947586"/>
            <a:ext cx="1387624" cy="445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Self join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2"/>
          <p:cNvSpPr/>
          <p:nvPr/>
        </p:nvSpPr>
        <p:spPr>
          <a:xfrm>
            <a:off x="11297792" y="5979336"/>
            <a:ext cx="4278833" cy="397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— nối một bảng với chính nó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2"/>
          <p:cNvSpPr/>
          <p:nvPr/>
        </p:nvSpPr>
        <p:spPr>
          <a:xfrm>
            <a:off x="9896410" y="6433344"/>
            <a:ext cx="5722256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Cho quan hệ phân cấp: nhân viên ↔ quản lý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3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3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3"/>
          <p:cNvSpPr/>
          <p:nvPr/>
        </p:nvSpPr>
        <p:spPr>
          <a:xfrm>
            <a:off x="1707555" y="884204"/>
            <a:ext cx="9632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3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3"/>
          <p:cNvSpPr/>
          <p:nvPr/>
        </p:nvSpPr>
        <p:spPr>
          <a:xfrm>
            <a:off x="1066767" y="2543721"/>
            <a:ext cx="1329614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3"/>
          <p:cNvSpPr/>
          <p:nvPr/>
        </p:nvSpPr>
        <p:spPr>
          <a:xfrm>
            <a:off x="1338759" y="2682363"/>
            <a:ext cx="861831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INNER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3"/>
          <p:cNvSpPr/>
          <p:nvPr/>
        </p:nvSpPr>
        <p:spPr>
          <a:xfrm>
            <a:off x="2548764" y="2543721"/>
            <a:ext cx="1201291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3"/>
          <p:cNvSpPr/>
          <p:nvPr/>
        </p:nvSpPr>
        <p:spPr>
          <a:xfrm>
            <a:off x="2820756" y="2682363"/>
            <a:ext cx="733508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3"/>
          <p:cNvSpPr/>
          <p:nvPr/>
        </p:nvSpPr>
        <p:spPr>
          <a:xfrm>
            <a:off x="3902439" y="2543721"/>
            <a:ext cx="1345324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3"/>
          <p:cNvSpPr/>
          <p:nvPr/>
        </p:nvSpPr>
        <p:spPr>
          <a:xfrm>
            <a:off x="4174431" y="2682363"/>
            <a:ext cx="877540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3"/>
          <p:cNvSpPr/>
          <p:nvPr/>
        </p:nvSpPr>
        <p:spPr>
          <a:xfrm>
            <a:off x="5400146" y="2543721"/>
            <a:ext cx="1219233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3"/>
          <p:cNvSpPr/>
          <p:nvPr/>
        </p:nvSpPr>
        <p:spPr>
          <a:xfrm>
            <a:off x="5672138" y="2682363"/>
            <a:ext cx="751450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FULL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3"/>
          <p:cNvSpPr/>
          <p:nvPr/>
        </p:nvSpPr>
        <p:spPr>
          <a:xfrm>
            <a:off x="6771763" y="2543721"/>
            <a:ext cx="1548970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3"/>
          <p:cNvSpPr/>
          <p:nvPr/>
        </p:nvSpPr>
        <p:spPr>
          <a:xfrm>
            <a:off x="7043754" y="2682363"/>
            <a:ext cx="1081187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Self join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3"/>
          <p:cNvSpPr/>
          <p:nvPr/>
        </p:nvSpPr>
        <p:spPr>
          <a:xfrm>
            <a:off x="1066767" y="8855108"/>
            <a:ext cx="6645591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Bài tiếp · Subquery &amp; CTE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3"/>
          <p:cNvSpPr/>
          <p:nvPr/>
        </p:nvSpPr>
        <p:spPr>
          <a:xfrm>
            <a:off x="7728314" y="8918609"/>
            <a:ext cx="46274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3240"/>
              <a:buFont typeface="Arial"/>
              <a:buNone/>
            </a:pPr>
            <a:r>
              <a:rPr b="1" i="0" lang="en-US" sz="324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4"/>
          <p:cNvSpPr/>
          <p:nvPr/>
        </p:nvSpPr>
        <p:spPr>
          <a:xfrm>
            <a:off x="1066767" y="3316966"/>
            <a:ext cx="147038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LECTURE 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4"/>
          <p:cNvSpPr/>
          <p:nvPr/>
        </p:nvSpPr>
        <p:spPr>
          <a:xfrm>
            <a:off x="2613339" y="3439170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4"/>
          <p:cNvSpPr/>
          <p:nvPr/>
        </p:nvSpPr>
        <p:spPr>
          <a:xfrm>
            <a:off x="2822856" y="3324903"/>
            <a:ext cx="19612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~9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4"/>
          <p:cNvSpPr/>
          <p:nvPr/>
        </p:nvSpPr>
        <p:spPr>
          <a:xfrm>
            <a:off x="1066767" y="3942374"/>
            <a:ext cx="7927121" cy="17182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Subquery &amp; CTE (mệnh đề WITH)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4"/>
          <p:cNvSpPr/>
          <p:nvPr/>
        </p:nvSpPr>
        <p:spPr>
          <a:xfrm>
            <a:off x="1066767" y="6158508"/>
            <a:ext cx="7419295" cy="944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Khi một câu SELECT không đủ, ta lồng chúng vào nhau.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4"/>
          <p:cNvSpPr/>
          <p:nvPr/>
        </p:nvSpPr>
        <p:spPr>
          <a:xfrm>
            <a:off x="9525001" y="2428875"/>
            <a:ext cx="7696234" cy="5524500"/>
          </a:xfrm>
          <a:prstGeom prst="roundRect">
            <a:avLst>
              <a:gd fmla="val 3103" name="adj"/>
            </a:avLst>
          </a:prstGeom>
          <a:solidFill>
            <a:srgbClr val="1B1B25"/>
          </a:solidFill>
          <a:ln cap="flat" cmpd="sng" w="10575">
            <a:solidFill>
              <a:srgbClr val="FFFFFF">
                <a:alpha val="2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4"/>
          <p:cNvSpPr/>
          <p:nvPr/>
        </p:nvSpPr>
        <p:spPr>
          <a:xfrm>
            <a:off x="12713246" y="4869408"/>
            <a:ext cx="131974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AI IMAGE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4"/>
          <p:cNvSpPr/>
          <p:nvPr/>
        </p:nvSpPr>
        <p:spPr>
          <a:xfrm>
            <a:off x="11312519" y="5242967"/>
            <a:ext cx="4121196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A6A4B6"/>
                </a:solidFill>
                <a:latin typeface="Courier New"/>
                <a:ea typeface="Courier New"/>
                <a:cs typeface="Courier New"/>
                <a:sym typeface="Courier New"/>
              </a:rPr>
              <a:t>Truy vấn lồng trong truy vấn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4"/>
          <p:cNvSpPr/>
          <p:nvPr/>
        </p:nvSpPr>
        <p:spPr>
          <a:xfrm>
            <a:off x="15527652" y="9601234"/>
            <a:ext cx="176978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S3 · Lecture 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5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5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5"/>
          <p:cNvSpPr/>
          <p:nvPr/>
        </p:nvSpPr>
        <p:spPr>
          <a:xfrm>
            <a:off x="1707555" y="884204"/>
            <a:ext cx="22083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Truy vấn lồng nhau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5"/>
          <p:cNvSpPr/>
          <p:nvPr/>
        </p:nvSpPr>
        <p:spPr>
          <a:xfrm>
            <a:off x="1066767" y="1577909"/>
            <a:ext cx="9641958" cy="1169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Subquery — truy vấn bên trong truy vấn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5"/>
          <p:cNvSpPr/>
          <p:nvPr/>
        </p:nvSpPr>
        <p:spPr>
          <a:xfrm>
            <a:off x="1066767" y="4036632"/>
            <a:ext cx="16154467" cy="3617350"/>
          </a:xfrm>
          <a:prstGeom prst="roundRect">
            <a:avLst>
              <a:gd fmla="val 4740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5"/>
          <p:cNvSpPr/>
          <p:nvPr/>
        </p:nvSpPr>
        <p:spPr>
          <a:xfrm>
            <a:off x="1491159" y="4403874"/>
            <a:ext cx="15790318" cy="2920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6F6C88"/>
              </a:buClr>
              <a:buSzPts val="2250"/>
              <a:buFont typeface="Courier New"/>
              <a:buNone/>
            </a:pPr>
            <a:r>
              <a:rPr b="0" i="1" lang="en-US" sz="2250" u="none" cap="none" strike="noStrike">
                <a:solidFill>
                  <a:srgbClr val="6F6C88"/>
                </a:solidFill>
                <a:latin typeface="Courier New"/>
                <a:ea typeface="Courier New"/>
                <a:cs typeface="Courier New"/>
                <a:sym typeface="Courier New"/>
              </a:rPr>
              <a:t>-- Khách hàng chi tiêu trên mức trung bình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name, total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customers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total </a:t>
            </a:r>
            <a:r>
              <a:rPr b="0" i="0" lang="en-US" sz="2250" u="none" cap="none" strike="noStrike">
                <a:solidFill>
                  <a:srgbClr val="9AA0B3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2250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avg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(total)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customers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5"/>
          <p:cNvSpPr/>
          <p:nvPr/>
        </p:nvSpPr>
        <p:spPr>
          <a:xfrm>
            <a:off x="1066767" y="8002076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5"/>
          <p:cNvSpPr/>
          <p:nvPr/>
        </p:nvSpPr>
        <p:spPr>
          <a:xfrm>
            <a:off x="1257184" y="7887808"/>
            <a:ext cx="68311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Subquery có thể đặt trong WHERE, FROM hoặc SELECT.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6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6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6"/>
          <p:cNvSpPr/>
          <p:nvPr/>
        </p:nvSpPr>
        <p:spPr>
          <a:xfrm>
            <a:off x="1707555" y="884204"/>
            <a:ext cx="22083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Truy vấn lồng nhau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6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Subquery tương quan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6"/>
          <p:cNvSpPr/>
          <p:nvPr/>
        </p:nvSpPr>
        <p:spPr>
          <a:xfrm>
            <a:off x="1066767" y="4111377"/>
            <a:ext cx="7696234" cy="3826867"/>
          </a:xfrm>
          <a:prstGeom prst="roundRect">
            <a:avLst>
              <a:gd fmla="val 4480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6"/>
          <p:cNvSpPr/>
          <p:nvPr/>
        </p:nvSpPr>
        <p:spPr>
          <a:xfrm>
            <a:off x="1434009" y="4421469"/>
            <a:ext cx="7192637" cy="3244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F6C88"/>
              </a:buClr>
              <a:buSzPts val="1875"/>
              <a:buFont typeface="Courier New"/>
              <a:buNone/>
            </a:pPr>
            <a:r>
              <a:rPr b="0" i="1" lang="en-US" sz="1875" u="none" cap="none" strike="noStrike">
                <a:solidFill>
                  <a:srgbClr val="6F6C88"/>
                </a:solidFill>
                <a:latin typeface="Courier New"/>
                <a:ea typeface="Courier New"/>
                <a:cs typeface="Courier New"/>
                <a:sym typeface="Courier New"/>
              </a:rPr>
              <a:t>-- Phụ thuộc từng dòng bảng ngoài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name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customers c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total </a:t>
            </a:r>
            <a:r>
              <a:rPr b="0" i="0" lang="en-US" sz="1875" u="none" cap="none" strike="noStrike">
                <a:solidFill>
                  <a:srgbClr val="9AA0B3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75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avg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(total)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customers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city = c.city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6"/>
          <p:cNvSpPr/>
          <p:nvPr/>
        </p:nvSpPr>
        <p:spPr>
          <a:xfrm>
            <a:off x="9525001" y="5607348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6"/>
          <p:cNvSpPr/>
          <p:nvPr/>
        </p:nvSpPr>
        <p:spPr>
          <a:xfrm>
            <a:off x="9896410" y="5471336"/>
            <a:ext cx="6979770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Chạy lặp lại cho </a:t>
            </a: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từng dòng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của truy vấn ngoài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6"/>
          <p:cNvSpPr/>
          <p:nvPr/>
        </p:nvSpPr>
        <p:spPr>
          <a:xfrm>
            <a:off x="9525001" y="6275090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6"/>
          <p:cNvSpPr/>
          <p:nvPr/>
        </p:nvSpPr>
        <p:spPr>
          <a:xfrm>
            <a:off x="9896410" y="6139078"/>
            <a:ext cx="6347862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Rất mạnh nhưng </a:t>
            </a: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chậm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— lưu ý hiệu năng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7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7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7"/>
          <p:cNvSpPr/>
          <p:nvPr/>
        </p:nvSpPr>
        <p:spPr>
          <a:xfrm>
            <a:off x="1707555" y="884204"/>
            <a:ext cx="22083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Truy vấn lồng nhau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7"/>
          <p:cNvSpPr/>
          <p:nvPr/>
        </p:nvSpPr>
        <p:spPr>
          <a:xfrm>
            <a:off x="1066767" y="1577909"/>
            <a:ext cx="9641958" cy="1169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CTE (WITH) — đặt tên cho truy vấn con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7"/>
          <p:cNvSpPr/>
          <p:nvPr/>
        </p:nvSpPr>
        <p:spPr>
          <a:xfrm>
            <a:off x="1066767" y="4268060"/>
            <a:ext cx="16154467" cy="3154495"/>
          </a:xfrm>
          <a:prstGeom prst="roundRect">
            <a:avLst>
              <a:gd fmla="val 5435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7"/>
          <p:cNvSpPr/>
          <p:nvPr/>
        </p:nvSpPr>
        <p:spPr>
          <a:xfrm>
            <a:off x="1491159" y="4635302"/>
            <a:ext cx="15790318" cy="24581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vip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customer_id, </a:t>
            </a:r>
            <a:r>
              <a:rPr b="0" i="0" lang="en-US" sz="2250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(amount)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total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orders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GROUP BY 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customer_id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vip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total </a:t>
            </a:r>
            <a:r>
              <a:rPr b="0" i="0" lang="en-US" sz="2250" u="none" cap="none" strike="noStrike">
                <a:solidFill>
                  <a:srgbClr val="9AA0B3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2250" u="none" cap="none" strike="noStrike">
                <a:solidFill>
                  <a:srgbClr val="F49B9B"/>
                </a:solidFill>
                <a:latin typeface="Courier New"/>
                <a:ea typeface="Courier New"/>
                <a:cs typeface="Courier New"/>
                <a:sym typeface="Courier New"/>
              </a:rPr>
              <a:t>10000000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7"/>
          <p:cNvSpPr/>
          <p:nvPr/>
        </p:nvSpPr>
        <p:spPr>
          <a:xfrm>
            <a:off x="1066767" y="7770648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7"/>
          <p:cNvSpPr/>
          <p:nvPr/>
        </p:nvSpPr>
        <p:spPr>
          <a:xfrm>
            <a:off x="1257184" y="7656380"/>
            <a:ext cx="601709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Dễ đọc hơn nhiều so với subquery lồng nhiều tầng.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AE3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8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8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8"/>
          <p:cNvSpPr/>
          <p:nvPr/>
        </p:nvSpPr>
        <p:spPr>
          <a:xfrm>
            <a:off x="1707555" y="884204"/>
            <a:ext cx="22083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Truy vấn lồng nhau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8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CTE đệ quy — cho dữ liệu phân cấp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8"/>
          <p:cNvSpPr/>
          <p:nvPr/>
        </p:nvSpPr>
        <p:spPr>
          <a:xfrm>
            <a:off x="1066767" y="5410564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8"/>
          <p:cNvSpPr/>
          <p:nvPr/>
        </p:nvSpPr>
        <p:spPr>
          <a:xfrm>
            <a:off x="1438176" y="5274552"/>
            <a:ext cx="4029817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Truy vấn tự gọi lại chính nó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8"/>
          <p:cNvSpPr/>
          <p:nvPr/>
        </p:nvSpPr>
        <p:spPr>
          <a:xfrm>
            <a:off x="1066767" y="6073015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8"/>
          <p:cNvSpPr/>
          <p:nvPr/>
        </p:nvSpPr>
        <p:spPr>
          <a:xfrm>
            <a:off x="1438176" y="5974044"/>
            <a:ext cx="4821660" cy="397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Cho dữ liệu dạng cây / phân cấp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8"/>
          <p:cNvSpPr/>
          <p:nvPr/>
        </p:nvSpPr>
        <p:spPr>
          <a:xfrm>
            <a:off x="1438176" y="6428052"/>
            <a:ext cx="5460977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Sơ đồ tổ chức, danh mục sản phẩm lồng nhau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8"/>
          <p:cNvSpPr/>
          <p:nvPr/>
        </p:nvSpPr>
        <p:spPr>
          <a:xfrm>
            <a:off x="9525001" y="4966064"/>
            <a:ext cx="7696234" cy="616975"/>
          </a:xfrm>
          <a:prstGeom prst="roundRect">
            <a:avLst>
              <a:gd fmla="val 21614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8"/>
          <p:cNvSpPr/>
          <p:nvPr/>
        </p:nvSpPr>
        <p:spPr>
          <a:xfrm>
            <a:off x="9745134" y="5129048"/>
            <a:ext cx="7486854" cy="329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Courier New"/>
                <a:ea typeface="Courier New"/>
                <a:cs typeface="Courier New"/>
                <a:sym typeface="Courier New"/>
              </a:rPr>
              <a:t>Điện tử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8"/>
          <p:cNvSpPr/>
          <p:nvPr/>
        </p:nvSpPr>
        <p:spPr>
          <a:xfrm>
            <a:off x="10039285" y="5716323"/>
            <a:ext cx="7181949" cy="616975"/>
          </a:xfrm>
          <a:prstGeom prst="roundRect">
            <a:avLst>
              <a:gd fmla="val 21614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8"/>
          <p:cNvSpPr/>
          <p:nvPr/>
        </p:nvSpPr>
        <p:spPr>
          <a:xfrm>
            <a:off x="10259418" y="5879306"/>
            <a:ext cx="6957141" cy="329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Courier New"/>
                <a:ea typeface="Courier New"/>
                <a:cs typeface="Courier New"/>
                <a:sym typeface="Courier New"/>
              </a:rPr>
              <a:t>└ Điện thoại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8"/>
          <p:cNvSpPr/>
          <p:nvPr/>
        </p:nvSpPr>
        <p:spPr>
          <a:xfrm>
            <a:off x="10553651" y="6466583"/>
            <a:ext cx="6667583" cy="616975"/>
          </a:xfrm>
          <a:prstGeom prst="roundRect">
            <a:avLst>
              <a:gd fmla="val 21614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8"/>
          <p:cNvSpPr/>
          <p:nvPr/>
        </p:nvSpPr>
        <p:spPr>
          <a:xfrm>
            <a:off x="10773784" y="6629566"/>
            <a:ext cx="6427344" cy="329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Courier New"/>
                <a:ea typeface="Courier New"/>
                <a:cs typeface="Courier New"/>
                <a:sym typeface="Courier New"/>
              </a:rPr>
              <a:t>└ iPhone 15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9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9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9"/>
          <p:cNvSpPr/>
          <p:nvPr/>
        </p:nvSpPr>
        <p:spPr>
          <a:xfrm>
            <a:off x="1707555" y="884204"/>
            <a:ext cx="9632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9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9"/>
          <p:cNvSpPr/>
          <p:nvPr/>
        </p:nvSpPr>
        <p:spPr>
          <a:xfrm>
            <a:off x="1066767" y="2543721"/>
            <a:ext cx="1752369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9"/>
          <p:cNvSpPr/>
          <p:nvPr/>
        </p:nvSpPr>
        <p:spPr>
          <a:xfrm>
            <a:off x="1338759" y="2682363"/>
            <a:ext cx="1284585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Subquery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9"/>
          <p:cNvSpPr/>
          <p:nvPr/>
        </p:nvSpPr>
        <p:spPr>
          <a:xfrm>
            <a:off x="2971519" y="2543721"/>
            <a:ext cx="2033488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9"/>
          <p:cNvSpPr/>
          <p:nvPr/>
        </p:nvSpPr>
        <p:spPr>
          <a:xfrm>
            <a:off x="3243511" y="2682363"/>
            <a:ext cx="1565705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CTE (WITH)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9"/>
          <p:cNvSpPr/>
          <p:nvPr/>
        </p:nvSpPr>
        <p:spPr>
          <a:xfrm>
            <a:off x="5157391" y="2543721"/>
            <a:ext cx="1974619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9"/>
          <p:cNvSpPr/>
          <p:nvPr/>
        </p:nvSpPr>
        <p:spPr>
          <a:xfrm>
            <a:off x="5429383" y="2682363"/>
            <a:ext cx="1506835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CTE đệ quy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/>
          <p:cNvSpPr/>
          <p:nvPr/>
        </p:nvSpPr>
        <p:spPr>
          <a:xfrm>
            <a:off x="1066767" y="8855108"/>
            <a:ext cx="6885069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Bài tiếp · Window function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9"/>
          <p:cNvSpPr/>
          <p:nvPr/>
        </p:nvSpPr>
        <p:spPr>
          <a:xfrm>
            <a:off x="7960817" y="8918609"/>
            <a:ext cx="46274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3240"/>
              <a:buFont typeface="Arial"/>
              <a:buNone/>
            </a:pPr>
            <a:r>
              <a:rPr b="1" i="0" lang="en-US" sz="324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0"/>
          <p:cNvSpPr/>
          <p:nvPr/>
        </p:nvSpPr>
        <p:spPr>
          <a:xfrm>
            <a:off x="1066767" y="3123654"/>
            <a:ext cx="147038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LECTURE 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40"/>
          <p:cNvSpPr/>
          <p:nvPr/>
        </p:nvSpPr>
        <p:spPr>
          <a:xfrm>
            <a:off x="2613339" y="3245859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40"/>
          <p:cNvSpPr/>
          <p:nvPr/>
        </p:nvSpPr>
        <p:spPr>
          <a:xfrm>
            <a:off x="2822856" y="3131592"/>
            <a:ext cx="197045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~11 phút · 7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40"/>
          <p:cNvSpPr/>
          <p:nvPr/>
        </p:nvSpPr>
        <p:spPr>
          <a:xfrm>
            <a:off x="1066767" y="3749063"/>
            <a:ext cx="7927121" cy="25582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Window function — ROW_NUMBER, RANK, LAG, LEAD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40"/>
          <p:cNvSpPr/>
          <p:nvPr/>
        </p:nvSpPr>
        <p:spPr>
          <a:xfrm>
            <a:off x="1066767" y="6805249"/>
            <a:ext cx="7419295" cy="4914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Biết phần này, bạn vượt 80% người học SQL.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40"/>
          <p:cNvSpPr/>
          <p:nvPr/>
        </p:nvSpPr>
        <p:spPr>
          <a:xfrm>
            <a:off x="9525001" y="2428875"/>
            <a:ext cx="7696234" cy="5524500"/>
          </a:xfrm>
          <a:prstGeom prst="roundRect">
            <a:avLst>
              <a:gd fmla="val 3103" name="adj"/>
            </a:avLst>
          </a:prstGeom>
          <a:solidFill>
            <a:srgbClr val="1B1B25"/>
          </a:solidFill>
          <a:ln cap="flat" cmpd="sng" w="10575">
            <a:solidFill>
              <a:srgbClr val="FFFFFF">
                <a:alpha val="2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40"/>
          <p:cNvSpPr/>
          <p:nvPr/>
        </p:nvSpPr>
        <p:spPr>
          <a:xfrm>
            <a:off x="12713246" y="4869408"/>
            <a:ext cx="131974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AI IMAGE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40"/>
          <p:cNvSpPr/>
          <p:nvPr/>
        </p:nvSpPr>
        <p:spPr>
          <a:xfrm>
            <a:off x="10870950" y="5242967"/>
            <a:ext cx="5004334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A6A4B6"/>
                </a:solidFill>
                <a:latin typeface="Courier New"/>
                <a:ea typeface="Courier New"/>
                <a:cs typeface="Courier New"/>
                <a:sym typeface="Courier New"/>
              </a:rPr>
              <a:t>Cửa sổ trượt trên một bảng dữ liệu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0"/>
          <p:cNvSpPr/>
          <p:nvPr/>
        </p:nvSpPr>
        <p:spPr>
          <a:xfrm>
            <a:off x="15549811" y="9601234"/>
            <a:ext cx="174762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S3 · Lecture 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AE3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1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41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41"/>
          <p:cNvSpPr/>
          <p:nvPr/>
        </p:nvSpPr>
        <p:spPr>
          <a:xfrm>
            <a:off x="1707555" y="884204"/>
            <a:ext cx="2010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Window function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1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Window function là gì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1"/>
          <p:cNvSpPr/>
          <p:nvPr/>
        </p:nvSpPr>
        <p:spPr>
          <a:xfrm>
            <a:off x="1066767" y="2543721"/>
            <a:ext cx="7927121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GROUP BY — GỘP MẤT DÒNG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1"/>
          <p:cNvSpPr/>
          <p:nvPr/>
        </p:nvSpPr>
        <p:spPr>
          <a:xfrm>
            <a:off x="1066767" y="3081321"/>
            <a:ext cx="7696234" cy="1063460"/>
          </a:xfrm>
          <a:prstGeom prst="roundRect">
            <a:avLst>
              <a:gd fmla="val 10748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41"/>
          <p:cNvSpPr/>
          <p:nvPr/>
        </p:nvSpPr>
        <p:spPr>
          <a:xfrm>
            <a:off x="1077350" y="3091905"/>
            <a:ext cx="7675067" cy="549176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41"/>
          <p:cNvSpPr/>
          <p:nvPr/>
        </p:nvSpPr>
        <p:spPr>
          <a:xfrm>
            <a:off x="1267850" y="3215730"/>
            <a:ext cx="7524319" cy="3396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5F3EE"/>
                </a:solidFill>
                <a:latin typeface="Courier New"/>
                <a:ea typeface="Courier New"/>
                <a:cs typeface="Courier New"/>
                <a:sym typeface="Courier New"/>
              </a:rPr>
              <a:t>3 dòng →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41"/>
          <p:cNvSpPr/>
          <p:nvPr/>
        </p:nvSpPr>
        <p:spPr>
          <a:xfrm>
            <a:off x="1077350" y="3641080"/>
            <a:ext cx="767506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41"/>
          <p:cNvSpPr/>
          <p:nvPr/>
        </p:nvSpPr>
        <p:spPr>
          <a:xfrm>
            <a:off x="1267850" y="3760672"/>
            <a:ext cx="7524319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Bắc · 9.8M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41"/>
          <p:cNvSpPr/>
          <p:nvPr/>
        </p:nvSpPr>
        <p:spPr>
          <a:xfrm>
            <a:off x="9525001" y="2543721"/>
            <a:ext cx="7927121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WINDOW — GIỮ NGUYÊN DÒNG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41"/>
          <p:cNvSpPr/>
          <p:nvPr/>
        </p:nvSpPr>
        <p:spPr>
          <a:xfrm>
            <a:off x="9525001" y="3081321"/>
            <a:ext cx="7696234" cy="2049694"/>
          </a:xfrm>
          <a:prstGeom prst="roundRect">
            <a:avLst>
              <a:gd fmla="val 5576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41"/>
          <p:cNvSpPr/>
          <p:nvPr/>
        </p:nvSpPr>
        <p:spPr>
          <a:xfrm>
            <a:off x="9535584" y="3091905"/>
            <a:ext cx="7675067" cy="549176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41"/>
          <p:cNvSpPr/>
          <p:nvPr/>
        </p:nvSpPr>
        <p:spPr>
          <a:xfrm>
            <a:off x="9726084" y="3215730"/>
            <a:ext cx="7524319" cy="3396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5F3EE"/>
                </a:solidFill>
                <a:latin typeface="Courier New"/>
                <a:ea typeface="Courier New"/>
                <a:cs typeface="Courier New"/>
                <a:sym typeface="Courier New"/>
              </a:rPr>
              <a:t>3 dòng → 3 (thêm cột)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41"/>
          <p:cNvSpPr/>
          <p:nvPr/>
        </p:nvSpPr>
        <p:spPr>
          <a:xfrm>
            <a:off x="9535584" y="3641080"/>
            <a:ext cx="767506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41"/>
          <p:cNvSpPr/>
          <p:nvPr/>
        </p:nvSpPr>
        <p:spPr>
          <a:xfrm>
            <a:off x="9726084" y="3760672"/>
            <a:ext cx="7524319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Bắc · 3.1M · tổng 9.8M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41"/>
          <p:cNvSpPr/>
          <p:nvPr/>
        </p:nvSpPr>
        <p:spPr>
          <a:xfrm>
            <a:off x="9535584" y="4134197"/>
            <a:ext cx="767506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41"/>
          <p:cNvSpPr/>
          <p:nvPr/>
        </p:nvSpPr>
        <p:spPr>
          <a:xfrm>
            <a:off x="9726084" y="4253789"/>
            <a:ext cx="7524319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Bắc · 2.5M · tổng 9.8M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41"/>
          <p:cNvSpPr/>
          <p:nvPr/>
        </p:nvSpPr>
        <p:spPr>
          <a:xfrm>
            <a:off x="9535584" y="4627315"/>
            <a:ext cx="767506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41"/>
          <p:cNvSpPr/>
          <p:nvPr/>
        </p:nvSpPr>
        <p:spPr>
          <a:xfrm>
            <a:off x="9726084" y="4746906"/>
            <a:ext cx="7524319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Bắc · 4.2M · tổng 9.8M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2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2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42"/>
          <p:cNvSpPr/>
          <p:nvPr/>
        </p:nvSpPr>
        <p:spPr>
          <a:xfrm>
            <a:off x="1707555" y="884204"/>
            <a:ext cx="2010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Window function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2"/>
          <p:cNvSpPr/>
          <p:nvPr/>
        </p:nvSpPr>
        <p:spPr>
          <a:xfrm>
            <a:off x="1066767" y="1577909"/>
            <a:ext cx="9641958" cy="1169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OVER &amp; PARTITION BY — chia cửa sổ theo nhóm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42"/>
          <p:cNvSpPr/>
          <p:nvPr/>
        </p:nvSpPr>
        <p:spPr>
          <a:xfrm>
            <a:off x="1066767" y="4728270"/>
            <a:ext cx="16154467" cy="2202326"/>
          </a:xfrm>
          <a:prstGeom prst="roundRect">
            <a:avLst>
              <a:gd fmla="val 7785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42"/>
          <p:cNvSpPr/>
          <p:nvPr/>
        </p:nvSpPr>
        <p:spPr>
          <a:xfrm>
            <a:off x="1491159" y="5095511"/>
            <a:ext cx="15790318" cy="15059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name, region, amount,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62D3C6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(amount)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OVER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PARTITION BY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region)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tong_vung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orders;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42"/>
          <p:cNvSpPr/>
          <p:nvPr/>
        </p:nvSpPr>
        <p:spPr>
          <a:xfrm>
            <a:off x="1066767" y="7294563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42"/>
          <p:cNvSpPr/>
          <p:nvPr/>
        </p:nvSpPr>
        <p:spPr>
          <a:xfrm>
            <a:off x="1257184" y="7180296"/>
            <a:ext cx="517329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PARTITION BY giống GROUP BY — nhưng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2"/>
          <p:cNvSpPr/>
          <p:nvPr/>
        </p:nvSpPr>
        <p:spPr>
          <a:xfrm>
            <a:off x="6413087" y="7159129"/>
            <a:ext cx="1465015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giữ nguyên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42"/>
          <p:cNvSpPr/>
          <p:nvPr/>
        </p:nvSpPr>
        <p:spPr>
          <a:xfrm>
            <a:off x="7935185" y="7180296"/>
            <a:ext cx="169172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mọi dòng gốc.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3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3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43"/>
          <p:cNvSpPr/>
          <p:nvPr/>
        </p:nvSpPr>
        <p:spPr>
          <a:xfrm>
            <a:off x="1707555" y="884204"/>
            <a:ext cx="2010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Window function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43"/>
          <p:cNvSpPr/>
          <p:nvPr/>
        </p:nvSpPr>
        <p:spPr>
          <a:xfrm>
            <a:off x="1066767" y="1577909"/>
            <a:ext cx="9641958" cy="1169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ROW_NUMBER · RANK · DENSE_RANK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43"/>
          <p:cNvSpPr/>
          <p:nvPr/>
        </p:nvSpPr>
        <p:spPr>
          <a:xfrm>
            <a:off x="1066767" y="5030804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43"/>
          <p:cNvSpPr/>
          <p:nvPr/>
        </p:nvSpPr>
        <p:spPr>
          <a:xfrm>
            <a:off x="1314417" y="4515396"/>
            <a:ext cx="3830798" cy="3439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A8A9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A8A96"/>
                </a:solidFill>
                <a:latin typeface="Arial"/>
                <a:ea typeface="Arial"/>
                <a:cs typeface="Arial"/>
                <a:sym typeface="Arial"/>
              </a:rPr>
              <a:t>ĐIỂM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43"/>
          <p:cNvSpPr/>
          <p:nvPr/>
        </p:nvSpPr>
        <p:spPr>
          <a:xfrm>
            <a:off x="5266862" y="5030804"/>
            <a:ext cx="4870483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43"/>
          <p:cNvSpPr/>
          <p:nvPr/>
        </p:nvSpPr>
        <p:spPr>
          <a:xfrm>
            <a:off x="5514512" y="4515396"/>
            <a:ext cx="4521298" cy="3439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ROW_NUMBER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43"/>
          <p:cNvSpPr/>
          <p:nvPr/>
        </p:nvSpPr>
        <p:spPr>
          <a:xfrm>
            <a:off x="10137345" y="5030804"/>
            <a:ext cx="2488489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43"/>
          <p:cNvSpPr/>
          <p:nvPr/>
        </p:nvSpPr>
        <p:spPr>
          <a:xfrm>
            <a:off x="10384995" y="4515396"/>
            <a:ext cx="2069389" cy="3439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RANK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43"/>
          <p:cNvSpPr/>
          <p:nvPr/>
        </p:nvSpPr>
        <p:spPr>
          <a:xfrm>
            <a:off x="12625835" y="5030804"/>
            <a:ext cx="4595399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43"/>
          <p:cNvSpPr/>
          <p:nvPr/>
        </p:nvSpPr>
        <p:spPr>
          <a:xfrm>
            <a:off x="12873485" y="4515396"/>
            <a:ext cx="4237961" cy="3439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DENSE_RANK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43"/>
          <p:cNvSpPr/>
          <p:nvPr/>
        </p:nvSpPr>
        <p:spPr>
          <a:xfrm>
            <a:off x="1066767" y="5802230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43"/>
          <p:cNvSpPr/>
          <p:nvPr/>
        </p:nvSpPr>
        <p:spPr>
          <a:xfrm>
            <a:off x="1314417" y="5245646"/>
            <a:ext cx="38307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95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43"/>
          <p:cNvSpPr/>
          <p:nvPr/>
        </p:nvSpPr>
        <p:spPr>
          <a:xfrm>
            <a:off x="5266862" y="5802230"/>
            <a:ext cx="4870483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43"/>
          <p:cNvSpPr/>
          <p:nvPr/>
        </p:nvSpPr>
        <p:spPr>
          <a:xfrm>
            <a:off x="5514512" y="5245646"/>
            <a:ext cx="45212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43"/>
          <p:cNvSpPr/>
          <p:nvPr/>
        </p:nvSpPr>
        <p:spPr>
          <a:xfrm>
            <a:off x="10137345" y="5802230"/>
            <a:ext cx="2488489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43"/>
          <p:cNvSpPr/>
          <p:nvPr/>
        </p:nvSpPr>
        <p:spPr>
          <a:xfrm>
            <a:off x="10384995" y="5245646"/>
            <a:ext cx="2069389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3"/>
          <p:cNvSpPr/>
          <p:nvPr/>
        </p:nvSpPr>
        <p:spPr>
          <a:xfrm>
            <a:off x="12625835" y="5802230"/>
            <a:ext cx="4595399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43"/>
          <p:cNvSpPr/>
          <p:nvPr/>
        </p:nvSpPr>
        <p:spPr>
          <a:xfrm>
            <a:off x="12873485" y="5245646"/>
            <a:ext cx="4237961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3"/>
          <p:cNvSpPr/>
          <p:nvPr/>
        </p:nvSpPr>
        <p:spPr>
          <a:xfrm>
            <a:off x="1066767" y="6573656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43"/>
          <p:cNvSpPr/>
          <p:nvPr/>
        </p:nvSpPr>
        <p:spPr>
          <a:xfrm>
            <a:off x="1314417" y="6017072"/>
            <a:ext cx="38307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95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3"/>
          <p:cNvSpPr/>
          <p:nvPr/>
        </p:nvSpPr>
        <p:spPr>
          <a:xfrm>
            <a:off x="5266862" y="6573656"/>
            <a:ext cx="4870483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43"/>
          <p:cNvSpPr/>
          <p:nvPr/>
        </p:nvSpPr>
        <p:spPr>
          <a:xfrm>
            <a:off x="5514512" y="6017072"/>
            <a:ext cx="45212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3"/>
          <p:cNvSpPr/>
          <p:nvPr/>
        </p:nvSpPr>
        <p:spPr>
          <a:xfrm>
            <a:off x="10137345" y="6573656"/>
            <a:ext cx="2488489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43"/>
          <p:cNvSpPr/>
          <p:nvPr/>
        </p:nvSpPr>
        <p:spPr>
          <a:xfrm>
            <a:off x="10384995" y="6017072"/>
            <a:ext cx="2069389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3"/>
          <p:cNvSpPr/>
          <p:nvPr/>
        </p:nvSpPr>
        <p:spPr>
          <a:xfrm>
            <a:off x="12625835" y="6573656"/>
            <a:ext cx="4595399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43"/>
          <p:cNvSpPr/>
          <p:nvPr/>
        </p:nvSpPr>
        <p:spPr>
          <a:xfrm>
            <a:off x="12873485" y="6017072"/>
            <a:ext cx="4237961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3"/>
          <p:cNvSpPr/>
          <p:nvPr/>
        </p:nvSpPr>
        <p:spPr>
          <a:xfrm>
            <a:off x="1066767" y="7345082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3"/>
          <p:cNvSpPr/>
          <p:nvPr/>
        </p:nvSpPr>
        <p:spPr>
          <a:xfrm>
            <a:off x="1314417" y="6788498"/>
            <a:ext cx="38307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88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43"/>
          <p:cNvSpPr/>
          <p:nvPr/>
        </p:nvSpPr>
        <p:spPr>
          <a:xfrm>
            <a:off x="5266862" y="7345082"/>
            <a:ext cx="4870483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43"/>
          <p:cNvSpPr/>
          <p:nvPr/>
        </p:nvSpPr>
        <p:spPr>
          <a:xfrm>
            <a:off x="5514512" y="6788498"/>
            <a:ext cx="45212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3"/>
          <p:cNvSpPr/>
          <p:nvPr/>
        </p:nvSpPr>
        <p:spPr>
          <a:xfrm>
            <a:off x="10137345" y="7345082"/>
            <a:ext cx="2488489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43"/>
          <p:cNvSpPr/>
          <p:nvPr/>
        </p:nvSpPr>
        <p:spPr>
          <a:xfrm>
            <a:off x="10384995" y="6788498"/>
            <a:ext cx="2069389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3"/>
          <p:cNvSpPr/>
          <p:nvPr/>
        </p:nvSpPr>
        <p:spPr>
          <a:xfrm>
            <a:off x="12625835" y="7345082"/>
            <a:ext cx="4595399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43"/>
          <p:cNvSpPr/>
          <p:nvPr/>
        </p:nvSpPr>
        <p:spPr>
          <a:xfrm>
            <a:off x="12873485" y="6788498"/>
            <a:ext cx="4237961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43"/>
          <p:cNvSpPr/>
          <p:nvPr/>
        </p:nvSpPr>
        <p:spPr>
          <a:xfrm>
            <a:off x="1066767" y="7716987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43"/>
          <p:cNvSpPr/>
          <p:nvPr/>
        </p:nvSpPr>
        <p:spPr>
          <a:xfrm>
            <a:off x="1257184" y="7602720"/>
            <a:ext cx="521272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Khác nhau khi có giá trị trùng — dùng để lấy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43"/>
          <p:cNvSpPr/>
          <p:nvPr/>
        </p:nvSpPr>
        <p:spPr>
          <a:xfrm>
            <a:off x="6451369" y="7581553"/>
            <a:ext cx="2118453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Top N mỗi nhóm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43"/>
          <p:cNvSpPr/>
          <p:nvPr/>
        </p:nvSpPr>
        <p:spPr>
          <a:xfrm>
            <a:off x="8626905" y="7602720"/>
            <a:ext cx="1477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4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44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44"/>
          <p:cNvSpPr/>
          <p:nvPr/>
        </p:nvSpPr>
        <p:spPr>
          <a:xfrm>
            <a:off x="1707555" y="884204"/>
            <a:ext cx="2010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Window function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44"/>
          <p:cNvSpPr/>
          <p:nvPr/>
        </p:nvSpPr>
        <p:spPr>
          <a:xfrm>
            <a:off x="1066767" y="1577909"/>
            <a:ext cx="9641958" cy="1169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LAG &amp; LEAD — so với kỳ trước / kỳ sau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44"/>
          <p:cNvSpPr/>
          <p:nvPr/>
        </p:nvSpPr>
        <p:spPr>
          <a:xfrm>
            <a:off x="1066767" y="4788545"/>
            <a:ext cx="7696234" cy="3038409"/>
          </a:xfrm>
          <a:prstGeom prst="roundRect">
            <a:avLst>
              <a:gd fmla="val 5643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44"/>
          <p:cNvSpPr/>
          <p:nvPr/>
        </p:nvSpPr>
        <p:spPr>
          <a:xfrm>
            <a:off x="1434009" y="5098637"/>
            <a:ext cx="7192637" cy="2456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F6C88"/>
              </a:buClr>
              <a:buSzPts val="1875"/>
              <a:buFont typeface="Courier New"/>
              <a:buNone/>
            </a:pPr>
            <a:r>
              <a:rPr b="0" i="1" lang="en-US" sz="1875" u="none" cap="none" strike="noStrike">
                <a:solidFill>
                  <a:srgbClr val="6F6C88"/>
                </a:solidFill>
                <a:latin typeface="Courier New"/>
                <a:ea typeface="Courier New"/>
                <a:cs typeface="Courier New"/>
                <a:sym typeface="Courier New"/>
              </a:rPr>
              <a:t>-- % tăng trưởng so tháng trước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month, revenue,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2D3C6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lag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(revenue)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OVER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ORDER BY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month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)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thang_truoc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monthly_sales;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44"/>
          <p:cNvSpPr/>
          <p:nvPr/>
        </p:nvSpPr>
        <p:spPr>
          <a:xfrm>
            <a:off x="9525001" y="5890287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44"/>
          <p:cNvSpPr/>
          <p:nvPr/>
        </p:nvSpPr>
        <p:spPr>
          <a:xfrm>
            <a:off x="9896410" y="5754274"/>
            <a:ext cx="6475947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LAG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lấy giá trị dòng trước, </a:t>
            </a: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LEAD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dòng sau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44"/>
          <p:cNvSpPr/>
          <p:nvPr/>
        </p:nvSpPr>
        <p:spPr>
          <a:xfrm>
            <a:off x="9525001" y="6558029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44"/>
          <p:cNvSpPr/>
          <p:nvPr/>
        </p:nvSpPr>
        <p:spPr>
          <a:xfrm>
            <a:off x="9896410" y="6422017"/>
            <a:ext cx="7213627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Cốt lõi cho phân tích </a:t>
            </a: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chuỗi thời gian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bằng SQL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5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45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45"/>
          <p:cNvSpPr/>
          <p:nvPr/>
        </p:nvSpPr>
        <p:spPr>
          <a:xfrm>
            <a:off x="1707555" y="884204"/>
            <a:ext cx="2010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Window function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45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Running total — tổng luỹ kế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45"/>
          <p:cNvSpPr/>
          <p:nvPr/>
        </p:nvSpPr>
        <p:spPr>
          <a:xfrm>
            <a:off x="1066767" y="4461206"/>
            <a:ext cx="16154467" cy="2202326"/>
          </a:xfrm>
          <a:prstGeom prst="roundRect">
            <a:avLst>
              <a:gd fmla="val 7785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45"/>
          <p:cNvSpPr/>
          <p:nvPr/>
        </p:nvSpPr>
        <p:spPr>
          <a:xfrm>
            <a:off x="1491159" y="4828448"/>
            <a:ext cx="15790318" cy="15059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date, amount,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62D3C6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(amount)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OVER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date)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luy_ke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orders;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45"/>
          <p:cNvSpPr/>
          <p:nvPr/>
        </p:nvSpPr>
        <p:spPr>
          <a:xfrm>
            <a:off x="1066767" y="7011624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45"/>
          <p:cNvSpPr/>
          <p:nvPr/>
        </p:nvSpPr>
        <p:spPr>
          <a:xfrm>
            <a:off x="1257184" y="6897357"/>
            <a:ext cx="596539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Cộng dồn theo thứ tự — dùng cho biểu đồ tích luỹ.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6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46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46"/>
          <p:cNvSpPr/>
          <p:nvPr/>
        </p:nvSpPr>
        <p:spPr>
          <a:xfrm>
            <a:off x="1707555" y="884204"/>
            <a:ext cx="9632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46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46"/>
          <p:cNvSpPr/>
          <p:nvPr/>
        </p:nvSpPr>
        <p:spPr>
          <a:xfrm>
            <a:off x="1066767" y="2543721"/>
            <a:ext cx="3252474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46"/>
          <p:cNvSpPr/>
          <p:nvPr/>
        </p:nvSpPr>
        <p:spPr>
          <a:xfrm>
            <a:off x="1338759" y="2682363"/>
            <a:ext cx="2806064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OVER · PARTITION BY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46"/>
          <p:cNvSpPr/>
          <p:nvPr/>
        </p:nvSpPr>
        <p:spPr>
          <a:xfrm>
            <a:off x="4471624" y="2543721"/>
            <a:ext cx="3403700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46"/>
          <p:cNvSpPr/>
          <p:nvPr/>
        </p:nvSpPr>
        <p:spPr>
          <a:xfrm>
            <a:off x="4743616" y="2682363"/>
            <a:ext cx="2961827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ROW_NUMBER · RANK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6"/>
          <p:cNvSpPr/>
          <p:nvPr/>
        </p:nvSpPr>
        <p:spPr>
          <a:xfrm>
            <a:off x="8027707" y="2543721"/>
            <a:ext cx="1983052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46"/>
          <p:cNvSpPr/>
          <p:nvPr/>
        </p:nvSpPr>
        <p:spPr>
          <a:xfrm>
            <a:off x="8299698" y="2682363"/>
            <a:ext cx="1515269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LAG · LEAD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46"/>
          <p:cNvSpPr/>
          <p:nvPr/>
        </p:nvSpPr>
        <p:spPr>
          <a:xfrm>
            <a:off x="10163142" y="2543721"/>
            <a:ext cx="2210181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46"/>
          <p:cNvSpPr/>
          <p:nvPr/>
        </p:nvSpPr>
        <p:spPr>
          <a:xfrm>
            <a:off x="10435134" y="2682363"/>
            <a:ext cx="1742397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Running total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6"/>
          <p:cNvSpPr/>
          <p:nvPr/>
        </p:nvSpPr>
        <p:spPr>
          <a:xfrm>
            <a:off x="1066767" y="8855108"/>
            <a:ext cx="8199982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Bài tiếp · Index &amp; tối ưu truy vấn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46"/>
          <p:cNvSpPr/>
          <p:nvPr/>
        </p:nvSpPr>
        <p:spPr>
          <a:xfrm>
            <a:off x="9237432" y="8918609"/>
            <a:ext cx="46274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3240"/>
              <a:buFont typeface="Arial"/>
              <a:buNone/>
            </a:pPr>
            <a:r>
              <a:rPr b="1" i="0" lang="en-US" sz="324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7"/>
          <p:cNvSpPr/>
          <p:nvPr/>
        </p:nvSpPr>
        <p:spPr>
          <a:xfrm>
            <a:off x="1066767" y="3316966"/>
            <a:ext cx="147038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LECTURE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47"/>
          <p:cNvSpPr/>
          <p:nvPr/>
        </p:nvSpPr>
        <p:spPr>
          <a:xfrm>
            <a:off x="2613339" y="3439170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47"/>
          <p:cNvSpPr/>
          <p:nvPr/>
        </p:nvSpPr>
        <p:spPr>
          <a:xfrm>
            <a:off x="2822856" y="3324903"/>
            <a:ext cx="19528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7"/>
          <p:cNvSpPr/>
          <p:nvPr/>
        </p:nvSpPr>
        <p:spPr>
          <a:xfrm>
            <a:off x="1066767" y="3942374"/>
            <a:ext cx="7927121" cy="17182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Index &amp; tối ưu truy vấn cơ bản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7"/>
          <p:cNvSpPr/>
          <p:nvPr/>
        </p:nvSpPr>
        <p:spPr>
          <a:xfrm>
            <a:off x="1066767" y="6158508"/>
            <a:ext cx="7419295" cy="944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Truy vấn chậm trên hàng triệu dòng — thường là do thiếu index.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7"/>
          <p:cNvSpPr/>
          <p:nvPr/>
        </p:nvSpPr>
        <p:spPr>
          <a:xfrm>
            <a:off x="9525001" y="2428875"/>
            <a:ext cx="7696234" cy="5524500"/>
          </a:xfrm>
          <a:prstGeom prst="roundRect">
            <a:avLst>
              <a:gd fmla="val 3103" name="adj"/>
            </a:avLst>
          </a:prstGeom>
          <a:solidFill>
            <a:srgbClr val="1B1B25"/>
          </a:solidFill>
          <a:ln cap="flat" cmpd="sng" w="10575">
            <a:solidFill>
              <a:srgbClr val="FFFFFF">
                <a:alpha val="2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47"/>
          <p:cNvSpPr/>
          <p:nvPr/>
        </p:nvSpPr>
        <p:spPr>
          <a:xfrm>
            <a:off x="12713246" y="4869408"/>
            <a:ext cx="131974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AI IMAGE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7"/>
          <p:cNvSpPr/>
          <p:nvPr/>
        </p:nvSpPr>
        <p:spPr>
          <a:xfrm>
            <a:off x="10944530" y="5242967"/>
            <a:ext cx="4857173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A6A4B6"/>
                </a:solidFill>
                <a:latin typeface="Courier New"/>
                <a:ea typeface="Courier New"/>
                <a:cs typeface="Courier New"/>
                <a:sym typeface="Courier New"/>
              </a:rPr>
              <a:t>Mục lục sách giúp tra cứu tức thì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47"/>
          <p:cNvSpPr/>
          <p:nvPr/>
        </p:nvSpPr>
        <p:spPr>
          <a:xfrm>
            <a:off x="15536087" y="9601234"/>
            <a:ext cx="17613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S3 · Lecture 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48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48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48"/>
          <p:cNvSpPr/>
          <p:nvPr/>
        </p:nvSpPr>
        <p:spPr>
          <a:xfrm>
            <a:off x="1707555" y="884204"/>
            <a:ext cx="17524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Tối ưu truy vấn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48"/>
          <p:cNvSpPr/>
          <p:nvPr/>
        </p:nvSpPr>
        <p:spPr>
          <a:xfrm>
            <a:off x="1066767" y="1577909"/>
            <a:ext cx="9641958" cy="1169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Index là gì — như mục lục của một cuốn sách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48"/>
          <p:cNvSpPr/>
          <p:nvPr/>
        </p:nvSpPr>
        <p:spPr>
          <a:xfrm>
            <a:off x="1066767" y="5165824"/>
            <a:ext cx="7820091" cy="1206417"/>
          </a:xfrm>
          <a:prstGeom prst="roundRect">
            <a:avLst>
              <a:gd fmla="val 11053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48"/>
          <p:cNvSpPr/>
          <p:nvPr/>
        </p:nvSpPr>
        <p:spPr>
          <a:xfrm>
            <a:off x="1195756" y="5424041"/>
            <a:ext cx="7562113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Không index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48"/>
          <p:cNvSpPr/>
          <p:nvPr/>
        </p:nvSpPr>
        <p:spPr>
          <a:xfrm>
            <a:off x="1195756" y="5828275"/>
            <a:ext cx="756211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đọc </a:t>
            </a: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từng dòng </a:t>
            </a: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· full table scan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48"/>
          <p:cNvSpPr/>
          <p:nvPr/>
        </p:nvSpPr>
        <p:spPr>
          <a:xfrm>
            <a:off x="8848759" y="5575846"/>
            <a:ext cx="590484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48"/>
          <p:cNvSpPr/>
          <p:nvPr/>
        </p:nvSpPr>
        <p:spPr>
          <a:xfrm>
            <a:off x="9401142" y="5179054"/>
            <a:ext cx="7820091" cy="1179959"/>
          </a:xfrm>
          <a:prstGeom prst="roundRect">
            <a:avLst>
              <a:gd fmla="val 11301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48"/>
          <p:cNvSpPr/>
          <p:nvPr/>
        </p:nvSpPr>
        <p:spPr>
          <a:xfrm>
            <a:off x="9530132" y="5437270"/>
            <a:ext cx="7562113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Có index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48"/>
          <p:cNvSpPr/>
          <p:nvPr/>
        </p:nvSpPr>
        <p:spPr>
          <a:xfrm>
            <a:off x="9530132" y="5841504"/>
            <a:ext cx="756211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nhảy thẳng tới dòng cần tìm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48"/>
          <p:cNvSpPr/>
          <p:nvPr/>
        </p:nvSpPr>
        <p:spPr>
          <a:xfrm>
            <a:off x="1066767" y="6872800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48"/>
          <p:cNvSpPr/>
          <p:nvPr/>
        </p:nvSpPr>
        <p:spPr>
          <a:xfrm>
            <a:off x="1257184" y="6758533"/>
            <a:ext cx="82024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Index là cấu trúc giúp database tìm dòng mà không cần quét cả bảng.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AE3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49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49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49"/>
          <p:cNvSpPr/>
          <p:nvPr/>
        </p:nvSpPr>
        <p:spPr>
          <a:xfrm>
            <a:off x="1707555" y="884204"/>
            <a:ext cx="17524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Tối ưu truy vấn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9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Đánh đổi của index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49"/>
          <p:cNvSpPr/>
          <p:nvPr/>
        </p:nvSpPr>
        <p:spPr>
          <a:xfrm>
            <a:off x="1066767" y="4758449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49"/>
          <p:cNvSpPr/>
          <p:nvPr/>
        </p:nvSpPr>
        <p:spPr>
          <a:xfrm>
            <a:off x="5266862" y="4758449"/>
            <a:ext cx="5045026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49"/>
          <p:cNvSpPr/>
          <p:nvPr/>
        </p:nvSpPr>
        <p:spPr>
          <a:xfrm>
            <a:off x="5514512" y="4243040"/>
            <a:ext cx="4701077" cy="3439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LỢI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9"/>
          <p:cNvSpPr/>
          <p:nvPr/>
        </p:nvSpPr>
        <p:spPr>
          <a:xfrm>
            <a:off x="10311888" y="4758449"/>
            <a:ext cx="6909346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49"/>
          <p:cNvSpPr/>
          <p:nvPr/>
        </p:nvSpPr>
        <p:spPr>
          <a:xfrm>
            <a:off x="10559538" y="4243040"/>
            <a:ext cx="6621327" cy="3439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A8A9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A8A96"/>
                </a:solidFill>
                <a:latin typeface="Arial"/>
                <a:ea typeface="Arial"/>
                <a:cs typeface="Arial"/>
                <a:sym typeface="Arial"/>
              </a:rPr>
              <a:t>CHI PHÍ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49"/>
          <p:cNvSpPr/>
          <p:nvPr/>
        </p:nvSpPr>
        <p:spPr>
          <a:xfrm>
            <a:off x="1066767" y="5529874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49"/>
          <p:cNvSpPr/>
          <p:nvPr/>
        </p:nvSpPr>
        <p:spPr>
          <a:xfrm>
            <a:off x="1314417" y="4973290"/>
            <a:ext cx="38307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Đọc (SELECT)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49"/>
          <p:cNvSpPr/>
          <p:nvPr/>
        </p:nvSpPr>
        <p:spPr>
          <a:xfrm>
            <a:off x="5266862" y="5529874"/>
            <a:ext cx="5045026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49"/>
          <p:cNvSpPr/>
          <p:nvPr/>
        </p:nvSpPr>
        <p:spPr>
          <a:xfrm>
            <a:off x="5514512" y="4973290"/>
            <a:ext cx="4701077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Nhanh hơn rất nhiều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49"/>
          <p:cNvSpPr/>
          <p:nvPr/>
        </p:nvSpPr>
        <p:spPr>
          <a:xfrm>
            <a:off x="10311888" y="5529874"/>
            <a:ext cx="6909346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49"/>
          <p:cNvSpPr/>
          <p:nvPr/>
        </p:nvSpPr>
        <p:spPr>
          <a:xfrm>
            <a:off x="10559538" y="4973290"/>
            <a:ext cx="6621327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9"/>
          <p:cNvSpPr/>
          <p:nvPr/>
        </p:nvSpPr>
        <p:spPr>
          <a:xfrm>
            <a:off x="1066767" y="6301300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49"/>
          <p:cNvSpPr/>
          <p:nvPr/>
        </p:nvSpPr>
        <p:spPr>
          <a:xfrm>
            <a:off x="1314417" y="5744716"/>
            <a:ext cx="38307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Ghi (INSERT/UPDATE)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49"/>
          <p:cNvSpPr/>
          <p:nvPr/>
        </p:nvSpPr>
        <p:spPr>
          <a:xfrm>
            <a:off x="5266862" y="6301300"/>
            <a:ext cx="5045026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49"/>
          <p:cNvSpPr/>
          <p:nvPr/>
        </p:nvSpPr>
        <p:spPr>
          <a:xfrm>
            <a:off x="5514512" y="5744716"/>
            <a:ext cx="4701077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49"/>
          <p:cNvSpPr/>
          <p:nvPr/>
        </p:nvSpPr>
        <p:spPr>
          <a:xfrm>
            <a:off x="10311888" y="6301300"/>
            <a:ext cx="6909346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49"/>
          <p:cNvSpPr/>
          <p:nvPr/>
        </p:nvSpPr>
        <p:spPr>
          <a:xfrm>
            <a:off x="10559538" y="5744716"/>
            <a:ext cx="6621327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Chậm hơn · phải cập nhật index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49"/>
          <p:cNvSpPr/>
          <p:nvPr/>
        </p:nvSpPr>
        <p:spPr>
          <a:xfrm>
            <a:off x="1066767" y="7072727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49"/>
          <p:cNvSpPr/>
          <p:nvPr/>
        </p:nvSpPr>
        <p:spPr>
          <a:xfrm>
            <a:off x="1314417" y="6516142"/>
            <a:ext cx="38307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Lưu trữ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49"/>
          <p:cNvSpPr/>
          <p:nvPr/>
        </p:nvSpPr>
        <p:spPr>
          <a:xfrm>
            <a:off x="5266862" y="7072727"/>
            <a:ext cx="5045026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49"/>
          <p:cNvSpPr/>
          <p:nvPr/>
        </p:nvSpPr>
        <p:spPr>
          <a:xfrm>
            <a:off x="5514512" y="6516142"/>
            <a:ext cx="4701077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9"/>
          <p:cNvSpPr/>
          <p:nvPr/>
        </p:nvSpPr>
        <p:spPr>
          <a:xfrm>
            <a:off x="10311888" y="7072727"/>
            <a:ext cx="6909346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49"/>
          <p:cNvSpPr/>
          <p:nvPr/>
        </p:nvSpPr>
        <p:spPr>
          <a:xfrm>
            <a:off x="10559538" y="6516142"/>
            <a:ext cx="6621327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Tốn thêm dung lượng ổ đĩa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49"/>
          <p:cNvSpPr/>
          <p:nvPr/>
        </p:nvSpPr>
        <p:spPr>
          <a:xfrm>
            <a:off x="1066767" y="7434048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49"/>
          <p:cNvSpPr/>
          <p:nvPr/>
        </p:nvSpPr>
        <p:spPr>
          <a:xfrm>
            <a:off x="1257184" y="7325073"/>
            <a:ext cx="56302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⚠ Câu hỏi phỏng vấn: index có nhược điểm gì?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50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50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50"/>
          <p:cNvSpPr/>
          <p:nvPr/>
        </p:nvSpPr>
        <p:spPr>
          <a:xfrm>
            <a:off x="1707555" y="884204"/>
            <a:ext cx="17524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Tối ưu truy vấn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50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Đọc execution plan với EXPLAIN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50"/>
          <p:cNvSpPr/>
          <p:nvPr/>
        </p:nvSpPr>
        <p:spPr>
          <a:xfrm>
            <a:off x="1066767" y="4011580"/>
            <a:ext cx="16154467" cy="3101578"/>
          </a:xfrm>
          <a:prstGeom prst="roundRect">
            <a:avLst>
              <a:gd fmla="val 5528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50"/>
          <p:cNvSpPr/>
          <p:nvPr/>
        </p:nvSpPr>
        <p:spPr>
          <a:xfrm>
            <a:off x="1491159" y="4378821"/>
            <a:ext cx="15790318" cy="2405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EXPLAIN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orders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customer_id = </a:t>
            </a:r>
            <a:r>
              <a:rPr b="0" i="0" lang="en-US" sz="2250" u="none" cap="none" strike="noStrike">
                <a:solidFill>
                  <a:srgbClr val="F49B9B"/>
                </a:solidFill>
                <a:latin typeface="Courier New"/>
                <a:ea typeface="Courier New"/>
                <a:cs typeface="Courier New"/>
                <a:sym typeface="Courier New"/>
              </a:rPr>
              <a:t>42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0" i="1" lang="en-US" sz="2250" u="none" cap="none" strike="noStrike">
                <a:solidFill>
                  <a:srgbClr val="6F6C88"/>
                </a:solidFill>
                <a:latin typeface="Courier New"/>
                <a:ea typeface="Courier New"/>
                <a:cs typeface="Courier New"/>
                <a:sym typeface="Courier New"/>
              </a:rPr>
              <a:t>-- Seq Scan  → đang quét toàn bảng (chậm) -- Index Scan → đang dùng index (nhanh)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50"/>
          <p:cNvSpPr/>
          <p:nvPr/>
        </p:nvSpPr>
        <p:spPr>
          <a:xfrm>
            <a:off x="1066767" y="7461250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50"/>
          <p:cNvSpPr/>
          <p:nvPr/>
        </p:nvSpPr>
        <p:spPr>
          <a:xfrm>
            <a:off x="1257184" y="7346984"/>
            <a:ext cx="622931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Công cụ debug hiệu năng số 1 — phát hiện full scan.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1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51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51"/>
          <p:cNvSpPr/>
          <p:nvPr/>
        </p:nvSpPr>
        <p:spPr>
          <a:xfrm>
            <a:off x="1707555" y="884204"/>
            <a:ext cx="17524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Tối ưu truy vấn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51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Mẹo tối ưu nhanh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51"/>
          <p:cNvSpPr/>
          <p:nvPr/>
        </p:nvSpPr>
        <p:spPr>
          <a:xfrm>
            <a:off x="1066767" y="4797806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51"/>
          <p:cNvSpPr/>
          <p:nvPr/>
        </p:nvSpPr>
        <p:spPr>
          <a:xfrm>
            <a:off x="1438176" y="4661793"/>
            <a:ext cx="6874253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Tạo index cho cột hay dùng để </a:t>
            </a: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lọc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hoặc </a:t>
            </a: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JOIN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51"/>
          <p:cNvSpPr/>
          <p:nvPr/>
        </p:nvSpPr>
        <p:spPr>
          <a:xfrm>
            <a:off x="1066767" y="5465548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51"/>
          <p:cNvSpPr/>
          <p:nvPr/>
        </p:nvSpPr>
        <p:spPr>
          <a:xfrm>
            <a:off x="1438176" y="5329535"/>
            <a:ext cx="5888920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Tránh </a:t>
            </a: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SELECT *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— chỉ lấy cột cần thiết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51"/>
          <p:cNvSpPr/>
          <p:nvPr/>
        </p:nvSpPr>
        <p:spPr>
          <a:xfrm>
            <a:off x="1066767" y="6133290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51"/>
          <p:cNvSpPr/>
          <p:nvPr/>
        </p:nvSpPr>
        <p:spPr>
          <a:xfrm>
            <a:off x="1438176" y="5997278"/>
            <a:ext cx="12134843" cy="5037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Tránh đặt </a:t>
            </a: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hàm lên cột lọc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(vd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Courier New"/>
                <a:ea typeface="Courier New"/>
                <a:cs typeface="Courier New"/>
                <a:sym typeface="Courier New"/>
              </a:rPr>
              <a:t>WHERE year(date)=2025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) — làm index vô hiệu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51"/>
          <p:cNvSpPr/>
          <p:nvPr/>
        </p:nvSpPr>
        <p:spPr>
          <a:xfrm>
            <a:off x="1066767" y="6811037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51"/>
          <p:cNvSpPr/>
          <p:nvPr/>
        </p:nvSpPr>
        <p:spPr>
          <a:xfrm>
            <a:off x="1257184" y="6696770"/>
            <a:ext cx="571016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Vài mẹo đơn giản giải quyết 80% truy vấn chậm.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2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52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52"/>
          <p:cNvSpPr/>
          <p:nvPr/>
        </p:nvSpPr>
        <p:spPr>
          <a:xfrm>
            <a:off x="1707555" y="884204"/>
            <a:ext cx="9632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52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52"/>
          <p:cNvSpPr/>
          <p:nvPr/>
        </p:nvSpPr>
        <p:spPr>
          <a:xfrm>
            <a:off x="1066767" y="2543721"/>
            <a:ext cx="1226178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52"/>
          <p:cNvSpPr/>
          <p:nvPr/>
        </p:nvSpPr>
        <p:spPr>
          <a:xfrm>
            <a:off x="1338759" y="2682363"/>
            <a:ext cx="758395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52"/>
          <p:cNvSpPr/>
          <p:nvPr/>
        </p:nvSpPr>
        <p:spPr>
          <a:xfrm>
            <a:off x="2445329" y="2543721"/>
            <a:ext cx="2754891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52"/>
          <p:cNvSpPr/>
          <p:nvPr/>
        </p:nvSpPr>
        <p:spPr>
          <a:xfrm>
            <a:off x="2717321" y="2682363"/>
            <a:ext cx="2293555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Đánh đổi đọc/ghi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52"/>
          <p:cNvSpPr/>
          <p:nvPr/>
        </p:nvSpPr>
        <p:spPr>
          <a:xfrm>
            <a:off x="5352604" y="2543721"/>
            <a:ext cx="1676301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52"/>
          <p:cNvSpPr/>
          <p:nvPr/>
        </p:nvSpPr>
        <p:spPr>
          <a:xfrm>
            <a:off x="5624595" y="2682363"/>
            <a:ext cx="1208518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52"/>
          <p:cNvSpPr/>
          <p:nvPr/>
        </p:nvSpPr>
        <p:spPr>
          <a:xfrm>
            <a:off x="1066767" y="8855108"/>
            <a:ext cx="8813494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Bài tiếp · Procedure, view, trigger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52"/>
          <p:cNvSpPr/>
          <p:nvPr/>
        </p:nvSpPr>
        <p:spPr>
          <a:xfrm>
            <a:off x="9833074" y="8918609"/>
            <a:ext cx="46274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3240"/>
              <a:buFont typeface="Arial"/>
              <a:buNone/>
            </a:pPr>
            <a:r>
              <a:rPr b="1" i="0" lang="en-US" sz="324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3"/>
          <p:cNvSpPr/>
          <p:nvPr/>
        </p:nvSpPr>
        <p:spPr>
          <a:xfrm>
            <a:off x="1066767" y="3316966"/>
            <a:ext cx="147038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LECTURE 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53"/>
          <p:cNvSpPr/>
          <p:nvPr/>
        </p:nvSpPr>
        <p:spPr>
          <a:xfrm>
            <a:off x="2613339" y="3439170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53"/>
          <p:cNvSpPr/>
          <p:nvPr/>
        </p:nvSpPr>
        <p:spPr>
          <a:xfrm>
            <a:off x="2822856" y="3324903"/>
            <a:ext cx="193911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~7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53"/>
          <p:cNvSpPr/>
          <p:nvPr/>
        </p:nvSpPr>
        <p:spPr>
          <a:xfrm>
            <a:off x="1066767" y="3942374"/>
            <a:ext cx="7927121" cy="17182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Stored procedure, view, trigger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53"/>
          <p:cNvSpPr/>
          <p:nvPr/>
        </p:nvSpPr>
        <p:spPr>
          <a:xfrm>
            <a:off x="1066767" y="6158508"/>
            <a:ext cx="7419295" cy="944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Database không chỉ chứa dữ liệu — nó còn chạy được logic.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53"/>
          <p:cNvSpPr/>
          <p:nvPr/>
        </p:nvSpPr>
        <p:spPr>
          <a:xfrm>
            <a:off x="9525001" y="2428875"/>
            <a:ext cx="7696234" cy="5524500"/>
          </a:xfrm>
          <a:prstGeom prst="roundRect">
            <a:avLst>
              <a:gd fmla="val 3103" name="adj"/>
            </a:avLst>
          </a:prstGeom>
          <a:solidFill>
            <a:srgbClr val="1B1B25"/>
          </a:solidFill>
          <a:ln cap="flat" cmpd="sng" w="10575">
            <a:solidFill>
              <a:srgbClr val="FFFFFF">
                <a:alpha val="2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53"/>
          <p:cNvSpPr/>
          <p:nvPr/>
        </p:nvSpPr>
        <p:spPr>
          <a:xfrm>
            <a:off x="12713246" y="4869408"/>
            <a:ext cx="131974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AI IMAGE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53"/>
          <p:cNvSpPr/>
          <p:nvPr/>
        </p:nvSpPr>
        <p:spPr>
          <a:xfrm>
            <a:off x="10650124" y="5242967"/>
            <a:ext cx="5445903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A6A4B6"/>
                </a:solidFill>
                <a:latin typeface="Courier New"/>
                <a:ea typeface="Courier New"/>
                <a:cs typeface="Courier New"/>
                <a:sym typeface="Courier New"/>
              </a:rPr>
              <a:t>Bánh răng vận hành bên trong database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53"/>
          <p:cNvSpPr/>
          <p:nvPr/>
        </p:nvSpPr>
        <p:spPr>
          <a:xfrm>
            <a:off x="15527652" y="9601234"/>
            <a:ext cx="176978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S3 · Lecture 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54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54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54"/>
          <p:cNvSpPr/>
          <p:nvPr/>
        </p:nvSpPr>
        <p:spPr>
          <a:xfrm>
            <a:off x="1707555" y="884204"/>
            <a:ext cx="254451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Logic trong database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54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View — truy vấn lưu sẵn như bảng ảo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54"/>
          <p:cNvSpPr/>
          <p:nvPr/>
        </p:nvSpPr>
        <p:spPr>
          <a:xfrm>
            <a:off x="1066767" y="4709336"/>
            <a:ext cx="7696234" cy="2630951"/>
          </a:xfrm>
          <a:prstGeom prst="roundRect">
            <a:avLst>
              <a:gd fmla="val 6517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54"/>
          <p:cNvSpPr/>
          <p:nvPr/>
        </p:nvSpPr>
        <p:spPr>
          <a:xfrm>
            <a:off x="1434009" y="5019427"/>
            <a:ext cx="7192637" cy="20488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CREATE VIEW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top_khach 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AS SELECT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name, </a:t>
            </a:r>
            <a:r>
              <a:rPr b="0" i="0" lang="en-US" sz="1875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(amount)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total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orders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name;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top_khach;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54"/>
          <p:cNvSpPr/>
          <p:nvPr/>
        </p:nvSpPr>
        <p:spPr>
          <a:xfrm>
            <a:off x="9525001" y="5609994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54"/>
          <p:cNvSpPr/>
          <p:nvPr/>
        </p:nvSpPr>
        <p:spPr>
          <a:xfrm>
            <a:off x="9896410" y="5473982"/>
            <a:ext cx="4799944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Tái sử dụng, ẩn bớt độ phức tạp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54"/>
          <p:cNvSpPr/>
          <p:nvPr/>
        </p:nvSpPr>
        <p:spPr>
          <a:xfrm>
            <a:off x="9525001" y="6272444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54"/>
          <p:cNvSpPr/>
          <p:nvPr/>
        </p:nvSpPr>
        <p:spPr>
          <a:xfrm>
            <a:off x="9896410" y="6136432"/>
            <a:ext cx="5185305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Lý tưởng cho các </a:t>
            </a: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báo cáo lặp lại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55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55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55"/>
          <p:cNvSpPr/>
          <p:nvPr/>
        </p:nvSpPr>
        <p:spPr>
          <a:xfrm>
            <a:off x="1707555" y="884204"/>
            <a:ext cx="254451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Logic trong database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55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Stored procedure — khối lệnh lưu sẵn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55"/>
          <p:cNvSpPr/>
          <p:nvPr/>
        </p:nvSpPr>
        <p:spPr>
          <a:xfrm>
            <a:off x="1066767" y="4492377"/>
            <a:ext cx="7696234" cy="3064867"/>
          </a:xfrm>
          <a:prstGeom prst="roundRect">
            <a:avLst>
              <a:gd fmla="val 5594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55"/>
          <p:cNvSpPr/>
          <p:nvPr/>
        </p:nvSpPr>
        <p:spPr>
          <a:xfrm>
            <a:off x="1434009" y="4802469"/>
            <a:ext cx="7192637" cy="2482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CREATE PROCEDURE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tang_hang(id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BEGIN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UPDATE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customers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tier = </a:t>
            </a:r>
            <a:r>
              <a:rPr b="0" i="0" lang="en-US" sz="1875" u="none" cap="none" strike="noStrike">
                <a:solidFill>
                  <a:srgbClr val="F3B780"/>
                </a:solidFill>
                <a:latin typeface="Courier New"/>
                <a:ea typeface="Courier New"/>
                <a:cs typeface="Courier New"/>
                <a:sym typeface="Courier New"/>
              </a:rPr>
              <a:t>'VIP'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customer_id = id;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55"/>
          <p:cNvSpPr/>
          <p:nvPr/>
        </p:nvSpPr>
        <p:spPr>
          <a:xfrm>
            <a:off x="9525001" y="5943865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55"/>
          <p:cNvSpPr/>
          <p:nvPr/>
        </p:nvSpPr>
        <p:spPr>
          <a:xfrm>
            <a:off x="9896410" y="5807852"/>
            <a:ext cx="6787217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Đóng gói nghiệp vụ phức tạp, gọi lại nhiều lần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AE3"/>
        </a:solidFill>
      </p:bgPr>
    </p:bg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56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56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56"/>
          <p:cNvSpPr/>
          <p:nvPr/>
        </p:nvSpPr>
        <p:spPr>
          <a:xfrm>
            <a:off x="1707555" y="884204"/>
            <a:ext cx="254451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Logic trong database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56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Trigger — tự chạy khi có sự kiện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56"/>
          <p:cNvSpPr/>
          <p:nvPr/>
        </p:nvSpPr>
        <p:spPr>
          <a:xfrm>
            <a:off x="1066767" y="4896198"/>
            <a:ext cx="5041967" cy="1179959"/>
          </a:xfrm>
          <a:prstGeom prst="roundRect">
            <a:avLst>
              <a:gd fmla="val 11301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56"/>
          <p:cNvSpPr/>
          <p:nvPr/>
        </p:nvSpPr>
        <p:spPr>
          <a:xfrm>
            <a:off x="1237428" y="5154414"/>
            <a:ext cx="4700644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INSERT / UPDATE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56"/>
          <p:cNvSpPr/>
          <p:nvPr/>
        </p:nvSpPr>
        <p:spPr>
          <a:xfrm>
            <a:off x="1237428" y="5558648"/>
            <a:ext cx="470064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sự kiện xảy 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56"/>
          <p:cNvSpPr/>
          <p:nvPr/>
        </p:nvSpPr>
        <p:spPr>
          <a:xfrm>
            <a:off x="6070634" y="5292990"/>
            <a:ext cx="590484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56"/>
          <p:cNvSpPr/>
          <p:nvPr/>
        </p:nvSpPr>
        <p:spPr>
          <a:xfrm>
            <a:off x="6623017" y="4896198"/>
            <a:ext cx="5041967" cy="1179959"/>
          </a:xfrm>
          <a:prstGeom prst="roundRect">
            <a:avLst>
              <a:gd fmla="val 11301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56"/>
          <p:cNvSpPr/>
          <p:nvPr/>
        </p:nvSpPr>
        <p:spPr>
          <a:xfrm>
            <a:off x="6793679" y="5154414"/>
            <a:ext cx="4700644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Trigger kích hoạt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56"/>
          <p:cNvSpPr/>
          <p:nvPr/>
        </p:nvSpPr>
        <p:spPr>
          <a:xfrm>
            <a:off x="6793679" y="5558648"/>
            <a:ext cx="470064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tự động, không cần gọi tay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56"/>
          <p:cNvSpPr/>
          <p:nvPr/>
        </p:nvSpPr>
        <p:spPr>
          <a:xfrm>
            <a:off x="11626883" y="5292990"/>
            <a:ext cx="590484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56"/>
          <p:cNvSpPr/>
          <p:nvPr/>
        </p:nvSpPr>
        <p:spPr>
          <a:xfrm>
            <a:off x="12179267" y="4896198"/>
            <a:ext cx="5041967" cy="1179959"/>
          </a:xfrm>
          <a:prstGeom prst="roundRect">
            <a:avLst>
              <a:gd fmla="val 11301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56"/>
          <p:cNvSpPr/>
          <p:nvPr/>
        </p:nvSpPr>
        <p:spPr>
          <a:xfrm>
            <a:off x="12349929" y="5154414"/>
            <a:ext cx="4700644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Ghi log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56"/>
          <p:cNvSpPr/>
          <p:nvPr/>
        </p:nvSpPr>
        <p:spPr>
          <a:xfrm>
            <a:off x="12349929" y="5558648"/>
            <a:ext cx="470064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vd: lưu lịch sử thay đổi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56"/>
          <p:cNvSpPr/>
          <p:nvPr/>
        </p:nvSpPr>
        <p:spPr>
          <a:xfrm>
            <a:off x="1066767" y="6576715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56"/>
          <p:cNvSpPr/>
          <p:nvPr/>
        </p:nvSpPr>
        <p:spPr>
          <a:xfrm>
            <a:off x="1257184" y="6462448"/>
            <a:ext cx="686335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Mạnh nhưng dùng cẩn thận — chạy ngầm nên khó debug.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57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57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57"/>
          <p:cNvSpPr/>
          <p:nvPr/>
        </p:nvSpPr>
        <p:spPr>
          <a:xfrm>
            <a:off x="1707555" y="884204"/>
            <a:ext cx="254451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Logic trong database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57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Khi nào dùng cái nào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57"/>
          <p:cNvSpPr/>
          <p:nvPr/>
        </p:nvSpPr>
        <p:spPr>
          <a:xfrm>
            <a:off x="1066767" y="5026174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57"/>
          <p:cNvSpPr/>
          <p:nvPr/>
        </p:nvSpPr>
        <p:spPr>
          <a:xfrm>
            <a:off x="1314417" y="4510766"/>
            <a:ext cx="3830798" cy="3439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A8A9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A8A96"/>
                </a:solidFill>
                <a:latin typeface="Arial"/>
                <a:ea typeface="Arial"/>
                <a:cs typeface="Arial"/>
                <a:sym typeface="Arial"/>
              </a:rPr>
              <a:t>CÔNG CỤ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57"/>
          <p:cNvSpPr/>
          <p:nvPr/>
        </p:nvSpPr>
        <p:spPr>
          <a:xfrm>
            <a:off x="5266862" y="5026174"/>
            <a:ext cx="11954371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57"/>
          <p:cNvSpPr/>
          <p:nvPr/>
        </p:nvSpPr>
        <p:spPr>
          <a:xfrm>
            <a:off x="5514512" y="4510766"/>
            <a:ext cx="11817703" cy="3439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A8A9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A8A96"/>
                </a:solidFill>
                <a:latin typeface="Arial"/>
                <a:ea typeface="Arial"/>
                <a:cs typeface="Arial"/>
                <a:sym typeface="Arial"/>
              </a:rPr>
              <a:t>DÙNG CHO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57"/>
          <p:cNvSpPr/>
          <p:nvPr/>
        </p:nvSpPr>
        <p:spPr>
          <a:xfrm>
            <a:off x="1066767" y="5797600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57"/>
          <p:cNvSpPr/>
          <p:nvPr/>
        </p:nvSpPr>
        <p:spPr>
          <a:xfrm>
            <a:off x="1314417" y="5241016"/>
            <a:ext cx="38307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57"/>
          <p:cNvSpPr/>
          <p:nvPr/>
        </p:nvSpPr>
        <p:spPr>
          <a:xfrm>
            <a:off x="5266862" y="5797600"/>
            <a:ext cx="11954371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57"/>
          <p:cNvSpPr/>
          <p:nvPr/>
        </p:nvSpPr>
        <p:spPr>
          <a:xfrm>
            <a:off x="5514512" y="5241016"/>
            <a:ext cx="11817703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Báo cáo lặp lại, đơn giản hoá truy vấn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57"/>
          <p:cNvSpPr/>
          <p:nvPr/>
        </p:nvSpPr>
        <p:spPr>
          <a:xfrm>
            <a:off x="1066767" y="6569026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57"/>
          <p:cNvSpPr/>
          <p:nvPr/>
        </p:nvSpPr>
        <p:spPr>
          <a:xfrm>
            <a:off x="1314417" y="6012442"/>
            <a:ext cx="38307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Procedure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57"/>
          <p:cNvSpPr/>
          <p:nvPr/>
        </p:nvSpPr>
        <p:spPr>
          <a:xfrm>
            <a:off x="5266862" y="6569026"/>
            <a:ext cx="11954371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57"/>
          <p:cNvSpPr/>
          <p:nvPr/>
        </p:nvSpPr>
        <p:spPr>
          <a:xfrm>
            <a:off x="5514512" y="6012442"/>
            <a:ext cx="11817703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Đóng gói nghiệp vụ nhiều bước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57"/>
          <p:cNvSpPr/>
          <p:nvPr/>
        </p:nvSpPr>
        <p:spPr>
          <a:xfrm>
            <a:off x="1066767" y="7340451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57"/>
          <p:cNvSpPr/>
          <p:nvPr/>
        </p:nvSpPr>
        <p:spPr>
          <a:xfrm>
            <a:off x="1314417" y="6783867"/>
            <a:ext cx="38307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Trigger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57"/>
          <p:cNvSpPr/>
          <p:nvPr/>
        </p:nvSpPr>
        <p:spPr>
          <a:xfrm>
            <a:off x="5266862" y="7340451"/>
            <a:ext cx="11954371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57"/>
          <p:cNvSpPr/>
          <p:nvPr/>
        </p:nvSpPr>
        <p:spPr>
          <a:xfrm>
            <a:off x="5514512" y="6783867"/>
            <a:ext cx="11817703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Tự động hoá theo sự kiện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58"/>
          <p:cNvSpPr/>
          <p:nvPr/>
        </p:nvSpPr>
        <p:spPr>
          <a:xfrm>
            <a:off x="1066767" y="876267"/>
            <a:ext cx="355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58"/>
          <p:cNvSpPr/>
          <p:nvPr/>
        </p:nvSpPr>
        <p:spPr>
          <a:xfrm>
            <a:off x="1498038" y="998471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58"/>
          <p:cNvSpPr/>
          <p:nvPr/>
        </p:nvSpPr>
        <p:spPr>
          <a:xfrm>
            <a:off x="1707555" y="884204"/>
            <a:ext cx="9632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58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58"/>
          <p:cNvSpPr/>
          <p:nvPr/>
        </p:nvSpPr>
        <p:spPr>
          <a:xfrm>
            <a:off x="1066767" y="2543721"/>
            <a:ext cx="1174502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58"/>
          <p:cNvSpPr/>
          <p:nvPr/>
        </p:nvSpPr>
        <p:spPr>
          <a:xfrm>
            <a:off x="1338759" y="2682363"/>
            <a:ext cx="706719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58"/>
          <p:cNvSpPr/>
          <p:nvPr/>
        </p:nvSpPr>
        <p:spPr>
          <a:xfrm>
            <a:off x="2393652" y="2543721"/>
            <a:ext cx="2769526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58"/>
          <p:cNvSpPr/>
          <p:nvPr/>
        </p:nvSpPr>
        <p:spPr>
          <a:xfrm>
            <a:off x="2665644" y="2682363"/>
            <a:ext cx="2308629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Stored procedure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58"/>
          <p:cNvSpPr/>
          <p:nvPr/>
        </p:nvSpPr>
        <p:spPr>
          <a:xfrm>
            <a:off x="5315562" y="2543721"/>
            <a:ext cx="1461492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58"/>
          <p:cNvSpPr/>
          <p:nvPr/>
        </p:nvSpPr>
        <p:spPr>
          <a:xfrm>
            <a:off x="5587554" y="2682363"/>
            <a:ext cx="993709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Trigger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58"/>
          <p:cNvSpPr/>
          <p:nvPr/>
        </p:nvSpPr>
        <p:spPr>
          <a:xfrm>
            <a:off x="1066767" y="8855108"/>
            <a:ext cx="6156076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Bài tiếp · OLTP vs OLAP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58"/>
          <p:cNvSpPr/>
          <p:nvPr/>
        </p:nvSpPr>
        <p:spPr>
          <a:xfrm>
            <a:off x="7253056" y="8918609"/>
            <a:ext cx="46274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3240"/>
              <a:buFont typeface="Arial"/>
              <a:buNone/>
            </a:pPr>
            <a:r>
              <a:rPr b="1" i="0" lang="en-US" sz="324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59"/>
          <p:cNvSpPr/>
          <p:nvPr/>
        </p:nvSpPr>
        <p:spPr>
          <a:xfrm>
            <a:off x="1066767" y="3123654"/>
            <a:ext cx="147038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LECTURE 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59"/>
          <p:cNvSpPr/>
          <p:nvPr/>
        </p:nvSpPr>
        <p:spPr>
          <a:xfrm>
            <a:off x="2613339" y="3245859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59"/>
          <p:cNvSpPr/>
          <p:nvPr/>
        </p:nvSpPr>
        <p:spPr>
          <a:xfrm>
            <a:off x="2822856" y="3131592"/>
            <a:ext cx="19528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59"/>
          <p:cNvSpPr/>
          <p:nvPr/>
        </p:nvSpPr>
        <p:spPr>
          <a:xfrm>
            <a:off x="1066767" y="3749063"/>
            <a:ext cx="7927121" cy="25582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OLTP vs OLAP — bảng Fact &amp; Dimension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59"/>
          <p:cNvSpPr/>
          <p:nvPr/>
        </p:nvSpPr>
        <p:spPr>
          <a:xfrm>
            <a:off x="1066767" y="6805249"/>
            <a:ext cx="7419295" cy="4914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Hiểu cách dữ liệu chảy trong doanh nghiệp.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59"/>
          <p:cNvSpPr/>
          <p:nvPr/>
        </p:nvSpPr>
        <p:spPr>
          <a:xfrm>
            <a:off x="9525001" y="2428875"/>
            <a:ext cx="7696234" cy="5524500"/>
          </a:xfrm>
          <a:prstGeom prst="roundRect">
            <a:avLst>
              <a:gd fmla="val 3103" name="adj"/>
            </a:avLst>
          </a:prstGeom>
          <a:solidFill>
            <a:srgbClr val="1B1B25"/>
          </a:solidFill>
          <a:ln cap="flat" cmpd="sng" w="10575">
            <a:solidFill>
              <a:srgbClr val="FFFFFF">
                <a:alpha val="2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59"/>
          <p:cNvSpPr/>
          <p:nvPr/>
        </p:nvSpPr>
        <p:spPr>
          <a:xfrm>
            <a:off x="12713246" y="4869408"/>
            <a:ext cx="131974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AI IMAGE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59"/>
          <p:cNvSpPr/>
          <p:nvPr/>
        </p:nvSpPr>
        <p:spPr>
          <a:xfrm>
            <a:off x="10723705" y="5242967"/>
            <a:ext cx="529874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A6A4B6"/>
                </a:solidFill>
                <a:latin typeface="Courier New"/>
                <a:ea typeface="Courier New"/>
                <a:cs typeface="Courier New"/>
                <a:sym typeface="Courier New"/>
              </a:rPr>
              <a:t>Hai hệ thống: giao dịch vs phân tích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59"/>
          <p:cNvSpPr/>
          <p:nvPr/>
        </p:nvSpPr>
        <p:spPr>
          <a:xfrm>
            <a:off x="15423886" y="9601234"/>
            <a:ext cx="18735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S3 · Lecture 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60"/>
          <p:cNvSpPr/>
          <p:nvPr/>
        </p:nvSpPr>
        <p:spPr>
          <a:xfrm>
            <a:off x="1066767" y="876267"/>
            <a:ext cx="49449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60"/>
          <p:cNvSpPr/>
          <p:nvPr/>
        </p:nvSpPr>
        <p:spPr>
          <a:xfrm>
            <a:off x="1637440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60"/>
          <p:cNvSpPr/>
          <p:nvPr/>
        </p:nvSpPr>
        <p:spPr>
          <a:xfrm>
            <a:off x="1846957" y="884204"/>
            <a:ext cx="1697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OLTP vs OLAP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60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OLTP — xử lý giao dịch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60"/>
          <p:cNvSpPr/>
          <p:nvPr/>
        </p:nvSpPr>
        <p:spPr>
          <a:xfrm>
            <a:off x="1066767" y="5076693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60"/>
          <p:cNvSpPr/>
          <p:nvPr/>
        </p:nvSpPr>
        <p:spPr>
          <a:xfrm>
            <a:off x="1438176" y="4940680"/>
            <a:ext cx="4754467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Nhiều giao dịch nhỏ, </a:t>
            </a: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ghi nhanh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60"/>
          <p:cNvSpPr/>
          <p:nvPr/>
        </p:nvSpPr>
        <p:spPr>
          <a:xfrm>
            <a:off x="1066767" y="5744435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60"/>
          <p:cNvSpPr/>
          <p:nvPr/>
        </p:nvSpPr>
        <p:spPr>
          <a:xfrm>
            <a:off x="1438176" y="5608423"/>
            <a:ext cx="4969503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Tối ưu cho ghi &amp; cập nhật liên tục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60"/>
          <p:cNvSpPr/>
          <p:nvPr/>
        </p:nvSpPr>
        <p:spPr>
          <a:xfrm>
            <a:off x="1066767" y="6406886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60"/>
          <p:cNvSpPr/>
          <p:nvPr/>
        </p:nvSpPr>
        <p:spPr>
          <a:xfrm>
            <a:off x="1438176" y="6307915"/>
            <a:ext cx="5507816" cy="397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Ví dụ: hệ thống bán hàng, ngân hàng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60"/>
          <p:cNvSpPr/>
          <p:nvPr/>
        </p:nvSpPr>
        <p:spPr>
          <a:xfrm>
            <a:off x="1438176" y="6761923"/>
            <a:ext cx="5990093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Mỗi đơn hàng, mỗi lần chuyển tiền là một giao dịch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60"/>
          <p:cNvSpPr/>
          <p:nvPr/>
        </p:nvSpPr>
        <p:spPr>
          <a:xfrm>
            <a:off x="9525001" y="4215061"/>
            <a:ext cx="7696234" cy="3619500"/>
          </a:xfrm>
          <a:prstGeom prst="roundRect">
            <a:avLst>
              <a:gd fmla="val 4737" name="adj"/>
            </a:avLst>
          </a:prstGeom>
          <a:solidFill>
            <a:srgbClr val="ECEAE3"/>
          </a:solidFill>
          <a:ln cap="flat" cmpd="sng" w="10575">
            <a:solidFill>
              <a:srgbClr val="5A4FE0">
                <a:alpha val="4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60"/>
          <p:cNvSpPr/>
          <p:nvPr/>
        </p:nvSpPr>
        <p:spPr>
          <a:xfrm>
            <a:off x="12946411" y="5703094"/>
            <a:ext cx="85341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SƠ ĐỒ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60"/>
          <p:cNvSpPr/>
          <p:nvPr/>
        </p:nvSpPr>
        <p:spPr>
          <a:xfrm>
            <a:off x="11312519" y="6076652"/>
            <a:ext cx="4121196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Nhiều giao dịch nhỏ liên tục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61"/>
          <p:cNvSpPr/>
          <p:nvPr/>
        </p:nvSpPr>
        <p:spPr>
          <a:xfrm>
            <a:off x="1066767" y="876267"/>
            <a:ext cx="49449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61"/>
          <p:cNvSpPr/>
          <p:nvPr/>
        </p:nvSpPr>
        <p:spPr>
          <a:xfrm>
            <a:off x="1637440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61"/>
          <p:cNvSpPr/>
          <p:nvPr/>
        </p:nvSpPr>
        <p:spPr>
          <a:xfrm>
            <a:off x="1846957" y="884204"/>
            <a:ext cx="1697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OLTP vs OLAP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61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OLAP — phân tích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61"/>
          <p:cNvSpPr/>
          <p:nvPr/>
        </p:nvSpPr>
        <p:spPr>
          <a:xfrm>
            <a:off x="1066767" y="5278768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61"/>
          <p:cNvSpPr/>
          <p:nvPr/>
        </p:nvSpPr>
        <p:spPr>
          <a:xfrm>
            <a:off x="1438176" y="5142756"/>
            <a:ext cx="5851278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Đọc nhiều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, tổng hợp lượng lớn dữ liệu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61"/>
          <p:cNvSpPr/>
          <p:nvPr/>
        </p:nvSpPr>
        <p:spPr>
          <a:xfrm>
            <a:off x="1066767" y="5946511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61"/>
          <p:cNvSpPr/>
          <p:nvPr/>
        </p:nvSpPr>
        <p:spPr>
          <a:xfrm>
            <a:off x="1438176" y="5810498"/>
            <a:ext cx="5896414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Tối ưu cho truy vấn báo cáo, ít cập nhật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61"/>
          <p:cNvSpPr/>
          <p:nvPr/>
        </p:nvSpPr>
        <p:spPr>
          <a:xfrm>
            <a:off x="1066767" y="6608961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61"/>
          <p:cNvSpPr/>
          <p:nvPr/>
        </p:nvSpPr>
        <p:spPr>
          <a:xfrm>
            <a:off x="1438176" y="6472949"/>
            <a:ext cx="5228738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Ví dụ: data warehouse, hệ thống BI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61"/>
          <p:cNvSpPr/>
          <p:nvPr/>
        </p:nvSpPr>
        <p:spPr>
          <a:xfrm>
            <a:off x="9525001" y="4215061"/>
            <a:ext cx="7696234" cy="3619500"/>
          </a:xfrm>
          <a:prstGeom prst="roundRect">
            <a:avLst>
              <a:gd fmla="val 4737" name="adj"/>
            </a:avLst>
          </a:prstGeom>
          <a:solidFill>
            <a:srgbClr val="ECEAE3"/>
          </a:solidFill>
          <a:ln cap="flat" cmpd="sng" w="10575">
            <a:solidFill>
              <a:srgbClr val="5A4FE0">
                <a:alpha val="4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61"/>
          <p:cNvSpPr/>
          <p:nvPr/>
        </p:nvSpPr>
        <p:spPr>
          <a:xfrm>
            <a:off x="12946411" y="5703094"/>
            <a:ext cx="85341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SƠ ĐỒ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61"/>
          <p:cNvSpPr/>
          <p:nvPr/>
        </p:nvSpPr>
        <p:spPr>
          <a:xfrm>
            <a:off x="11165274" y="6076652"/>
            <a:ext cx="4415604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Truy vấn phân tích lớn theo lô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AE3"/>
        </a:solidFill>
      </p:bgPr>
    </p:bg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62"/>
          <p:cNvSpPr/>
          <p:nvPr/>
        </p:nvSpPr>
        <p:spPr>
          <a:xfrm>
            <a:off x="1066767" y="876267"/>
            <a:ext cx="49449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62"/>
          <p:cNvSpPr/>
          <p:nvPr/>
        </p:nvSpPr>
        <p:spPr>
          <a:xfrm>
            <a:off x="1637440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62"/>
          <p:cNvSpPr/>
          <p:nvPr/>
        </p:nvSpPr>
        <p:spPr>
          <a:xfrm>
            <a:off x="1846957" y="884204"/>
            <a:ext cx="1697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OLTP vs OLAP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62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Fact &amp; Dimension — star schema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62"/>
          <p:cNvSpPr/>
          <p:nvPr/>
        </p:nvSpPr>
        <p:spPr>
          <a:xfrm>
            <a:off x="4308657" y="4478817"/>
            <a:ext cx="2252100" cy="769276"/>
          </a:xfrm>
          <a:prstGeom prst="roundRect">
            <a:avLst>
              <a:gd fmla="val 17334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62"/>
          <p:cNvSpPr/>
          <p:nvPr/>
        </p:nvSpPr>
        <p:spPr>
          <a:xfrm>
            <a:off x="4547840" y="4718001"/>
            <a:ext cx="1773734" cy="3290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Courier New"/>
                <a:ea typeface="Courier New"/>
                <a:cs typeface="Courier New"/>
                <a:sym typeface="Courier New"/>
              </a:rPr>
              <a:t>dim_time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62"/>
          <p:cNvSpPr/>
          <p:nvPr/>
        </p:nvSpPr>
        <p:spPr>
          <a:xfrm>
            <a:off x="4308657" y="5686227"/>
            <a:ext cx="2252100" cy="769276"/>
          </a:xfrm>
          <a:prstGeom prst="roundRect">
            <a:avLst>
              <a:gd fmla="val 17334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62"/>
          <p:cNvSpPr/>
          <p:nvPr/>
        </p:nvSpPr>
        <p:spPr>
          <a:xfrm>
            <a:off x="4547840" y="5925410"/>
            <a:ext cx="1773734" cy="3290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Courier New"/>
                <a:ea typeface="Courier New"/>
                <a:cs typeface="Courier New"/>
                <a:sym typeface="Courier New"/>
              </a:rPr>
              <a:t>dim_product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62"/>
          <p:cNvSpPr/>
          <p:nvPr/>
        </p:nvSpPr>
        <p:spPr>
          <a:xfrm>
            <a:off x="6560758" y="5455212"/>
            <a:ext cx="742900" cy="23813"/>
          </a:xfrm>
          <a:prstGeom prst="rect">
            <a:avLst/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62"/>
          <p:cNvSpPr/>
          <p:nvPr/>
        </p:nvSpPr>
        <p:spPr>
          <a:xfrm>
            <a:off x="7303658" y="4777218"/>
            <a:ext cx="3526234" cy="1379885"/>
          </a:xfrm>
          <a:prstGeom prst="roundRect">
            <a:avLst>
              <a:gd fmla="val 9664" name="adj"/>
            </a:avLst>
          </a:prstGeom>
          <a:solidFill>
            <a:srgbClr val="5A4FE0"/>
          </a:solidFill>
          <a:ln cap="flat" cmpd="sng" w="10575">
            <a:solidFill>
              <a:srgbClr val="5A4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62"/>
          <p:cNvSpPr/>
          <p:nvPr/>
        </p:nvSpPr>
        <p:spPr>
          <a:xfrm>
            <a:off x="7654095" y="5111585"/>
            <a:ext cx="2825360" cy="413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fact_sales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62"/>
          <p:cNvSpPr/>
          <p:nvPr/>
        </p:nvSpPr>
        <p:spPr>
          <a:xfrm>
            <a:off x="7654095" y="5563444"/>
            <a:ext cx="282536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doanh thu · số lượng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62"/>
          <p:cNvSpPr/>
          <p:nvPr/>
        </p:nvSpPr>
        <p:spPr>
          <a:xfrm>
            <a:off x="10829892" y="5455212"/>
            <a:ext cx="742900" cy="23813"/>
          </a:xfrm>
          <a:prstGeom prst="rect">
            <a:avLst/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62"/>
          <p:cNvSpPr/>
          <p:nvPr/>
        </p:nvSpPr>
        <p:spPr>
          <a:xfrm>
            <a:off x="11572792" y="4478817"/>
            <a:ext cx="2406468" cy="769276"/>
          </a:xfrm>
          <a:prstGeom prst="roundRect">
            <a:avLst>
              <a:gd fmla="val 17334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62"/>
          <p:cNvSpPr/>
          <p:nvPr/>
        </p:nvSpPr>
        <p:spPr>
          <a:xfrm>
            <a:off x="11811976" y="4718001"/>
            <a:ext cx="1928102" cy="3290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Courier New"/>
                <a:ea typeface="Courier New"/>
                <a:cs typeface="Courier New"/>
                <a:sym typeface="Courier New"/>
              </a:rPr>
              <a:t>dim_customer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62"/>
          <p:cNvSpPr/>
          <p:nvPr/>
        </p:nvSpPr>
        <p:spPr>
          <a:xfrm>
            <a:off x="11572792" y="5686227"/>
            <a:ext cx="2406468" cy="769276"/>
          </a:xfrm>
          <a:prstGeom prst="roundRect">
            <a:avLst>
              <a:gd fmla="val 17334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62"/>
          <p:cNvSpPr/>
          <p:nvPr/>
        </p:nvSpPr>
        <p:spPr>
          <a:xfrm>
            <a:off x="11811976" y="5925410"/>
            <a:ext cx="1928102" cy="3290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16161D"/>
                </a:solidFill>
                <a:latin typeface="Courier New"/>
                <a:ea typeface="Courier New"/>
                <a:cs typeface="Courier New"/>
                <a:sym typeface="Courier New"/>
              </a:rPr>
              <a:t>dim_store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62"/>
          <p:cNvSpPr/>
          <p:nvPr/>
        </p:nvSpPr>
        <p:spPr>
          <a:xfrm>
            <a:off x="4895454" y="6994095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62"/>
          <p:cNvSpPr/>
          <p:nvPr/>
        </p:nvSpPr>
        <p:spPr>
          <a:xfrm>
            <a:off x="5085871" y="6879828"/>
            <a:ext cx="85557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Fact = số đo · Dimension = ngữ cảnh. Nền tảng thiết kế data warehouse.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63"/>
          <p:cNvSpPr/>
          <p:nvPr/>
        </p:nvSpPr>
        <p:spPr>
          <a:xfrm>
            <a:off x="1066767" y="876267"/>
            <a:ext cx="49449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63"/>
          <p:cNvSpPr/>
          <p:nvPr/>
        </p:nvSpPr>
        <p:spPr>
          <a:xfrm>
            <a:off x="1637440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63"/>
          <p:cNvSpPr/>
          <p:nvPr/>
        </p:nvSpPr>
        <p:spPr>
          <a:xfrm>
            <a:off x="1846957" y="884204"/>
            <a:ext cx="1697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OLTP vs OLAP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63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Star vs Snowflake schema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63"/>
          <p:cNvSpPr/>
          <p:nvPr/>
        </p:nvSpPr>
        <p:spPr>
          <a:xfrm>
            <a:off x="1066767" y="5026174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63"/>
          <p:cNvSpPr/>
          <p:nvPr/>
        </p:nvSpPr>
        <p:spPr>
          <a:xfrm>
            <a:off x="5266862" y="5026174"/>
            <a:ext cx="5515984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63"/>
          <p:cNvSpPr/>
          <p:nvPr/>
        </p:nvSpPr>
        <p:spPr>
          <a:xfrm>
            <a:off x="5514512" y="4510766"/>
            <a:ext cx="5186164" cy="3439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STAR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63"/>
          <p:cNvSpPr/>
          <p:nvPr/>
        </p:nvSpPr>
        <p:spPr>
          <a:xfrm>
            <a:off x="10782846" y="5026174"/>
            <a:ext cx="6438388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63"/>
          <p:cNvSpPr/>
          <p:nvPr/>
        </p:nvSpPr>
        <p:spPr>
          <a:xfrm>
            <a:off x="11030496" y="4510766"/>
            <a:ext cx="6136239" cy="3439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SNOWFLAKE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63"/>
          <p:cNvSpPr/>
          <p:nvPr/>
        </p:nvSpPr>
        <p:spPr>
          <a:xfrm>
            <a:off x="1066767" y="5797600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63"/>
          <p:cNvSpPr/>
          <p:nvPr/>
        </p:nvSpPr>
        <p:spPr>
          <a:xfrm>
            <a:off x="1314417" y="5241016"/>
            <a:ext cx="38307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Cấu trúc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63"/>
          <p:cNvSpPr/>
          <p:nvPr/>
        </p:nvSpPr>
        <p:spPr>
          <a:xfrm>
            <a:off x="5266862" y="5797600"/>
            <a:ext cx="5515984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63"/>
          <p:cNvSpPr/>
          <p:nvPr/>
        </p:nvSpPr>
        <p:spPr>
          <a:xfrm>
            <a:off x="5514512" y="5241016"/>
            <a:ext cx="5186164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Dimension phẳng, đơn giản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63"/>
          <p:cNvSpPr/>
          <p:nvPr/>
        </p:nvSpPr>
        <p:spPr>
          <a:xfrm>
            <a:off x="10782846" y="5797600"/>
            <a:ext cx="6438388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63"/>
          <p:cNvSpPr/>
          <p:nvPr/>
        </p:nvSpPr>
        <p:spPr>
          <a:xfrm>
            <a:off x="11030496" y="5241016"/>
            <a:ext cx="6136239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Dimension chuẩn hoá nhiều tầng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63"/>
          <p:cNvSpPr/>
          <p:nvPr/>
        </p:nvSpPr>
        <p:spPr>
          <a:xfrm>
            <a:off x="1066767" y="6569026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63"/>
          <p:cNvSpPr/>
          <p:nvPr/>
        </p:nvSpPr>
        <p:spPr>
          <a:xfrm>
            <a:off x="1314417" y="6012442"/>
            <a:ext cx="38307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Truy vấn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63"/>
          <p:cNvSpPr/>
          <p:nvPr/>
        </p:nvSpPr>
        <p:spPr>
          <a:xfrm>
            <a:off x="5266862" y="6569026"/>
            <a:ext cx="5515984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63"/>
          <p:cNvSpPr/>
          <p:nvPr/>
        </p:nvSpPr>
        <p:spPr>
          <a:xfrm>
            <a:off x="5514512" y="6012442"/>
            <a:ext cx="5186164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Nhanh, ít JOIN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63"/>
          <p:cNvSpPr/>
          <p:nvPr/>
        </p:nvSpPr>
        <p:spPr>
          <a:xfrm>
            <a:off x="10782846" y="6569026"/>
            <a:ext cx="6438388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63"/>
          <p:cNvSpPr/>
          <p:nvPr/>
        </p:nvSpPr>
        <p:spPr>
          <a:xfrm>
            <a:off x="11030496" y="6012442"/>
            <a:ext cx="6136239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Nhiều JOIN hơn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63"/>
          <p:cNvSpPr/>
          <p:nvPr/>
        </p:nvSpPr>
        <p:spPr>
          <a:xfrm>
            <a:off x="1066767" y="7340451"/>
            <a:ext cx="4200095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63"/>
          <p:cNvSpPr/>
          <p:nvPr/>
        </p:nvSpPr>
        <p:spPr>
          <a:xfrm>
            <a:off x="1314417" y="6783867"/>
            <a:ext cx="3830798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Thực tế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63"/>
          <p:cNvSpPr/>
          <p:nvPr/>
        </p:nvSpPr>
        <p:spPr>
          <a:xfrm>
            <a:off x="5266862" y="7340451"/>
            <a:ext cx="5515984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63"/>
          <p:cNvSpPr/>
          <p:nvPr/>
        </p:nvSpPr>
        <p:spPr>
          <a:xfrm>
            <a:off x="5514512" y="6783867"/>
            <a:ext cx="5186164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Phổ biến nhất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63"/>
          <p:cNvSpPr/>
          <p:nvPr/>
        </p:nvSpPr>
        <p:spPr>
          <a:xfrm>
            <a:off x="10782846" y="7340451"/>
            <a:ext cx="6438388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63"/>
          <p:cNvSpPr/>
          <p:nvPr/>
        </p:nvSpPr>
        <p:spPr>
          <a:xfrm>
            <a:off x="11030496" y="6783867"/>
            <a:ext cx="6136239" cy="3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Khi cần tiết kiệm lưu trữ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64"/>
          <p:cNvSpPr/>
          <p:nvPr/>
        </p:nvSpPr>
        <p:spPr>
          <a:xfrm>
            <a:off x="1066767" y="876267"/>
            <a:ext cx="49449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64"/>
          <p:cNvSpPr/>
          <p:nvPr/>
        </p:nvSpPr>
        <p:spPr>
          <a:xfrm>
            <a:off x="1637440" y="998471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64"/>
          <p:cNvSpPr/>
          <p:nvPr/>
        </p:nvSpPr>
        <p:spPr>
          <a:xfrm>
            <a:off x="1846957" y="884204"/>
            <a:ext cx="9632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64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64"/>
          <p:cNvSpPr/>
          <p:nvPr/>
        </p:nvSpPr>
        <p:spPr>
          <a:xfrm>
            <a:off x="1066767" y="2543721"/>
            <a:ext cx="2349583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64"/>
          <p:cNvSpPr/>
          <p:nvPr/>
        </p:nvSpPr>
        <p:spPr>
          <a:xfrm>
            <a:off x="1338759" y="2682363"/>
            <a:ext cx="1881799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OLTP vs OLAP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64"/>
          <p:cNvSpPr/>
          <p:nvPr/>
        </p:nvSpPr>
        <p:spPr>
          <a:xfrm>
            <a:off x="3568733" y="2543721"/>
            <a:ext cx="2754891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64"/>
          <p:cNvSpPr/>
          <p:nvPr/>
        </p:nvSpPr>
        <p:spPr>
          <a:xfrm>
            <a:off x="3840725" y="2682363"/>
            <a:ext cx="2293555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Fact &amp; Dimension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64"/>
          <p:cNvSpPr/>
          <p:nvPr/>
        </p:nvSpPr>
        <p:spPr>
          <a:xfrm>
            <a:off x="6476008" y="2543721"/>
            <a:ext cx="2138412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64"/>
          <p:cNvSpPr/>
          <p:nvPr/>
        </p:nvSpPr>
        <p:spPr>
          <a:xfrm>
            <a:off x="6748000" y="2682363"/>
            <a:ext cx="1670629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Star schema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64"/>
          <p:cNvSpPr/>
          <p:nvPr/>
        </p:nvSpPr>
        <p:spPr>
          <a:xfrm>
            <a:off x="1066767" y="8855108"/>
            <a:ext cx="8410334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Bài tiếp · Kết nối Python với SQL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64"/>
          <p:cNvSpPr/>
          <p:nvPr/>
        </p:nvSpPr>
        <p:spPr>
          <a:xfrm>
            <a:off x="9441657" y="8918609"/>
            <a:ext cx="46274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3240"/>
              <a:buFont typeface="Arial"/>
              <a:buNone/>
            </a:pPr>
            <a:r>
              <a:rPr b="1" i="0" lang="en-US" sz="324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65"/>
          <p:cNvSpPr/>
          <p:nvPr/>
        </p:nvSpPr>
        <p:spPr>
          <a:xfrm>
            <a:off x="1066767" y="3316966"/>
            <a:ext cx="147038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LECTURE 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65"/>
          <p:cNvSpPr/>
          <p:nvPr/>
        </p:nvSpPr>
        <p:spPr>
          <a:xfrm>
            <a:off x="2613339" y="3439170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65"/>
          <p:cNvSpPr/>
          <p:nvPr/>
        </p:nvSpPr>
        <p:spPr>
          <a:xfrm>
            <a:off x="2822856" y="3324903"/>
            <a:ext cx="19528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65"/>
          <p:cNvSpPr/>
          <p:nvPr/>
        </p:nvSpPr>
        <p:spPr>
          <a:xfrm>
            <a:off x="1066767" y="3942374"/>
            <a:ext cx="7927121" cy="17182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Kết nối Python với SQL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65"/>
          <p:cNvSpPr/>
          <p:nvPr/>
        </p:nvSpPr>
        <p:spPr>
          <a:xfrm>
            <a:off x="1066767" y="6158508"/>
            <a:ext cx="7419295" cy="944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Cầu nối thực tế: lấy dữ liệu từ database vào Pandas.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65"/>
          <p:cNvSpPr/>
          <p:nvPr/>
        </p:nvSpPr>
        <p:spPr>
          <a:xfrm>
            <a:off x="9525001" y="2428875"/>
            <a:ext cx="7696234" cy="5524500"/>
          </a:xfrm>
          <a:prstGeom prst="roundRect">
            <a:avLst>
              <a:gd fmla="val 3103" name="adj"/>
            </a:avLst>
          </a:prstGeom>
          <a:solidFill>
            <a:srgbClr val="1B1B25"/>
          </a:solidFill>
          <a:ln cap="flat" cmpd="sng" w="10575">
            <a:solidFill>
              <a:srgbClr val="FFFFFF">
                <a:alpha val="2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65"/>
          <p:cNvSpPr/>
          <p:nvPr/>
        </p:nvSpPr>
        <p:spPr>
          <a:xfrm>
            <a:off x="12713246" y="4869408"/>
            <a:ext cx="131974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AI IMAGE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65"/>
          <p:cNvSpPr/>
          <p:nvPr/>
        </p:nvSpPr>
        <p:spPr>
          <a:xfrm>
            <a:off x="12120331" y="5242967"/>
            <a:ext cx="250548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A6A4B6"/>
                </a:solidFill>
                <a:latin typeface="Courier New"/>
                <a:ea typeface="Courier New"/>
                <a:cs typeface="Courier New"/>
                <a:sym typeface="Courier New"/>
              </a:rPr>
              <a:t>Python ↔ database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65"/>
          <p:cNvSpPr/>
          <p:nvPr/>
        </p:nvSpPr>
        <p:spPr>
          <a:xfrm>
            <a:off x="15487138" y="9601234"/>
            <a:ext cx="181029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S3 · Lecture 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66"/>
          <p:cNvSpPr/>
          <p:nvPr/>
        </p:nvSpPr>
        <p:spPr>
          <a:xfrm>
            <a:off x="1066767" y="876267"/>
            <a:ext cx="49449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66"/>
          <p:cNvSpPr/>
          <p:nvPr/>
        </p:nvSpPr>
        <p:spPr>
          <a:xfrm>
            <a:off x="1637440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66"/>
          <p:cNvSpPr/>
          <p:nvPr/>
        </p:nvSpPr>
        <p:spPr>
          <a:xfrm>
            <a:off x="1846957" y="884204"/>
            <a:ext cx="170090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Python ↔ 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66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Vì sao kết nối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66"/>
          <p:cNvSpPr/>
          <p:nvPr/>
        </p:nvSpPr>
        <p:spPr>
          <a:xfrm>
            <a:off x="1066767" y="4896198"/>
            <a:ext cx="5041967" cy="1179959"/>
          </a:xfrm>
          <a:prstGeom prst="roundRect">
            <a:avLst>
              <a:gd fmla="val 11301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66"/>
          <p:cNvSpPr/>
          <p:nvPr/>
        </p:nvSpPr>
        <p:spPr>
          <a:xfrm>
            <a:off x="1237428" y="5154414"/>
            <a:ext cx="4700644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66"/>
          <p:cNvSpPr/>
          <p:nvPr/>
        </p:nvSpPr>
        <p:spPr>
          <a:xfrm>
            <a:off x="1237428" y="5558648"/>
            <a:ext cx="470064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truy vấn dữ liệu thô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66"/>
          <p:cNvSpPr/>
          <p:nvPr/>
        </p:nvSpPr>
        <p:spPr>
          <a:xfrm>
            <a:off x="6070634" y="5292990"/>
            <a:ext cx="590484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66"/>
          <p:cNvSpPr/>
          <p:nvPr/>
        </p:nvSpPr>
        <p:spPr>
          <a:xfrm>
            <a:off x="6623017" y="4896198"/>
            <a:ext cx="5041967" cy="1179959"/>
          </a:xfrm>
          <a:prstGeom prst="roundRect">
            <a:avLst>
              <a:gd fmla="val 11301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66"/>
          <p:cNvSpPr/>
          <p:nvPr/>
        </p:nvSpPr>
        <p:spPr>
          <a:xfrm>
            <a:off x="6793679" y="5154414"/>
            <a:ext cx="4700644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Python · Pandas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66"/>
          <p:cNvSpPr/>
          <p:nvPr/>
        </p:nvSpPr>
        <p:spPr>
          <a:xfrm>
            <a:off x="6793679" y="5558648"/>
            <a:ext cx="470064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phân tích, biến đổi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66"/>
          <p:cNvSpPr/>
          <p:nvPr/>
        </p:nvSpPr>
        <p:spPr>
          <a:xfrm>
            <a:off x="11626883" y="5292990"/>
            <a:ext cx="590484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66"/>
          <p:cNvSpPr/>
          <p:nvPr/>
        </p:nvSpPr>
        <p:spPr>
          <a:xfrm>
            <a:off x="12179267" y="4896198"/>
            <a:ext cx="5041967" cy="1179959"/>
          </a:xfrm>
          <a:prstGeom prst="roundRect">
            <a:avLst>
              <a:gd fmla="val 11301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66"/>
          <p:cNvSpPr/>
          <p:nvPr/>
        </p:nvSpPr>
        <p:spPr>
          <a:xfrm>
            <a:off x="12349929" y="5154414"/>
            <a:ext cx="4700644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Báo cáo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66"/>
          <p:cNvSpPr/>
          <p:nvPr/>
        </p:nvSpPr>
        <p:spPr>
          <a:xfrm>
            <a:off x="12349929" y="5558648"/>
            <a:ext cx="470064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tự động hoá, biểu đồ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66"/>
          <p:cNvSpPr/>
          <p:nvPr/>
        </p:nvSpPr>
        <p:spPr>
          <a:xfrm>
            <a:off x="1066767" y="6576715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66"/>
          <p:cNvSpPr/>
          <p:nvPr/>
        </p:nvSpPr>
        <p:spPr>
          <a:xfrm>
            <a:off x="1257184" y="6462448"/>
            <a:ext cx="64934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Quy trình hằng ngày của Data Analyst &amp; Data Scientist.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67"/>
          <p:cNvSpPr/>
          <p:nvPr/>
        </p:nvSpPr>
        <p:spPr>
          <a:xfrm>
            <a:off x="1066767" y="876267"/>
            <a:ext cx="49449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67"/>
          <p:cNvSpPr/>
          <p:nvPr/>
        </p:nvSpPr>
        <p:spPr>
          <a:xfrm>
            <a:off x="1637440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67"/>
          <p:cNvSpPr/>
          <p:nvPr/>
        </p:nvSpPr>
        <p:spPr>
          <a:xfrm>
            <a:off x="1846957" y="884204"/>
            <a:ext cx="170090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Python ↔ 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67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Thư viện kết nối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67"/>
          <p:cNvSpPr/>
          <p:nvPr/>
        </p:nvSpPr>
        <p:spPr>
          <a:xfrm>
            <a:off x="1066767" y="4749023"/>
            <a:ext cx="7696234" cy="2551576"/>
          </a:xfrm>
          <a:prstGeom prst="roundRect">
            <a:avLst>
              <a:gd fmla="val 6719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67"/>
          <p:cNvSpPr/>
          <p:nvPr/>
        </p:nvSpPr>
        <p:spPr>
          <a:xfrm>
            <a:off x="1434009" y="5059115"/>
            <a:ext cx="7192637" cy="19694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sqlalchemy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create_engine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Calibri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engine =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2D3C6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create_engine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3B780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3B780"/>
                </a:solidFill>
                <a:latin typeface="Courier New"/>
                <a:ea typeface="Courier New"/>
                <a:cs typeface="Courier New"/>
                <a:sym typeface="Courier New"/>
              </a:rPr>
              <a:t>"postgresql://localhost/shop"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67"/>
          <p:cNvSpPr/>
          <p:nvPr/>
        </p:nvSpPr>
        <p:spPr>
          <a:xfrm>
            <a:off x="9525001" y="5390390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67"/>
          <p:cNvSpPr/>
          <p:nvPr/>
        </p:nvSpPr>
        <p:spPr>
          <a:xfrm>
            <a:off x="9896410" y="5254377"/>
            <a:ext cx="5559851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psycopg2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— driver cho PostgreSQL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67"/>
          <p:cNvSpPr/>
          <p:nvPr/>
        </p:nvSpPr>
        <p:spPr>
          <a:xfrm>
            <a:off x="9525001" y="6058132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67"/>
          <p:cNvSpPr/>
          <p:nvPr/>
        </p:nvSpPr>
        <p:spPr>
          <a:xfrm>
            <a:off x="9896410" y="5922119"/>
            <a:ext cx="7544569" cy="91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SQLAlchemy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— đa CSDL, linh hoạt, dùng nhiều nhất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68"/>
          <p:cNvSpPr/>
          <p:nvPr/>
        </p:nvSpPr>
        <p:spPr>
          <a:xfrm>
            <a:off x="1066767" y="876267"/>
            <a:ext cx="49449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68"/>
          <p:cNvSpPr/>
          <p:nvPr/>
        </p:nvSpPr>
        <p:spPr>
          <a:xfrm>
            <a:off x="1637440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68"/>
          <p:cNvSpPr/>
          <p:nvPr/>
        </p:nvSpPr>
        <p:spPr>
          <a:xfrm>
            <a:off x="1846957" y="884204"/>
            <a:ext cx="170090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Python ↔ 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68"/>
          <p:cNvSpPr/>
          <p:nvPr/>
        </p:nvSpPr>
        <p:spPr>
          <a:xfrm>
            <a:off x="1066767" y="1577909"/>
            <a:ext cx="9641958" cy="1169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pd.read_sql — query trả về DataFrame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68"/>
          <p:cNvSpPr/>
          <p:nvPr/>
        </p:nvSpPr>
        <p:spPr>
          <a:xfrm>
            <a:off x="1066767" y="4076320"/>
            <a:ext cx="16154467" cy="3537975"/>
          </a:xfrm>
          <a:prstGeom prst="roundRect">
            <a:avLst>
              <a:gd fmla="val 4846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68"/>
          <p:cNvSpPr/>
          <p:nvPr/>
        </p:nvSpPr>
        <p:spPr>
          <a:xfrm>
            <a:off x="1491159" y="4443561"/>
            <a:ext cx="15790318" cy="2841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pandas </a:t>
            </a:r>
            <a:r>
              <a:rPr b="1" i="0" lang="en-US" sz="2250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pd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df = pd. 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62D3C6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read_sql 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3B78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3B780"/>
                </a:solidFill>
                <a:latin typeface="Courier New"/>
                <a:ea typeface="Courier New"/>
                <a:cs typeface="Courier New"/>
                <a:sym typeface="Courier New"/>
              </a:rPr>
              <a:t>"SELECT region, sum(amount) FROM orders GROUP BY region" </a:t>
            </a: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engine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68"/>
          <p:cNvSpPr/>
          <p:nvPr/>
        </p:nvSpPr>
        <p:spPr>
          <a:xfrm>
            <a:off x="1066767" y="7962388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68"/>
          <p:cNvSpPr/>
          <p:nvPr/>
        </p:nvSpPr>
        <p:spPr>
          <a:xfrm>
            <a:off x="1257184" y="7848121"/>
            <a:ext cx="67293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Kết hợp sức mạnh của SQL với sự linh hoạt của Pandas.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AE3"/>
        </a:solidFill>
      </p:bgPr>
    </p:bg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69"/>
          <p:cNvSpPr/>
          <p:nvPr/>
        </p:nvSpPr>
        <p:spPr>
          <a:xfrm>
            <a:off x="1066767" y="876267"/>
            <a:ext cx="49449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69"/>
          <p:cNvSpPr/>
          <p:nvPr/>
        </p:nvSpPr>
        <p:spPr>
          <a:xfrm>
            <a:off x="1637440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69"/>
          <p:cNvSpPr/>
          <p:nvPr/>
        </p:nvSpPr>
        <p:spPr>
          <a:xfrm>
            <a:off x="1846957" y="884204"/>
            <a:ext cx="170090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Python ↔ 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69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Bảo mật &amp; best practice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69"/>
          <p:cNvSpPr/>
          <p:nvPr/>
        </p:nvSpPr>
        <p:spPr>
          <a:xfrm>
            <a:off x="1066767" y="4177523"/>
            <a:ext cx="7696234" cy="3694576"/>
          </a:xfrm>
          <a:prstGeom prst="roundRect">
            <a:avLst>
              <a:gd fmla="val 4641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69"/>
          <p:cNvSpPr/>
          <p:nvPr/>
        </p:nvSpPr>
        <p:spPr>
          <a:xfrm>
            <a:off x="1434009" y="4487615"/>
            <a:ext cx="7192637" cy="31124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os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pwd = os.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2D3C6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getenv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75" u="none" cap="none" strike="noStrike">
                <a:solidFill>
                  <a:srgbClr val="F3B780"/>
                </a:solidFill>
                <a:latin typeface="Courier New"/>
                <a:ea typeface="Courier New"/>
                <a:cs typeface="Courier New"/>
                <a:sym typeface="Courier New"/>
              </a:rPr>
              <a:t>"DB_PASSWORD"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75" u="none" cap="none" strike="noStrike">
                <a:solidFill>
                  <a:srgbClr val="6F6C88"/>
                </a:solidFill>
                <a:latin typeface="Courier New"/>
                <a:ea typeface="Courier New"/>
                <a:cs typeface="Courier New"/>
                <a:sym typeface="Courier New"/>
              </a:rPr>
              <a:t># Parameterized — chống SQL injection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pd.</a:t>
            </a:r>
            <a:r>
              <a:rPr b="0" i="0" lang="en-US" sz="1875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read_sql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3B780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3B780"/>
                </a:solidFill>
                <a:latin typeface="Courier New"/>
                <a:ea typeface="Courier New"/>
                <a:cs typeface="Courier New"/>
                <a:sym typeface="Courier New"/>
              </a:rPr>
              <a:t>"SELECT * FROM users WHERE id = %s"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conn, params=[user_id]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69"/>
          <p:cNvSpPr/>
          <p:nvPr/>
        </p:nvSpPr>
        <p:spPr>
          <a:xfrm>
            <a:off x="9525001" y="5387744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69"/>
          <p:cNvSpPr/>
          <p:nvPr/>
        </p:nvSpPr>
        <p:spPr>
          <a:xfrm>
            <a:off x="9896410" y="5251731"/>
            <a:ext cx="7544569" cy="916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Không hardcode mật khẩu — dùng </a:t>
            </a: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biến môi trường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69"/>
          <p:cNvSpPr/>
          <p:nvPr/>
        </p:nvSpPr>
        <p:spPr>
          <a:xfrm>
            <a:off x="9525001" y="6494694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69"/>
          <p:cNvSpPr/>
          <p:nvPr/>
        </p:nvSpPr>
        <p:spPr>
          <a:xfrm>
            <a:off x="9896410" y="6358682"/>
            <a:ext cx="6599944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Parameterized query </a:t>
            </a: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chống SQL injection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70"/>
          <p:cNvSpPr/>
          <p:nvPr/>
        </p:nvSpPr>
        <p:spPr>
          <a:xfrm>
            <a:off x="1066767" y="876267"/>
            <a:ext cx="49449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70"/>
          <p:cNvSpPr/>
          <p:nvPr/>
        </p:nvSpPr>
        <p:spPr>
          <a:xfrm>
            <a:off x="1637440" y="998471"/>
            <a:ext cx="57133" cy="57133"/>
          </a:xfrm>
          <a:prstGeom prst="ellipse">
            <a:avLst/>
          </a:prstGeom>
          <a:solidFill>
            <a:srgbClr val="A6A4B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70"/>
          <p:cNvSpPr/>
          <p:nvPr/>
        </p:nvSpPr>
        <p:spPr>
          <a:xfrm>
            <a:off x="1846957" y="884204"/>
            <a:ext cx="9632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70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70"/>
          <p:cNvSpPr/>
          <p:nvPr/>
        </p:nvSpPr>
        <p:spPr>
          <a:xfrm>
            <a:off x="1066767" y="2543721"/>
            <a:ext cx="2186781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70"/>
          <p:cNvSpPr/>
          <p:nvPr/>
        </p:nvSpPr>
        <p:spPr>
          <a:xfrm>
            <a:off x="1338759" y="2682363"/>
            <a:ext cx="1718998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SQLAlchemy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70"/>
          <p:cNvSpPr/>
          <p:nvPr/>
        </p:nvSpPr>
        <p:spPr>
          <a:xfrm>
            <a:off x="3405932" y="2543721"/>
            <a:ext cx="2095500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70"/>
          <p:cNvSpPr/>
          <p:nvPr/>
        </p:nvSpPr>
        <p:spPr>
          <a:xfrm>
            <a:off x="3677924" y="2682363"/>
            <a:ext cx="1627717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pd.read_sql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70"/>
          <p:cNvSpPr/>
          <p:nvPr/>
        </p:nvSpPr>
        <p:spPr>
          <a:xfrm>
            <a:off x="5653815" y="2543721"/>
            <a:ext cx="1624046" cy="6052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70"/>
          <p:cNvSpPr/>
          <p:nvPr/>
        </p:nvSpPr>
        <p:spPr>
          <a:xfrm>
            <a:off x="5925807" y="2682363"/>
            <a:ext cx="1156262" cy="366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Bảo mật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70"/>
          <p:cNvSpPr/>
          <p:nvPr/>
        </p:nvSpPr>
        <p:spPr>
          <a:xfrm>
            <a:off x="1066767" y="8855108"/>
            <a:ext cx="5748146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Bài tiếp · Mini-Project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70"/>
          <p:cNvSpPr/>
          <p:nvPr/>
        </p:nvSpPr>
        <p:spPr>
          <a:xfrm>
            <a:off x="6857008" y="8918609"/>
            <a:ext cx="46274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3240"/>
              <a:buFont typeface="Arial"/>
              <a:buNone/>
            </a:pPr>
            <a:r>
              <a:rPr b="1" i="0" lang="en-US" sz="324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71"/>
          <p:cNvSpPr/>
          <p:nvPr/>
        </p:nvSpPr>
        <p:spPr>
          <a:xfrm>
            <a:off x="1066767" y="3123654"/>
            <a:ext cx="35898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LECTURE 12 · MINI-PROJECT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71"/>
          <p:cNvSpPr/>
          <p:nvPr/>
        </p:nvSpPr>
        <p:spPr>
          <a:xfrm>
            <a:off x="1066767" y="3749063"/>
            <a:ext cx="7927121" cy="25582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Schema giao dịch ngân hàng + 10 truy vấn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71"/>
          <p:cNvSpPr/>
          <p:nvPr/>
        </p:nvSpPr>
        <p:spPr>
          <a:xfrm>
            <a:off x="1066767" y="6805249"/>
            <a:ext cx="7419295" cy="4914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Ráp mọi kỹ năng SQL vào một bài toán thật.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71"/>
          <p:cNvSpPr/>
          <p:nvPr/>
        </p:nvSpPr>
        <p:spPr>
          <a:xfrm>
            <a:off x="9525001" y="2428875"/>
            <a:ext cx="7696234" cy="5524500"/>
          </a:xfrm>
          <a:prstGeom prst="roundRect">
            <a:avLst>
              <a:gd fmla="val 3103" name="adj"/>
            </a:avLst>
          </a:prstGeom>
          <a:solidFill>
            <a:srgbClr val="1B1B25"/>
          </a:solidFill>
          <a:ln cap="flat" cmpd="sng" w="10575">
            <a:solidFill>
              <a:srgbClr val="FFFFFF">
                <a:alpha val="2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71"/>
          <p:cNvSpPr/>
          <p:nvPr/>
        </p:nvSpPr>
        <p:spPr>
          <a:xfrm>
            <a:off x="12713246" y="4869408"/>
            <a:ext cx="131974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AI IMAGE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71"/>
          <p:cNvSpPr/>
          <p:nvPr/>
        </p:nvSpPr>
        <p:spPr>
          <a:xfrm>
            <a:off x="11606842" y="5242967"/>
            <a:ext cx="3532466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A6A4B6"/>
                </a:solidFill>
                <a:latin typeface="Courier New"/>
                <a:ea typeface="Courier New"/>
                <a:cs typeface="Courier New"/>
                <a:sym typeface="Courier New"/>
              </a:rPr>
              <a:t>Sơ đồ hệ thống ngân hàng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71"/>
          <p:cNvSpPr/>
          <p:nvPr/>
        </p:nvSpPr>
        <p:spPr>
          <a:xfrm>
            <a:off x="15431163" y="9601234"/>
            <a:ext cx="18662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S3 · Lecture 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72"/>
          <p:cNvSpPr/>
          <p:nvPr/>
        </p:nvSpPr>
        <p:spPr>
          <a:xfrm>
            <a:off x="1066767" y="876267"/>
            <a:ext cx="49449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72"/>
          <p:cNvSpPr/>
          <p:nvPr/>
        </p:nvSpPr>
        <p:spPr>
          <a:xfrm>
            <a:off x="1637440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72"/>
          <p:cNvSpPr/>
          <p:nvPr/>
        </p:nvSpPr>
        <p:spPr>
          <a:xfrm>
            <a:off x="1846957" y="884204"/>
            <a:ext cx="275918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Mini-Project ngân hàng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72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Bài toán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72"/>
          <p:cNvSpPr/>
          <p:nvPr/>
        </p:nvSpPr>
        <p:spPr>
          <a:xfrm>
            <a:off x="1066767" y="5407918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72"/>
          <p:cNvSpPr/>
          <p:nvPr/>
        </p:nvSpPr>
        <p:spPr>
          <a:xfrm>
            <a:off x="1438176" y="5271906"/>
            <a:ext cx="6859094" cy="477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Quản lý </a:t>
            </a:r>
            <a:r>
              <a:rPr b="1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khách hàng · tài khoản · giao dịch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72"/>
          <p:cNvSpPr/>
          <p:nvPr/>
        </p:nvSpPr>
        <p:spPr>
          <a:xfrm>
            <a:off x="1066767" y="6075661"/>
            <a:ext cx="142875" cy="142875"/>
          </a:xfrm>
          <a:prstGeom prst="roundRect">
            <a:avLst>
              <a:gd fmla="val 33333" name="adj"/>
            </a:avLst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72"/>
          <p:cNvSpPr/>
          <p:nvPr/>
        </p:nvSpPr>
        <p:spPr>
          <a:xfrm>
            <a:off x="1438176" y="5976690"/>
            <a:ext cx="5397957" cy="397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Trả lời các câu hỏi nghiệp vụ thực tế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72"/>
          <p:cNvSpPr/>
          <p:nvPr/>
        </p:nvSpPr>
        <p:spPr>
          <a:xfrm>
            <a:off x="1438176" y="6430698"/>
            <a:ext cx="6639886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Top khách hàng, số dư trung bình, tăng trưởng giao dịch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72"/>
          <p:cNvSpPr/>
          <p:nvPr/>
        </p:nvSpPr>
        <p:spPr>
          <a:xfrm>
            <a:off x="9525001" y="4215061"/>
            <a:ext cx="7696234" cy="3619500"/>
          </a:xfrm>
          <a:prstGeom prst="roundRect">
            <a:avLst>
              <a:gd fmla="val 4737" name="adj"/>
            </a:avLst>
          </a:prstGeom>
          <a:solidFill>
            <a:srgbClr val="ECEAE3"/>
          </a:solidFill>
          <a:ln cap="flat" cmpd="sng" w="10575">
            <a:solidFill>
              <a:srgbClr val="5A4FE0">
                <a:alpha val="4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72"/>
          <p:cNvSpPr/>
          <p:nvPr/>
        </p:nvSpPr>
        <p:spPr>
          <a:xfrm>
            <a:off x="12713246" y="5703094"/>
            <a:ext cx="131974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BỐI CẢNH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72"/>
          <p:cNvSpPr/>
          <p:nvPr/>
        </p:nvSpPr>
        <p:spPr>
          <a:xfrm>
            <a:off x="10797369" y="6076652"/>
            <a:ext cx="5151496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Ngân hàng — quen thuộc tại Việt Nam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AE3"/>
        </a:solidFill>
      </p:bgPr>
    </p:bg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73"/>
          <p:cNvSpPr/>
          <p:nvPr/>
        </p:nvSpPr>
        <p:spPr>
          <a:xfrm>
            <a:off x="1066767" y="876267"/>
            <a:ext cx="49449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73"/>
          <p:cNvSpPr/>
          <p:nvPr/>
        </p:nvSpPr>
        <p:spPr>
          <a:xfrm>
            <a:off x="1637440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73"/>
          <p:cNvSpPr/>
          <p:nvPr/>
        </p:nvSpPr>
        <p:spPr>
          <a:xfrm>
            <a:off x="1846957" y="884204"/>
            <a:ext cx="275918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Mini-Project ngân hàng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73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Thiết kế schema — ER diagram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73"/>
          <p:cNvSpPr/>
          <p:nvPr/>
        </p:nvSpPr>
        <p:spPr>
          <a:xfrm>
            <a:off x="4749106" y="4686681"/>
            <a:ext cx="2247884" cy="1598910"/>
          </a:xfrm>
          <a:prstGeom prst="roundRect">
            <a:avLst>
              <a:gd fmla="val 7149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73"/>
          <p:cNvSpPr/>
          <p:nvPr/>
        </p:nvSpPr>
        <p:spPr>
          <a:xfrm>
            <a:off x="4759689" y="4697264"/>
            <a:ext cx="2226717" cy="549176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73"/>
          <p:cNvSpPr/>
          <p:nvPr/>
        </p:nvSpPr>
        <p:spPr>
          <a:xfrm>
            <a:off x="4950189" y="4821089"/>
            <a:ext cx="1921917" cy="3396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5F3EE"/>
                </a:solidFill>
                <a:latin typeface="Courier New"/>
                <a:ea typeface="Courier New"/>
                <a:cs typeface="Courier New"/>
                <a:sym typeface="Courier New"/>
              </a:rPr>
              <a:t>customers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73"/>
          <p:cNvSpPr/>
          <p:nvPr/>
        </p:nvSpPr>
        <p:spPr>
          <a:xfrm>
            <a:off x="4759689" y="5246440"/>
            <a:ext cx="222671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73"/>
          <p:cNvSpPr/>
          <p:nvPr/>
        </p:nvSpPr>
        <p:spPr>
          <a:xfrm>
            <a:off x="4950189" y="5366031"/>
            <a:ext cx="1921917" cy="339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id (PK)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73"/>
          <p:cNvSpPr/>
          <p:nvPr/>
        </p:nvSpPr>
        <p:spPr>
          <a:xfrm>
            <a:off x="4759689" y="5781890"/>
            <a:ext cx="2226717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73"/>
          <p:cNvSpPr/>
          <p:nvPr/>
        </p:nvSpPr>
        <p:spPr>
          <a:xfrm>
            <a:off x="4950189" y="5901482"/>
            <a:ext cx="1921917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73"/>
          <p:cNvSpPr/>
          <p:nvPr/>
        </p:nvSpPr>
        <p:spPr>
          <a:xfrm>
            <a:off x="6996989" y="5474229"/>
            <a:ext cx="742900" cy="23813"/>
          </a:xfrm>
          <a:prstGeom prst="rect">
            <a:avLst/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73"/>
          <p:cNvSpPr/>
          <p:nvPr/>
        </p:nvSpPr>
        <p:spPr>
          <a:xfrm>
            <a:off x="7739890" y="4440122"/>
            <a:ext cx="2596637" cy="2092027"/>
          </a:xfrm>
          <a:prstGeom prst="roundRect">
            <a:avLst>
              <a:gd fmla="val 5464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73"/>
          <p:cNvSpPr/>
          <p:nvPr/>
        </p:nvSpPr>
        <p:spPr>
          <a:xfrm>
            <a:off x="7750473" y="4450705"/>
            <a:ext cx="2575471" cy="549176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73"/>
          <p:cNvSpPr/>
          <p:nvPr/>
        </p:nvSpPr>
        <p:spPr>
          <a:xfrm>
            <a:off x="7940973" y="4574530"/>
            <a:ext cx="2271735" cy="3396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5F3EE"/>
                </a:solidFill>
                <a:latin typeface="Courier New"/>
                <a:ea typeface="Courier New"/>
                <a:cs typeface="Courier New"/>
                <a:sym typeface="Courier New"/>
              </a:rPr>
              <a:t>accounts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73"/>
          <p:cNvSpPr/>
          <p:nvPr/>
        </p:nvSpPr>
        <p:spPr>
          <a:xfrm>
            <a:off x="7750473" y="4999881"/>
            <a:ext cx="2575471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73"/>
          <p:cNvSpPr/>
          <p:nvPr/>
        </p:nvSpPr>
        <p:spPr>
          <a:xfrm>
            <a:off x="7940973" y="5119473"/>
            <a:ext cx="2271735" cy="339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id (PK)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73"/>
          <p:cNvSpPr/>
          <p:nvPr/>
        </p:nvSpPr>
        <p:spPr>
          <a:xfrm>
            <a:off x="7750473" y="5535332"/>
            <a:ext cx="2575471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73"/>
          <p:cNvSpPr/>
          <p:nvPr/>
        </p:nvSpPr>
        <p:spPr>
          <a:xfrm>
            <a:off x="7940973" y="5654924"/>
            <a:ext cx="2271735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customer_id (FK)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73"/>
          <p:cNvSpPr/>
          <p:nvPr/>
        </p:nvSpPr>
        <p:spPr>
          <a:xfrm>
            <a:off x="7750473" y="6028449"/>
            <a:ext cx="2575471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73"/>
          <p:cNvSpPr/>
          <p:nvPr/>
        </p:nvSpPr>
        <p:spPr>
          <a:xfrm>
            <a:off x="7940973" y="6148041"/>
            <a:ext cx="2271735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balance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73"/>
          <p:cNvSpPr/>
          <p:nvPr/>
        </p:nvSpPr>
        <p:spPr>
          <a:xfrm>
            <a:off x="10336527" y="5474229"/>
            <a:ext cx="742900" cy="23813"/>
          </a:xfrm>
          <a:prstGeom prst="rect">
            <a:avLst/>
          </a:prstGeom>
          <a:solidFill>
            <a:srgbClr val="5A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73"/>
          <p:cNvSpPr/>
          <p:nvPr/>
        </p:nvSpPr>
        <p:spPr>
          <a:xfrm>
            <a:off x="11079427" y="4440122"/>
            <a:ext cx="2459468" cy="2092027"/>
          </a:xfrm>
          <a:prstGeom prst="roundRect">
            <a:avLst>
              <a:gd fmla="val 5464" name="adj"/>
            </a:avLst>
          </a:prstGeom>
          <a:solidFill>
            <a:srgbClr val="FFFFFF"/>
          </a:solidFill>
          <a:ln cap="flat" cmpd="sng" w="10575">
            <a:solidFill>
              <a:srgbClr val="16161D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73"/>
          <p:cNvSpPr/>
          <p:nvPr/>
        </p:nvSpPr>
        <p:spPr>
          <a:xfrm>
            <a:off x="11090011" y="4450705"/>
            <a:ext cx="2438301" cy="549176"/>
          </a:xfrm>
          <a:prstGeom prst="rect">
            <a:avLst/>
          </a:prstGeom>
          <a:solidFill>
            <a:srgbClr val="161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73"/>
          <p:cNvSpPr/>
          <p:nvPr/>
        </p:nvSpPr>
        <p:spPr>
          <a:xfrm>
            <a:off x="11280511" y="4574530"/>
            <a:ext cx="2133501" cy="3396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5F3EE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73"/>
          <p:cNvSpPr/>
          <p:nvPr/>
        </p:nvSpPr>
        <p:spPr>
          <a:xfrm>
            <a:off x="11090011" y="4999881"/>
            <a:ext cx="2438301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73"/>
          <p:cNvSpPr/>
          <p:nvPr/>
        </p:nvSpPr>
        <p:spPr>
          <a:xfrm>
            <a:off x="11280511" y="5119473"/>
            <a:ext cx="2133501" cy="339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id (PK)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73"/>
          <p:cNvSpPr/>
          <p:nvPr/>
        </p:nvSpPr>
        <p:spPr>
          <a:xfrm>
            <a:off x="11090011" y="5535332"/>
            <a:ext cx="2438301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73"/>
          <p:cNvSpPr/>
          <p:nvPr/>
        </p:nvSpPr>
        <p:spPr>
          <a:xfrm>
            <a:off x="11280511" y="5654924"/>
            <a:ext cx="2133501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account_id (FK)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73"/>
          <p:cNvSpPr/>
          <p:nvPr/>
        </p:nvSpPr>
        <p:spPr>
          <a:xfrm>
            <a:off x="11090011" y="6028449"/>
            <a:ext cx="2438301" cy="9525"/>
          </a:xfrm>
          <a:prstGeom prst="rect">
            <a:avLst/>
          </a:prstGeom>
          <a:solidFill>
            <a:srgbClr val="16161D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73"/>
          <p:cNvSpPr/>
          <p:nvPr/>
        </p:nvSpPr>
        <p:spPr>
          <a:xfrm>
            <a:off x="11280511" y="6148041"/>
            <a:ext cx="2133501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5B67"/>
                </a:solidFill>
                <a:latin typeface="Courier New"/>
                <a:ea typeface="Courier New"/>
                <a:cs typeface="Courier New"/>
                <a:sym typeface="Courier New"/>
              </a:rPr>
              <a:t>amount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73"/>
          <p:cNvSpPr/>
          <p:nvPr/>
        </p:nvSpPr>
        <p:spPr>
          <a:xfrm>
            <a:off x="6110304" y="7032708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73"/>
          <p:cNvSpPr/>
          <p:nvPr/>
        </p:nvSpPr>
        <p:spPr>
          <a:xfrm>
            <a:off x="6300722" y="6918441"/>
            <a:ext cx="60531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Quan hệ 1-n · chuẩn hoá để tránh trùng lặp dữ liệu.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74"/>
          <p:cNvSpPr/>
          <p:nvPr/>
        </p:nvSpPr>
        <p:spPr>
          <a:xfrm>
            <a:off x="1066767" y="876267"/>
            <a:ext cx="49449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74"/>
          <p:cNvSpPr/>
          <p:nvPr/>
        </p:nvSpPr>
        <p:spPr>
          <a:xfrm>
            <a:off x="1637440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74"/>
          <p:cNvSpPr/>
          <p:nvPr/>
        </p:nvSpPr>
        <p:spPr>
          <a:xfrm>
            <a:off x="1846957" y="884204"/>
            <a:ext cx="275918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Mini-Project ngân hàng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74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Truy vấn cơ bản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74"/>
          <p:cNvSpPr/>
          <p:nvPr/>
        </p:nvSpPr>
        <p:spPr>
          <a:xfrm>
            <a:off x="1066767" y="4246893"/>
            <a:ext cx="16154467" cy="2630951"/>
          </a:xfrm>
          <a:prstGeom prst="roundRect">
            <a:avLst>
              <a:gd fmla="val 6517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74"/>
          <p:cNvSpPr/>
          <p:nvPr/>
        </p:nvSpPr>
        <p:spPr>
          <a:xfrm>
            <a:off x="1434009" y="4556985"/>
            <a:ext cx="15904618" cy="20488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F6C88"/>
              </a:buClr>
              <a:buSzPts val="1875"/>
              <a:buFont typeface="Courier New"/>
              <a:buNone/>
            </a:pPr>
            <a:r>
              <a:rPr b="0" i="1" lang="en-US" sz="1875" u="none" cap="none" strike="noStrike">
                <a:solidFill>
                  <a:srgbClr val="6F6C88"/>
                </a:solidFill>
                <a:latin typeface="Courier New"/>
                <a:ea typeface="Courier New"/>
                <a:cs typeface="Courier New"/>
                <a:sym typeface="Courier New"/>
              </a:rPr>
              <a:t>-- Số dư trung bình theo loại tài khoản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type, </a:t>
            </a:r>
            <a:r>
              <a:rPr b="0" i="0" lang="en-US" sz="1875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avg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(balance)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sodu_tb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accounts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type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sodu_tb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DESC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74"/>
          <p:cNvSpPr/>
          <p:nvPr/>
        </p:nvSpPr>
        <p:spPr>
          <a:xfrm>
            <a:off x="1066767" y="7225936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74"/>
          <p:cNvSpPr/>
          <p:nvPr/>
        </p:nvSpPr>
        <p:spPr>
          <a:xfrm>
            <a:off x="1257184" y="7111669"/>
            <a:ext cx="626695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Áp dụng SELECT · GROUP BY · ORDER BY đã học.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75"/>
          <p:cNvSpPr/>
          <p:nvPr/>
        </p:nvSpPr>
        <p:spPr>
          <a:xfrm>
            <a:off x="1066767" y="876267"/>
            <a:ext cx="49449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75"/>
          <p:cNvSpPr/>
          <p:nvPr/>
        </p:nvSpPr>
        <p:spPr>
          <a:xfrm>
            <a:off x="1637440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75"/>
          <p:cNvSpPr/>
          <p:nvPr/>
        </p:nvSpPr>
        <p:spPr>
          <a:xfrm>
            <a:off x="1846957" y="884204"/>
            <a:ext cx="275918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Mini-Project ngân hàng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75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Truy vấn nâng cao — JOIN + window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75"/>
          <p:cNvSpPr/>
          <p:nvPr/>
        </p:nvSpPr>
        <p:spPr>
          <a:xfrm>
            <a:off x="1066767" y="3839435"/>
            <a:ext cx="16154467" cy="3445867"/>
          </a:xfrm>
          <a:prstGeom prst="roundRect">
            <a:avLst>
              <a:gd fmla="val 4976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75"/>
          <p:cNvSpPr/>
          <p:nvPr/>
        </p:nvSpPr>
        <p:spPr>
          <a:xfrm>
            <a:off x="1434009" y="4149527"/>
            <a:ext cx="15904618" cy="286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F6C88"/>
              </a:buClr>
              <a:buSzPts val="1875"/>
              <a:buFont typeface="Courier New"/>
              <a:buNone/>
            </a:pPr>
            <a:r>
              <a:rPr b="0" i="1" lang="en-US" sz="1875" u="none" cap="none" strike="noStrike">
                <a:solidFill>
                  <a:srgbClr val="6F6C88"/>
                </a:solidFill>
                <a:latin typeface="Courier New"/>
                <a:ea typeface="Courier New"/>
                <a:cs typeface="Courier New"/>
                <a:sym typeface="Courier New"/>
              </a:rPr>
              <a:t>-- Tăng trưởng giao dịch mỗi tháng / khách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c.name, t.month, t.total,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t.total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AA0B3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9AA0B3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75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lag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(t.total)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OVER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PARTITION BY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c.id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ORDER BY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t.month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)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tang_truong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customers c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JOIN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monthly_tx t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t.customer_id = c.id;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75"/>
          <p:cNvSpPr/>
          <p:nvPr/>
        </p:nvSpPr>
        <p:spPr>
          <a:xfrm>
            <a:off x="1066767" y="7633395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75"/>
          <p:cNvSpPr/>
          <p:nvPr/>
        </p:nvSpPr>
        <p:spPr>
          <a:xfrm>
            <a:off x="1257184" y="7519128"/>
            <a:ext cx="45208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Đây là phần khiến CV của bạn nổi bật.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76"/>
          <p:cNvSpPr/>
          <p:nvPr/>
        </p:nvSpPr>
        <p:spPr>
          <a:xfrm>
            <a:off x="1066767" y="876267"/>
            <a:ext cx="49449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L12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76"/>
          <p:cNvSpPr/>
          <p:nvPr/>
        </p:nvSpPr>
        <p:spPr>
          <a:xfrm>
            <a:off x="1637440" y="998471"/>
            <a:ext cx="57133" cy="57133"/>
          </a:xfrm>
          <a:prstGeom prst="ellipse">
            <a:avLst/>
          </a:prstGeom>
          <a:solidFill>
            <a:srgbClr val="5B5B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76"/>
          <p:cNvSpPr/>
          <p:nvPr/>
        </p:nvSpPr>
        <p:spPr>
          <a:xfrm>
            <a:off x="1846957" y="884204"/>
            <a:ext cx="36518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Mini-Project ngân hàng · Bonus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76"/>
          <p:cNvSpPr/>
          <p:nvPr/>
        </p:nvSpPr>
        <p:spPr>
          <a:xfrm>
            <a:off x="1066767" y="1577909"/>
            <a:ext cx="9641958" cy="603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161D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6161D"/>
                </a:solidFill>
                <a:latin typeface="Arial"/>
                <a:ea typeface="Arial"/>
                <a:cs typeface="Arial"/>
                <a:sym typeface="Arial"/>
              </a:rPr>
              <a:t>Phát hiện giao dịch bất thường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76"/>
          <p:cNvSpPr/>
          <p:nvPr/>
        </p:nvSpPr>
        <p:spPr>
          <a:xfrm>
            <a:off x="1066767" y="4056393"/>
            <a:ext cx="16154467" cy="3011951"/>
          </a:xfrm>
          <a:prstGeom prst="roundRect">
            <a:avLst>
              <a:gd fmla="val 5692" name="adj"/>
            </a:avLst>
          </a:prstGeom>
          <a:solidFill>
            <a:srgbClr val="1B1B25"/>
          </a:solidFill>
          <a:ln cap="flat" cmpd="sng" w="9525">
            <a:solidFill>
              <a:srgbClr val="FFFFFF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76"/>
          <p:cNvSpPr/>
          <p:nvPr/>
        </p:nvSpPr>
        <p:spPr>
          <a:xfrm>
            <a:off x="1434009" y="4366485"/>
            <a:ext cx="15904618" cy="24298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F6C88"/>
              </a:buClr>
              <a:buSzPts val="1875"/>
              <a:buFont typeface="Courier New"/>
              <a:buNone/>
            </a:pPr>
            <a:r>
              <a:rPr b="0" i="1" lang="en-US" sz="1875" u="none" cap="none" strike="noStrike">
                <a:solidFill>
                  <a:srgbClr val="6F6C88"/>
                </a:solidFill>
                <a:latin typeface="Courier New"/>
                <a:ea typeface="Courier New"/>
                <a:cs typeface="Courier New"/>
                <a:sym typeface="Courier New"/>
              </a:rPr>
              <a:t>-- Giao dịch lớn gấp 3 lần mức trung bình của tài khoản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transactions t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amount </a:t>
            </a:r>
            <a:r>
              <a:rPr b="0" i="0" lang="en-US" sz="1875" u="none" cap="none" strike="noStrike">
                <a:solidFill>
                  <a:srgbClr val="9AA0B3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75" u="none" cap="none" strike="noStrike">
                <a:solidFill>
                  <a:srgbClr val="F49B9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75" u="none" cap="none" strike="noStrike">
                <a:solidFill>
                  <a:srgbClr val="9AA0B3"/>
                </a:solidFill>
                <a:latin typeface="Courier New"/>
                <a:ea typeface="Courier New"/>
                <a:cs typeface="Courier New"/>
                <a:sym typeface="Courier New"/>
              </a:rPr>
              <a:t>*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75" u="none" cap="none" strike="noStrike">
                <a:solidFill>
                  <a:srgbClr val="62D3C6"/>
                </a:solidFill>
                <a:latin typeface="Courier New"/>
                <a:ea typeface="Courier New"/>
                <a:cs typeface="Courier New"/>
                <a:sym typeface="Courier New"/>
              </a:rPr>
              <a:t>avg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(amount) </a:t>
            </a: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transactions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B5A8FF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 account_id = t.account_id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6F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E6F2"/>
                </a:solidFill>
                <a:highlight>
                  <a:srgbClr val="1B1B25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76"/>
          <p:cNvSpPr/>
          <p:nvPr/>
        </p:nvSpPr>
        <p:spPr>
          <a:xfrm>
            <a:off x="1066767" y="7416436"/>
            <a:ext cx="57133" cy="57133"/>
          </a:xfrm>
          <a:prstGeom prst="ellipse">
            <a:avLst/>
          </a:prstGeom>
          <a:solidFill>
            <a:srgbClr val="13A2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76"/>
          <p:cNvSpPr/>
          <p:nvPr/>
        </p:nvSpPr>
        <p:spPr>
          <a:xfrm>
            <a:off x="1257184" y="7302169"/>
            <a:ext cx="69281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67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B5B67"/>
                </a:solidFill>
                <a:latin typeface="Arial"/>
                <a:ea typeface="Arial"/>
                <a:cs typeface="Arial"/>
                <a:sym typeface="Arial"/>
              </a:rPr>
              <a:t>Nền tảng cho bài toán fraud detection ở Capstone sau này.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9"/>
        </a:solidFill>
      </p:bgPr>
    </p:bg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77"/>
          <p:cNvSpPr/>
          <p:nvPr/>
        </p:nvSpPr>
        <p:spPr>
          <a:xfrm>
            <a:off x="1066767" y="876267"/>
            <a:ext cx="330269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FE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A4FE0"/>
                </a:solidFill>
                <a:latin typeface="Courier New"/>
                <a:ea typeface="Courier New"/>
                <a:cs typeface="Courier New"/>
                <a:sym typeface="Courier New"/>
              </a:rPr>
              <a:t>SECTION 03 · HOÀN THÀNH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77"/>
          <p:cNvSpPr/>
          <p:nvPr/>
        </p:nvSpPr>
        <p:spPr>
          <a:xfrm>
            <a:off x="1066767" y="3847538"/>
            <a:ext cx="10272928" cy="13982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Bạn đã có </a:t>
            </a:r>
            <a:r>
              <a:rPr b="1" i="0" lang="en-US" sz="5100" u="none" cap="none" strike="noStrike">
                <a:solidFill>
                  <a:srgbClr val="5A4FE0"/>
                </a:solidFill>
                <a:latin typeface="Arial"/>
                <a:ea typeface="Arial"/>
                <a:cs typeface="Arial"/>
                <a:sym typeface="Arial"/>
              </a:rPr>
              <a:t>Python + SQL </a:t>
            </a:r>
            <a:r>
              <a:rPr b="1" i="0" lang="en-US" sz="5100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. Giờ ta xây nền toán cho ML.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77"/>
          <p:cNvSpPr/>
          <p:nvPr/>
        </p:nvSpPr>
        <p:spPr>
          <a:xfrm>
            <a:off x="1066767" y="6107080"/>
            <a:ext cx="3560465" cy="615818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77"/>
          <p:cNvSpPr/>
          <p:nvPr/>
        </p:nvSpPr>
        <p:spPr>
          <a:xfrm>
            <a:off x="1338759" y="6245721"/>
            <a:ext cx="3123296" cy="3766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SQL cơ bản → nâng cao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77"/>
          <p:cNvSpPr/>
          <p:nvPr/>
        </p:nvSpPr>
        <p:spPr>
          <a:xfrm>
            <a:off x="4779616" y="6107080"/>
            <a:ext cx="3666546" cy="615818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77"/>
          <p:cNvSpPr/>
          <p:nvPr/>
        </p:nvSpPr>
        <p:spPr>
          <a:xfrm>
            <a:off x="5051607" y="6245721"/>
            <a:ext cx="3232559" cy="3766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Window · Index · Schema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77"/>
          <p:cNvSpPr/>
          <p:nvPr/>
        </p:nvSpPr>
        <p:spPr>
          <a:xfrm>
            <a:off x="8598546" y="6107080"/>
            <a:ext cx="2450951" cy="615818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2F0E9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77"/>
          <p:cNvSpPr/>
          <p:nvPr/>
        </p:nvSpPr>
        <p:spPr>
          <a:xfrm>
            <a:off x="8870537" y="6245721"/>
            <a:ext cx="1983168" cy="3766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2F0E9"/>
                </a:solidFill>
                <a:latin typeface="Arial"/>
                <a:ea typeface="Arial"/>
                <a:cs typeface="Arial"/>
                <a:sym typeface="Arial"/>
              </a:rPr>
              <a:t>Mini-Project ✅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77"/>
          <p:cNvSpPr/>
          <p:nvPr/>
        </p:nvSpPr>
        <p:spPr>
          <a:xfrm>
            <a:off x="1066767" y="8855108"/>
            <a:ext cx="9011583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Section 4 · Toán &amp; Thống kê cho AI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77"/>
          <p:cNvSpPr/>
          <p:nvPr/>
        </p:nvSpPr>
        <p:spPr>
          <a:xfrm>
            <a:off x="10025394" y="8918609"/>
            <a:ext cx="46274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A294"/>
              </a:buClr>
              <a:buSzPts val="3240"/>
              <a:buFont typeface="Arial"/>
              <a:buNone/>
            </a:pPr>
            <a:r>
              <a:rPr b="1" i="0" lang="en-US" sz="3240" u="none" cap="none" strike="noStrike">
                <a:solidFill>
                  <a:srgbClr val="13A29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77"/>
          <p:cNvSpPr/>
          <p:nvPr/>
        </p:nvSpPr>
        <p:spPr>
          <a:xfrm>
            <a:off x="13730967" y="9601234"/>
            <a:ext cx="359497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4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4B6"/>
                </a:solidFill>
                <a:latin typeface="Arial"/>
                <a:ea typeface="Arial"/>
                <a:cs typeface="Arial"/>
                <a:sym typeface="Arial"/>
              </a:rPr>
              <a:t>Mastering AI &amp; Data Science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