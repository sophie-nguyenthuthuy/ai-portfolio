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4" name="Google Shape;109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-59895"/>
            <a:ext cx="18288000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2094851" y="3338050"/>
            <a:ext cx="51645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7500"/>
              <a:buFont typeface="Arial"/>
              <a:buNone/>
            </a:pPr>
            <a:r>
              <a:rPr b="1" i="0" lang="en-US" sz="375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3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243450" y="3022909"/>
            <a:ext cx="84765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8100"/>
              <a:buFont typeface="Arial"/>
              <a:buNone/>
            </a:pPr>
            <a:r>
              <a:rPr b="1" i="0" lang="en-US" sz="8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Masterin</a:t>
            </a:r>
            <a:r>
              <a:rPr b="1" lang="en-US" sz="8100">
                <a:solidFill>
                  <a:srgbClr val="EEF2FF"/>
                </a:solidFill>
              </a:rPr>
              <a:t>g</a:t>
            </a:r>
            <a:r>
              <a:rPr b="1" i="0" lang="en-US" sz="8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 AI &amp; Data Science</a:t>
            </a:r>
            <a:endParaRPr b="0" i="0" sz="8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28650" y="5465300"/>
            <a:ext cx="847659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Từ con số 0 đến </a:t>
            </a:r>
            <a:r>
              <a:rPr b="1" i="0" lang="en-US" sz="31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AI Engineer thực chiến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28650" y="6468567"/>
            <a:ext cx="8229699" cy="9525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28650" y="6892892"/>
            <a:ext cx="8044816" cy="1106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1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"AI sẽ không thay thế bạn — nhưng người biết dùng AI thì có thể."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882814" y="762000"/>
            <a:ext cx="2376537" cy="472943"/>
          </a:xfrm>
          <a:prstGeom prst="roundRect">
            <a:avLst>
              <a:gd fmla="val 50000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5097621" y="960355"/>
            <a:ext cx="76150" cy="7615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5249923" y="852951"/>
            <a:ext cx="1870820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FREE PREVIEW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-571500" y="-952500"/>
            <a:ext cx="5715000" cy="4762500"/>
          </a:xfrm>
          <a:prstGeom prst="ellipse">
            <a:avLst/>
          </a:prstGeom>
          <a:solidFill>
            <a:srgbClr val="3B82F6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28650" y="2143290"/>
            <a:ext cx="861779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NGƯỜI ĐỒNG HÀNH CÙNG BẠN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28650" y="2624832"/>
            <a:ext cx="533384" cy="38034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28650" y="2700900"/>
            <a:ext cx="8617791" cy="14780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Giảng viên </a:t>
            </a:r>
            <a:r>
              <a:rPr b="1" i="0" lang="en-US" sz="54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thực chiến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28650" y="4597962"/>
            <a:ext cx="495267" cy="495267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95842" y="4603254"/>
            <a:ext cx="560884" cy="522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90568" y="4559929"/>
            <a:ext cx="633679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Kinh nghiệm thực tế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790568" y="5048829"/>
            <a:ext cx="6336791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Data pipeline · Train model · Production deployment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28650" y="5646705"/>
            <a:ext cx="495267" cy="495267"/>
          </a:xfrm>
          <a:prstGeom prst="ellipse">
            <a:avLst/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95842" y="5651996"/>
            <a:ext cx="560884" cy="522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790568" y="5608671"/>
            <a:ext cx="6630007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Khác biệt quan trọng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790568" y="6097571"/>
            <a:ext cx="6630007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Dạy cả phần </a:t>
            </a: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SAU khi train model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 đưa vào đời thật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28650" y="6860563"/>
            <a:ext cx="8366787" cy="1359297"/>
          </a:xfrm>
          <a:prstGeom prst="roundRect">
            <a:avLst>
              <a:gd fmla="val 11212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338709" y="7113488"/>
            <a:ext cx="7979070" cy="891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Hầu hết khoá chỉ dạy train trên Kaggle — không ai dạy cách </a:t>
            </a:r>
            <a:r>
              <a:rPr b="0" i="1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đưa model vào sản phẩm thực tế</a:t>
            </a:r>
            <a:r>
              <a:rPr b="0" i="1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4" title="z7735058009051_1979b13a9e27f2d50d594c506133018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7775" y="1630945"/>
            <a:ext cx="8587761" cy="572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Khoá học này dành cho ai?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28650" y="2375793"/>
            <a:ext cx="7981984" cy="2979870"/>
          </a:xfrm>
          <a:prstGeom prst="roundRect">
            <a:avLst>
              <a:gd fmla="val 5114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376842" y="3540291"/>
            <a:ext cx="761967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🆕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405476" y="3407999"/>
            <a:ext cx="6003379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Người mới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405476" y="4011249"/>
            <a:ext cx="6003379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Chưa từng viết một dòng code — bắt đầu từ số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277284" y="2375793"/>
            <a:ext cx="7982066" cy="2979870"/>
          </a:xfrm>
          <a:prstGeom prst="roundRect">
            <a:avLst>
              <a:gd fmla="val 5114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9625476" y="3540291"/>
            <a:ext cx="761967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🔄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654110" y="3407999"/>
            <a:ext cx="508575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Người chuyển ngành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654110" y="4011249"/>
            <a:ext cx="508575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Từ các lĩnh vực khác muốn vào AI &amp; 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028650" y="5622313"/>
            <a:ext cx="7981984" cy="3292078"/>
          </a:xfrm>
          <a:prstGeom prst="roundRect">
            <a:avLst>
              <a:gd fmla="val 4629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376842" y="6942915"/>
            <a:ext cx="761967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405476" y="6654519"/>
            <a:ext cx="640543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Sinh viên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405476" y="7257769"/>
            <a:ext cx="6405432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Muốn có portfolio &amp; kỹ năng thực tế trước khi ra trường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277284" y="5622313"/>
            <a:ext cx="7982066" cy="3292078"/>
          </a:xfrm>
          <a:prstGeom prst="roundRect">
            <a:avLst>
              <a:gd fmla="val 4629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625476" y="6942915"/>
            <a:ext cx="761967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654110" y="6810623"/>
            <a:ext cx="6352801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Analyst → DS/ML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654110" y="7413874"/>
            <a:ext cx="6352801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Đã biết phân tích, muốn thăng cấp lên Data Science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85190" y="9181042"/>
            <a:ext cx="16717621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Ai cũng có chỗ — khoá học bắt đầu từ con số </a:t>
            </a: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785190" y="2865603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HỌC XONG LÀM ĐƯỢC GÌ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85190" y="3270912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Lộ trình </a:t>
            </a:r>
            <a:r>
              <a:rPr b="1" i="0" lang="en-US" sz="40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6 giai đoạn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028650" y="4384229"/>
            <a:ext cx="2451117" cy="2206460"/>
          </a:xfrm>
          <a:prstGeom prst="roundRect">
            <a:avLst>
              <a:gd fmla="val 6044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2006534" y="4694287"/>
            <a:ext cx="495267" cy="495267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58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984309" y="4710162"/>
            <a:ext cx="539717" cy="501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412313" y="5303821"/>
            <a:ext cx="1683792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246452" y="5762047"/>
            <a:ext cx="201543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Python · Tools · Git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479767" y="4384229"/>
            <a:ext cx="304767" cy="2206460"/>
          </a:xfrm>
          <a:prstGeom prst="rect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571296" y="5365750"/>
            <a:ext cx="121709" cy="24341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784534" y="4384229"/>
            <a:ext cx="2451199" cy="2206460"/>
          </a:xfrm>
          <a:prstGeom prst="rect">
            <a:avLst/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762500" y="4694287"/>
            <a:ext cx="495267" cy="495267"/>
          </a:xfrm>
          <a:prstGeom prst="ellipse">
            <a:avLst/>
          </a:prstGeom>
          <a:solidFill>
            <a:srgbClr val="8B5CF6">
              <a:alpha val="12156"/>
            </a:srgbClr>
          </a:solidFill>
          <a:ln cap="flat" cmpd="sng" w="158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740275" y="4710162"/>
            <a:ext cx="539717" cy="501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346812" y="5295963"/>
            <a:ext cx="1235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Core ML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942226" y="5762047"/>
            <a:ext cx="2135816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Models · Stats ·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235733" y="4384229"/>
            <a:ext cx="304767" cy="2206460"/>
          </a:xfrm>
          <a:prstGeom prst="rect">
            <a:avLst/>
          </a:prstGeom>
          <a:solidFill>
            <a:srgbClr val="8B5CF6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327263" y="5365750"/>
            <a:ext cx="121709" cy="24341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540500" y="4384229"/>
            <a:ext cx="2451117" cy="2206460"/>
          </a:xfrm>
          <a:prstGeom prst="rect">
            <a:avLst/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518384" y="4694287"/>
            <a:ext cx="495267" cy="495267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496159" y="4710162"/>
            <a:ext cx="539717" cy="501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802124" y="5303821"/>
            <a:ext cx="1927787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775417" y="5762047"/>
            <a:ext cx="1981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Neural Nets · CNN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991617" y="4384229"/>
            <a:ext cx="304767" cy="2206460"/>
          </a:xfrm>
          <a:prstGeom prst="rect">
            <a:avLst/>
          </a:prstGeom>
          <a:solidFill>
            <a:srgbClr val="10B981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083146" y="5365750"/>
            <a:ext cx="121709" cy="24341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9296384" y="4384229"/>
            <a:ext cx="2451199" cy="2206460"/>
          </a:xfrm>
          <a:prstGeom prst="rect">
            <a:avLst/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10274350" y="4694287"/>
            <a:ext cx="495267" cy="495267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0252125" y="4710162"/>
            <a:ext cx="539717" cy="501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048422" y="5284850"/>
            <a:ext cx="947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Gen AI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461352" y="5762047"/>
            <a:ext cx="212126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LLM · RAG · Agents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747583" y="4384229"/>
            <a:ext cx="304767" cy="2206460"/>
          </a:xfrm>
          <a:prstGeom prst="rect">
            <a:avLst/>
          </a:prstGeom>
          <a:solidFill>
            <a:srgbClr val="F59E0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1839112" y="5365750"/>
            <a:ext cx="121709" cy="24341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2052350" y="4384229"/>
            <a:ext cx="2451117" cy="2206460"/>
          </a:xfrm>
          <a:prstGeom prst="rect">
            <a:avLst/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3030234" y="4694287"/>
            <a:ext cx="495267" cy="495267"/>
          </a:xfrm>
          <a:prstGeom prst="ellipse">
            <a:avLst/>
          </a:prstGeom>
          <a:solidFill>
            <a:srgbClr val="F97316">
              <a:alpha val="12156"/>
            </a:srgbClr>
          </a:solidFill>
          <a:ln cap="flat" cmpd="sng" w="1587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3008009" y="4710162"/>
            <a:ext cx="539717" cy="501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2524566" y="5303821"/>
            <a:ext cx="1506604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2414184" y="5762047"/>
            <a:ext cx="172736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Deploy · MLOps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4503467" y="4384229"/>
            <a:ext cx="304767" cy="2206460"/>
          </a:xfrm>
          <a:prstGeom prst="rect">
            <a:avLst/>
          </a:prstGeom>
          <a:solidFill>
            <a:srgbClr val="F97316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4594996" y="5365750"/>
            <a:ext cx="121709" cy="243417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4808233" y="4384229"/>
            <a:ext cx="2451117" cy="2206460"/>
          </a:xfrm>
          <a:prstGeom prst="rect">
            <a:avLst/>
          </a:prstGeom>
          <a:solidFill>
            <a:srgbClr val="13213A"/>
          </a:solidFill>
          <a:ln cap="flat" cmpd="sng" w="9525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5786118" y="4694287"/>
            <a:ext cx="495267" cy="495267"/>
          </a:xfrm>
          <a:prstGeom prst="ellipse">
            <a:avLst/>
          </a:prstGeom>
          <a:solidFill>
            <a:srgbClr val="06B6D4">
              <a:alpha val="12156"/>
            </a:srgbClr>
          </a:solidFill>
          <a:ln cap="flat" cmpd="sng" w="1587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5763893" y="4710162"/>
            <a:ext cx="539717" cy="501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5576038" y="5303821"/>
            <a:ext cx="91542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Career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5290619" y="5762047"/>
            <a:ext cx="148626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Portfolio · Job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646828" y="6971688"/>
            <a:ext cx="2956719" cy="525859"/>
          </a:xfrm>
          <a:prstGeom prst="roundRect">
            <a:avLst>
              <a:gd fmla="val 50000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861669" y="7062705"/>
            <a:ext cx="2615737" cy="381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7 DỰ ÁN THỰC TẾ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832081" y="6971688"/>
            <a:ext cx="2286827" cy="525859"/>
          </a:xfrm>
          <a:prstGeom prst="roundRect">
            <a:avLst>
              <a:gd fmla="val 50000" name="adj"/>
            </a:avLst>
          </a:prstGeom>
          <a:solidFill>
            <a:srgbClr val="10B981">
              <a:alpha val="10196"/>
            </a:srgbClr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046922" y="7062705"/>
            <a:ext cx="1933344" cy="381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1 PORTFOLIO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0347442" y="6971688"/>
            <a:ext cx="3293649" cy="525859"/>
          </a:xfrm>
          <a:prstGeom prst="roundRect">
            <a:avLst>
              <a:gd fmla="val 50000" name="adj"/>
            </a:avLst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562283" y="7062705"/>
            <a:ext cx="2962775" cy="381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AI ENGINEER READY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785190" y="1406591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CÁCH HỌC HIỆU QUẢ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85190" y="1811900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3 nguyên tắc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667250" y="2963333"/>
            <a:ext cx="8953501" cy="1924017"/>
          </a:xfrm>
          <a:prstGeom prst="roundRect">
            <a:avLst>
              <a:gd fmla="val 7921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129709" y="3563359"/>
            <a:ext cx="800084" cy="761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310726" y="3311509"/>
            <a:ext cx="701375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Làm, đừng chỉ xem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310726" y="3914759"/>
            <a:ext cx="701375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Kiến thức là của bạn khi tay bạn gõ ra code — không phải khi mắt xem video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667250" y="5154001"/>
            <a:ext cx="8953501" cy="1924017"/>
          </a:xfrm>
          <a:prstGeom prst="roundRect">
            <a:avLst>
              <a:gd fmla="val 7921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129709" y="5754026"/>
            <a:ext cx="800084" cy="761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310726" y="5502176"/>
            <a:ext cx="701375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Đừng cầu toàn — cứ tiến lên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310726" y="6105426"/>
            <a:ext cx="701375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Nhiều thứ chưa hiểu sẽ "thông" ở bài sau — đừng mắc kẹt quá lâu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667250" y="7344669"/>
            <a:ext cx="8953501" cy="1611809"/>
          </a:xfrm>
          <a:prstGeom prst="roundRect">
            <a:avLst>
              <a:gd fmla="val 9455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129709" y="7788590"/>
            <a:ext cx="800084" cy="761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310726" y="7692843"/>
            <a:ext cx="6563239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Tham gia cộng đồng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310726" y="8296094"/>
            <a:ext cx="6563239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Học cùng nhau đi xa hơn — hỏi khi bí, dạy lại khi hiểu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545581" y="3014679"/>
            <a:ext cx="3196840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1 HOÀN THÀNH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763001" y="3572371"/>
            <a:ext cx="762000" cy="762000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740776" y="3588246"/>
            <a:ext cx="806450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528330" y="4639138"/>
            <a:ext cx="7231341" cy="916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Foundations đã vững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963939" y="5727072"/>
            <a:ext cx="636004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tiếp: Bức tranh nghề AI &amp; Data 2026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448683" y="6554639"/>
            <a:ext cx="3390553" cy="7937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893124" y="6745139"/>
            <a:ext cx="2501670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Bài tiếp theo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A08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8B5CF6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1428051" y="3790000"/>
            <a:ext cx="82179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0000"/>
              <a:buFont typeface="Arial"/>
              <a:buNone/>
            </a:pPr>
            <a:r>
              <a:rPr b="1" i="0" lang="en-US" sz="400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 b="0" i="0" sz="4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028650" y="6125270"/>
            <a:ext cx="3963955" cy="472943"/>
          </a:xfrm>
          <a:prstGeom prst="roundRect">
            <a:avLst>
              <a:gd fmla="val 50000" name="adj"/>
            </a:avLst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243459" y="6323624"/>
            <a:ext cx="76150" cy="7615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1395760" y="6216221"/>
            <a:ext cx="3483498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LECTURE 2 · FREE PREVIEW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028650" y="6807729"/>
            <a:ext cx="10399395" cy="1519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Bức tranh nghề AI &amp; Data </a:t>
            </a:r>
            <a:r>
              <a:rPr b="1" i="0" lang="en-US" sz="54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028650" y="8498417"/>
            <a:ext cx="1671762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Vai trò · Lương · Cơ hội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BỨC TRANH NGHỀ AI &amp; DATA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Vì sao AI bùng nổ ngay lúc này?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028650" y="2375793"/>
            <a:ext cx="7924850" cy="1809667"/>
          </a:xfrm>
          <a:prstGeom prst="roundRect">
            <a:avLst>
              <a:gd fmla="val 8421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1414942" y="2723968"/>
            <a:ext cx="533384" cy="533384"/>
          </a:xfrm>
          <a:prstGeom prst="roundRect">
            <a:avLst>
              <a:gd fmla="val 21429" name="adj"/>
            </a:avLst>
          </a:prstGeom>
          <a:solidFill>
            <a:srgbClr val="8B5CF6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376842" y="2723968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195959" y="2723968"/>
            <a:ext cx="6562387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GenAI + LLM thay đổi mọi ngành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195959" y="3212869"/>
            <a:ext cx="6562387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ChatGPT, Claude, Gemini → doanh nghiệp buộc phải ứng dụng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028650" y="4413994"/>
            <a:ext cx="7924850" cy="1809667"/>
          </a:xfrm>
          <a:prstGeom prst="roundRect">
            <a:avLst>
              <a:gd fmla="val 8421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414942" y="4762169"/>
            <a:ext cx="533384" cy="533384"/>
          </a:xfrm>
          <a:prstGeom prst="roundRect">
            <a:avLst>
              <a:gd fmla="val 21429" name="adj"/>
            </a:avLst>
          </a:prstGeom>
          <a:solidFill>
            <a:srgbClr val="F59E0B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376842" y="4762169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2195959" y="4762169"/>
            <a:ext cx="6562387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Doanh nghiệp đua nhau ứng dụng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195959" y="5251070"/>
            <a:ext cx="6562387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Từ startup đến tập đoàn — ai không đầu tư AI sẽ bị bỏ lại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028650" y="6452196"/>
            <a:ext cx="7924850" cy="1529209"/>
          </a:xfrm>
          <a:prstGeom prst="roundRect">
            <a:avLst>
              <a:gd fmla="val 9966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414942" y="6800371"/>
            <a:ext cx="533384" cy="533384"/>
          </a:xfrm>
          <a:prstGeom prst="roundRect">
            <a:avLst>
              <a:gd fmla="val 21429" name="adj"/>
            </a:avLst>
          </a:prstGeom>
          <a:solidFill>
            <a:srgbClr val="10B981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376842" y="6800371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📈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195959" y="6800371"/>
            <a:ext cx="5787662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Cung nhân lực &lt; Cầu tuyển dụng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2195959" y="7289271"/>
            <a:ext cx="5787662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Khoảng trống nhân lực = </a:t>
            </a: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cơ hội vàng cho bạn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9334501" y="2375793"/>
            <a:ext cx="7924850" cy="7149207"/>
          </a:xfrm>
          <a:prstGeom prst="roundRect">
            <a:avLst>
              <a:gd fmla="val 2132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11450264" y="2776575"/>
            <a:ext cx="3693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Thị trường nhân lực AI 2026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1789007" y="4396962"/>
            <a:ext cx="1002076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48k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1775695" y="5186412"/>
            <a:ext cx="952500" cy="1333500"/>
          </a:xfrm>
          <a:prstGeom prst="roundRect">
            <a:avLst>
              <a:gd fmla="val 8000" name="adj"/>
            </a:avLst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11749832" y="6653196"/>
            <a:ext cx="1004143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Nhân lực hiện có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3337729" y="3253962"/>
            <a:ext cx="1556544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120k+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3601651" y="4043412"/>
            <a:ext cx="952500" cy="2476500"/>
          </a:xfrm>
          <a:prstGeom prst="roundRect">
            <a:avLst>
              <a:gd fmla="val 8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13474254" y="6653196"/>
            <a:ext cx="1207294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Nhu cầu tuyển dụng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0913319" y="7400313"/>
            <a:ext cx="4767213" cy="472943"/>
          </a:xfrm>
          <a:prstGeom prst="roundRect">
            <a:avLst>
              <a:gd fmla="val 50000" name="adj"/>
            </a:avLst>
          </a:prstGeom>
          <a:solidFill>
            <a:srgbClr val="10B981">
              <a:alpha val="10196"/>
            </a:srgbClr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11128160" y="7491330"/>
            <a:ext cx="4480546" cy="329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KHOẢNG TRỐNG = CƠ HỘI CỦA BẠN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785190" y="1728887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CÁC VAI TRÒ TRONG NGÀNH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85190" y="2134195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6 vai trò cốt lõi AI &amp; Data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028650" y="3209396"/>
            <a:ext cx="5270500" cy="2607634"/>
          </a:xfrm>
          <a:prstGeom prst="roundRect">
            <a:avLst>
              <a:gd fmla="val 5844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1190433" y="3557571"/>
            <a:ext cx="4946935" cy="588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190433" y="4241188"/>
            <a:ext cx="4946935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Data Analyst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190433" y="4844438"/>
            <a:ext cx="4946935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Phân tích &amp; báo cáo SQL · Excel · Power BI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508668" y="3209396"/>
            <a:ext cx="5270583" cy="2607634"/>
          </a:xfrm>
          <a:prstGeom prst="roundRect">
            <a:avLst>
              <a:gd fmla="val 5844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670449" y="3557571"/>
            <a:ext cx="4947020" cy="588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🔬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670449" y="4241188"/>
            <a:ext cx="494702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Data Scientist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670449" y="4844438"/>
            <a:ext cx="494702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Mô hình hoá &amp; dự đoán Python · ML · Statistics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1988767" y="3209396"/>
            <a:ext cx="5270583" cy="2607634"/>
          </a:xfrm>
          <a:prstGeom prst="roundRect">
            <a:avLst>
              <a:gd fmla="val 5844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2150550" y="3557571"/>
            <a:ext cx="4947020" cy="588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2150550" y="4241188"/>
            <a:ext cx="494702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ML Engineer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2150550" y="4844438"/>
            <a:ext cx="494702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Model → Production Python · API · MLOps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028650" y="6026547"/>
            <a:ext cx="5270500" cy="2607634"/>
          </a:xfrm>
          <a:prstGeom prst="roundRect">
            <a:avLst>
              <a:gd fmla="val 5844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190433" y="6374723"/>
            <a:ext cx="4946935" cy="588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190433" y="7058340"/>
            <a:ext cx="4946935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AI Engineer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190433" y="7661589"/>
            <a:ext cx="4946935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LLM + GenAI Apps RAG · Agent · Fine-tuning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508668" y="6026547"/>
            <a:ext cx="5270583" cy="2607634"/>
          </a:xfrm>
          <a:prstGeom prst="roundRect">
            <a:avLst>
              <a:gd fmla="val 5844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6670449" y="6374723"/>
            <a:ext cx="4947020" cy="588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🏗️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670449" y="7058340"/>
            <a:ext cx="494702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Data Engineer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670449" y="7661589"/>
            <a:ext cx="494702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Xây dựng data pipeline Spark · Kafka · Airflow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1988767" y="6026547"/>
            <a:ext cx="5270583" cy="2607634"/>
          </a:xfrm>
          <a:prstGeom prst="roundRect">
            <a:avLst>
              <a:gd fmla="val 5844" name="adj"/>
            </a:avLst>
          </a:prstGeom>
          <a:solidFill>
            <a:srgbClr val="13213A"/>
          </a:solidFill>
          <a:ln cap="flat" cmpd="sng" w="9525">
            <a:solidFill>
              <a:srgbClr val="06B6D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2150550" y="6374723"/>
            <a:ext cx="4947020" cy="588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🛡️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2150550" y="7058340"/>
            <a:ext cx="494702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MLOps Engineer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2150550" y="7661589"/>
            <a:ext cx="494702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Vận hành &amp; giám sát CI/CD · Monitor · Scale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BỨC TRANH LƯƠNG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Thu nhập ngành AI &amp; Data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028650" y="4350991"/>
            <a:ext cx="80840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Việt Nam — theo cấp bậc (triệu/tháng)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952450" y="4945145"/>
            <a:ext cx="150495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Junior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2628801" y="4891733"/>
            <a:ext cx="6248466" cy="419034"/>
          </a:xfrm>
          <a:prstGeom prst="roundRect">
            <a:avLst>
              <a:gd fmla="val 13639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2628801" y="4891733"/>
            <a:ext cx="1749557" cy="419034"/>
          </a:xfrm>
          <a:prstGeom prst="roundRect">
            <a:avLst>
              <a:gd fmla="val 13639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2781184" y="4929271"/>
            <a:ext cx="1073679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14–25M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52450" y="5535580"/>
            <a:ext cx="150495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Mid-level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2628801" y="5482167"/>
            <a:ext cx="6248466" cy="419034"/>
          </a:xfrm>
          <a:prstGeom prst="roundRect">
            <a:avLst>
              <a:gd fmla="val 13639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2628801" y="5482167"/>
            <a:ext cx="3124233" cy="419034"/>
          </a:xfrm>
          <a:prstGeom prst="roundRect">
            <a:avLst>
              <a:gd fmla="val 13639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2781184" y="5519705"/>
            <a:ext cx="1115268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25–45M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52450" y="6126014"/>
            <a:ext cx="150495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Senior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2628801" y="6072601"/>
            <a:ext cx="6248466" cy="419034"/>
          </a:xfrm>
          <a:prstGeom prst="roundRect">
            <a:avLst>
              <a:gd fmla="val 13639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2628801" y="6072601"/>
            <a:ext cx="4498826" cy="419034"/>
          </a:xfrm>
          <a:prstGeom prst="roundRect">
            <a:avLst>
              <a:gd fmla="val 1363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2781184" y="6110139"/>
            <a:ext cx="1103279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45–70M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952450" y="6716448"/>
            <a:ext cx="150495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2628801" y="6663036"/>
            <a:ext cx="6248466" cy="419034"/>
          </a:xfrm>
          <a:prstGeom prst="roundRect">
            <a:avLst>
              <a:gd fmla="val 13639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2628801" y="6663036"/>
            <a:ext cx="5748569" cy="419034"/>
          </a:xfrm>
          <a:prstGeom prst="roundRect">
            <a:avLst>
              <a:gd fmla="val 1363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2781184" y="6700573"/>
            <a:ext cx="79520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70M+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028650" y="7253469"/>
            <a:ext cx="80840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Arial"/>
                <a:ea typeface="Arial"/>
                <a:cs typeface="Arial"/>
                <a:sym typeface="Arial"/>
              </a:rPr>
              <a:t>⚠️ Cập nhật số liệu mới nhất khi quay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9410651" y="4008438"/>
            <a:ext cx="7848699" cy="1808593"/>
          </a:xfrm>
          <a:prstGeom prst="roundRect">
            <a:avLst>
              <a:gd fmla="val 8426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9690801" y="4356613"/>
            <a:ext cx="7288400" cy="723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$150k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9690801" y="5156647"/>
            <a:ext cx="728840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AI Engineer quốc tế (tối đa, remote)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9410651" y="6083680"/>
            <a:ext cx="7848699" cy="1808593"/>
          </a:xfrm>
          <a:prstGeom prst="roundRect">
            <a:avLst>
              <a:gd fmla="val 8426" name="adj"/>
            </a:avLst>
          </a:prstGeom>
          <a:solidFill>
            <a:srgbClr val="13213A"/>
          </a:solidFill>
          <a:ln cap="flat" cmpd="sng" w="9525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9690801" y="6431856"/>
            <a:ext cx="7288400" cy="723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70–90%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9690801" y="7231889"/>
            <a:ext cx="728840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Tăng lương trung bình sau chuyển ngành thành công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/>
          <p:nvPr/>
        </p:nvSpPr>
        <p:spPr>
          <a:xfrm>
            <a:off x="785190" y="2318412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DOANH NGHIỆP NÀO ĐANG TUYỂN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785190" y="2723720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Nhu cầu AI &amp; Data trải khắp ngành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028650" y="3760887"/>
            <a:ext cx="3914759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171594" y="4032829"/>
            <a:ext cx="3628871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💼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171594" y="4596888"/>
            <a:ext cx="3628871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Công ty Công nghệ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171594" y="5016996"/>
            <a:ext cx="3628871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FPT · Zalo · VNPay TikiTech · MoMo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133909" y="3760887"/>
            <a:ext cx="3914841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5276852" y="4032829"/>
            <a:ext cx="3628956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🏦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276852" y="4596888"/>
            <a:ext cx="3628956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Tài chính / Ngân hàng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276852" y="5016996"/>
            <a:ext cx="3628956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VietinBank · Techcombank VPBank · Fintech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9239251" y="3760887"/>
            <a:ext cx="3914759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9382194" y="4032829"/>
            <a:ext cx="3628871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🛍️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9382194" y="4596888"/>
            <a:ext cx="3628871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Thương mại điện tử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382194" y="5016996"/>
            <a:ext cx="3628871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Shopee · Lazada Tiki · VinCommerce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3344509" y="3760887"/>
            <a:ext cx="3914841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13487451" y="4032829"/>
            <a:ext cx="3628956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3487451" y="4596888"/>
            <a:ext cx="3628956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Quốc tế Remote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3487451" y="5016996"/>
            <a:ext cx="3628956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Startup US/EU/SG Outsourcing · Product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28650" y="5998022"/>
            <a:ext cx="3914759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171594" y="6269964"/>
            <a:ext cx="3628871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🏭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171594" y="6834022"/>
            <a:ext cx="3628871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Sản xuất / Công nghiệp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171594" y="7254131"/>
            <a:ext cx="3628871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VinGroup · Samsung Intel · LG · Bosch VN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133909" y="5998022"/>
            <a:ext cx="3914841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06B6D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5276852" y="6269964"/>
            <a:ext cx="3628956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🏥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5276852" y="6834022"/>
            <a:ext cx="3628956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Y tế / Healthcare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276852" y="7254131"/>
            <a:ext cx="3628956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Vinmec · Medlatec HealthTech startup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9239251" y="5998022"/>
            <a:ext cx="3914759" cy="2046635"/>
          </a:xfrm>
          <a:prstGeom prst="roundRect">
            <a:avLst>
              <a:gd fmla="val 7446" name="adj"/>
            </a:avLst>
          </a:prstGeom>
          <a:solidFill>
            <a:srgbClr val="13213A"/>
          </a:solidFill>
          <a:ln cap="flat" cmpd="sng" w="9525">
            <a:solidFill>
              <a:srgbClr val="EF444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9382194" y="6269964"/>
            <a:ext cx="3628871" cy="487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📡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9382194" y="6834022"/>
            <a:ext cx="3628871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Viễn thông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9382194" y="7254131"/>
            <a:ext cx="3628871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Viettel · VNPT MobiFone · FPT Tel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3344509" y="5998022"/>
            <a:ext cx="3914841" cy="2046635"/>
          </a:xfrm>
          <a:prstGeom prst="roundRect">
            <a:avLst>
              <a:gd fmla="val 7446" name="adj"/>
            </a:avLst>
          </a:prstGeom>
          <a:solidFill>
            <a:srgbClr val="3B82F6">
              <a:alpha val="5098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13487451" y="6269964"/>
            <a:ext cx="3628956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13487451" y="6781106"/>
            <a:ext cx="3628956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Và nhiều ngành khác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3487451" y="7201215"/>
            <a:ext cx="3628956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Logistics · Giáo dục Bất động sản · Nông nghiệp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785190" y="1794619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LỘ TRÌNH THU NHẬP THEO THỜI GIAN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85190" y="2199928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Từ Junior đến Lead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2695526" y="3465628"/>
            <a:ext cx="762000" cy="762000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2683884" y="3492087"/>
            <a:ext cx="785283" cy="747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2462361" y="4399029"/>
            <a:ext cx="1304446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Junior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2185723" y="5078430"/>
            <a:ext cx="1781522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Năm 0–1 14–25M/tháng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981150" y="5874246"/>
            <a:ext cx="2190750" cy="719667"/>
          </a:xfrm>
          <a:prstGeom prst="roundRect">
            <a:avLst>
              <a:gd fmla="val 10588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2176942" y="5974788"/>
            <a:ext cx="1875367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← Khoá này đưa bạn tới đây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740509" y="3465628"/>
            <a:ext cx="762000" cy="762000"/>
          </a:xfrm>
          <a:prstGeom prst="ellipse">
            <a:avLst/>
          </a:prstGeom>
          <a:solidFill>
            <a:srgbClr val="8B5CF6">
              <a:alpha val="12156"/>
            </a:srgbClr>
          </a:solidFill>
          <a:ln cap="flat" cmpd="sng" w="264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6728867" y="3492087"/>
            <a:ext cx="785283" cy="747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6238710" y="4399029"/>
            <a:ext cx="1841715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Mid-level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230706" y="5078430"/>
            <a:ext cx="1781522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Năm 2–3 25–45M/tháng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0785492" y="3465628"/>
            <a:ext cx="762000" cy="762000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264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10773850" y="3492087"/>
            <a:ext cx="785283" cy="747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0552576" y="4399029"/>
            <a:ext cx="130403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Senior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0275689" y="5078430"/>
            <a:ext cx="1781522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Năm 4–6 45–70M/tháng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14830475" y="3465628"/>
            <a:ext cx="762000" cy="762000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264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14818833" y="3492087"/>
            <a:ext cx="785283" cy="747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14116100" y="4399029"/>
            <a:ext cx="2266950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Lead / Manager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4465284" y="5586429"/>
            <a:ext cx="1492300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Năm 6+ 70M+/tháng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4381500" y="7317714"/>
            <a:ext cx="9525001" cy="1250818"/>
          </a:xfrm>
          <a:prstGeom prst="roundRect">
            <a:avLst>
              <a:gd fmla="val 12184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4636506" y="7551540"/>
            <a:ext cx="9014989" cy="82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Có </a:t>
            </a:r>
            <a:r>
              <a:rPr b="1" i="0" lang="en-US" sz="25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portfolio thực tế </a:t>
            </a: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= đàm phán lương tốt hơn — ngay từ vòng phỏng vấn đầu tiên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7527612" y="3472739"/>
            <a:ext cx="3232693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2 HOÀN THÀNH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366673" y="4030431"/>
            <a:ext cx="5554571" cy="1519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Cơ hội rõ ràng — </a:t>
            </a:r>
            <a:r>
              <a:rPr b="1" i="0" lang="en-US" sz="54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giờ là lộ trình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187064" y="5759235"/>
            <a:ext cx="5913873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tiếp: Phân biệt 4 vai trò Data &amp; AI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6056395" y="6301053"/>
            <a:ext cx="6175210" cy="589359"/>
          </a:xfrm>
          <a:prstGeom prst="roundRect">
            <a:avLst>
              <a:gd fmla="val 50000" name="adj"/>
            </a:avLst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6235759" y="6439694"/>
            <a:ext cx="5816483" cy="350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Bạn hợp vai trò nào? Bài sau sẽ giúp bạn chọn.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12044600" y="3801025"/>
            <a:ext cx="6747600" cy="4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40000"/>
              <a:buFont typeface="Arial"/>
              <a:buNone/>
            </a:pPr>
            <a:r>
              <a:rPr b="1" i="0" lang="en-US" sz="40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L3</a:t>
            </a:r>
            <a:endParaRPr b="0" i="0" sz="4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028650" y="6125270"/>
            <a:ext cx="1938734" cy="472943"/>
          </a:xfrm>
          <a:prstGeom prst="roundRect">
            <a:avLst>
              <a:gd fmla="val 50000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1243459" y="6323624"/>
            <a:ext cx="76150" cy="7615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1395760" y="6216221"/>
            <a:ext cx="1433016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LECTURE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1028650" y="6807729"/>
            <a:ext cx="11772900" cy="1519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 Analyst vs Data Scientist vs ML Engineer vs </a:t>
            </a:r>
            <a:r>
              <a:rPr b="1" i="0" lang="en-US" sz="54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AI Engineer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1028650" y="8498417"/>
            <a:ext cx="1671762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vai trò — khác nhau thế nào?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VAI TRÒ 1 /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Data Analyst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1028650" y="2375793"/>
            <a:ext cx="7867716" cy="1590642"/>
          </a:xfrm>
          <a:prstGeom prst="roundRect">
            <a:avLst>
              <a:gd fmla="val 9581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1414942" y="2723968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CÂU HỎI CHÍNH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414942" y="3110260"/>
            <a:ext cx="730798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"Chuyện gì đã xảy ra?"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028650" y="4175952"/>
            <a:ext cx="7867716" cy="1608501"/>
          </a:xfrm>
          <a:prstGeom prst="roundRect">
            <a:avLst>
              <a:gd fmla="val 9475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1414942" y="4524127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1414942" y="4929436"/>
            <a:ext cx="840135" cy="506842"/>
          </a:xfrm>
          <a:prstGeom prst="roundRect">
            <a:avLst>
              <a:gd fmla="val 15034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1591673" y="5010925"/>
            <a:ext cx="7554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2350327" y="4929436"/>
            <a:ext cx="1032702" cy="506842"/>
          </a:xfrm>
          <a:prstGeom prst="roundRect">
            <a:avLst>
              <a:gd fmla="val 15034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2527069" y="5010927"/>
            <a:ext cx="755419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3478279" y="4929436"/>
            <a:ext cx="1455704" cy="506842"/>
          </a:xfrm>
          <a:prstGeom prst="roundRect">
            <a:avLst>
              <a:gd fmla="val 15034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3655026" y="5010925"/>
            <a:ext cx="13506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5029233" y="4929436"/>
            <a:ext cx="1350533" cy="506842"/>
          </a:xfrm>
          <a:prstGeom prst="roundRect">
            <a:avLst>
              <a:gd fmla="val 15034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5205975" y="5010927"/>
            <a:ext cx="1073249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Tableau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1028650" y="5993970"/>
            <a:ext cx="7867716" cy="1453059"/>
          </a:xfrm>
          <a:prstGeom prst="roundRect">
            <a:avLst>
              <a:gd fmla="val 10488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1414942" y="6342145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1414942" y="6728437"/>
            <a:ext cx="730798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Dashboard · Báo cáo · Insight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1028650" y="7656546"/>
            <a:ext cx="7867716" cy="676176"/>
          </a:xfrm>
          <a:prstGeom prst="roundRect">
            <a:avLst>
              <a:gd fmla="val 14087" name="adj"/>
            </a:avLst>
          </a:prstGeom>
          <a:solidFill>
            <a:srgbClr val="10B981">
              <a:alpha val="7843"/>
            </a:srgbClr>
          </a:solidFill>
          <a:ln cap="flat" cmpd="sng" w="9525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1281576" y="7833238"/>
            <a:ext cx="7582722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✓ Điểm vào dễ nhất — đặc biệt cho người non-tech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9391634" y="2375793"/>
            <a:ext cx="7867716" cy="7149207"/>
          </a:xfrm>
          <a:prstGeom prst="roundRect">
            <a:avLst>
              <a:gd fmla="val 2132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12168271" y="3585435"/>
            <a:ext cx="2390643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Quy trình làm việc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0558364" y="4157927"/>
            <a:ext cx="5534174" cy="999960"/>
          </a:xfrm>
          <a:prstGeom prst="roundRect">
            <a:avLst>
              <a:gd fmla="val 9525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10833972" y="4334619"/>
            <a:ext cx="49829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📥 Dữ liệu thô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10833972" y="4721903"/>
            <a:ext cx="498295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Database · Excel · CSV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13258767" y="5291171"/>
            <a:ext cx="209567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10558364" y="5736663"/>
            <a:ext cx="5534174" cy="999960"/>
          </a:xfrm>
          <a:prstGeom prst="roundRect">
            <a:avLst>
              <a:gd fmla="val 9525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10833972" y="5913355"/>
            <a:ext cx="49829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🔍 Phân tích SQL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10833972" y="6300639"/>
            <a:ext cx="498295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Query · Aggregate · Filter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13258767" y="6869907"/>
            <a:ext cx="209567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10558364" y="7315399"/>
            <a:ext cx="5534174" cy="999960"/>
          </a:xfrm>
          <a:prstGeom prst="roundRect">
            <a:avLst>
              <a:gd fmla="val 9525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10833972" y="7492091"/>
            <a:ext cx="49829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📊 Dashboard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10833972" y="7879375"/>
            <a:ext cx="498295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· Tableau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VAI TRÒ 2 /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Data Scientist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1028650" y="2375793"/>
            <a:ext cx="7867716" cy="1590642"/>
          </a:xfrm>
          <a:prstGeom prst="roundRect">
            <a:avLst>
              <a:gd fmla="val 9581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1414942" y="2723968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CÂU HỎI CHÍNH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1414942" y="3110260"/>
            <a:ext cx="730798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"Tại sao &amp; dự đoán gì?"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1028650" y="4175952"/>
            <a:ext cx="7867716" cy="1608501"/>
          </a:xfrm>
          <a:prstGeom prst="roundRect">
            <a:avLst>
              <a:gd fmla="val 9475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1414942" y="4524127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1414942" y="4929436"/>
            <a:ext cx="1292076" cy="506842"/>
          </a:xfrm>
          <a:prstGeom prst="roundRect">
            <a:avLst>
              <a:gd fmla="val 15034" name="adj"/>
            </a:avLst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1591684" y="5010927"/>
            <a:ext cx="1014793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2802268" y="4929436"/>
            <a:ext cx="1818514" cy="506842"/>
          </a:xfrm>
          <a:prstGeom prst="roundRect">
            <a:avLst>
              <a:gd fmla="val 15034" name="adj"/>
            </a:avLst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2979010" y="5010927"/>
            <a:ext cx="1541231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4716033" y="4929436"/>
            <a:ext cx="1598910" cy="506842"/>
          </a:xfrm>
          <a:prstGeom prst="roundRect">
            <a:avLst>
              <a:gd fmla="val 15034" name="adj"/>
            </a:avLst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4892774" y="5010927"/>
            <a:ext cx="1321627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Statistics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6410193" y="4929436"/>
            <a:ext cx="1381538" cy="506842"/>
          </a:xfrm>
          <a:prstGeom prst="roundRect">
            <a:avLst>
              <a:gd fmla="val 15034" name="adj"/>
            </a:avLst>
          </a:prstGeom>
          <a:solidFill>
            <a:srgbClr val="8B5CF6">
              <a:alpha val="12156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6586935" y="5010927"/>
            <a:ext cx="1104255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Jupyter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028650" y="5993970"/>
            <a:ext cx="7867716" cy="1453059"/>
          </a:xfrm>
          <a:prstGeom prst="roundRect">
            <a:avLst>
              <a:gd fmla="val 10488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1414942" y="6342145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1414942" y="6728437"/>
            <a:ext cx="730798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Model dự đoán · Statistical insight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028650" y="7656546"/>
            <a:ext cx="7867716" cy="702634"/>
          </a:xfrm>
          <a:prstGeom prst="roundRect">
            <a:avLst>
              <a:gd fmla="val 13556" name="adj"/>
            </a:avLst>
          </a:prstGeom>
          <a:solidFill>
            <a:srgbClr val="8B5CF6">
              <a:alpha val="7843"/>
            </a:srgbClr>
          </a:solidFill>
          <a:ln cap="flat" cmpd="sng" w="9525">
            <a:solidFill>
              <a:srgbClr val="8B5CF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1281576" y="7833238"/>
            <a:ext cx="7582722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📊 Nặng phân tích + mô hình hoá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9391634" y="2375793"/>
            <a:ext cx="7867716" cy="7149207"/>
          </a:xfrm>
          <a:prstGeom prst="roundRect">
            <a:avLst>
              <a:gd fmla="val 2132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12168271" y="3585435"/>
            <a:ext cx="2390643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Quy trình làm việc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10558364" y="4157927"/>
            <a:ext cx="5534174" cy="999960"/>
          </a:xfrm>
          <a:prstGeom prst="roundRect">
            <a:avLst>
              <a:gd fmla="val 9525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10833972" y="4334619"/>
            <a:ext cx="49829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📥 Dữ liệu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0833972" y="4721903"/>
            <a:ext cx="498295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Thu thập &amp; tiền xử lý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3258767" y="5291171"/>
            <a:ext cx="209567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0558364" y="5736663"/>
            <a:ext cx="5534174" cy="999960"/>
          </a:xfrm>
          <a:prstGeom prst="roundRect">
            <a:avLst>
              <a:gd fmla="val 9525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10833972" y="5913355"/>
            <a:ext cx="49829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🧮 Xây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10833972" y="6300639"/>
            <a:ext cx="498295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 · Tune · Evaluate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13258767" y="6869907"/>
            <a:ext cx="209567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0558364" y="7315399"/>
            <a:ext cx="5534174" cy="999960"/>
          </a:xfrm>
          <a:prstGeom prst="roundRect">
            <a:avLst>
              <a:gd fmla="val 9525" name="adj"/>
            </a:avLst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10833972" y="7492091"/>
            <a:ext cx="49829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🎯 Dự đoán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10833972" y="7879375"/>
            <a:ext cx="498295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Output · Report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9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VAI TRÒ 3 /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ML Engineer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1028650" y="2375793"/>
            <a:ext cx="7867716" cy="1590642"/>
          </a:xfrm>
          <a:prstGeom prst="roundRect">
            <a:avLst>
              <a:gd fmla="val 9581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1414942" y="2723968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NHIỆM VỤ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1414942" y="3110260"/>
            <a:ext cx="730798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Đưa model vào sản phẩm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1028650" y="4175952"/>
            <a:ext cx="7867716" cy="1608501"/>
          </a:xfrm>
          <a:prstGeom prst="roundRect">
            <a:avLst>
              <a:gd fmla="val 9475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1414942" y="4524127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1414942" y="4929436"/>
            <a:ext cx="1292076" cy="506842"/>
          </a:xfrm>
          <a:prstGeom prst="roundRect">
            <a:avLst>
              <a:gd fmla="val 15034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1591684" y="5010927"/>
            <a:ext cx="1014793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2802275" y="4929425"/>
            <a:ext cx="1707000" cy="507000"/>
          </a:xfrm>
          <a:prstGeom prst="roundRect">
            <a:avLst>
              <a:gd fmla="val 15034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2978998" y="5010925"/>
            <a:ext cx="12516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FastA</a:t>
            </a:r>
            <a:r>
              <a:rPr b="1" lang="en-US" sz="2100">
                <a:solidFill>
                  <a:srgbClr val="34D399"/>
                </a:solidFill>
              </a:rPr>
              <a:t>PI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4202410" y="4929436"/>
            <a:ext cx="1251645" cy="506842"/>
          </a:xfrm>
          <a:prstGeom prst="roundRect">
            <a:avLst>
              <a:gd fmla="val 15034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4379152" y="5010927"/>
            <a:ext cx="974361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5549305" y="4929436"/>
            <a:ext cx="1271654" cy="506842"/>
          </a:xfrm>
          <a:prstGeom prst="roundRect">
            <a:avLst>
              <a:gd fmla="val 15034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5726047" y="5010927"/>
            <a:ext cx="994370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028650" y="5993970"/>
            <a:ext cx="7867716" cy="1453059"/>
          </a:xfrm>
          <a:prstGeom prst="roundRect">
            <a:avLst>
              <a:gd fmla="val 10488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1414942" y="6342145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414942" y="6728437"/>
            <a:ext cx="730798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Hệ thống ML chạy production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1028650" y="7656546"/>
            <a:ext cx="7867716" cy="702634"/>
          </a:xfrm>
          <a:prstGeom prst="roundRect">
            <a:avLst>
              <a:gd fmla="val 13556" name="adj"/>
            </a:avLst>
          </a:prstGeom>
          <a:solidFill>
            <a:srgbClr val="10B981">
              <a:alpha val="7843"/>
            </a:srgbClr>
          </a:solidFill>
          <a:ln cap="flat" cmpd="sng" w="9525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1281576" y="7833238"/>
            <a:ext cx="7582722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🌉 Cầu nối giữa Data Science và Software Engineering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9391634" y="2375793"/>
            <a:ext cx="7867716" cy="7149207"/>
          </a:xfrm>
          <a:prstGeom prst="roundRect">
            <a:avLst>
              <a:gd fmla="val 2132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12725550" y="4944484"/>
            <a:ext cx="127608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Quy trình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9777925" y="5559310"/>
            <a:ext cx="1984044" cy="1354584"/>
          </a:xfrm>
          <a:prstGeom prst="roundRect">
            <a:avLst>
              <a:gd fmla="val 7032" name="adj"/>
            </a:avLst>
          </a:prstGeom>
          <a:solidFill>
            <a:srgbClr val="10B981">
              <a:alpha val="10196"/>
            </a:srgbClr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9916518" y="5774118"/>
            <a:ext cx="170686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🤖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9916518" y="6180502"/>
            <a:ext cx="1706860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Trained &amp; validated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1895254" y="6061935"/>
            <a:ext cx="3810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2333388" y="5688955"/>
            <a:ext cx="1984127" cy="1095292"/>
          </a:xfrm>
          <a:prstGeom prst="roundRect">
            <a:avLst>
              <a:gd fmla="val 8696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12471979" y="5903764"/>
            <a:ext cx="1706943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🔌 API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2471979" y="6310147"/>
            <a:ext cx="170694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REST endpoint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14450798" y="6061935"/>
            <a:ext cx="3810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4888932" y="5516976"/>
            <a:ext cx="1984127" cy="1439251"/>
          </a:xfrm>
          <a:prstGeom prst="roundRect">
            <a:avLst>
              <a:gd fmla="val 6618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15027523" y="5731785"/>
            <a:ext cx="1706943" cy="731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🚀 Production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5027523" y="6482126"/>
            <a:ext cx="170694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Cloud ·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59E0B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>
            <a:off x="1028650" y="931747"/>
            <a:ext cx="1803433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VAI TRÒ 4 /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2927284" y="838150"/>
            <a:ext cx="2736205" cy="478234"/>
          </a:xfrm>
          <a:prstGeom prst="roundRect">
            <a:avLst>
              <a:gd fmla="val 50000" name="adj"/>
            </a:avLst>
          </a:prstGeom>
          <a:solidFill>
            <a:srgbClr val="F59E0B">
              <a:alpha val="12156"/>
            </a:srgbClr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3142126" y="929167"/>
            <a:ext cx="2388608" cy="334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🔥 HOT NHẤT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1028650" y="1449669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AI Engineer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1028650" y="2562986"/>
            <a:ext cx="7867716" cy="1590642"/>
          </a:xfrm>
          <a:prstGeom prst="roundRect">
            <a:avLst>
              <a:gd fmla="val 9581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1414942" y="2911161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NHIỆM VỤ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1414942" y="3297453"/>
            <a:ext cx="730798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Xây ứng dụng trên LLM / GenAI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1028650" y="4363145"/>
            <a:ext cx="7867716" cy="1608501"/>
          </a:xfrm>
          <a:prstGeom prst="roundRect">
            <a:avLst>
              <a:gd fmla="val 9475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0"/>
          <p:cNvSpPr/>
          <p:nvPr/>
        </p:nvSpPr>
        <p:spPr>
          <a:xfrm>
            <a:off x="1414942" y="4711320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1414942" y="5116628"/>
            <a:ext cx="1710035" cy="506842"/>
          </a:xfrm>
          <a:prstGeom prst="roundRect">
            <a:avLst>
              <a:gd fmla="val 15034" name="adj"/>
            </a:avLst>
          </a:prstGeom>
          <a:solidFill>
            <a:srgbClr val="F59E0B">
              <a:alpha val="12156"/>
            </a:srgbClr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1591684" y="5198120"/>
            <a:ext cx="1432752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3220227" y="5116628"/>
            <a:ext cx="865353" cy="506842"/>
          </a:xfrm>
          <a:prstGeom prst="roundRect">
            <a:avLst>
              <a:gd fmla="val 15034" name="adj"/>
            </a:avLst>
          </a:prstGeom>
          <a:solidFill>
            <a:srgbClr val="F59E0B">
              <a:alpha val="12156"/>
            </a:srgbClr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>
            <a:off x="3396980" y="5198125"/>
            <a:ext cx="10803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4180830" y="5116628"/>
            <a:ext cx="1269752" cy="506842"/>
          </a:xfrm>
          <a:prstGeom prst="roundRect">
            <a:avLst>
              <a:gd fmla="val 15034" name="adj"/>
            </a:avLst>
          </a:prstGeom>
          <a:solidFill>
            <a:srgbClr val="F59E0B">
              <a:alpha val="12156"/>
            </a:srgbClr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4357572" y="5198120"/>
            <a:ext cx="992469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5545832" y="5116628"/>
            <a:ext cx="1849355" cy="506842"/>
          </a:xfrm>
          <a:prstGeom prst="roundRect">
            <a:avLst>
              <a:gd fmla="val 15034" name="adj"/>
            </a:avLst>
          </a:prstGeom>
          <a:solidFill>
            <a:srgbClr val="F59E0B">
              <a:alpha val="12156"/>
            </a:srgbClr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0"/>
          <p:cNvSpPr/>
          <p:nvPr/>
        </p:nvSpPr>
        <p:spPr>
          <a:xfrm>
            <a:off x="5722574" y="5198120"/>
            <a:ext cx="1572072" cy="381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Fine-tuning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1028650" y="6181163"/>
            <a:ext cx="7867716" cy="1453059"/>
          </a:xfrm>
          <a:prstGeom prst="roundRect">
            <a:avLst>
              <a:gd fmla="val 10488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1414942" y="6529338"/>
            <a:ext cx="73079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414942" y="6915630"/>
            <a:ext cx="730798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Chatbot · AI Agent · Sản phẩm GenAI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028650" y="7843739"/>
            <a:ext cx="7867716" cy="702634"/>
          </a:xfrm>
          <a:prstGeom prst="roundRect">
            <a:avLst>
              <a:gd fmla="val 13556" name="adj"/>
            </a:avLst>
          </a:prstGeom>
          <a:solidFill>
            <a:srgbClr val="F59E0B">
              <a:alpha val="7843"/>
            </a:srgbClr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1281576" y="8020431"/>
            <a:ext cx="7582722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⭐ Khoá học này đào tạo bạn trở thành AI Engineer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9391634" y="2562986"/>
            <a:ext cx="7867716" cy="6962015"/>
          </a:xfrm>
          <a:prstGeom prst="roundRect">
            <a:avLst>
              <a:gd fmla="val 2189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11933039" y="3638683"/>
            <a:ext cx="2868367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Stack của AI Engineer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0310068" y="4154041"/>
            <a:ext cx="6030846" cy="702634"/>
          </a:xfrm>
          <a:prstGeom prst="roundRect">
            <a:avLst>
              <a:gd fmla="val 13556" name="adj"/>
            </a:avLst>
          </a:prstGeom>
          <a:solidFill>
            <a:srgbClr val="F59E0B">
              <a:alpha val="10196"/>
            </a:srgbClr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10578226" y="4330733"/>
            <a:ext cx="5494531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🧠 LLM (GPT-4 · Claude · Gemini)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3258685" y="4970943"/>
            <a:ext cx="20973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0310068" y="5344501"/>
            <a:ext cx="6030846" cy="702634"/>
          </a:xfrm>
          <a:prstGeom prst="roundRect">
            <a:avLst>
              <a:gd fmla="val 13556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59E0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10578226" y="5521193"/>
            <a:ext cx="5494531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📚 RAG · Knowledge 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3258685" y="6161402"/>
            <a:ext cx="20973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0310068" y="6534960"/>
            <a:ext cx="6030846" cy="702634"/>
          </a:xfrm>
          <a:prstGeom prst="roundRect">
            <a:avLst>
              <a:gd fmla="val 13556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59E0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10578226" y="6711653"/>
            <a:ext cx="5494531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🔧 Tools · APIs · Agents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13268276" y="7351862"/>
            <a:ext cx="19055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0310068" y="7725420"/>
            <a:ext cx="6030846" cy="723801"/>
          </a:xfrm>
          <a:prstGeom prst="roundRect">
            <a:avLst>
              <a:gd fmla="val 13160" name="adj"/>
            </a:avLst>
          </a:prstGeom>
          <a:solidFill>
            <a:srgbClr val="F59E0B">
              <a:alpha val="14901"/>
            </a:srgbClr>
          </a:solidFill>
          <a:ln cap="flat" cmpd="sng" w="15875">
            <a:solidFill>
              <a:srgbClr val="F59E0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10589128" y="7912696"/>
            <a:ext cx="547273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🚀 AI-powered Product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5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"/>
          <p:cNvSpPr/>
          <p:nvPr/>
        </p:nvSpPr>
        <p:spPr>
          <a:xfrm>
            <a:off x="785190" y="2359009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BẢNG SO SÁNH NHANH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785190" y="2764317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4 vai trò — nhìn tổng quan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1031296" y="3804130"/>
            <a:ext cx="3082810" cy="730250"/>
          </a:xfrm>
          <a:prstGeom prst="rect">
            <a:avLst/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"/>
          <p:cNvSpPr/>
          <p:nvPr/>
        </p:nvSpPr>
        <p:spPr>
          <a:xfrm>
            <a:off x="1284238" y="3999921"/>
            <a:ext cx="2669410" cy="37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Vai trò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4114106" y="3804130"/>
            <a:ext cx="3569560" cy="730250"/>
          </a:xfrm>
          <a:prstGeom prst="rect">
            <a:avLst/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4367047" y="3999921"/>
            <a:ext cx="31707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Câu hỏi chính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7683666" y="3804130"/>
            <a:ext cx="4543061" cy="730250"/>
          </a:xfrm>
          <a:prstGeom prst="rect">
            <a:avLst/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7936608" y="3999921"/>
            <a:ext cx="4173470" cy="37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12226727" y="3804130"/>
            <a:ext cx="2920504" cy="730250"/>
          </a:xfrm>
          <a:prstGeom prst="rect">
            <a:avLst/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12479669" y="3999921"/>
            <a:ext cx="2502236" cy="37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15147231" y="3804130"/>
            <a:ext cx="2109473" cy="730250"/>
          </a:xfrm>
          <a:prstGeom prst="rect">
            <a:avLst/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1"/>
          <p:cNvSpPr/>
          <p:nvPr/>
        </p:nvSpPr>
        <p:spPr>
          <a:xfrm>
            <a:off x="15400173" y="3999921"/>
            <a:ext cx="1679790" cy="37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Lương VN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1031296" y="4534380"/>
            <a:ext cx="3082810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1284238" y="4730172"/>
            <a:ext cx="266941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📊 Data Analyst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4114106" y="4534380"/>
            <a:ext cx="3569560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/>
          <p:nvPr/>
        </p:nvSpPr>
        <p:spPr>
          <a:xfrm>
            <a:off x="4367047" y="4730172"/>
            <a:ext cx="3170763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Chuyện gì đã xảy ra?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7683666" y="4534380"/>
            <a:ext cx="4543061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7936608" y="4730172"/>
            <a:ext cx="417347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SQL · Excel · Power BI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12226727" y="4534380"/>
            <a:ext cx="2920504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/>
          <p:cNvSpPr/>
          <p:nvPr/>
        </p:nvSpPr>
        <p:spPr>
          <a:xfrm>
            <a:off x="12479669" y="4730172"/>
            <a:ext cx="2502236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Dashboard, báo cáo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15147231" y="4534380"/>
            <a:ext cx="2109473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15400173" y="4730172"/>
            <a:ext cx="167979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14–35M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1031296" y="5269921"/>
            <a:ext cx="3082810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1284238" y="5465713"/>
            <a:ext cx="266941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🔬 Data Scientist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4114106" y="5269921"/>
            <a:ext cx="3569560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/>
          <p:cNvSpPr/>
          <p:nvPr/>
        </p:nvSpPr>
        <p:spPr>
          <a:xfrm>
            <a:off x="4367047" y="5465713"/>
            <a:ext cx="3170763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Tại sao &amp; dự đoán gì?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7683666" y="5269921"/>
            <a:ext cx="4543061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/>
          <p:cNvSpPr/>
          <p:nvPr/>
        </p:nvSpPr>
        <p:spPr>
          <a:xfrm>
            <a:off x="7936608" y="5465713"/>
            <a:ext cx="417347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Python · ML · Statistics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12226727" y="5269921"/>
            <a:ext cx="2920504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12479669" y="5465713"/>
            <a:ext cx="2502236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Model dự đoán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15147231" y="5269921"/>
            <a:ext cx="2109473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15400173" y="5465713"/>
            <a:ext cx="167979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20–50M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1031296" y="6005463"/>
            <a:ext cx="3082810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1284238" y="6201255"/>
            <a:ext cx="266941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⚙️ ML Engineer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4114106" y="6005463"/>
            <a:ext cx="3569560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4367047" y="6201255"/>
            <a:ext cx="3170763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Model → production?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7683666" y="6005463"/>
            <a:ext cx="4543061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7936608" y="6201255"/>
            <a:ext cx="417347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Python · API · MLOps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12226727" y="6005463"/>
            <a:ext cx="2920504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12479669" y="6201255"/>
            <a:ext cx="2502236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Hệ thống ML live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15147231" y="6005463"/>
            <a:ext cx="2109473" cy="735542"/>
          </a:xfrm>
          <a:prstGeom prst="rect">
            <a:avLst/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15400173" y="6201255"/>
            <a:ext cx="167979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25–60M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1031296" y="6741005"/>
            <a:ext cx="3082810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1284238" y="6936796"/>
            <a:ext cx="266941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🤖 AI Engineer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4114106" y="6741005"/>
            <a:ext cx="3569560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4367047" y="6936796"/>
            <a:ext cx="3170763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Xây ứng dụng GenAI?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7683666" y="6741005"/>
            <a:ext cx="4543061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7936608" y="6936796"/>
            <a:ext cx="417347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LLM · RAG · Agents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12226727" y="6741005"/>
            <a:ext cx="2920504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1"/>
          <p:cNvSpPr/>
          <p:nvPr/>
        </p:nvSpPr>
        <p:spPr>
          <a:xfrm>
            <a:off x="12479669" y="6936796"/>
            <a:ext cx="2502236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AI product / chatbot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15147231" y="6741005"/>
            <a:ext cx="2109473" cy="73554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15400173" y="6936796"/>
            <a:ext cx="1679790" cy="382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30–70M+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785190" y="7707726"/>
            <a:ext cx="16717621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Arial"/>
                <a:ea typeface="Arial"/>
                <a:cs typeface="Arial"/>
                <a:sym typeface="Arial"/>
              </a:rPr>
              <a:t>⚠️ Số liệu tham khảo — cập nhật khi quay bài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7526334" y="2922571"/>
            <a:ext cx="3235333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3 HOÀN THÀNH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5430820" y="3480263"/>
            <a:ext cx="7426278" cy="916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Không cần chọn ngay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5121592" y="4568197"/>
            <a:ext cx="8044816" cy="107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Khoá học phủ tất cả 4 vai trò — học xong, bạn sẽ tự biết mình hợp vai trò nào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4808224" y="6023571"/>
            <a:ext cx="2041261" cy="589359"/>
          </a:xfrm>
          <a:prstGeom prst="roundRect">
            <a:avLst>
              <a:gd fmla="val 16162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5042115" y="6162212"/>
            <a:ext cx="1573477" cy="350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Data Analyst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7001867" y="6023571"/>
            <a:ext cx="2189345" cy="589359"/>
          </a:xfrm>
          <a:prstGeom prst="roundRect">
            <a:avLst>
              <a:gd fmla="val 16162" name="adj"/>
            </a:avLst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/>
          <p:cNvSpPr/>
          <p:nvPr/>
        </p:nvSpPr>
        <p:spPr>
          <a:xfrm>
            <a:off x="7235759" y="6162212"/>
            <a:ext cx="1721561" cy="350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Data Scientist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9343595" y="6023571"/>
            <a:ext cx="2046221" cy="589359"/>
          </a:xfrm>
          <a:prstGeom prst="roundRect">
            <a:avLst>
              <a:gd fmla="val 16162" name="adj"/>
            </a:avLst>
          </a:prstGeom>
          <a:solidFill>
            <a:srgbClr val="10B981">
              <a:alpha val="10196"/>
            </a:srgbClr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9577487" y="6162212"/>
            <a:ext cx="1578438" cy="350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ML Engineer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11542200" y="6023571"/>
            <a:ext cx="1937577" cy="589359"/>
          </a:xfrm>
          <a:prstGeom prst="roundRect">
            <a:avLst>
              <a:gd fmla="val 16162" name="adj"/>
            </a:avLst>
          </a:prstGeom>
          <a:solidFill>
            <a:srgbClr val="F59E0B">
              <a:alpha val="10196"/>
            </a:srgbClr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11776092" y="6162212"/>
            <a:ext cx="1469794" cy="350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AI Engineer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6883952" y="7070081"/>
            <a:ext cx="4520014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tiếp: Cài đặt môi trường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30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10571499" y="4007975"/>
            <a:ext cx="74907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0"/>
              <a:buFont typeface="Arial"/>
              <a:buNone/>
            </a:pPr>
            <a:r>
              <a:rPr b="1" i="0" lang="en-US" sz="40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L4</a:t>
            </a:r>
            <a:endParaRPr b="0" i="0" sz="4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1028650" y="6865855"/>
            <a:ext cx="3385096" cy="472943"/>
          </a:xfrm>
          <a:prstGeom prst="roundRect">
            <a:avLst>
              <a:gd fmla="val 50000" name="adj"/>
            </a:avLst>
          </a:prstGeom>
          <a:solidFill>
            <a:srgbClr val="F59E0B">
              <a:alpha val="12156"/>
            </a:srgbClr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1243459" y="7064210"/>
            <a:ext cx="76150" cy="76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3"/>
          <p:cNvSpPr/>
          <p:nvPr/>
        </p:nvSpPr>
        <p:spPr>
          <a:xfrm>
            <a:off x="1395760" y="6956806"/>
            <a:ext cx="2887273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LECTURE 4 · ~10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1028650" y="7548315"/>
            <a:ext cx="10791825" cy="7786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Cài đặt </a:t>
            </a:r>
            <a:r>
              <a:rPr b="1" i="0" lang="en-US" sz="5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môi trường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1028650" y="8498417"/>
            <a:ext cx="1671762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Python · Anaconda · VS Code · Google Colab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4"/>
          <p:cNvSpPr/>
          <p:nvPr/>
        </p:nvSpPr>
        <p:spPr>
          <a:xfrm>
            <a:off x="785190" y="2547524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785190" y="2952833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Chuẩn bị </a:t>
            </a:r>
            <a:r>
              <a:rPr b="1" i="0" lang="en-US" sz="40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"xưởng làm việc" </a:t>
            </a: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của bạn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1028650" y="4066150"/>
            <a:ext cx="3871929" cy="3094385"/>
          </a:xfrm>
          <a:prstGeom prst="roundRect">
            <a:avLst>
              <a:gd fmla="val 4925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4"/>
          <p:cNvSpPr/>
          <p:nvPr/>
        </p:nvSpPr>
        <p:spPr>
          <a:xfrm>
            <a:off x="1250672" y="4528592"/>
            <a:ext cx="3427886" cy="7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🐍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1250672" y="5451409"/>
            <a:ext cx="3427886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Python 3.12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1250672" y="6073676"/>
            <a:ext cx="3427886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Ngôn ngữ lập trình chính của Data &amp; AI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5148213" y="4066150"/>
            <a:ext cx="3871929" cy="3094385"/>
          </a:xfrm>
          <a:prstGeom prst="roundRect">
            <a:avLst>
              <a:gd fmla="val 4925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5370235" y="4528592"/>
            <a:ext cx="3427886" cy="7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📦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5370235" y="5451409"/>
            <a:ext cx="3427886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Anaconda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5370235" y="6073676"/>
            <a:ext cx="3427886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Python + thư viện DS đóng gói sẵn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9267776" y="4066150"/>
            <a:ext cx="3871929" cy="3094385"/>
          </a:xfrm>
          <a:prstGeom prst="roundRect">
            <a:avLst>
              <a:gd fmla="val 4925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9489797" y="4528592"/>
            <a:ext cx="3427886" cy="7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9489797" y="5451409"/>
            <a:ext cx="3427886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VS Code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9489797" y="6073676"/>
            <a:ext cx="3427886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Editor mạnh nhất cho Python &amp; AI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13387339" y="4066150"/>
            <a:ext cx="3872012" cy="3094385"/>
          </a:xfrm>
          <a:prstGeom prst="roundRect">
            <a:avLst>
              <a:gd fmla="val 4925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13609358" y="4528592"/>
            <a:ext cx="3427971" cy="7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13609358" y="5451409"/>
            <a:ext cx="3427971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13609358" y="6073676"/>
            <a:ext cx="3427971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Cloud GPU miễn phí, không cần cài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785190" y="7503418"/>
            <a:ext cx="16717621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"Cài đúng từ đầu để không khổ về sau."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5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BƯỚC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Cài Python &amp; Anaconda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1028650" y="2375793"/>
            <a:ext cx="7886734" cy="1447767"/>
          </a:xfrm>
          <a:prstGeom prst="roundRect">
            <a:avLst>
              <a:gd fmla="val 10527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Tải Anaconda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1414942" y="3163177"/>
            <a:ext cx="73275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anaconda.com/download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1028650" y="4014060"/>
            <a:ext cx="7886734" cy="1447767"/>
          </a:xfrm>
          <a:prstGeom prst="roundRect">
            <a:avLst>
              <a:gd fmla="val 10527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1414942" y="4362235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Phiên bản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1414942" y="4801444"/>
            <a:ext cx="73275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Anaconda 2024 · Python 3.12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1028650" y="5652327"/>
            <a:ext cx="7886734" cy="1759975"/>
          </a:xfrm>
          <a:prstGeom prst="roundRect">
            <a:avLst>
              <a:gd fmla="val 8659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1414942" y="6000502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Kèm sẵn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1414942" y="6439710"/>
            <a:ext cx="7327575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NumPy · Pandas Matplotlib · Jupyter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10253762" y="2514369"/>
            <a:ext cx="2266818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10444262" y="2581044"/>
            <a:ext cx="1962018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Terminal — bash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9682593" y="328571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bash Anaconda3-2024.10.py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9682593" y="372004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Anaconda3 2024.10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9682593" y="415437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In order to continue the installation process,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9682593" y="458870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please review the license agreement.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9682593" y="513729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conda --version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9682593" y="557162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conda 24.9.2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9682593" y="6204893"/>
            <a:ext cx="21337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5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5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5"/>
          <p:cNvSpPr/>
          <p:nvPr/>
        </p:nvSpPr>
        <p:spPr>
          <a:xfrm>
            <a:off x="11190057" y="5645547"/>
            <a:ext cx="437924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Tải &amp; cài Anaconda step-by-step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6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BƯỚC 2 — QUAN TRỌNG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Virtual environment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1028650" y="2375793"/>
            <a:ext cx="7886734" cy="1791725"/>
          </a:xfrm>
          <a:prstGeom prst="roundRect">
            <a:avLst>
              <a:gd fmla="val 8506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Tại sao cần?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1414942" y="3163177"/>
            <a:ext cx="7327575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Mỗi dự án có </a:t>
            </a: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"phòng riêng"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 thư viện không xung đột nhau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1028650" y="4358018"/>
            <a:ext cx="7886734" cy="1615612"/>
          </a:xfrm>
          <a:prstGeom prst="roundRect">
            <a:avLst>
              <a:gd fmla="val 9433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1414942" y="4706194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Lệnh tạo env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1414942" y="5145402"/>
            <a:ext cx="7327575" cy="5181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conda create -n ai-course python=3.12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1028650" y="6164131"/>
            <a:ext cx="7886734" cy="1437184"/>
          </a:xfrm>
          <a:prstGeom prst="roundRect">
            <a:avLst>
              <a:gd fmla="val 10604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6"/>
          <p:cNvSpPr/>
          <p:nvPr/>
        </p:nvSpPr>
        <p:spPr>
          <a:xfrm>
            <a:off x="1414942" y="6512305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Lệnh kích hoạt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1414942" y="6951514"/>
            <a:ext cx="395640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conda activate ai-course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6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6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6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6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6"/>
          <p:cNvSpPr/>
          <p:nvPr/>
        </p:nvSpPr>
        <p:spPr>
          <a:xfrm>
            <a:off x="10253762" y="2514369"/>
            <a:ext cx="2266818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6"/>
          <p:cNvSpPr/>
          <p:nvPr/>
        </p:nvSpPr>
        <p:spPr>
          <a:xfrm>
            <a:off x="10444262" y="2581044"/>
            <a:ext cx="1962018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Terminal — bash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9682593" y="328571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conda create -n ai-course python=3.12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9682593" y="372004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Collecting package metadata: done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9682593" y="415437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Solving environment: done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9682593" y="470296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conda activate ai-course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9682593" y="5336232"/>
            <a:ext cx="18591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(ai-course) 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6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6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10847173" y="5645547"/>
            <a:ext cx="508558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Tạo và kích hoạt virtual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7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BƯỚC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VS Code &amp; Extensions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1028650" y="2375793"/>
            <a:ext cx="7886734" cy="2392826"/>
          </a:xfrm>
          <a:prstGeom prst="roundRect">
            <a:avLst>
              <a:gd fmla="val 6369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7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Cài Extensions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1414942" y="31821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🐍 </a:t>
            </a: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Python </a:t>
            </a: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(Microsoft)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1414942" y="3626693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📓 </a:t>
            </a: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Jupyter </a:t>
            </a: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(Microsoft)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1414942" y="40711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🤖 </a:t>
            </a:r>
            <a:r>
              <a:rPr b="1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GitHub Copilot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1028650" y="4959119"/>
            <a:ext cx="7886734" cy="1145067"/>
          </a:xfrm>
          <a:prstGeom prst="roundRect">
            <a:avLst>
              <a:gd fmla="val 8318" name="adj"/>
            </a:avLst>
          </a:prstGeom>
          <a:solidFill>
            <a:srgbClr val="EF4444">
              <a:alpha val="7843"/>
            </a:srgbClr>
          </a:solidFill>
          <a:ln cap="flat" cmpd="sng" w="9525">
            <a:solidFill>
              <a:srgbClr val="EF444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7"/>
          <p:cNvSpPr/>
          <p:nvPr/>
        </p:nvSpPr>
        <p:spPr>
          <a:xfrm>
            <a:off x="1262476" y="5154910"/>
            <a:ext cx="764165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⚠️ Lỗi thường gặp #1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1262476" y="5580311"/>
            <a:ext cx="7641655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Chọn sai Python interpreter — phải chọn env </a:t>
            </a: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ai-course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7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7"/>
          <p:cNvSpPr/>
          <p:nvPr/>
        </p:nvSpPr>
        <p:spPr>
          <a:xfrm>
            <a:off x="10253762" y="2514369"/>
            <a:ext cx="3272565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7"/>
          <p:cNvSpPr/>
          <p:nvPr/>
        </p:nvSpPr>
        <p:spPr>
          <a:xfrm>
            <a:off x="10444262" y="2581044"/>
            <a:ext cx="2989742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VS Code — settings.json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7"/>
          <p:cNvSpPr/>
          <p:nvPr/>
        </p:nvSpPr>
        <p:spPr>
          <a:xfrm>
            <a:off x="9682593" y="328571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// Python interpreter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9682593" y="372004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79C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"python.defaultInterpreterPath"</a:t>
            </a: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7"/>
          <p:cNvSpPr/>
          <p:nvPr/>
        </p:nvSpPr>
        <p:spPr>
          <a:xfrm>
            <a:off x="9911193" y="4154372"/>
            <a:ext cx="72561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"~/anaconda3/envs/ai-course/bin/python"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7"/>
          <p:cNvSpPr/>
          <p:nvPr/>
        </p:nvSpPr>
        <p:spPr>
          <a:xfrm>
            <a:off x="9682593" y="476010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// Jupyter kernel → ai-course 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7"/>
          <p:cNvSpPr/>
          <p:nvPr/>
        </p:nvSpPr>
        <p:spPr>
          <a:xfrm>
            <a:off x="9682593" y="5365833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79C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"jupyter.kernelSpec"</a:t>
            </a: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"ai-course"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7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7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10298576" y="5645547"/>
            <a:ext cx="621569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Cài extension + chọn đúng Python interpreter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BƯỚC 4 — CLOUD OPTION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Google Colab — GPU miễn phí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1028650" y="2375793"/>
            <a:ext cx="7886734" cy="2837326"/>
          </a:xfrm>
          <a:prstGeom prst="roundRect">
            <a:avLst>
              <a:gd fmla="val 5371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8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Lợi thế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8"/>
          <p:cNvSpPr/>
          <p:nvPr/>
        </p:nvSpPr>
        <p:spPr>
          <a:xfrm>
            <a:off x="1414942" y="31821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☁️ Chạy trên cloud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/>
          <p:nvPr/>
        </p:nvSpPr>
        <p:spPr>
          <a:xfrm>
            <a:off x="1414942" y="3626693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🆓 GPU/TPU miễn phí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1414942" y="40711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📦 Không cần cài gì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1414942" y="45156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🔗 Chia sẻ dễ dàng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1028650" y="5403619"/>
            <a:ext cx="7886734" cy="1447767"/>
          </a:xfrm>
          <a:prstGeom prst="roundRect">
            <a:avLst>
              <a:gd fmla="val 10527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1414942" y="5751794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Dùng cho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1414942" y="6191002"/>
            <a:ext cx="73275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Deep Learning · LLM · Bài cần GPU mạnh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1028650" y="7041886"/>
            <a:ext cx="7886734" cy="589359"/>
          </a:xfrm>
          <a:prstGeom prst="roundRect">
            <a:avLst>
              <a:gd fmla="val 16162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8"/>
          <p:cNvSpPr/>
          <p:nvPr/>
        </p:nvSpPr>
        <p:spPr>
          <a:xfrm>
            <a:off x="1224442" y="7180461"/>
            <a:ext cx="772000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colab.research.google.com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8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8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8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8"/>
          <p:cNvSpPr/>
          <p:nvPr/>
        </p:nvSpPr>
        <p:spPr>
          <a:xfrm>
            <a:off x="10253762" y="2514369"/>
            <a:ext cx="3524002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8"/>
          <p:cNvSpPr/>
          <p:nvPr/>
        </p:nvSpPr>
        <p:spPr>
          <a:xfrm>
            <a:off x="10444262" y="2581044"/>
            <a:ext cx="3248722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8"/>
          <p:cNvSpPr/>
          <p:nvPr/>
        </p:nvSpPr>
        <p:spPr>
          <a:xfrm>
            <a:off x="9682593" y="3285712"/>
            <a:ext cx="7266699" cy="1564845"/>
          </a:xfrm>
          <a:prstGeom prst="roundRect">
            <a:avLst>
              <a:gd fmla="val 4869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8"/>
          <p:cNvSpPr/>
          <p:nvPr/>
        </p:nvSpPr>
        <p:spPr>
          <a:xfrm>
            <a:off x="9859285" y="3424287"/>
            <a:ext cx="7120714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9859285" y="3843321"/>
            <a:ext cx="7120714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79C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9859285" y="4277651"/>
            <a:ext cx="7120714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50FA7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"GPU:"</a:t>
            </a: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, torch.cuda.get_device_name(0))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9758793" y="4983841"/>
            <a:ext cx="74085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50FA7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0FA7B"/>
                </a:solidFill>
                <a:latin typeface="Courier New"/>
                <a:ea typeface="Courier New"/>
                <a:cs typeface="Courier New"/>
                <a:sym typeface="Courier New"/>
              </a:rPr>
              <a:t>GPU: Tesla T4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8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8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8"/>
          <p:cNvSpPr/>
          <p:nvPr/>
        </p:nvSpPr>
        <p:spPr>
          <a:xfrm>
            <a:off x="10710003" y="5645547"/>
            <a:ext cx="536815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Mở Colab, chạy ô code đầu tiên với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9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KIỂM 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Môi trường đã sẵn sàng chưa?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9"/>
          <p:cNvSpPr/>
          <p:nvPr/>
        </p:nvSpPr>
        <p:spPr>
          <a:xfrm>
            <a:off x="1028650" y="2375793"/>
            <a:ext cx="8123336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Chạy 2 lệnh này — nếu OK là sẵn sàng: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1028650" y="2936710"/>
            <a:ext cx="7886734" cy="1405434"/>
          </a:xfrm>
          <a:prstGeom prst="roundRect">
            <a:avLst>
              <a:gd fmla="val 10844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9"/>
          <p:cNvSpPr/>
          <p:nvPr/>
        </p:nvSpPr>
        <p:spPr>
          <a:xfrm>
            <a:off x="1414942" y="3284885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python --version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1414942" y="3681760"/>
            <a:ext cx="73275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 Kỳ vọng: Python 3.12.x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1028650" y="4532643"/>
            <a:ext cx="7886734" cy="1405434"/>
          </a:xfrm>
          <a:prstGeom prst="roundRect">
            <a:avLst>
              <a:gd fmla="val 10844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1414942" y="4880818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pandas, numpy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1414942" y="5277694"/>
            <a:ext cx="73275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 Không báo lỗi = thành công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9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9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9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9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9"/>
          <p:cNvSpPr/>
          <p:nvPr/>
        </p:nvSpPr>
        <p:spPr>
          <a:xfrm>
            <a:off x="10253762" y="2514369"/>
            <a:ext cx="2895451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9"/>
          <p:cNvSpPr/>
          <p:nvPr/>
        </p:nvSpPr>
        <p:spPr>
          <a:xfrm>
            <a:off x="10444262" y="2581044"/>
            <a:ext cx="2601315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Terminal (ai-course)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9"/>
          <p:cNvSpPr/>
          <p:nvPr/>
        </p:nvSpPr>
        <p:spPr>
          <a:xfrm>
            <a:off x="9682593" y="328571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(ai-course) 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python --version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9682593" y="372004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Python 3.12.4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9682593" y="4268639"/>
            <a:ext cx="7484700" cy="9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(ai-course) 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python -c "import pandas, numpy; print('OK')"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9682593" y="513729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OK 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9"/>
          <p:cNvSpPr/>
          <p:nvPr/>
        </p:nvSpPr>
        <p:spPr>
          <a:xfrm>
            <a:off x="9682593" y="5770563"/>
            <a:ext cx="18591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(ai-course) 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9"/>
          <p:cNvSpPr/>
          <p:nvPr/>
        </p:nvSpPr>
        <p:spPr>
          <a:xfrm>
            <a:off x="11602724" y="5782221"/>
            <a:ext cx="123775" cy="24763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9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9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9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9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9"/>
          <p:cNvSpPr/>
          <p:nvPr/>
        </p:nvSpPr>
        <p:spPr>
          <a:xfrm>
            <a:off x="10710003" y="5645547"/>
            <a:ext cx="536815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Kiểm tra môi trường cài đặt thành công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0"/>
          <p:cNvSpPr/>
          <p:nvPr/>
        </p:nvSpPr>
        <p:spPr>
          <a:xfrm>
            <a:off x="8724884" y="3658196"/>
            <a:ext cx="838150" cy="838150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264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0"/>
          <p:cNvSpPr/>
          <p:nvPr/>
        </p:nvSpPr>
        <p:spPr>
          <a:xfrm>
            <a:off x="8713242" y="3684654"/>
            <a:ext cx="861434" cy="823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0"/>
          <p:cNvSpPr/>
          <p:nvPr/>
        </p:nvSpPr>
        <p:spPr>
          <a:xfrm>
            <a:off x="6168925" y="4801113"/>
            <a:ext cx="5950067" cy="916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Môi trường xong!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0"/>
          <p:cNvSpPr/>
          <p:nvPr/>
        </p:nvSpPr>
        <p:spPr>
          <a:xfrm>
            <a:off x="5269435" y="5889046"/>
            <a:ext cx="774913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tiếp: Git &amp; GitHub — lưu code và xây portfolio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0"/>
          <p:cNvSpPr/>
          <p:nvPr/>
        </p:nvSpPr>
        <p:spPr>
          <a:xfrm>
            <a:off x="6835238" y="6392747"/>
            <a:ext cx="461752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6884"/>
                </a:solidFill>
                <a:latin typeface="Arial"/>
                <a:ea typeface="Arial"/>
                <a:cs typeface="Arial"/>
                <a:sym typeface="Arial"/>
              </a:rPr>
              <a:t>"Giờ ta cần nơi lưu code — đó là Git."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F08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9731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1"/>
          <p:cNvSpPr/>
          <p:nvPr/>
        </p:nvSpPr>
        <p:spPr>
          <a:xfrm>
            <a:off x="10766176" y="4442250"/>
            <a:ext cx="720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40000"/>
              <a:buFont typeface="Arial"/>
              <a:buNone/>
            </a:pPr>
            <a:r>
              <a:rPr b="1" i="0" lang="en-US" sz="400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L5</a:t>
            </a:r>
            <a:endParaRPr b="0" i="0" sz="4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1"/>
          <p:cNvSpPr/>
          <p:nvPr/>
        </p:nvSpPr>
        <p:spPr>
          <a:xfrm>
            <a:off x="1028650" y="6865855"/>
            <a:ext cx="3243957" cy="472943"/>
          </a:xfrm>
          <a:prstGeom prst="roundRect">
            <a:avLst>
              <a:gd fmla="val 50000" name="adj"/>
            </a:avLst>
          </a:prstGeom>
          <a:solidFill>
            <a:srgbClr val="F97316">
              <a:alpha val="12156"/>
            </a:srgbClr>
          </a:solidFill>
          <a:ln cap="flat" cmpd="sng" w="9525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1"/>
          <p:cNvSpPr/>
          <p:nvPr/>
        </p:nvSpPr>
        <p:spPr>
          <a:xfrm>
            <a:off x="1243459" y="7064210"/>
            <a:ext cx="76150" cy="7615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1395760" y="6956806"/>
            <a:ext cx="2741900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LECTURE 5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1028650" y="7548315"/>
            <a:ext cx="9810751" cy="7786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Git &amp; GitHub </a:t>
            </a:r>
            <a:r>
              <a:rPr b="1" i="0" lang="en-US" sz="54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trong 8 phút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1"/>
          <p:cNvSpPr/>
          <p:nvPr/>
        </p:nvSpPr>
        <p:spPr>
          <a:xfrm>
            <a:off x="1028650" y="8498417"/>
            <a:ext cx="1671762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"Đây là kỹ năng nhà tuyển dụng KIỂM TRA đầu tiên."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2"/>
          <p:cNvSpPr/>
          <p:nvPr/>
        </p:nvSpPr>
        <p:spPr>
          <a:xfrm>
            <a:off x="785190" y="2086074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785190" y="2491383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Git vs GitHub — 2 khái niệm hay nhầm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1028650" y="3604700"/>
            <a:ext cx="7164503" cy="4672376"/>
          </a:xfrm>
          <a:prstGeom prst="roundRect">
            <a:avLst>
              <a:gd fmla="val 3262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1358238" y="4105259"/>
            <a:ext cx="6505328" cy="884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🗂️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1358238" y="5161443"/>
            <a:ext cx="6505328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1358238" y="5950893"/>
            <a:ext cx="650532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Công cụ quản lý phiên bản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1358238" y="6458893"/>
            <a:ext cx="6505328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Chạy trên máy bạn Lưu lịch sử thay đổi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1452976" y="7273810"/>
            <a:ext cx="6315852" cy="502708"/>
          </a:xfrm>
          <a:prstGeom prst="roundRect">
            <a:avLst>
              <a:gd fmla="val 15158" name="adj"/>
            </a:avLst>
          </a:prstGeom>
          <a:solidFill>
            <a:srgbClr val="F97316">
              <a:alpha val="7843"/>
            </a:srgbClr>
          </a:solidFill>
          <a:ln cap="flat" cmpd="sng" w="9525">
            <a:solidFill>
              <a:srgbClr val="F9731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2"/>
          <p:cNvSpPr/>
          <p:nvPr/>
        </p:nvSpPr>
        <p:spPr>
          <a:xfrm>
            <a:off x="1554030" y="7374351"/>
            <a:ext cx="611374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B923C"/>
                </a:solidFill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8896284" y="5347725"/>
            <a:ext cx="571550" cy="778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⇄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8536038" y="6221843"/>
            <a:ext cx="129204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push / pull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2"/>
          <p:cNvSpPr/>
          <p:nvPr/>
        </p:nvSpPr>
        <p:spPr>
          <a:xfrm>
            <a:off x="10094764" y="3604700"/>
            <a:ext cx="7164587" cy="4672376"/>
          </a:xfrm>
          <a:prstGeom prst="roundRect">
            <a:avLst>
              <a:gd fmla="val 3262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2"/>
          <p:cNvSpPr/>
          <p:nvPr/>
        </p:nvSpPr>
        <p:spPr>
          <a:xfrm>
            <a:off x="10424350" y="4105259"/>
            <a:ext cx="6505413" cy="884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10424350" y="5161443"/>
            <a:ext cx="6505413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10424350" y="5950893"/>
            <a:ext cx="6505413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Nơi lưu &amp; chia sẻ online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10424350" y="6458893"/>
            <a:ext cx="6505413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Cộng tác nhóm Portfolio công khai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10519089" y="7273810"/>
            <a:ext cx="6315935" cy="502708"/>
          </a:xfrm>
          <a:prstGeom prst="roundRect">
            <a:avLst>
              <a:gd fmla="val 15158" name="adj"/>
            </a:avLst>
          </a:prstGeom>
          <a:solidFill>
            <a:srgbClr val="3B82F6">
              <a:alpha val="12156"/>
            </a:srgbClr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10620142" y="7374351"/>
            <a:ext cx="611383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CLOUD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3"/>
          <p:cNvSpPr/>
          <p:nvPr/>
        </p:nvSpPr>
        <p:spPr>
          <a:xfrm>
            <a:off x="785190" y="1902520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Vì sao Git quan trọng với AI Developer?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>
            <a:off x="3810000" y="3015837"/>
            <a:ext cx="10668000" cy="1649842"/>
          </a:xfrm>
          <a:prstGeom prst="roundRect">
            <a:avLst>
              <a:gd fmla="val 9237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3"/>
          <p:cNvSpPr/>
          <p:nvPr/>
        </p:nvSpPr>
        <p:spPr>
          <a:xfrm>
            <a:off x="4272459" y="3515321"/>
            <a:ext cx="723850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📚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3"/>
          <p:cNvSpPr/>
          <p:nvPr/>
        </p:nvSpPr>
        <p:spPr>
          <a:xfrm>
            <a:off x="5377243" y="3383029"/>
            <a:ext cx="737203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Lưu lịch sử code &amp; model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3"/>
          <p:cNvSpPr/>
          <p:nvPr/>
        </p:nvSpPr>
        <p:spPr>
          <a:xfrm>
            <a:off x="5377243" y="3986279"/>
            <a:ext cx="737203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Rollback khi model bị break — không bao giờ mất công trình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810000" y="4913313"/>
            <a:ext cx="10668000" cy="1649842"/>
          </a:xfrm>
          <a:prstGeom prst="roundRect">
            <a:avLst>
              <a:gd fmla="val 9237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3"/>
          <p:cNvSpPr/>
          <p:nvPr/>
        </p:nvSpPr>
        <p:spPr>
          <a:xfrm>
            <a:off x="4272459" y="5412796"/>
            <a:ext cx="723850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3"/>
          <p:cNvSpPr/>
          <p:nvPr/>
        </p:nvSpPr>
        <p:spPr>
          <a:xfrm>
            <a:off x="5377243" y="5280505"/>
            <a:ext cx="7724093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Hợp tác nhóm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3"/>
          <p:cNvSpPr/>
          <p:nvPr/>
        </p:nvSpPr>
        <p:spPr>
          <a:xfrm>
            <a:off x="5377243" y="5883755"/>
            <a:ext cx="772409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Nhiều người cùng làm việc trên 1 codebase — không bị conflict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/>
          <p:nvPr/>
        </p:nvSpPr>
        <p:spPr>
          <a:xfrm>
            <a:off x="3810000" y="6810789"/>
            <a:ext cx="10668000" cy="1649842"/>
          </a:xfrm>
          <a:prstGeom prst="roundRect">
            <a:avLst>
              <a:gd fmla="val 9237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3"/>
          <p:cNvSpPr/>
          <p:nvPr/>
        </p:nvSpPr>
        <p:spPr>
          <a:xfrm>
            <a:off x="4272459" y="7310272"/>
            <a:ext cx="723850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💼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3"/>
          <p:cNvSpPr/>
          <p:nvPr/>
        </p:nvSpPr>
        <p:spPr>
          <a:xfrm>
            <a:off x="5377243" y="7177981"/>
            <a:ext cx="821582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Portfolio = GitHub profile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3"/>
          <p:cNvSpPr/>
          <p:nvPr/>
        </p:nvSpPr>
        <p:spPr>
          <a:xfrm>
            <a:off x="5377243" y="7781231"/>
            <a:ext cx="821582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Repo chính là CV của dân kỹ thuật — nhà tuyển dụng xem đầu tiên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4"/>
          <p:cNvSpPr/>
          <p:nvPr/>
        </p:nvSpPr>
        <p:spPr>
          <a:xfrm>
            <a:off x="785190" y="2676591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785190" y="3081900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4 lệnh cốt lõi — 90% công việc hàng ngày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/>
          <p:nvPr/>
        </p:nvSpPr>
        <p:spPr>
          <a:xfrm>
            <a:off x="1028650" y="4157100"/>
            <a:ext cx="3900537" cy="3529376"/>
          </a:xfrm>
          <a:prstGeom prst="roundRect">
            <a:avLst>
              <a:gd fmla="val 4318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4"/>
          <p:cNvSpPr/>
          <p:nvPr/>
        </p:nvSpPr>
        <p:spPr>
          <a:xfrm>
            <a:off x="1210983" y="4543392"/>
            <a:ext cx="353587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050"/>
              <a:buFont typeface="Courier New"/>
              <a:buNone/>
            </a:pPr>
            <a:r>
              <a:rPr b="1" i="0" lang="en-US" sz="40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/>
          <p:nvPr/>
        </p:nvSpPr>
        <p:spPr>
          <a:xfrm>
            <a:off x="1210983" y="5476792"/>
            <a:ext cx="3535873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Stage thay đổi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/>
          <p:nvPr/>
        </p:nvSpPr>
        <p:spPr>
          <a:xfrm>
            <a:off x="1210983" y="5984793"/>
            <a:ext cx="353587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Chọn file sẽ commit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4"/>
          <p:cNvSpPr/>
          <p:nvPr/>
        </p:nvSpPr>
        <p:spPr>
          <a:xfrm>
            <a:off x="1262476" y="6468401"/>
            <a:ext cx="3432886" cy="530159"/>
          </a:xfrm>
          <a:prstGeom prst="roundRect">
            <a:avLst>
              <a:gd fmla="val 14373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4"/>
          <p:cNvSpPr/>
          <p:nvPr/>
        </p:nvSpPr>
        <p:spPr>
          <a:xfrm>
            <a:off x="1363383" y="6582701"/>
            <a:ext cx="3231073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4"/>
          <p:cNvSpPr/>
          <p:nvPr/>
        </p:nvSpPr>
        <p:spPr>
          <a:xfrm>
            <a:off x="5138705" y="4157100"/>
            <a:ext cx="3900537" cy="3529376"/>
          </a:xfrm>
          <a:prstGeom prst="roundRect">
            <a:avLst>
              <a:gd fmla="val 4318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4"/>
          <p:cNvSpPr/>
          <p:nvPr/>
        </p:nvSpPr>
        <p:spPr>
          <a:xfrm>
            <a:off x="5321037" y="4543392"/>
            <a:ext cx="353587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4050"/>
              <a:buFont typeface="Courier New"/>
              <a:buNone/>
            </a:pPr>
            <a:r>
              <a:rPr b="1" i="0" lang="en-US" sz="4050" u="none" cap="none" strike="noStrik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4"/>
          <p:cNvSpPr/>
          <p:nvPr/>
        </p:nvSpPr>
        <p:spPr>
          <a:xfrm>
            <a:off x="5321037" y="5476792"/>
            <a:ext cx="3535873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Lưu snapshot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5321037" y="5984793"/>
            <a:ext cx="353587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Lịch sử vĩnh viễn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5372530" y="6468401"/>
            <a:ext cx="3432886" cy="530159"/>
          </a:xfrm>
          <a:prstGeom prst="roundRect">
            <a:avLst>
              <a:gd fmla="val 14373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4"/>
          <p:cNvSpPr/>
          <p:nvPr/>
        </p:nvSpPr>
        <p:spPr>
          <a:xfrm>
            <a:off x="5473437" y="6582701"/>
            <a:ext cx="3231073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"msg"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9248759" y="4157100"/>
            <a:ext cx="3900537" cy="3529376"/>
          </a:xfrm>
          <a:prstGeom prst="roundRect">
            <a:avLst>
              <a:gd fmla="val 4318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4"/>
          <p:cNvSpPr/>
          <p:nvPr/>
        </p:nvSpPr>
        <p:spPr>
          <a:xfrm>
            <a:off x="9431091" y="4543392"/>
            <a:ext cx="353587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4050"/>
              <a:buFont typeface="Courier New"/>
              <a:buNone/>
            </a:pPr>
            <a:r>
              <a:rPr b="1" i="0" lang="en-US" sz="405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9431091" y="5476792"/>
            <a:ext cx="3535873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Lên GitHub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/>
          <p:nvPr/>
        </p:nvSpPr>
        <p:spPr>
          <a:xfrm>
            <a:off x="9431091" y="5984793"/>
            <a:ext cx="353587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Upload lên cloud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9482585" y="6468401"/>
            <a:ext cx="3432886" cy="831784"/>
          </a:xfrm>
          <a:prstGeom prst="roundRect">
            <a:avLst>
              <a:gd fmla="val 9161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4"/>
          <p:cNvSpPr/>
          <p:nvPr/>
        </p:nvSpPr>
        <p:spPr>
          <a:xfrm>
            <a:off x="9583491" y="6582701"/>
            <a:ext cx="3231073" cy="641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main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4"/>
          <p:cNvSpPr/>
          <p:nvPr/>
        </p:nvSpPr>
        <p:spPr>
          <a:xfrm>
            <a:off x="13358814" y="4157100"/>
            <a:ext cx="3900537" cy="3529376"/>
          </a:xfrm>
          <a:prstGeom prst="roundRect">
            <a:avLst>
              <a:gd fmla="val 4318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/>
          <p:nvPr/>
        </p:nvSpPr>
        <p:spPr>
          <a:xfrm>
            <a:off x="13541146" y="4543392"/>
            <a:ext cx="353587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4050"/>
              <a:buFont typeface="Courier New"/>
              <a:buNone/>
            </a:pPr>
            <a:r>
              <a:rPr b="1" i="0" lang="en-US" sz="405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pull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/>
          <p:nvPr/>
        </p:nvSpPr>
        <p:spPr>
          <a:xfrm>
            <a:off x="13541146" y="5476792"/>
            <a:ext cx="3535873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Về máy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4"/>
          <p:cNvSpPr/>
          <p:nvPr/>
        </p:nvSpPr>
        <p:spPr>
          <a:xfrm>
            <a:off x="13541146" y="5984793"/>
            <a:ext cx="353587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Download từ cloud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13592639" y="6468401"/>
            <a:ext cx="3432886" cy="831784"/>
          </a:xfrm>
          <a:prstGeom prst="roundRect">
            <a:avLst>
              <a:gd fmla="val 9161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4"/>
          <p:cNvSpPr/>
          <p:nvPr/>
        </p:nvSpPr>
        <p:spPr>
          <a:xfrm>
            <a:off x="13693546" y="6582701"/>
            <a:ext cx="3231073" cy="641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5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5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Tạo repo đầu tiên trên GitHub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5"/>
          <p:cNvSpPr/>
          <p:nvPr/>
        </p:nvSpPr>
        <p:spPr>
          <a:xfrm>
            <a:off x="1028650" y="2375793"/>
            <a:ext cx="419034" cy="419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58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5"/>
          <p:cNvSpPr/>
          <p:nvPr/>
        </p:nvSpPr>
        <p:spPr>
          <a:xfrm>
            <a:off x="1006425" y="2391668"/>
            <a:ext cx="463484" cy="425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5"/>
          <p:cNvSpPr/>
          <p:nvPr/>
        </p:nvSpPr>
        <p:spPr>
          <a:xfrm>
            <a:off x="1600068" y="2429206"/>
            <a:ext cx="361558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Tạo repo mới trên github.com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5"/>
          <p:cNvSpPr/>
          <p:nvPr/>
        </p:nvSpPr>
        <p:spPr>
          <a:xfrm>
            <a:off x="1028650" y="2947211"/>
            <a:ext cx="419034" cy="419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58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>
            <a:off x="1006425" y="2963086"/>
            <a:ext cx="463484" cy="425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5"/>
          <p:cNvSpPr/>
          <p:nvPr/>
        </p:nvSpPr>
        <p:spPr>
          <a:xfrm>
            <a:off x="1600068" y="3000623"/>
            <a:ext cx="1706778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Clone về máy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5"/>
          <p:cNvSpPr/>
          <p:nvPr/>
        </p:nvSpPr>
        <p:spPr>
          <a:xfrm>
            <a:off x="1028650" y="3518628"/>
            <a:ext cx="419034" cy="419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58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5"/>
          <p:cNvSpPr/>
          <p:nvPr/>
        </p:nvSpPr>
        <p:spPr>
          <a:xfrm>
            <a:off x="1006425" y="3534503"/>
            <a:ext cx="463484" cy="425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5"/>
          <p:cNvSpPr/>
          <p:nvPr/>
        </p:nvSpPr>
        <p:spPr>
          <a:xfrm>
            <a:off x="1600068" y="3572040"/>
            <a:ext cx="2296798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Mở trong VS 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1028650" y="4128162"/>
            <a:ext cx="7886734" cy="1656457"/>
          </a:xfrm>
          <a:prstGeom prst="roundRect">
            <a:avLst>
              <a:gd fmla="val 9200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1414942" y="4476337"/>
            <a:ext cx="7327575" cy="998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https://github.com/ username/ai-portfolio.git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5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5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5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5"/>
          <p:cNvSpPr/>
          <p:nvPr/>
        </p:nvSpPr>
        <p:spPr>
          <a:xfrm>
            <a:off x="10253762" y="2514369"/>
            <a:ext cx="1386830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5"/>
          <p:cNvSpPr/>
          <p:nvPr/>
        </p:nvSpPr>
        <p:spPr>
          <a:xfrm>
            <a:off x="10444262" y="2581044"/>
            <a:ext cx="1082030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5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5"/>
          <p:cNvSpPr/>
          <p:nvPr/>
        </p:nvSpPr>
        <p:spPr>
          <a:xfrm>
            <a:off x="9682593" y="3285712"/>
            <a:ext cx="7484700" cy="9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https://github.com/username/ai-portfolio.git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5"/>
          <p:cNvSpPr/>
          <p:nvPr/>
        </p:nvSpPr>
        <p:spPr>
          <a:xfrm>
            <a:off x="9682593" y="415437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Cloning into 'ai-portfolio'...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9682593" y="458870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remote: Counting objects: 3, done.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9682593" y="513729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cd ai-portfolio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9682593" y="5770563"/>
            <a:ext cx="227067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(ai-portfolio) 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5"/>
          <p:cNvSpPr/>
          <p:nvPr/>
        </p:nvSpPr>
        <p:spPr>
          <a:xfrm>
            <a:off x="12014234" y="5782221"/>
            <a:ext cx="123775" cy="24763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5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5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5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5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5"/>
          <p:cNvSpPr/>
          <p:nvPr/>
        </p:nvSpPr>
        <p:spPr>
          <a:xfrm>
            <a:off x="11738653" y="5645547"/>
            <a:ext cx="324913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Tạo repo + clone về máy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6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THỰC HÀNH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6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Commit &amp; Push lên GitHub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6"/>
          <p:cNvSpPr/>
          <p:nvPr/>
        </p:nvSpPr>
        <p:spPr>
          <a:xfrm>
            <a:off x="1028650" y="2375793"/>
            <a:ext cx="7886734" cy="2249951"/>
          </a:xfrm>
          <a:prstGeom prst="roundRect">
            <a:avLst>
              <a:gd fmla="val 6773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6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Quy trình chuẩn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6"/>
          <p:cNvSpPr/>
          <p:nvPr/>
        </p:nvSpPr>
        <p:spPr>
          <a:xfrm>
            <a:off x="1414942" y="3182194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6"/>
          <p:cNvSpPr/>
          <p:nvPr/>
        </p:nvSpPr>
        <p:spPr>
          <a:xfrm>
            <a:off x="1414942" y="3579068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"message"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1414942" y="3975944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main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6"/>
          <p:cNvSpPr/>
          <p:nvPr/>
        </p:nvSpPr>
        <p:spPr>
          <a:xfrm>
            <a:off x="1028650" y="4816244"/>
            <a:ext cx="7886734" cy="1441400"/>
          </a:xfrm>
          <a:prstGeom prst="roundRect">
            <a:avLst>
              <a:gd fmla="val 6608" name="adj"/>
            </a:avLst>
          </a:prstGeom>
          <a:solidFill>
            <a:srgbClr val="F59E0B">
              <a:alpha val="7843"/>
            </a:srgbClr>
          </a:solidFill>
          <a:ln cap="flat" cmpd="sng" w="9525">
            <a:solidFill>
              <a:srgbClr val="F59E0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1262476" y="5012035"/>
            <a:ext cx="764165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💡 Commit message rõ ràng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1262476" y="5437436"/>
            <a:ext cx="7641655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"Add EDA for Titanic dataset" tốt hơn "update file"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6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6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6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6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6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6"/>
          <p:cNvSpPr/>
          <p:nvPr/>
        </p:nvSpPr>
        <p:spPr>
          <a:xfrm>
            <a:off x="10253762" y="2514369"/>
            <a:ext cx="3272565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6"/>
          <p:cNvSpPr/>
          <p:nvPr/>
        </p:nvSpPr>
        <p:spPr>
          <a:xfrm>
            <a:off x="10444262" y="2581044"/>
            <a:ext cx="2989742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Terminal — ai-portfolio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6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6"/>
          <p:cNvSpPr/>
          <p:nvPr/>
        </p:nvSpPr>
        <p:spPr>
          <a:xfrm>
            <a:off x="9682593" y="328571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touch hello.py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6"/>
          <p:cNvSpPr/>
          <p:nvPr/>
        </p:nvSpPr>
        <p:spPr>
          <a:xfrm>
            <a:off x="9682593" y="372004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6"/>
          <p:cNvSpPr/>
          <p:nvPr/>
        </p:nvSpPr>
        <p:spPr>
          <a:xfrm>
            <a:off x="9682593" y="415437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"Add hello.py - first commit"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6"/>
          <p:cNvSpPr/>
          <p:nvPr/>
        </p:nvSpPr>
        <p:spPr>
          <a:xfrm>
            <a:off x="9682593" y="458870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[main a1b2c3d] Add hello.py - first commit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6"/>
          <p:cNvSpPr/>
          <p:nvPr/>
        </p:nvSpPr>
        <p:spPr>
          <a:xfrm>
            <a:off x="9682593" y="502303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6"/>
          <p:cNvSpPr/>
          <p:nvPr/>
        </p:nvSpPr>
        <p:spPr>
          <a:xfrm>
            <a:off x="9682593" y="545736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✓ Pushed to github.com/username/ai-portfolio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6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6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6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6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6"/>
          <p:cNvSpPr/>
          <p:nvPr/>
        </p:nvSpPr>
        <p:spPr>
          <a:xfrm>
            <a:off x="10847173" y="5645547"/>
            <a:ext cx="508558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Thêm file → commit → push lên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7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THỰC HÀNH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7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.gitignore &amp; README — điểm cộng lớn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7"/>
          <p:cNvSpPr/>
          <p:nvPr/>
        </p:nvSpPr>
        <p:spPr>
          <a:xfrm>
            <a:off x="1028650" y="2375793"/>
            <a:ext cx="7886734" cy="2154701"/>
          </a:xfrm>
          <a:prstGeom prst="roundRect">
            <a:avLst>
              <a:gd fmla="val 7073" name="adj"/>
            </a:avLst>
          </a:prstGeom>
          <a:solidFill>
            <a:srgbClr val="13213A"/>
          </a:solidFill>
          <a:ln cap="flat" cmpd="sng" w="9525">
            <a:solidFill>
              <a:srgbClr val="EF444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7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.gitignore — bỏ file không cần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7"/>
          <p:cNvSpPr/>
          <p:nvPr/>
        </p:nvSpPr>
        <p:spPr>
          <a:xfrm>
            <a:off x="1414942" y="3163177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*.csv </a:t>
            </a:r>
            <a:r>
              <a:rPr b="0" i="0" lang="en-US" sz="21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# data lớn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7"/>
          <p:cNvSpPr/>
          <p:nvPr/>
        </p:nvSpPr>
        <p:spPr>
          <a:xfrm>
            <a:off x="1414942" y="3521935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.env </a:t>
            </a:r>
            <a:r>
              <a:rPr b="0" i="0" lang="en-US" sz="21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# API keys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7"/>
          <p:cNvSpPr/>
          <p:nvPr/>
        </p:nvSpPr>
        <p:spPr>
          <a:xfrm>
            <a:off x="1414942" y="3880694"/>
            <a:ext cx="73275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__pycache__/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7"/>
          <p:cNvSpPr/>
          <p:nvPr/>
        </p:nvSpPr>
        <p:spPr>
          <a:xfrm>
            <a:off x="1028650" y="4720994"/>
            <a:ext cx="7886734" cy="1447767"/>
          </a:xfrm>
          <a:prstGeom prst="roundRect">
            <a:avLst>
              <a:gd fmla="val 10527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7"/>
          <p:cNvSpPr/>
          <p:nvPr/>
        </p:nvSpPr>
        <p:spPr>
          <a:xfrm>
            <a:off x="1414942" y="5069169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README.md — giới thiệu dự án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7"/>
          <p:cNvSpPr/>
          <p:nvPr/>
        </p:nvSpPr>
        <p:spPr>
          <a:xfrm>
            <a:off x="1414942" y="5508377"/>
            <a:ext cx="732757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Mục tiêu · Tech stack · Cách chạy · Screenshots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7"/>
          <p:cNvSpPr/>
          <p:nvPr/>
        </p:nvSpPr>
        <p:spPr>
          <a:xfrm>
            <a:off x="1028650" y="6359261"/>
            <a:ext cx="7886734" cy="627559"/>
          </a:xfrm>
          <a:prstGeom prst="roundRect">
            <a:avLst>
              <a:gd fmla="val 15178" name="adj"/>
            </a:avLst>
          </a:prstGeom>
          <a:solidFill>
            <a:srgbClr val="F59E0B">
              <a:alpha val="7843"/>
            </a:srgbClr>
          </a:solidFill>
          <a:ln cap="flat" cmpd="sng" w="9525">
            <a:solidFill>
              <a:srgbClr val="F59E0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7"/>
          <p:cNvSpPr/>
          <p:nvPr/>
        </p:nvSpPr>
        <p:spPr>
          <a:xfrm>
            <a:off x="1224442" y="6516936"/>
            <a:ext cx="772000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README tốt = điểm cộng lớn với nhà tuyển dụng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7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7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7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7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7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7"/>
          <p:cNvSpPr/>
          <p:nvPr/>
        </p:nvSpPr>
        <p:spPr>
          <a:xfrm>
            <a:off x="10253762" y="2514369"/>
            <a:ext cx="1638267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7"/>
          <p:cNvSpPr/>
          <p:nvPr/>
        </p:nvSpPr>
        <p:spPr>
          <a:xfrm>
            <a:off x="10444262" y="2581044"/>
            <a:ext cx="1333467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.gitignore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7"/>
          <p:cNvSpPr/>
          <p:nvPr/>
        </p:nvSpPr>
        <p:spPr>
          <a:xfrm>
            <a:off x="9377826" y="3019061"/>
            <a:ext cx="7876233" cy="5562865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7"/>
          <p:cNvSpPr/>
          <p:nvPr/>
        </p:nvSpPr>
        <p:spPr>
          <a:xfrm>
            <a:off x="9682593" y="3285712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Python bytecode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7"/>
          <p:cNvSpPr/>
          <p:nvPr/>
        </p:nvSpPr>
        <p:spPr>
          <a:xfrm>
            <a:off x="9682593" y="3742945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__pycache__/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7"/>
          <p:cNvSpPr/>
          <p:nvPr/>
        </p:nvSpPr>
        <p:spPr>
          <a:xfrm>
            <a:off x="9682593" y="4200178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*.py[cod]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7"/>
          <p:cNvSpPr/>
          <p:nvPr/>
        </p:nvSpPr>
        <p:spPr>
          <a:xfrm>
            <a:off x="9682593" y="4657411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Large data files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7"/>
          <p:cNvSpPr/>
          <p:nvPr/>
        </p:nvSpPr>
        <p:spPr>
          <a:xfrm>
            <a:off x="9682593" y="5114644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*.csv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7"/>
          <p:cNvSpPr/>
          <p:nvPr/>
        </p:nvSpPr>
        <p:spPr>
          <a:xfrm>
            <a:off x="9682593" y="5571877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*.parquet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7"/>
          <p:cNvSpPr/>
          <p:nvPr/>
        </p:nvSpPr>
        <p:spPr>
          <a:xfrm>
            <a:off x="9682593" y="6029110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7"/>
          <p:cNvSpPr/>
          <p:nvPr/>
        </p:nvSpPr>
        <p:spPr>
          <a:xfrm>
            <a:off x="9682593" y="6486344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.env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7"/>
          <p:cNvSpPr/>
          <p:nvPr/>
        </p:nvSpPr>
        <p:spPr>
          <a:xfrm>
            <a:off x="9682593" y="6943577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.venv/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7"/>
          <p:cNvSpPr/>
          <p:nvPr/>
        </p:nvSpPr>
        <p:spPr>
          <a:xfrm>
            <a:off x="9682593" y="7400809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Jupyter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7"/>
          <p:cNvSpPr/>
          <p:nvPr/>
        </p:nvSpPr>
        <p:spPr>
          <a:xfrm>
            <a:off x="9682593" y="7858042"/>
            <a:ext cx="7484700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EF2FF"/>
                </a:solidFill>
                <a:latin typeface="Courier New"/>
                <a:ea typeface="Courier New"/>
                <a:cs typeface="Courier New"/>
                <a:sym typeface="Courier New"/>
              </a:rPr>
              <a:t>.ipynb_checkpoints/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7"/>
          <p:cNvSpPr/>
          <p:nvPr/>
        </p:nvSpPr>
        <p:spPr>
          <a:xfrm>
            <a:off x="9377826" y="3019061"/>
            <a:ext cx="7876233" cy="5562865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7"/>
          <p:cNvSpPr/>
          <p:nvPr/>
        </p:nvSpPr>
        <p:spPr>
          <a:xfrm>
            <a:off x="12915884" y="4771843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7"/>
          <p:cNvSpPr/>
          <p:nvPr/>
        </p:nvSpPr>
        <p:spPr>
          <a:xfrm>
            <a:off x="12904242" y="4798302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7"/>
          <p:cNvSpPr/>
          <p:nvPr/>
        </p:nvSpPr>
        <p:spPr>
          <a:xfrm>
            <a:off x="12035565" y="5705161"/>
            <a:ext cx="2637576" cy="5715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7"/>
          <p:cNvSpPr/>
          <p:nvPr/>
        </p:nvSpPr>
        <p:spPr>
          <a:xfrm>
            <a:off x="10367202" y="6371911"/>
            <a:ext cx="6074405" cy="495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Tạo .gitignore &amp; README cho dự án Python/AI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8"/>
          <p:cNvSpPr/>
          <p:nvPr/>
        </p:nvSpPr>
        <p:spPr>
          <a:xfrm>
            <a:off x="8724884" y="3880942"/>
            <a:ext cx="838150" cy="838150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264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8"/>
          <p:cNvSpPr/>
          <p:nvPr/>
        </p:nvSpPr>
        <p:spPr>
          <a:xfrm>
            <a:off x="8713242" y="3907400"/>
            <a:ext cx="861434" cy="823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8"/>
          <p:cNvSpPr/>
          <p:nvPr/>
        </p:nvSpPr>
        <p:spPr>
          <a:xfrm>
            <a:off x="4809600" y="5023850"/>
            <a:ext cx="86544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Git &amp; GitHub xong!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8"/>
          <p:cNvSpPr/>
          <p:nvPr/>
        </p:nvSpPr>
        <p:spPr>
          <a:xfrm>
            <a:off x="5698487" y="6111793"/>
            <a:ext cx="689094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cuối Section 1: Tài nguyên &amp; cộng đồng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415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9"/>
          <p:cNvSpPr/>
          <p:nvPr/>
        </p:nvSpPr>
        <p:spPr>
          <a:xfrm>
            <a:off x="10721249" y="4067875"/>
            <a:ext cx="7413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40000"/>
              <a:buFont typeface="Arial"/>
              <a:buNone/>
            </a:pPr>
            <a:r>
              <a:rPr b="1" i="0" lang="en-US" sz="400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L6</a:t>
            </a:r>
            <a:endParaRPr b="0" i="0" sz="4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9"/>
          <p:cNvSpPr/>
          <p:nvPr/>
        </p:nvSpPr>
        <p:spPr>
          <a:xfrm>
            <a:off x="1028650" y="6125270"/>
            <a:ext cx="3248174" cy="472943"/>
          </a:xfrm>
          <a:prstGeom prst="roundRect">
            <a:avLst>
              <a:gd fmla="val 50000" name="adj"/>
            </a:avLst>
          </a:prstGeom>
          <a:solidFill>
            <a:srgbClr val="06B6D4">
              <a:alpha val="12156"/>
            </a:srgbClr>
          </a:solidFill>
          <a:ln cap="flat" cmpd="sng" w="9525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9"/>
          <p:cNvSpPr/>
          <p:nvPr/>
        </p:nvSpPr>
        <p:spPr>
          <a:xfrm>
            <a:off x="1243459" y="6323624"/>
            <a:ext cx="76150" cy="7615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9"/>
          <p:cNvSpPr/>
          <p:nvPr/>
        </p:nvSpPr>
        <p:spPr>
          <a:xfrm>
            <a:off x="1395760" y="6216221"/>
            <a:ext cx="2746244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LECTURE 6 · ~3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9"/>
          <p:cNvSpPr/>
          <p:nvPr/>
        </p:nvSpPr>
        <p:spPr>
          <a:xfrm>
            <a:off x="1028650" y="6807729"/>
            <a:ext cx="9810751" cy="1519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Tài nguyên khoá học </a:t>
            </a:r>
            <a:r>
              <a:rPr b="1" i="0" lang="en-US" sz="54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&amp; Cộng đồng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9"/>
          <p:cNvSpPr/>
          <p:nvPr/>
        </p:nvSpPr>
        <p:spPr>
          <a:xfrm>
            <a:off x="1028650" y="8498417"/>
            <a:ext cx="1671762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"Mọi thứ bạn cần đều ở đây."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0"/>
          <p:cNvSpPr/>
          <p:nvPr/>
        </p:nvSpPr>
        <p:spPr>
          <a:xfrm>
            <a:off x="1028650" y="83815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TÀI NGUYÊN CHÍNH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0"/>
          <p:cNvSpPr/>
          <p:nvPr/>
        </p:nvSpPr>
        <p:spPr>
          <a:xfrm>
            <a:off x="1028650" y="1262476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Repo GitHub khoá học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0"/>
          <p:cNvSpPr/>
          <p:nvPr/>
        </p:nvSpPr>
        <p:spPr>
          <a:xfrm>
            <a:off x="1028650" y="2375793"/>
            <a:ext cx="7886734" cy="2837326"/>
          </a:xfrm>
          <a:prstGeom prst="roundRect">
            <a:avLst>
              <a:gd fmla="val 5371" name="adj"/>
            </a:avLst>
          </a:prstGeom>
          <a:solidFill>
            <a:srgbClr val="13213A"/>
          </a:solidFill>
          <a:ln cap="flat" cmpd="sng" w="9525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0"/>
          <p:cNvSpPr/>
          <p:nvPr/>
        </p:nvSpPr>
        <p:spPr>
          <a:xfrm>
            <a:off x="1414942" y="2723968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Có gì trong repo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0"/>
          <p:cNvSpPr/>
          <p:nvPr/>
        </p:nvSpPr>
        <p:spPr>
          <a:xfrm>
            <a:off x="1414942" y="31821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📁 Code theo từng 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0"/>
          <p:cNvSpPr/>
          <p:nvPr/>
        </p:nvSpPr>
        <p:spPr>
          <a:xfrm>
            <a:off x="1414942" y="3626693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📓 Jupyter Notebooks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0"/>
          <p:cNvSpPr/>
          <p:nvPr/>
        </p:nvSpPr>
        <p:spPr>
          <a:xfrm>
            <a:off x="1414942" y="40711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📊 Dataset mẫu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0"/>
          <p:cNvSpPr/>
          <p:nvPr/>
        </p:nvSpPr>
        <p:spPr>
          <a:xfrm>
            <a:off x="1414942" y="4515694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✅ Lời giải bài tập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0"/>
          <p:cNvSpPr/>
          <p:nvPr/>
        </p:nvSpPr>
        <p:spPr>
          <a:xfrm>
            <a:off x="1028650" y="5403619"/>
            <a:ext cx="7886734" cy="2392826"/>
          </a:xfrm>
          <a:prstGeom prst="roundRect">
            <a:avLst>
              <a:gd fmla="val 6369" name="adj"/>
            </a:avLst>
          </a:prstGeom>
          <a:solidFill>
            <a:srgbClr val="13213A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0"/>
          <p:cNvSpPr/>
          <p:nvPr/>
        </p:nvSpPr>
        <p:spPr>
          <a:xfrm>
            <a:off x="1414942" y="5751794"/>
            <a:ext cx="7327575" cy="382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Hành động ngay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0"/>
          <p:cNvSpPr/>
          <p:nvPr/>
        </p:nvSpPr>
        <p:spPr>
          <a:xfrm>
            <a:off x="1414942" y="6210019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⭐ Star repo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0"/>
          <p:cNvSpPr/>
          <p:nvPr/>
        </p:nvSpPr>
        <p:spPr>
          <a:xfrm>
            <a:off x="1414942" y="6654519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🍴 Fork về tài khoản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0"/>
          <p:cNvSpPr/>
          <p:nvPr/>
        </p:nvSpPr>
        <p:spPr>
          <a:xfrm>
            <a:off x="1414942" y="7099019"/>
            <a:ext cx="7327575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🔔 Watch để nhận update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0"/>
          <p:cNvSpPr/>
          <p:nvPr/>
        </p:nvSpPr>
        <p:spPr>
          <a:xfrm>
            <a:off x="1028650" y="7986944"/>
            <a:ext cx="7886734" cy="578776"/>
          </a:xfrm>
          <a:prstGeom prst="roundRect">
            <a:avLst>
              <a:gd fmla="val 13166" name="adj"/>
            </a:avLst>
          </a:prstGeom>
          <a:solidFill>
            <a:srgbClr val="06B6D4">
              <a:alpha val="7843"/>
            </a:srgbClr>
          </a:solidFill>
          <a:ln cap="flat" cmpd="sng" w="9525">
            <a:solidFill>
              <a:srgbClr val="06B6D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0"/>
          <p:cNvSpPr/>
          <p:nvPr/>
        </p:nvSpPr>
        <p:spPr>
          <a:xfrm>
            <a:off x="1224442" y="8125586"/>
            <a:ext cx="7731752" cy="3395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github.com/instructor/mastering-ai-ds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0"/>
          <p:cNvSpPr/>
          <p:nvPr/>
        </p:nvSpPr>
        <p:spPr>
          <a:xfrm>
            <a:off x="9372534" y="2375793"/>
            <a:ext cx="7886816" cy="4762500"/>
          </a:xfrm>
          <a:prstGeom prst="roundRect">
            <a:avLst>
              <a:gd fmla="val 3200" name="adj"/>
            </a:avLst>
          </a:prstGeom>
          <a:noFill/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0"/>
          <p:cNvSpPr/>
          <p:nvPr/>
        </p:nvSpPr>
        <p:spPr>
          <a:xfrm>
            <a:off x="9377826" y="2381085"/>
            <a:ext cx="7876233" cy="637977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0"/>
          <p:cNvSpPr/>
          <p:nvPr/>
        </p:nvSpPr>
        <p:spPr>
          <a:xfrm>
            <a:off x="9568326" y="2633431"/>
            <a:ext cx="133284" cy="1332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0"/>
          <p:cNvSpPr/>
          <p:nvPr/>
        </p:nvSpPr>
        <p:spPr>
          <a:xfrm>
            <a:off x="9777760" y="2633431"/>
            <a:ext cx="133284" cy="1332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0"/>
          <p:cNvSpPr/>
          <p:nvPr/>
        </p:nvSpPr>
        <p:spPr>
          <a:xfrm>
            <a:off x="9987195" y="2633431"/>
            <a:ext cx="133284" cy="1332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0"/>
          <p:cNvSpPr/>
          <p:nvPr/>
        </p:nvSpPr>
        <p:spPr>
          <a:xfrm>
            <a:off x="10253762" y="2514369"/>
            <a:ext cx="5032623" cy="371409"/>
          </a:xfrm>
          <a:prstGeom prst="roundRect">
            <a:avLst>
              <a:gd fmla="val 15387" name="adj"/>
            </a:avLst>
          </a:prstGeom>
          <a:solidFill>
            <a:srgbClr val="0F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0"/>
          <p:cNvSpPr/>
          <p:nvPr/>
        </p:nvSpPr>
        <p:spPr>
          <a:xfrm>
            <a:off x="10444262" y="2581044"/>
            <a:ext cx="4802602" cy="276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github.com/instructor/mastering-ai-ds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0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0"/>
          <p:cNvSpPr/>
          <p:nvPr/>
        </p:nvSpPr>
        <p:spPr>
          <a:xfrm>
            <a:off x="9682593" y="328571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📁 section-01-foundations/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0"/>
          <p:cNvSpPr/>
          <p:nvPr/>
        </p:nvSpPr>
        <p:spPr>
          <a:xfrm>
            <a:off x="9949293" y="3720042"/>
            <a:ext cx="72180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📁 lecture-04-environment/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0"/>
          <p:cNvSpPr/>
          <p:nvPr/>
        </p:nvSpPr>
        <p:spPr>
          <a:xfrm>
            <a:off x="9949293" y="4154372"/>
            <a:ext cx="72180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📁 lecture-05-git/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0"/>
          <p:cNvSpPr/>
          <p:nvPr/>
        </p:nvSpPr>
        <p:spPr>
          <a:xfrm>
            <a:off x="9682593" y="458870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📁 section-02-python/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0"/>
          <p:cNvSpPr/>
          <p:nvPr/>
        </p:nvSpPr>
        <p:spPr>
          <a:xfrm>
            <a:off x="9682593" y="5023032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📁 section-03-sql/ 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0"/>
          <p:cNvSpPr/>
          <p:nvPr/>
        </p:nvSpPr>
        <p:spPr>
          <a:xfrm>
            <a:off x="9682593" y="557162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📄 README.md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0"/>
          <p:cNvSpPr/>
          <p:nvPr/>
        </p:nvSpPr>
        <p:spPr>
          <a:xfrm>
            <a:off x="9682593" y="6005959"/>
            <a:ext cx="7484700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📄 requirements.txt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0"/>
          <p:cNvSpPr/>
          <p:nvPr/>
        </p:nvSpPr>
        <p:spPr>
          <a:xfrm>
            <a:off x="9377826" y="3019061"/>
            <a:ext cx="7876233" cy="4113940"/>
          </a:xfrm>
          <a:prstGeom prst="rect">
            <a:avLst/>
          </a:prstGeom>
          <a:solidFill>
            <a:srgbClr val="080D18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0"/>
          <p:cNvSpPr/>
          <p:nvPr/>
        </p:nvSpPr>
        <p:spPr>
          <a:xfrm>
            <a:off x="12915884" y="4072186"/>
            <a:ext cx="800034" cy="800034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264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0"/>
          <p:cNvSpPr/>
          <p:nvPr/>
        </p:nvSpPr>
        <p:spPr>
          <a:xfrm>
            <a:off x="12904242" y="4098644"/>
            <a:ext cx="823317" cy="78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▶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0"/>
          <p:cNvSpPr/>
          <p:nvPr/>
        </p:nvSpPr>
        <p:spPr>
          <a:xfrm>
            <a:off x="12035565" y="5005504"/>
            <a:ext cx="2637576" cy="54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0"/>
          <p:cNvSpPr/>
          <p:nvPr/>
        </p:nvSpPr>
        <p:spPr>
          <a:xfrm>
            <a:off x="10915799" y="5645547"/>
            <a:ext cx="4944295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4B688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4B6884"/>
                </a:solidFill>
                <a:latin typeface="Courier New"/>
                <a:ea typeface="Courier New"/>
                <a:cs typeface="Courier New"/>
                <a:sym typeface="Courier New"/>
              </a:rPr>
              <a:t>Hướng dẫn star + fork repo khoá học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1"/>
          <p:cNvSpPr/>
          <p:nvPr/>
        </p:nvSpPr>
        <p:spPr>
          <a:xfrm>
            <a:off x="785190" y="2628470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TÀI NGUYÊN ĐI KÈM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1"/>
          <p:cNvSpPr/>
          <p:nvPr/>
        </p:nvSpPr>
        <p:spPr>
          <a:xfrm>
            <a:off x="785190" y="3033779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Tải về dùng offline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1"/>
          <p:cNvSpPr/>
          <p:nvPr/>
        </p:nvSpPr>
        <p:spPr>
          <a:xfrm>
            <a:off x="1028650" y="4147096"/>
            <a:ext cx="3871929" cy="2970527"/>
          </a:xfrm>
          <a:prstGeom prst="roundRect">
            <a:avLst>
              <a:gd fmla="val 5130" name="adj"/>
            </a:avLst>
          </a:prstGeom>
          <a:solidFill>
            <a:srgbClr val="13213A"/>
          </a:solidFill>
          <a:ln cap="flat" cmpd="sng" w="9525">
            <a:solidFill>
              <a:srgbClr val="3B82F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1"/>
          <p:cNvSpPr/>
          <p:nvPr/>
        </p:nvSpPr>
        <p:spPr>
          <a:xfrm>
            <a:off x="1211412" y="4571422"/>
            <a:ext cx="3506407" cy="7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📄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1"/>
          <p:cNvSpPr/>
          <p:nvPr/>
        </p:nvSpPr>
        <p:spPr>
          <a:xfrm>
            <a:off x="1211412" y="5446613"/>
            <a:ext cx="350640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Slide PDF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1"/>
          <p:cNvSpPr/>
          <p:nvPr/>
        </p:nvSpPr>
        <p:spPr>
          <a:xfrm>
            <a:off x="1211412" y="6068881"/>
            <a:ext cx="3506407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Tất cả slides đã export PDF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1"/>
          <p:cNvSpPr/>
          <p:nvPr/>
        </p:nvSpPr>
        <p:spPr>
          <a:xfrm>
            <a:off x="5148213" y="4147096"/>
            <a:ext cx="3871929" cy="2970527"/>
          </a:xfrm>
          <a:prstGeom prst="roundRect">
            <a:avLst>
              <a:gd fmla="val 5130" name="adj"/>
            </a:avLst>
          </a:prstGeom>
          <a:solidFill>
            <a:srgbClr val="13213A"/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1"/>
          <p:cNvSpPr/>
          <p:nvPr/>
        </p:nvSpPr>
        <p:spPr>
          <a:xfrm>
            <a:off x="5330975" y="4571422"/>
            <a:ext cx="3506407" cy="7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1"/>
          <p:cNvSpPr/>
          <p:nvPr/>
        </p:nvSpPr>
        <p:spPr>
          <a:xfrm>
            <a:off x="5330975" y="5446613"/>
            <a:ext cx="350640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Cheat Sheet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1"/>
          <p:cNvSpPr/>
          <p:nvPr/>
        </p:nvSpPr>
        <p:spPr>
          <a:xfrm>
            <a:off x="5330975" y="6068881"/>
            <a:ext cx="3506407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Tóm tắt lệnh quan trọng mỗi 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1"/>
          <p:cNvSpPr/>
          <p:nvPr/>
        </p:nvSpPr>
        <p:spPr>
          <a:xfrm>
            <a:off x="9267776" y="4147096"/>
            <a:ext cx="3871929" cy="2970527"/>
          </a:xfrm>
          <a:prstGeom prst="roundRect">
            <a:avLst>
              <a:gd fmla="val 5130" name="adj"/>
            </a:avLst>
          </a:prstGeom>
          <a:solidFill>
            <a:srgbClr val="13213A"/>
          </a:solidFill>
          <a:ln cap="flat" cmpd="sng" w="9525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41"/>
          <p:cNvSpPr/>
          <p:nvPr/>
        </p:nvSpPr>
        <p:spPr>
          <a:xfrm>
            <a:off x="9450537" y="4571422"/>
            <a:ext cx="3506407" cy="7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🗃️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1"/>
          <p:cNvSpPr/>
          <p:nvPr/>
        </p:nvSpPr>
        <p:spPr>
          <a:xfrm>
            <a:off x="9450537" y="5446613"/>
            <a:ext cx="350640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1"/>
          <p:cNvSpPr/>
          <p:nvPr/>
        </p:nvSpPr>
        <p:spPr>
          <a:xfrm>
            <a:off x="9450537" y="6068881"/>
            <a:ext cx="3506407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Dữ liệu thực tế cho mỗi dự án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1"/>
          <p:cNvSpPr/>
          <p:nvPr/>
        </p:nvSpPr>
        <p:spPr>
          <a:xfrm>
            <a:off x="13387339" y="4147096"/>
            <a:ext cx="3872012" cy="2970527"/>
          </a:xfrm>
          <a:prstGeom prst="roundRect">
            <a:avLst>
              <a:gd fmla="val 5130" name="adj"/>
            </a:avLst>
          </a:prstGeom>
          <a:solidFill>
            <a:srgbClr val="13213A"/>
          </a:solidFill>
          <a:ln cap="flat" cmpd="sng" w="9525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41"/>
          <p:cNvSpPr/>
          <p:nvPr/>
        </p:nvSpPr>
        <p:spPr>
          <a:xfrm>
            <a:off x="13570099" y="4571422"/>
            <a:ext cx="3506492" cy="7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1"/>
          <p:cNvSpPr/>
          <p:nvPr/>
        </p:nvSpPr>
        <p:spPr>
          <a:xfrm>
            <a:off x="13570099" y="5446613"/>
            <a:ext cx="350649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Lời giải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1"/>
          <p:cNvSpPr/>
          <p:nvPr/>
        </p:nvSpPr>
        <p:spPr>
          <a:xfrm>
            <a:off x="13570099" y="6068881"/>
            <a:ext cx="3506492" cy="662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tập đầy đủ lời giải chi tiết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1"/>
          <p:cNvSpPr/>
          <p:nvPr/>
        </p:nvSpPr>
        <p:spPr>
          <a:xfrm>
            <a:off x="785190" y="7422389"/>
            <a:ext cx="16717621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Tất cả ghim trong tab Tài Nguyên của mỗi lecture trên Udemy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C32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2"/>
          <p:cNvSpPr/>
          <p:nvPr/>
        </p:nvSpPr>
        <p:spPr>
          <a:xfrm>
            <a:off x="785190" y="1407253"/>
            <a:ext cx="1671762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HỌC CÙNG NHAU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2"/>
          <p:cNvSpPr/>
          <p:nvPr/>
        </p:nvSpPr>
        <p:spPr>
          <a:xfrm>
            <a:off x="785190" y="1812561"/>
            <a:ext cx="16717621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Cộng đồng học viên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2"/>
          <p:cNvSpPr/>
          <p:nvPr/>
        </p:nvSpPr>
        <p:spPr>
          <a:xfrm>
            <a:off x="3429000" y="2925878"/>
            <a:ext cx="5543517" cy="4870070"/>
          </a:xfrm>
          <a:prstGeom prst="roundRect">
            <a:avLst>
              <a:gd fmla="val 3129" name="adj"/>
            </a:avLst>
          </a:prstGeom>
          <a:solidFill>
            <a:srgbClr val="13213A"/>
          </a:solidFill>
          <a:ln cap="flat" cmpd="sng" w="9525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2"/>
          <p:cNvSpPr/>
          <p:nvPr/>
        </p:nvSpPr>
        <p:spPr>
          <a:xfrm>
            <a:off x="3782903" y="3426437"/>
            <a:ext cx="4835712" cy="837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2"/>
          <p:cNvSpPr/>
          <p:nvPr/>
        </p:nvSpPr>
        <p:spPr>
          <a:xfrm>
            <a:off x="3782903" y="4434996"/>
            <a:ext cx="4835712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Discord / Facebook Group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2"/>
          <p:cNvSpPr/>
          <p:nvPr/>
        </p:nvSpPr>
        <p:spPr>
          <a:xfrm>
            <a:off x="3782903" y="5584279"/>
            <a:ext cx="4835712" cy="10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Hỏi khi bí Dạy lại khi hiểu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2"/>
          <p:cNvSpPr/>
          <p:nvPr/>
        </p:nvSpPr>
        <p:spPr>
          <a:xfrm>
            <a:off x="4013812" y="6822447"/>
            <a:ext cx="4373893" cy="472943"/>
          </a:xfrm>
          <a:prstGeom prst="roundRect">
            <a:avLst>
              <a:gd fmla="val 50000" name="adj"/>
            </a:avLst>
          </a:prstGeom>
          <a:solidFill>
            <a:srgbClr val="06B6D4">
              <a:alpha val="10196"/>
            </a:srgbClr>
          </a:solidFill>
          <a:ln cap="flat" cmpd="sng" w="9525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2"/>
          <p:cNvSpPr/>
          <p:nvPr/>
        </p:nvSpPr>
        <p:spPr>
          <a:xfrm>
            <a:off x="4228621" y="7020802"/>
            <a:ext cx="76150" cy="7615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2"/>
          <p:cNvSpPr/>
          <p:nvPr/>
        </p:nvSpPr>
        <p:spPr>
          <a:xfrm>
            <a:off x="4380922" y="6913397"/>
            <a:ext cx="3905735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LINK GHIM TRONG TÀI NGUYÊN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2"/>
          <p:cNvSpPr/>
          <p:nvPr/>
        </p:nvSpPr>
        <p:spPr>
          <a:xfrm>
            <a:off x="9315401" y="2925878"/>
            <a:ext cx="5543600" cy="4870070"/>
          </a:xfrm>
          <a:prstGeom prst="roundRect">
            <a:avLst>
              <a:gd fmla="val 3129" name="adj"/>
            </a:avLst>
          </a:prstGeom>
          <a:solidFill>
            <a:srgbClr val="13213A"/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2"/>
          <p:cNvSpPr/>
          <p:nvPr/>
        </p:nvSpPr>
        <p:spPr>
          <a:xfrm>
            <a:off x="9669302" y="3426437"/>
            <a:ext cx="4835797" cy="837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2"/>
          <p:cNvSpPr/>
          <p:nvPr/>
        </p:nvSpPr>
        <p:spPr>
          <a:xfrm>
            <a:off x="9669302" y="4434996"/>
            <a:ext cx="483579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Peer Learning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2"/>
          <p:cNvSpPr/>
          <p:nvPr/>
        </p:nvSpPr>
        <p:spPr>
          <a:xfrm>
            <a:off x="9669302" y="5076280"/>
            <a:ext cx="4835797" cy="10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Học cùng nhau đi xa hơn học một mình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2"/>
          <p:cNvSpPr/>
          <p:nvPr/>
        </p:nvSpPr>
        <p:spPr>
          <a:xfrm>
            <a:off x="10121967" y="6314447"/>
            <a:ext cx="3930468" cy="472943"/>
          </a:xfrm>
          <a:prstGeom prst="roundRect">
            <a:avLst>
              <a:gd fmla="val 50000" name="adj"/>
            </a:avLst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2"/>
          <p:cNvSpPr/>
          <p:nvPr/>
        </p:nvSpPr>
        <p:spPr>
          <a:xfrm>
            <a:off x="10336775" y="6512802"/>
            <a:ext cx="76150" cy="7615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2"/>
          <p:cNvSpPr/>
          <p:nvPr/>
        </p:nvSpPr>
        <p:spPr>
          <a:xfrm>
            <a:off x="10489076" y="6405397"/>
            <a:ext cx="344900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SHARE PROJECT MỖI TUẦN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2"/>
          <p:cNvSpPr/>
          <p:nvPr/>
        </p:nvSpPr>
        <p:spPr>
          <a:xfrm>
            <a:off x="6641153" y="8214982"/>
            <a:ext cx="5005612" cy="778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Mỗi khi bạn dạy lại điều đã học — bạn hiểu sâu hơn </a:t>
            </a:r>
            <a:r>
              <a:rPr b="0" i="0" lang="en-US" sz="255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gấp 5 lần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A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3B82F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43"/>
          <p:cNvSpPr/>
          <p:nvPr/>
        </p:nvSpPr>
        <p:spPr>
          <a:xfrm>
            <a:off x="7290346" y="2264172"/>
            <a:ext cx="3707309" cy="472943"/>
          </a:xfrm>
          <a:prstGeom prst="roundRect">
            <a:avLst>
              <a:gd fmla="val 50000" name="adj"/>
            </a:avLst>
          </a:prstGeom>
          <a:solidFill>
            <a:srgbClr val="10B981">
              <a:alpha val="12156"/>
            </a:srgbClr>
          </a:solidFill>
          <a:ln cap="flat" cmpd="sng" w="9525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43"/>
          <p:cNvSpPr/>
          <p:nvPr/>
        </p:nvSpPr>
        <p:spPr>
          <a:xfrm>
            <a:off x="7449578" y="2355189"/>
            <a:ext cx="3388845" cy="329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✓ SECTION 1 HOÀN THÀNH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11150038" y="2491135"/>
            <a:ext cx="762000" cy="19017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3"/>
          <p:cNvSpPr/>
          <p:nvPr/>
        </p:nvSpPr>
        <p:spPr>
          <a:xfrm>
            <a:off x="5728549" y="3079998"/>
            <a:ext cx="6830820" cy="7786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EF2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Nền tảng đã xong —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3"/>
          <p:cNvSpPr/>
          <p:nvPr/>
        </p:nvSpPr>
        <p:spPr>
          <a:xfrm>
            <a:off x="5707344" y="3896734"/>
            <a:ext cx="6873231" cy="7786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Sẵn sàng code thật!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3"/>
          <p:cNvSpPr/>
          <p:nvPr/>
        </p:nvSpPr>
        <p:spPr>
          <a:xfrm>
            <a:off x="5485663" y="4942086"/>
            <a:ext cx="7316674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Bài tiếp: </a:t>
            </a:r>
            <a:r>
              <a:rPr b="1" i="0" lang="en-US" sz="2550" u="none" cap="none" strike="noStrike">
                <a:solidFill>
                  <a:srgbClr val="EEF2FF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6667682" y="5850103"/>
            <a:ext cx="1099145" cy="685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3"/>
          <p:cNvSpPr/>
          <p:nvPr/>
        </p:nvSpPr>
        <p:spPr>
          <a:xfrm>
            <a:off x="6667682" y="6573987"/>
            <a:ext cx="1099145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Lectures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3"/>
          <p:cNvSpPr/>
          <p:nvPr/>
        </p:nvSpPr>
        <p:spPr>
          <a:xfrm>
            <a:off x="8185878" y="5850103"/>
            <a:ext cx="19017" cy="1036092"/>
          </a:xfrm>
          <a:prstGeom prst="roundRect">
            <a:avLst>
              <a:gd fmla="val 5000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43"/>
          <p:cNvSpPr/>
          <p:nvPr/>
        </p:nvSpPr>
        <p:spPr>
          <a:xfrm>
            <a:off x="8623945" y="5850103"/>
            <a:ext cx="802647" cy="685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3"/>
          <p:cNvSpPr/>
          <p:nvPr/>
        </p:nvSpPr>
        <p:spPr>
          <a:xfrm>
            <a:off x="8623945" y="6573987"/>
            <a:ext cx="802647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3"/>
          <p:cNvSpPr/>
          <p:nvPr/>
        </p:nvSpPr>
        <p:spPr>
          <a:xfrm>
            <a:off x="9845642" y="5850103"/>
            <a:ext cx="19017" cy="1036092"/>
          </a:xfrm>
          <a:prstGeom prst="roundRect">
            <a:avLst>
              <a:gd fmla="val 5000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43"/>
          <p:cNvSpPr/>
          <p:nvPr/>
        </p:nvSpPr>
        <p:spPr>
          <a:xfrm>
            <a:off x="10283710" y="5850103"/>
            <a:ext cx="1336526" cy="685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~36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3"/>
          <p:cNvSpPr/>
          <p:nvPr/>
        </p:nvSpPr>
        <p:spPr>
          <a:xfrm>
            <a:off x="10283710" y="6573987"/>
            <a:ext cx="1336526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Phút video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3"/>
          <p:cNvSpPr/>
          <p:nvPr/>
        </p:nvSpPr>
        <p:spPr>
          <a:xfrm>
            <a:off x="7280838" y="7305229"/>
            <a:ext cx="3726243" cy="7937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43"/>
          <p:cNvSpPr/>
          <p:nvPr/>
        </p:nvSpPr>
        <p:spPr>
          <a:xfrm>
            <a:off x="7720244" y="7495729"/>
            <a:ext cx="2847430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Sang Section 2 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