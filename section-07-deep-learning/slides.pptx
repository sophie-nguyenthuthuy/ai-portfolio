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125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117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109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7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119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23.xml"/>
  <Override ContentType="application/vnd.openxmlformats-officedocument.presentationml.notesSlide+xml" PartName="/ppt/notesSlides/notesSlide11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12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120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29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27.xml"/>
  <Override ContentType="application/vnd.openxmlformats-officedocument.presentationml.notesSlide+xml" PartName="/ppt/notesSlides/notesSlide114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116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24.xml"/>
  <Override ContentType="application/vnd.openxmlformats-officedocument.presentationml.notesSlide+xml" PartName="/ppt/notesSlides/notesSlide126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108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0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122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118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13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2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115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1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05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13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84.xml"/>
  <Override ContentType="application/vnd.openxmlformats-officedocument.presentationml.slide+xml" PartName="/ppt/slides/slide107.xml"/>
  <Override ContentType="application/vnd.openxmlformats-officedocument.presentationml.slide+xml" PartName="/ppt/slides/slide37.xml"/>
  <Override ContentType="application/vnd.openxmlformats-officedocument.presentationml.slide+xml" PartName="/ppt/slides/slide123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111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18.xml"/>
  <Override ContentType="application/vnd.openxmlformats-officedocument.presentationml.slide+xml" PartName="/ppt/slides/slide12.xml"/>
  <Override ContentType="application/vnd.openxmlformats-officedocument.presentationml.slide+xml" PartName="/ppt/slides/slide108.xml"/>
  <Override ContentType="application/vnd.openxmlformats-officedocument.presentationml.slide+xml" PartName="/ppt/slides/slide98.xml"/>
  <Override ContentType="application/vnd.openxmlformats-officedocument.presentationml.slide+xml" PartName="/ppt/slides/slide125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129.xml"/>
  <Override ContentType="application/vnd.openxmlformats-officedocument.presentationml.slide+xml" PartName="/ppt/slides/slide63.xml"/>
  <Override ContentType="application/vnd.openxmlformats-officedocument.presentationml.slide+xml" PartName="/ppt/slides/slide93.xml"/>
  <Override ContentType="application/vnd.openxmlformats-officedocument.presentationml.slide+xml" PartName="/ppt/slides/slide101.xml"/>
  <Override ContentType="application/vnd.openxmlformats-officedocument.presentationml.slide+xml" PartName="/ppt/slides/slide116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114.xml"/>
  <Override ContentType="application/vnd.openxmlformats-officedocument.presentationml.slide+xml" PartName="/ppt/slides/slide31.xml"/>
  <Override ContentType="application/vnd.openxmlformats-officedocument.presentationml.slide+xml" PartName="/ppt/slides/slide127.xml"/>
  <Override ContentType="application/vnd.openxmlformats-officedocument.presentationml.slide+xml" PartName="/ppt/slides/slide120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12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122.xml"/>
  <Override ContentType="application/vnd.openxmlformats-officedocument.presentationml.slide+xml" PartName="/ppt/slides/slide16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1.xml"/>
  <Override ContentType="application/vnd.openxmlformats-officedocument.presentationml.slide+xml" PartName="/ppt/slides/slide110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49.xml"/>
  <Override ContentType="application/vnd.openxmlformats-officedocument.presentationml.slide+xml" PartName="/ppt/slides/slide124.xml"/>
  <Override ContentType="application/vnd.openxmlformats-officedocument.presentationml.slide+xml" PartName="/ppt/slides/slide83.xml"/>
  <Override ContentType="application/vnd.openxmlformats-officedocument.presentationml.slide+xml" PartName="/ppt/slides/slide106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119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126.xml"/>
  <Override ContentType="application/vnd.openxmlformats-officedocument.presentationml.slide+xml" PartName="/ppt/slides/slide109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100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117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128.xml"/>
  <Override ContentType="application/vnd.openxmlformats-officedocument.presentationml.slide+xml" PartName="/ppt/slides/slide92.xml"/>
  <Override ContentType="application/vnd.openxmlformats-officedocument.presentationml.slide+xml" PartName="/ppt/slides/slide115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  <p:sldId id="314" r:id="rId63"/>
    <p:sldId id="315" r:id="rId64"/>
    <p:sldId id="316" r:id="rId65"/>
    <p:sldId id="317" r:id="rId66"/>
    <p:sldId id="318" r:id="rId67"/>
    <p:sldId id="319" r:id="rId68"/>
    <p:sldId id="320" r:id="rId69"/>
    <p:sldId id="321" r:id="rId70"/>
    <p:sldId id="322" r:id="rId71"/>
    <p:sldId id="323" r:id="rId72"/>
    <p:sldId id="324" r:id="rId73"/>
    <p:sldId id="325" r:id="rId74"/>
    <p:sldId id="326" r:id="rId75"/>
    <p:sldId id="327" r:id="rId76"/>
    <p:sldId id="328" r:id="rId77"/>
    <p:sldId id="329" r:id="rId78"/>
    <p:sldId id="330" r:id="rId79"/>
    <p:sldId id="331" r:id="rId80"/>
    <p:sldId id="332" r:id="rId81"/>
    <p:sldId id="333" r:id="rId82"/>
    <p:sldId id="334" r:id="rId83"/>
    <p:sldId id="335" r:id="rId84"/>
    <p:sldId id="336" r:id="rId85"/>
    <p:sldId id="337" r:id="rId86"/>
    <p:sldId id="338" r:id="rId87"/>
    <p:sldId id="339" r:id="rId88"/>
    <p:sldId id="340" r:id="rId89"/>
    <p:sldId id="341" r:id="rId90"/>
    <p:sldId id="342" r:id="rId91"/>
    <p:sldId id="343" r:id="rId92"/>
    <p:sldId id="344" r:id="rId93"/>
    <p:sldId id="345" r:id="rId94"/>
    <p:sldId id="346" r:id="rId95"/>
    <p:sldId id="347" r:id="rId96"/>
    <p:sldId id="348" r:id="rId97"/>
    <p:sldId id="349" r:id="rId98"/>
    <p:sldId id="350" r:id="rId99"/>
    <p:sldId id="351" r:id="rId100"/>
    <p:sldId id="352" r:id="rId101"/>
    <p:sldId id="353" r:id="rId102"/>
    <p:sldId id="354" r:id="rId103"/>
    <p:sldId id="355" r:id="rId104"/>
    <p:sldId id="356" r:id="rId105"/>
    <p:sldId id="357" r:id="rId106"/>
    <p:sldId id="358" r:id="rId107"/>
    <p:sldId id="359" r:id="rId108"/>
    <p:sldId id="360" r:id="rId109"/>
    <p:sldId id="361" r:id="rId110"/>
    <p:sldId id="362" r:id="rId111"/>
    <p:sldId id="363" r:id="rId112"/>
    <p:sldId id="364" r:id="rId113"/>
    <p:sldId id="365" r:id="rId114"/>
    <p:sldId id="366" r:id="rId115"/>
    <p:sldId id="367" r:id="rId116"/>
    <p:sldId id="368" r:id="rId117"/>
    <p:sldId id="369" r:id="rId118"/>
    <p:sldId id="370" r:id="rId119"/>
    <p:sldId id="371" r:id="rId120"/>
    <p:sldId id="372" r:id="rId121"/>
    <p:sldId id="373" r:id="rId122"/>
    <p:sldId id="374" r:id="rId123"/>
    <p:sldId id="375" r:id="rId124"/>
    <p:sldId id="376" r:id="rId125"/>
    <p:sldId id="377" r:id="rId126"/>
    <p:sldId id="378" r:id="rId127"/>
    <p:sldId id="379" r:id="rId128"/>
    <p:sldId id="380" r:id="rId129"/>
    <p:sldId id="381" r:id="rId130"/>
    <p:sldId id="382" r:id="rId131"/>
    <p:sldId id="383" r:id="rId132"/>
    <p:sldId id="384" r:id="rId133"/>
  </p:sldIdLst>
  <p:sldSz cy="10287000" cx="18288000"/>
  <p:notesSz cx="10287000" cy="1828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07" Type="http://schemas.openxmlformats.org/officeDocument/2006/relationships/slide" Target="slides/slide103.xml"/><Relationship Id="rId106" Type="http://schemas.openxmlformats.org/officeDocument/2006/relationships/slide" Target="slides/slide102.xml"/><Relationship Id="rId105" Type="http://schemas.openxmlformats.org/officeDocument/2006/relationships/slide" Target="slides/slide101.xml"/><Relationship Id="rId104" Type="http://schemas.openxmlformats.org/officeDocument/2006/relationships/slide" Target="slides/slide100.xml"/><Relationship Id="rId109" Type="http://schemas.openxmlformats.org/officeDocument/2006/relationships/slide" Target="slides/slide105.xml"/><Relationship Id="rId108" Type="http://schemas.openxmlformats.org/officeDocument/2006/relationships/slide" Target="slides/slide104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103" Type="http://schemas.openxmlformats.org/officeDocument/2006/relationships/slide" Target="slides/slide99.xml"/><Relationship Id="rId102" Type="http://schemas.openxmlformats.org/officeDocument/2006/relationships/slide" Target="slides/slide98.xml"/><Relationship Id="rId101" Type="http://schemas.openxmlformats.org/officeDocument/2006/relationships/slide" Target="slides/slide97.xml"/><Relationship Id="rId100" Type="http://schemas.openxmlformats.org/officeDocument/2006/relationships/slide" Target="slides/slide96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29" Type="http://schemas.openxmlformats.org/officeDocument/2006/relationships/slide" Target="slides/slide125.xml"/><Relationship Id="rId128" Type="http://schemas.openxmlformats.org/officeDocument/2006/relationships/slide" Target="slides/slide124.xml"/><Relationship Id="rId127" Type="http://schemas.openxmlformats.org/officeDocument/2006/relationships/slide" Target="slides/slide123.xml"/><Relationship Id="rId126" Type="http://schemas.openxmlformats.org/officeDocument/2006/relationships/slide" Target="slides/slide122.xml"/><Relationship Id="rId26" Type="http://schemas.openxmlformats.org/officeDocument/2006/relationships/slide" Target="slides/slide22.xml"/><Relationship Id="rId121" Type="http://schemas.openxmlformats.org/officeDocument/2006/relationships/slide" Target="slides/slide117.xml"/><Relationship Id="rId25" Type="http://schemas.openxmlformats.org/officeDocument/2006/relationships/slide" Target="slides/slide21.xml"/><Relationship Id="rId120" Type="http://schemas.openxmlformats.org/officeDocument/2006/relationships/slide" Target="slides/slide116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125" Type="http://schemas.openxmlformats.org/officeDocument/2006/relationships/slide" Target="slides/slide121.xml"/><Relationship Id="rId29" Type="http://schemas.openxmlformats.org/officeDocument/2006/relationships/slide" Target="slides/slide25.xml"/><Relationship Id="rId124" Type="http://schemas.openxmlformats.org/officeDocument/2006/relationships/slide" Target="slides/slide120.xml"/><Relationship Id="rId123" Type="http://schemas.openxmlformats.org/officeDocument/2006/relationships/slide" Target="slides/slide119.xml"/><Relationship Id="rId122" Type="http://schemas.openxmlformats.org/officeDocument/2006/relationships/slide" Target="slides/slide118.xml"/><Relationship Id="rId95" Type="http://schemas.openxmlformats.org/officeDocument/2006/relationships/slide" Target="slides/slide91.xml"/><Relationship Id="rId94" Type="http://schemas.openxmlformats.org/officeDocument/2006/relationships/slide" Target="slides/slide90.xml"/><Relationship Id="rId97" Type="http://schemas.openxmlformats.org/officeDocument/2006/relationships/slide" Target="slides/slide93.xml"/><Relationship Id="rId96" Type="http://schemas.openxmlformats.org/officeDocument/2006/relationships/slide" Target="slides/slide92.xml"/><Relationship Id="rId11" Type="http://schemas.openxmlformats.org/officeDocument/2006/relationships/slide" Target="slides/slide7.xml"/><Relationship Id="rId99" Type="http://schemas.openxmlformats.org/officeDocument/2006/relationships/slide" Target="slides/slide95.xml"/><Relationship Id="rId10" Type="http://schemas.openxmlformats.org/officeDocument/2006/relationships/slide" Target="slides/slide6.xml"/><Relationship Id="rId98" Type="http://schemas.openxmlformats.org/officeDocument/2006/relationships/slide" Target="slides/slide94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91" Type="http://schemas.openxmlformats.org/officeDocument/2006/relationships/slide" Target="slides/slide87.xml"/><Relationship Id="rId90" Type="http://schemas.openxmlformats.org/officeDocument/2006/relationships/slide" Target="slides/slide86.xml"/><Relationship Id="rId93" Type="http://schemas.openxmlformats.org/officeDocument/2006/relationships/slide" Target="slides/slide89.xml"/><Relationship Id="rId92" Type="http://schemas.openxmlformats.org/officeDocument/2006/relationships/slide" Target="slides/slide88.xml"/><Relationship Id="rId118" Type="http://schemas.openxmlformats.org/officeDocument/2006/relationships/slide" Target="slides/slide114.xml"/><Relationship Id="rId117" Type="http://schemas.openxmlformats.org/officeDocument/2006/relationships/slide" Target="slides/slide113.xml"/><Relationship Id="rId116" Type="http://schemas.openxmlformats.org/officeDocument/2006/relationships/slide" Target="slides/slide112.xml"/><Relationship Id="rId115" Type="http://schemas.openxmlformats.org/officeDocument/2006/relationships/slide" Target="slides/slide111.xml"/><Relationship Id="rId119" Type="http://schemas.openxmlformats.org/officeDocument/2006/relationships/slide" Target="slides/slide115.xml"/><Relationship Id="rId15" Type="http://schemas.openxmlformats.org/officeDocument/2006/relationships/slide" Target="slides/slide11.xml"/><Relationship Id="rId110" Type="http://schemas.openxmlformats.org/officeDocument/2006/relationships/slide" Target="slides/slide106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14" Type="http://schemas.openxmlformats.org/officeDocument/2006/relationships/slide" Target="slides/slide110.xml"/><Relationship Id="rId18" Type="http://schemas.openxmlformats.org/officeDocument/2006/relationships/slide" Target="slides/slide14.xml"/><Relationship Id="rId113" Type="http://schemas.openxmlformats.org/officeDocument/2006/relationships/slide" Target="slides/slide109.xml"/><Relationship Id="rId112" Type="http://schemas.openxmlformats.org/officeDocument/2006/relationships/slide" Target="slides/slide108.xml"/><Relationship Id="rId111" Type="http://schemas.openxmlformats.org/officeDocument/2006/relationships/slide" Target="slides/slide107.xml"/><Relationship Id="rId84" Type="http://schemas.openxmlformats.org/officeDocument/2006/relationships/slide" Target="slides/slide80.xml"/><Relationship Id="rId83" Type="http://schemas.openxmlformats.org/officeDocument/2006/relationships/slide" Target="slides/slide79.xml"/><Relationship Id="rId86" Type="http://schemas.openxmlformats.org/officeDocument/2006/relationships/slide" Target="slides/slide82.xml"/><Relationship Id="rId85" Type="http://schemas.openxmlformats.org/officeDocument/2006/relationships/slide" Target="slides/slide81.xml"/><Relationship Id="rId88" Type="http://schemas.openxmlformats.org/officeDocument/2006/relationships/slide" Target="slides/slide84.xml"/><Relationship Id="rId87" Type="http://schemas.openxmlformats.org/officeDocument/2006/relationships/slide" Target="slides/slide83.xml"/><Relationship Id="rId89" Type="http://schemas.openxmlformats.org/officeDocument/2006/relationships/slide" Target="slides/slide85.xml"/><Relationship Id="rId80" Type="http://schemas.openxmlformats.org/officeDocument/2006/relationships/slide" Target="slides/slide76.xml"/><Relationship Id="rId82" Type="http://schemas.openxmlformats.org/officeDocument/2006/relationships/slide" Target="slides/slide78.xml"/><Relationship Id="rId81" Type="http://schemas.openxmlformats.org/officeDocument/2006/relationships/slide" Target="slides/slide7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73" Type="http://schemas.openxmlformats.org/officeDocument/2006/relationships/slide" Target="slides/slide69.xml"/><Relationship Id="rId72" Type="http://schemas.openxmlformats.org/officeDocument/2006/relationships/slide" Target="slides/slide68.xml"/><Relationship Id="rId75" Type="http://schemas.openxmlformats.org/officeDocument/2006/relationships/slide" Target="slides/slide71.xml"/><Relationship Id="rId74" Type="http://schemas.openxmlformats.org/officeDocument/2006/relationships/slide" Target="slides/slide70.xml"/><Relationship Id="rId77" Type="http://schemas.openxmlformats.org/officeDocument/2006/relationships/slide" Target="slides/slide73.xml"/><Relationship Id="rId76" Type="http://schemas.openxmlformats.org/officeDocument/2006/relationships/slide" Target="slides/slide72.xml"/><Relationship Id="rId79" Type="http://schemas.openxmlformats.org/officeDocument/2006/relationships/slide" Target="slides/slide75.xml"/><Relationship Id="rId78" Type="http://schemas.openxmlformats.org/officeDocument/2006/relationships/slide" Target="slides/slide74.xml"/><Relationship Id="rId71" Type="http://schemas.openxmlformats.org/officeDocument/2006/relationships/slide" Target="slides/slide67.xml"/><Relationship Id="rId70" Type="http://schemas.openxmlformats.org/officeDocument/2006/relationships/slide" Target="slides/slide66.xml"/><Relationship Id="rId132" Type="http://schemas.openxmlformats.org/officeDocument/2006/relationships/slide" Target="slides/slide128.xml"/><Relationship Id="rId131" Type="http://schemas.openxmlformats.org/officeDocument/2006/relationships/slide" Target="slides/slide127.xml"/><Relationship Id="rId130" Type="http://schemas.openxmlformats.org/officeDocument/2006/relationships/slide" Target="slides/slide126.xml"/><Relationship Id="rId133" Type="http://schemas.openxmlformats.org/officeDocument/2006/relationships/slide" Target="slides/slide129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66" Type="http://schemas.openxmlformats.org/officeDocument/2006/relationships/slide" Target="slides/slide62.xml"/><Relationship Id="rId65" Type="http://schemas.openxmlformats.org/officeDocument/2006/relationships/slide" Target="slides/slide61.xml"/><Relationship Id="rId68" Type="http://schemas.openxmlformats.org/officeDocument/2006/relationships/slide" Target="slides/slide64.xml"/><Relationship Id="rId67" Type="http://schemas.openxmlformats.org/officeDocument/2006/relationships/slide" Target="slides/slide63.xml"/><Relationship Id="rId60" Type="http://schemas.openxmlformats.org/officeDocument/2006/relationships/slide" Target="slides/slide56.xml"/><Relationship Id="rId69" Type="http://schemas.openxmlformats.org/officeDocument/2006/relationships/slide" Target="slides/slide6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5" Type="http://schemas.openxmlformats.org/officeDocument/2006/relationships/slide" Target="slides/slide51.xml"/><Relationship Id="rId54" Type="http://schemas.openxmlformats.org/officeDocument/2006/relationships/slide" Target="slides/slide50.xml"/><Relationship Id="rId57" Type="http://schemas.openxmlformats.org/officeDocument/2006/relationships/slide" Target="slides/slide53.xml"/><Relationship Id="rId56" Type="http://schemas.openxmlformats.org/officeDocument/2006/relationships/slide" Target="slides/slide52.xml"/><Relationship Id="rId59" Type="http://schemas.openxmlformats.org/officeDocument/2006/relationships/slide" Target="slides/slide55.xml"/><Relationship Id="rId58" Type="http://schemas.openxmlformats.org/officeDocument/2006/relationships/slide" Target="slides/slide5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" name="Google Shape;3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" name="Google Shape;4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" name="Google Shape;256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7" name="Google Shape;267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7" name="Google Shape;277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" name="Google Shape;294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2" name="Google Shape;312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1" name="Google Shape;321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1" name="Google Shape;331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1" name="Google Shape;341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9" name="Google Shape;359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7" name="Google Shape;377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6" name="Google Shape;386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6" name="Google Shape;406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5" name="Google Shape;425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7" name="Google Shape;447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4" name="Google Shape;464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1" name="Google Shape;481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9" name="Google Shape;499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8" name="Google Shape;508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5" name="Google Shape;525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4" name="Google Shape;544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2" name="Google Shape;562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9" name="Google Shape;579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7" name="Google Shape;597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6" name="Google Shape;606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6" name="Google Shape;626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4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4" name="Google Shape;644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4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1" name="Google Shape;661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4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1" name="Google Shape;681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4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9" name="Google Shape;699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4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8" name="Google Shape;708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p4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1" name="Google Shape;731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2" name="Google Shape;732;p4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3" name="Google Shape;743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" name="Google Shape;744;p4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3" name="Google Shape;763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4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1" name="Google Shape;781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2" name="Google Shape;782;p5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1" name="Google Shape;801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2" name="Google Shape;802;p5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0" name="Google Shape;810;p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1" name="Google Shape;811;p5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p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1" name="Google Shape;821;p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2" name="Google Shape;822;p5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9" name="Google Shape;839;p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0" name="Google Shape;840;p5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9" name="Google Shape;859;p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0" name="Google Shape;860;p5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9" name="Google Shape;879;p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0" name="Google Shape;880;p5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p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0" name="Google Shape;910;p5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1" name="Google Shape;911;p5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p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3" name="Google Shape;923;p5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4" name="Google Shape;924;p5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p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3" name="Google Shape;933;p5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4" name="Google Shape;934;p5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2" name="Google Shape;942;p6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3" name="Google Shape;943;p6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p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1" name="Google Shape;951;p6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2" name="Google Shape;952;p6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p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2" name="Google Shape;962;p6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3" name="Google Shape;963;p6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9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p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1" name="Google Shape;971;p6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2" name="Google Shape;972;p6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p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1" name="Google Shape;981;p6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2" name="Google Shape;982;p6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7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p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9" name="Google Shape;999;p6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0" name="Google Shape;1000;p6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p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8" name="Google Shape;1008;p6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9" name="Google Shape;1009;p6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p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1" name="Google Shape;1021;p6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2" name="Google Shape;1022;p6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0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p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2" name="Google Shape;1032;p6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3" name="Google Shape;1033;p6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p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3" name="Google Shape;1043;p6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4" name="Google Shape;1044;p6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2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p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4" name="Google Shape;1054;p7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5" name="Google Shape;1055;p7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2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p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4" name="Google Shape;1074;p7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5" name="Google Shape;1075;p7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p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3" name="Google Shape;1083;p7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4" name="Google Shape;1084;p7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7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Google Shape;1098;p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9" name="Google Shape;1099;p7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0" name="Google Shape;1100;p7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6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Google Shape;1107;p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8" name="Google Shape;1108;p7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9" name="Google Shape;1109;p7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2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Google Shape;1123;p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4" name="Google Shape;1124;p7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5" name="Google Shape;1125;p7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0" name="Shape 1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1" name="Google Shape;1141;p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2" name="Google Shape;1142;p7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3" name="Google Shape;1143;p7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9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Google Shape;1150;p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1" name="Google Shape;1151;p7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2" name="Google Shape;1152;p7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0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Google Shape;1161;p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2" name="Google Shape;1162;p7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3" name="Google Shape;1163;p7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0" name="Shape 1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Google Shape;1171;p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2" name="Google Shape;1172;p7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3" name="Google Shape;1173;p7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6" name="Shape 1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" name="Google Shape;1187;p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8" name="Google Shape;1188;p8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9" name="Google Shape;1189;p8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4" name="Shape 1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Google Shape;1205;p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6" name="Google Shape;1206;p8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7" name="Google Shape;1207;p8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3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" name="Google Shape;1214;p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5" name="Google Shape;1215;p8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6" name="Google Shape;1216;p8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2" name="Shape 1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3" name="Google Shape;1233;p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4" name="Google Shape;1234;p8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5" name="Google Shape;1235;p8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4" name="Shape 1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5" name="Google Shape;1245;p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6" name="Google Shape;1246;p8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7" name="Google Shape;1247;p8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6" name="Shape 1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7" name="Google Shape;1267;p8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8" name="Google Shape;1268;p8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9" name="Google Shape;1269;p8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2" name="Shape 1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3" name="Google Shape;1283;p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4" name="Google Shape;1284;p8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5" name="Google Shape;1285;p8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0" name="Shape 1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1" name="Google Shape;1301;p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2" name="Google Shape;1302;p8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3" name="Google Shape;1303;p8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9" name="Shape 1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" name="Google Shape;1310;p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1" name="Google Shape;1311;p8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2" name="Google Shape;1312;p8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0" name="Shape 1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" name="Google Shape;1321;p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2" name="Google Shape;1322;p8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3" name="Google Shape;1323;p8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1" name="Shape 1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" name="Google Shape;1332;p9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3" name="Google Shape;1333;p9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4" name="Google Shape;1334;p9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1" name="Shape 1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2" name="Google Shape;1342;p9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3" name="Google Shape;1343;p9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4" name="Google Shape;1344;p9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5" name="Shape 1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6" name="Google Shape;1356;p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7" name="Google Shape;1357;p9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8" name="Google Shape;1358;p9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5" name="Shape 1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6" name="Google Shape;1376;p9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7" name="Google Shape;1377;p9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8" name="Google Shape;1378;p9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4" name="Shape 1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5" name="Google Shape;1385;p9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6" name="Google Shape;1386;p9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7" name="Google Shape;1387;p9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5" name="Shape 1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6" name="Google Shape;1396;p9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7" name="Google Shape;1397;p9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8" name="Google Shape;1398;p9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4" name="Shape 1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5" name="Google Shape;1415;p9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6" name="Google Shape;1416;p9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7" name="Google Shape;1417;p9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5" name="Shape 1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6" name="Google Shape;1426;p9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7" name="Google Shape;1427;p9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8" name="Google Shape;1428;p9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5" name="Shape 1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6" name="Google Shape;1436;p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7" name="Google Shape;1437;p9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8" name="Google Shape;1438;p9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5" name="Shape 1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6" name="Google Shape;1456;p9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7" name="Google Shape;1457;p9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8" name="Google Shape;1458;p9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4" name="Shape 1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5" name="Google Shape;1465;p10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6" name="Google Shape;1466;p10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7" name="Google Shape;1467;p10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1" name="Shape 1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2" name="Google Shape;1482;p1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3" name="Google Shape;1483;p10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4" name="Google Shape;1484;p10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8" name="Shape 1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9" name="Google Shape;1499;p1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0" name="Google Shape;1500;p10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1" name="Google Shape;1501;p10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5" name="Shape 1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6" name="Google Shape;1516;p10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7" name="Google Shape;1517;p10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8" name="Google Shape;1518;p10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1" name="Shape 1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2" name="Google Shape;1532;p10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3" name="Google Shape;1533;p10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4" name="Google Shape;1534;p10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8" name="Shape 1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9" name="Google Shape;1549;p10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0" name="Google Shape;1550;p10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1" name="Google Shape;1551;p10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8" name="Shape 1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9" name="Google Shape;1569;p10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0" name="Google Shape;1570;p10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1" name="Google Shape;1571;p10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7" name="Shape 1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8" name="Google Shape;1578;p10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9" name="Google Shape;1579;p10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0" name="Google Shape;1580;p10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4" name="Shape 1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5" name="Google Shape;1595;p10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6" name="Google Shape;1596;p10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7" name="Google Shape;1597;p10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1" name="Shape 1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2" name="Google Shape;1612;p10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3" name="Google Shape;1613;p10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4" name="Google Shape;1614;p10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7" name="Shape 1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" name="Google Shape;1628;p1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9" name="Google Shape;1629;p1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0" name="Google Shape;1630;p1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7" name="Shape 1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" name="Google Shape;1658;p1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9" name="Google Shape;1659;p1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0" name="Google Shape;1660;p1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6" name="Shape 1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7" name="Google Shape;1667;p1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8" name="Google Shape;1668;p1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9" name="Google Shape;1669;p1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2" name="Shape 1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3" name="Google Shape;1683;p1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4" name="Google Shape;1684;p1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5" name="Google Shape;1685;p1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7" name="Shape 1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p1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9" name="Google Shape;1699;p1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0" name="Google Shape;1700;p1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3" name="Shape 1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4" name="Google Shape;1714;p1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5" name="Google Shape;1715;p1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6" name="Google Shape;1716;p1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1" name="Shape 1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2" name="Google Shape;1732;p1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3" name="Google Shape;1733;p1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4" name="Google Shape;1734;p1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0" name="Shape 1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" name="Google Shape;1741;p1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2" name="Google Shape;1742;p1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3" name="Google Shape;1743;p1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1" name="Shape 1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2" name="Google Shape;1752;p1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3" name="Google Shape;1753;p1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4" name="Google Shape;1754;p1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7" name="Shape 1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8" name="Google Shape;1768;p1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9" name="Google Shape;1769;p1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0" name="Google Shape;1770;p1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7" name="Shape 1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8" name="Google Shape;1778;p1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9" name="Google Shape;1779;p1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0" name="Google Shape;1780;p1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6" name="Shape 1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7" name="Google Shape;1797;p1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8" name="Google Shape;1798;p1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9" name="Google Shape;1799;p1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4" name="Shape 1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5" name="Google Shape;1815;p1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6" name="Google Shape;1816;p1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7" name="Google Shape;1817;p1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3" name="Shape 1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4" name="Google Shape;1824;p1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5" name="Google Shape;1825;p1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6" name="Google Shape;1826;p1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9" name="Shape 1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0" name="Google Shape;1840;p1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1" name="Google Shape;1841;p1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2" name="Google Shape;1842;p1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5" name="Shape 1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6" name="Google Shape;1856;p1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7" name="Google Shape;1857;p1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8" name="Google Shape;1858;p1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1" name="Shape 1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2" name="Google Shape;1872;p1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3" name="Google Shape;1873;p1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4" name="Google Shape;1874;p1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1" name="Shape 1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2" name="Google Shape;1882;p1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3" name="Google Shape;1883;p1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4" name="Google Shape;1884;p1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1" name="Shape 1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2" name="Google Shape;1912;p1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3" name="Google Shape;1913;p1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4" name="Google Shape;1914;p1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4" name="Shape 1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" name="Google Shape;1925;p1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6" name="Google Shape;1926;p1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7" name="Google Shape;1927;p1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20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5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11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25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24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16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7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21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12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13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10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22.pn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9.pn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23.png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18.png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17.png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15.png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3" Type="http://schemas.openxmlformats.org/officeDocument/2006/relationships/image" Target="../media/image28.png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Relationship Id="rId3" Type="http://schemas.openxmlformats.org/officeDocument/2006/relationships/image" Target="../media/image26.png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Relationship Id="rId3" Type="http://schemas.openxmlformats.org/officeDocument/2006/relationships/image" Target="../media/image19.png"/></Relationships>
</file>

<file path=ppt/slides/_rels/slide1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/Relationships>
</file>

<file path=ppt/slides/_rels/slide1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Relationship Id="rId3" Type="http://schemas.openxmlformats.org/officeDocument/2006/relationships/image" Target="../media/image29.png"/></Relationships>
</file>

<file path=ppt/slides/_rels/slide1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/Relationships>
</file>

<file path=ppt/slides/_rels/slide1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/Relationships>
</file>

<file path=ppt/slides/_rels/slide1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/Relationships>
</file>

<file path=ppt/slides/_rels/slide1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/Relationships>
</file>

<file path=ppt/slides/_rels/slide1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/Relationships>
</file>

<file path=ppt/slides/_rels/slide1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5.xml"/></Relationships>
</file>

<file path=ppt/slides/_rels/slide1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6.xml"/><Relationship Id="rId3" Type="http://schemas.openxmlformats.org/officeDocument/2006/relationships/image" Target="../media/image27.png"/></Relationships>
</file>

<file path=ppt/slides/_rels/slide1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7.xml"/></Relationships>
</file>

<file path=ppt/slides/_rels/slide1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8.xml"/></Relationships>
</file>

<file path=ppt/slides/_rels/slide1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11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990534" y="910084"/>
            <a:ext cx="5212813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93A3BC"/>
                </a:solidFill>
                <a:latin typeface="Courier New"/>
                <a:ea typeface="Courier New"/>
                <a:cs typeface="Courier New"/>
                <a:sym typeface="Courier New"/>
              </a:rPr>
              <a:t>MASTERING AI &amp; DATA SCIENCE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15581644" y="800034"/>
            <a:ext cx="1715823" cy="479392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2BE0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15815536" y="910101"/>
            <a:ext cx="1324240" cy="2973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E0C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BE0CE"/>
                </a:solidFill>
                <a:latin typeface="Courier New"/>
                <a:ea typeface="Courier New"/>
                <a:cs typeface="Courier New"/>
                <a:sym typeface="Courier New"/>
              </a:rPr>
              <a:t>BATCH 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990534" y="3539960"/>
            <a:ext cx="16796141" cy="334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E0C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BE0CE"/>
                </a:solidFill>
                <a:latin typeface="Courier New"/>
                <a:ea typeface="Courier New"/>
                <a:cs typeface="Courier New"/>
                <a:sym typeface="Courier New"/>
              </a:rPr>
              <a:t>SECTION 6 &amp; 7 · 21 LECTURES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990534" y="4160077"/>
            <a:ext cx="16796141" cy="209060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7800"/>
              <a:buFont typeface="Arial"/>
              <a:buNone/>
            </a:pPr>
            <a:r>
              <a:rPr b="1" i="0" lang="en-US" sz="78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Dự báo chuỗi thời gian </a:t>
            </a:r>
            <a:r>
              <a:rPr b="1" i="0" lang="en-US" sz="7800" u="none" cap="none" strike="noStrike">
                <a:solidFill>
                  <a:srgbClr val="2BE0CE"/>
                </a:solidFill>
                <a:latin typeface="Arial"/>
                <a:ea typeface="Arial"/>
                <a:cs typeface="Arial"/>
                <a:sym typeface="Arial"/>
              </a:rPr>
              <a:t>&amp; </a:t>
            </a:r>
            <a:r>
              <a:rPr b="1" i="0" lang="en-US" sz="78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nhập môn Deep Learning</a:t>
            </a:r>
            <a:endParaRPr b="0" i="0" sz="7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990534" y="8473117"/>
            <a:ext cx="16306933" cy="9525"/>
          </a:xfrm>
          <a:prstGeom prst="rect">
            <a:avLst/>
          </a:prstGeom>
          <a:solidFill>
            <a:srgbClr val="FFFFFF">
              <a:alpha val="901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990534" y="8878425"/>
            <a:ext cx="775610" cy="741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E0CE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2BE0CE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1899460" y="9158883"/>
            <a:ext cx="3293074" cy="3661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93A3BC"/>
                </a:solidFill>
                <a:latin typeface="Arial"/>
                <a:ea typeface="Arial"/>
                <a:cs typeface="Arial"/>
                <a:sym typeface="Arial"/>
              </a:rPr>
              <a:t>Time Series — 9 lectures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5858619" y="8878425"/>
            <a:ext cx="729142" cy="741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8CFF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B98CFF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6721079" y="9158883"/>
            <a:ext cx="3828492" cy="3661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93A3BC"/>
                </a:solidFill>
                <a:latin typeface="Arial"/>
                <a:ea typeface="Arial"/>
                <a:cs typeface="Arial"/>
                <a:sym typeface="Arial"/>
              </a:rPr>
              <a:t>Deep Learning — 12 lectures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11E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/>
          <p:nvPr/>
        </p:nvSpPr>
        <p:spPr>
          <a:xfrm>
            <a:off x="990534" y="3743358"/>
            <a:ext cx="4570686" cy="293363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0"/>
              <a:buFont typeface="Arial"/>
              <a:buNone/>
            </a:pPr>
            <a:r>
              <a:rPr b="1" i="0" lang="en-US" sz="28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i="0" sz="28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6037627" y="3698214"/>
            <a:ext cx="8633461" cy="334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E0C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BE0CE"/>
                </a:solidFill>
                <a:latin typeface="Courier New"/>
                <a:ea typeface="Courier New"/>
                <a:cs typeface="Courier New"/>
                <a:sym typeface="Courier New"/>
              </a:rPr>
              <a:t>SECTION 6 · 9 LECTURES · TIME SERIES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6037627" y="4280297"/>
            <a:ext cx="8633461" cy="87021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6300"/>
              <a:buFont typeface="Arial"/>
              <a:buNone/>
            </a:pPr>
            <a:r>
              <a:rPr b="1" i="0" lang="en-US" sz="63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Dự báo chuỗi thời gian</a:t>
            </a:r>
            <a:endParaRPr b="0" i="0" sz="6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6037627" y="5398162"/>
            <a:ext cx="26458" cy="1285875"/>
          </a:xfrm>
          <a:prstGeom prst="rect">
            <a:avLst/>
          </a:prstGeom>
          <a:solidFill>
            <a:srgbClr val="2BE0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6330785" y="5398162"/>
            <a:ext cx="8340302" cy="1323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93A3BC"/>
                </a:solidFill>
                <a:latin typeface="Arial"/>
                <a:ea typeface="Arial"/>
                <a:cs typeface="Arial"/>
                <a:sym typeface="Arial"/>
              </a:rPr>
              <a:t>Hiểu đặc trưng chuỗi thời gian và xây — so sánh các mô hình dự báo Holt-Winters, ARIMA/SARIMA, Prophet, LSTM; hoàn thành Capstone dự báo doanh số.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18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"/>
          <p:cNvSpPr/>
          <p:nvPr/>
        </p:nvSpPr>
        <p:spPr>
          <a:xfrm>
            <a:off x="12706285" y="3609992"/>
            <a:ext cx="4964308" cy="31051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500"/>
              <a:buFont typeface="Arial"/>
              <a:buNone/>
            </a:pPr>
            <a:r>
              <a:rPr b="1" i="0" lang="en-US" sz="34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3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5"/>
          <p:cNvSpPr/>
          <p:nvPr/>
        </p:nvSpPr>
        <p:spPr>
          <a:xfrm>
            <a:off x="990534" y="4152966"/>
            <a:ext cx="16796141" cy="334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E0C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BE0CE"/>
                </a:solidFill>
                <a:latin typeface="Courier New"/>
                <a:ea typeface="Courier New"/>
                <a:cs typeface="Courier New"/>
                <a:sym typeface="Courier New"/>
              </a:rPr>
              <a:t>SECTION 6 · LECTURE 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5"/>
          <p:cNvSpPr/>
          <p:nvPr/>
        </p:nvSpPr>
        <p:spPr>
          <a:xfrm>
            <a:off x="990534" y="4773084"/>
            <a:ext cx="12753976" cy="8899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6450"/>
              <a:buFont typeface="Arial"/>
              <a:buNone/>
            </a:pPr>
            <a:r>
              <a:rPr b="1" i="0" lang="en-US" sz="645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Khái niệm time-series</a:t>
            </a:r>
            <a:endParaRPr b="0" i="0" sz="6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5"/>
          <p:cNvSpPr/>
          <p:nvPr/>
        </p:nvSpPr>
        <p:spPr>
          <a:xfrm>
            <a:off x="990534" y="5948743"/>
            <a:ext cx="16796141" cy="31855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93A3BC"/>
                </a:solidFill>
                <a:latin typeface="Courier New"/>
                <a:ea typeface="Courier New"/>
                <a:cs typeface="Courier New"/>
                <a:sym typeface="Courier New"/>
              </a:rPr>
              <a:t>~8 phút · 6 slides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18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"/>
          <p:cNvSpPr/>
          <p:nvPr/>
        </p:nvSpPr>
        <p:spPr>
          <a:xfrm>
            <a:off x="990534" y="800034"/>
            <a:ext cx="16796141" cy="334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E0C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BE0CE"/>
                </a:solidFill>
                <a:latin typeface="Courier New"/>
                <a:ea typeface="Courier New"/>
                <a:cs typeface="Courier New"/>
                <a:sym typeface="Courier New"/>
              </a:rPr>
              <a:t>TIME-SERIES VS CROSS-SECTIONAL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6"/>
          <p:cNvSpPr/>
          <p:nvPr/>
        </p:nvSpPr>
        <p:spPr>
          <a:xfrm>
            <a:off x="990534" y="1286867"/>
            <a:ext cx="14716126" cy="6842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Time-series khác gì dữ liệu thường?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6"/>
          <p:cNvSpPr/>
          <p:nvPr/>
        </p:nvSpPr>
        <p:spPr>
          <a:xfrm>
            <a:off x="1466784" y="4987230"/>
            <a:ext cx="2268190" cy="434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2BE0CE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2BE0CE"/>
                </a:solidFill>
                <a:latin typeface="Arial"/>
                <a:ea typeface="Arial"/>
                <a:cs typeface="Arial"/>
                <a:sym typeface="Arial"/>
              </a:rPr>
              <a:t>Thứ tự thời gian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6"/>
          <p:cNvSpPr/>
          <p:nvPr/>
        </p:nvSpPr>
        <p:spPr>
          <a:xfrm>
            <a:off x="3743441" y="5024272"/>
            <a:ext cx="1923240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mang ý nghĩa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6"/>
          <p:cNvSpPr/>
          <p:nvPr/>
        </p:nvSpPr>
        <p:spPr>
          <a:xfrm>
            <a:off x="1466784" y="5480431"/>
            <a:ext cx="7554363" cy="3723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3BC"/>
                </a:solidFill>
                <a:latin typeface="Arial"/>
                <a:ea typeface="Arial"/>
                <a:cs typeface="Arial"/>
                <a:sym typeface="Arial"/>
              </a:rPr>
              <a:t>Mỗi quan sát gắn với một mốc thời gian cụ thể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6"/>
          <p:cNvSpPr/>
          <p:nvPr/>
        </p:nvSpPr>
        <p:spPr>
          <a:xfrm>
            <a:off x="1466784" y="6100465"/>
            <a:ext cx="2988191" cy="434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2BE0CE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2BE0CE"/>
                </a:solidFill>
                <a:latin typeface="Arial"/>
                <a:ea typeface="Arial"/>
                <a:cs typeface="Arial"/>
                <a:sym typeface="Arial"/>
              </a:rPr>
              <a:t>Không được xáo trộn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6"/>
          <p:cNvSpPr/>
          <p:nvPr/>
        </p:nvSpPr>
        <p:spPr>
          <a:xfrm>
            <a:off x="4452607" y="6137507"/>
            <a:ext cx="1008939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dữ liệu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6"/>
          <p:cNvSpPr/>
          <p:nvPr/>
        </p:nvSpPr>
        <p:spPr>
          <a:xfrm>
            <a:off x="1466784" y="6593665"/>
            <a:ext cx="7554363" cy="3723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3BC"/>
                </a:solidFill>
                <a:latin typeface="Arial"/>
                <a:ea typeface="Arial"/>
                <a:cs typeface="Arial"/>
                <a:sym typeface="Arial"/>
              </a:rPr>
              <a:t>Shuffle phá vỡ quan hệ phụ thuộc theo thời gian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6"/>
          <p:cNvSpPr/>
          <p:nvPr/>
        </p:nvSpPr>
        <p:spPr>
          <a:xfrm>
            <a:off x="9486884" y="4124110"/>
            <a:ext cx="3432886" cy="3666960"/>
          </a:xfrm>
          <a:prstGeom prst="roundRect">
            <a:avLst>
              <a:gd fmla="val 4994" name="adj"/>
            </a:avLst>
          </a:prstGeom>
          <a:solidFill>
            <a:srgbClr val="131C2E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6"/>
          <p:cNvSpPr/>
          <p:nvPr/>
        </p:nvSpPr>
        <p:spPr>
          <a:xfrm>
            <a:off x="9854076" y="4491302"/>
            <a:ext cx="2779457" cy="408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250"/>
              <a:buFont typeface="Courier New"/>
              <a:buNone/>
            </a:pPr>
            <a:r>
              <a:rPr b="1" i="0" lang="en-US" sz="2250" u="none" cap="none" strike="noStrike">
                <a:solidFill>
                  <a:srgbClr val="E7EDF8"/>
                </a:solidFill>
                <a:latin typeface="Courier New"/>
                <a:ea typeface="Courier New"/>
                <a:cs typeface="Courier New"/>
                <a:sym typeface="Courier New"/>
              </a:rPr>
              <a:t>Cross-sectional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6"/>
          <p:cNvSpPr/>
          <p:nvPr/>
        </p:nvSpPr>
        <p:spPr>
          <a:xfrm>
            <a:off x="9680721" y="5090253"/>
            <a:ext cx="2948057" cy="20399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3BC"/>
                </a:solidFill>
                <a:latin typeface="Arial"/>
                <a:ea typeface="Arial"/>
                <a:cs typeface="Arial"/>
                <a:sym typeface="Arial"/>
              </a:rPr>
              <a:t>Quan sát độc lập nhau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3BC"/>
                </a:solidFill>
                <a:latin typeface="Arial"/>
                <a:ea typeface="Arial"/>
                <a:cs typeface="Arial"/>
                <a:sym typeface="Arial"/>
              </a:rPr>
              <a:t>Thứ tự không quan trọng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3BC"/>
                </a:solidFill>
                <a:latin typeface="Arial"/>
                <a:ea typeface="Arial"/>
                <a:cs typeface="Arial"/>
                <a:sym typeface="Arial"/>
              </a:rPr>
              <a:t>Có thể shuffle tự do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6"/>
          <p:cNvSpPr/>
          <p:nvPr/>
        </p:nvSpPr>
        <p:spPr>
          <a:xfrm>
            <a:off x="13243554" y="5817361"/>
            <a:ext cx="373443" cy="3185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86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5C6B86"/>
                </a:solidFill>
                <a:latin typeface="Courier New"/>
                <a:ea typeface="Courier New"/>
                <a:cs typeface="Courier New"/>
                <a:sym typeface="Courier New"/>
              </a:rPr>
              <a:t>vs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6"/>
          <p:cNvSpPr/>
          <p:nvPr/>
        </p:nvSpPr>
        <p:spPr>
          <a:xfrm>
            <a:off x="13864580" y="4124110"/>
            <a:ext cx="3432886" cy="3666960"/>
          </a:xfrm>
          <a:prstGeom prst="roundRect">
            <a:avLst>
              <a:gd fmla="val 4994" name="adj"/>
            </a:avLst>
          </a:prstGeom>
          <a:solidFill>
            <a:srgbClr val="131C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6"/>
          <p:cNvSpPr/>
          <p:nvPr/>
        </p:nvSpPr>
        <p:spPr>
          <a:xfrm>
            <a:off x="14231773" y="4491302"/>
            <a:ext cx="2779457" cy="408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E0CE"/>
              </a:buClr>
              <a:buSzPts val="2250"/>
              <a:buFont typeface="Courier New"/>
              <a:buNone/>
            </a:pPr>
            <a:r>
              <a:rPr b="1" i="0" lang="en-US" sz="2250" u="none" cap="none" strike="noStrike">
                <a:solidFill>
                  <a:srgbClr val="2BE0CE"/>
                </a:solidFill>
                <a:latin typeface="Courier New"/>
                <a:ea typeface="Courier New"/>
                <a:cs typeface="Courier New"/>
                <a:sym typeface="Courier New"/>
              </a:rPr>
              <a:t>Time-series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6"/>
          <p:cNvSpPr/>
          <p:nvPr/>
        </p:nvSpPr>
        <p:spPr>
          <a:xfrm>
            <a:off x="14058418" y="5090253"/>
            <a:ext cx="2948057" cy="2371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3BC"/>
                </a:solidFill>
                <a:latin typeface="Arial"/>
                <a:ea typeface="Arial"/>
                <a:cs typeface="Arial"/>
                <a:sym typeface="Arial"/>
              </a:rPr>
              <a:t>Quan sát phụ thuộc quá khứ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3BC"/>
                </a:solidFill>
                <a:latin typeface="Arial"/>
                <a:ea typeface="Arial"/>
                <a:cs typeface="Arial"/>
                <a:sym typeface="Arial"/>
              </a:rPr>
              <a:t>Thứ tự chính là thông tin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3BC"/>
                </a:solidFill>
                <a:latin typeface="Arial"/>
                <a:ea typeface="Arial"/>
                <a:cs typeface="Arial"/>
                <a:sym typeface="Arial"/>
              </a:rPr>
              <a:t>Tuyệt đối không shuffle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18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7"/>
          <p:cNvSpPr/>
          <p:nvPr/>
        </p:nvSpPr>
        <p:spPr>
          <a:xfrm>
            <a:off x="990534" y="800034"/>
            <a:ext cx="16796141" cy="334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E0C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BE0CE"/>
                </a:solidFill>
                <a:latin typeface="Courier New"/>
                <a:ea typeface="Courier New"/>
                <a:cs typeface="Courier New"/>
                <a:sym typeface="Courier New"/>
              </a:rPr>
              <a:t>CẤU TRÚC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7"/>
          <p:cNvSpPr/>
          <p:nvPr/>
        </p:nvSpPr>
        <p:spPr>
          <a:xfrm>
            <a:off x="990534" y="1286867"/>
            <a:ext cx="14716126" cy="6842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4 thành phần của chuỗi thời gian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7"/>
          <p:cNvSpPr/>
          <p:nvPr/>
        </p:nvSpPr>
        <p:spPr>
          <a:xfrm>
            <a:off x="990534" y="4452524"/>
            <a:ext cx="3862421" cy="2339744"/>
          </a:xfrm>
          <a:prstGeom prst="roundRect">
            <a:avLst>
              <a:gd fmla="val 7328" name="adj"/>
            </a:avLst>
          </a:prstGeom>
          <a:solidFill>
            <a:srgbClr val="131C2E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1319609" y="4800699"/>
            <a:ext cx="3300398" cy="3344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E0CE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2BE0CE"/>
                </a:solidFill>
                <a:latin typeface="Courier New"/>
                <a:ea typeface="Courier New"/>
                <a:cs typeface="Courier New"/>
                <a:sym typeface="Courier New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7"/>
          <p:cNvSpPr/>
          <p:nvPr/>
        </p:nvSpPr>
        <p:spPr>
          <a:xfrm>
            <a:off x="1319609" y="5230317"/>
            <a:ext cx="3300398" cy="4614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Trend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7"/>
          <p:cNvSpPr/>
          <p:nvPr/>
        </p:nvSpPr>
        <p:spPr>
          <a:xfrm>
            <a:off x="1319609" y="5786934"/>
            <a:ext cx="3300398" cy="36667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93A3BC"/>
                </a:solidFill>
                <a:latin typeface="Arial"/>
                <a:ea typeface="Arial"/>
                <a:cs typeface="Arial"/>
                <a:sym typeface="Arial"/>
              </a:rPr>
              <a:t>Xu hướng tăng/giảm dài hạn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7"/>
          <p:cNvSpPr/>
          <p:nvPr/>
        </p:nvSpPr>
        <p:spPr>
          <a:xfrm>
            <a:off x="5138705" y="4452524"/>
            <a:ext cx="3862421" cy="2339744"/>
          </a:xfrm>
          <a:prstGeom prst="roundRect">
            <a:avLst>
              <a:gd fmla="val 7328" name="adj"/>
            </a:avLst>
          </a:prstGeom>
          <a:solidFill>
            <a:srgbClr val="131C2E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7"/>
          <p:cNvSpPr/>
          <p:nvPr/>
        </p:nvSpPr>
        <p:spPr>
          <a:xfrm>
            <a:off x="5467780" y="4800699"/>
            <a:ext cx="3300398" cy="3344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E0CE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2BE0CE"/>
                </a:solidFill>
                <a:latin typeface="Courier New"/>
                <a:ea typeface="Courier New"/>
                <a:cs typeface="Courier New"/>
                <a:sym typeface="Courier New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7"/>
          <p:cNvSpPr/>
          <p:nvPr/>
        </p:nvSpPr>
        <p:spPr>
          <a:xfrm>
            <a:off x="5467780" y="5230317"/>
            <a:ext cx="3300398" cy="4614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Seasonality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7"/>
          <p:cNvSpPr/>
          <p:nvPr/>
        </p:nvSpPr>
        <p:spPr>
          <a:xfrm>
            <a:off x="5467780" y="5786934"/>
            <a:ext cx="3300398" cy="6952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93A3BC"/>
                </a:solidFill>
                <a:latin typeface="Arial"/>
                <a:ea typeface="Arial"/>
                <a:cs typeface="Arial"/>
                <a:sym typeface="Arial"/>
              </a:rPr>
              <a:t>Lặp lại theo chu kỳ cố định (tháng, mùa)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7"/>
          <p:cNvSpPr/>
          <p:nvPr/>
        </p:nvSpPr>
        <p:spPr>
          <a:xfrm>
            <a:off x="9286876" y="4452524"/>
            <a:ext cx="3862421" cy="2339744"/>
          </a:xfrm>
          <a:prstGeom prst="roundRect">
            <a:avLst>
              <a:gd fmla="val 7328" name="adj"/>
            </a:avLst>
          </a:prstGeom>
          <a:solidFill>
            <a:srgbClr val="131C2E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7"/>
          <p:cNvSpPr/>
          <p:nvPr/>
        </p:nvSpPr>
        <p:spPr>
          <a:xfrm>
            <a:off x="9615951" y="4800699"/>
            <a:ext cx="3300398" cy="3344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E0CE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2BE0CE"/>
                </a:solidFill>
                <a:latin typeface="Courier New"/>
                <a:ea typeface="Courier New"/>
                <a:cs typeface="Courier New"/>
                <a:sym typeface="Courier New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7"/>
          <p:cNvSpPr/>
          <p:nvPr/>
        </p:nvSpPr>
        <p:spPr>
          <a:xfrm>
            <a:off x="9615951" y="5230317"/>
            <a:ext cx="3300398" cy="4614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Cyclical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7"/>
          <p:cNvSpPr/>
          <p:nvPr/>
        </p:nvSpPr>
        <p:spPr>
          <a:xfrm>
            <a:off x="9615951" y="5786934"/>
            <a:ext cx="3300398" cy="6952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93A3BC"/>
                </a:solidFill>
                <a:latin typeface="Arial"/>
                <a:ea typeface="Arial"/>
                <a:cs typeface="Arial"/>
                <a:sym typeface="Arial"/>
              </a:rPr>
              <a:t>Dao động dài, chu kỳ không cố định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7"/>
          <p:cNvSpPr/>
          <p:nvPr/>
        </p:nvSpPr>
        <p:spPr>
          <a:xfrm>
            <a:off x="13435046" y="4452524"/>
            <a:ext cx="3862421" cy="2339744"/>
          </a:xfrm>
          <a:prstGeom prst="roundRect">
            <a:avLst>
              <a:gd fmla="val 7328" name="adj"/>
            </a:avLst>
          </a:prstGeom>
          <a:solidFill>
            <a:srgbClr val="131C2E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7"/>
          <p:cNvSpPr/>
          <p:nvPr/>
        </p:nvSpPr>
        <p:spPr>
          <a:xfrm>
            <a:off x="13764121" y="4800699"/>
            <a:ext cx="3300398" cy="3344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E0CE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2BE0CE"/>
                </a:solidFill>
                <a:latin typeface="Courier New"/>
                <a:ea typeface="Courier New"/>
                <a:cs typeface="Courier New"/>
                <a:sym typeface="Courier New"/>
              </a:rPr>
              <a:t>04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7"/>
          <p:cNvSpPr/>
          <p:nvPr/>
        </p:nvSpPr>
        <p:spPr>
          <a:xfrm>
            <a:off x="13764121" y="5230317"/>
            <a:ext cx="3300398" cy="4614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Noise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7"/>
          <p:cNvSpPr/>
          <p:nvPr/>
        </p:nvSpPr>
        <p:spPr>
          <a:xfrm>
            <a:off x="13764121" y="5786934"/>
            <a:ext cx="3300398" cy="36667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93A3BC"/>
                </a:solidFill>
                <a:latin typeface="Arial"/>
                <a:ea typeface="Arial"/>
                <a:cs typeface="Arial"/>
                <a:sym typeface="Arial"/>
              </a:rPr>
              <a:t>Biến động ngẫu nhiên còn lại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7"/>
          <p:cNvSpPr/>
          <p:nvPr/>
        </p:nvSpPr>
        <p:spPr>
          <a:xfrm>
            <a:off x="5190065" y="7116052"/>
            <a:ext cx="7907788" cy="3847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3BC"/>
                </a:solidFill>
                <a:latin typeface="Arial"/>
                <a:ea typeface="Arial"/>
                <a:cs typeface="Arial"/>
                <a:sym typeface="Arial"/>
              </a:rPr>
              <a:t>Hiểu 4 thành phần này là hiểu được bản chất của một chuỗi thời gian.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18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8"/>
          <p:cNvSpPr/>
          <p:nvPr/>
        </p:nvSpPr>
        <p:spPr>
          <a:xfrm>
            <a:off x="990534" y="800034"/>
            <a:ext cx="16796141" cy="334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E0C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BE0CE"/>
                </a:solidFill>
                <a:latin typeface="Courier New"/>
                <a:ea typeface="Courier New"/>
                <a:cs typeface="Courier New"/>
                <a:sym typeface="Courier New"/>
              </a:rPr>
              <a:t>DECOMPOSITION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8"/>
          <p:cNvSpPr/>
          <p:nvPr/>
        </p:nvSpPr>
        <p:spPr>
          <a:xfrm>
            <a:off x="990534" y="1286867"/>
            <a:ext cx="14716126" cy="6842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Tách chuỗi thành các thành phần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8"/>
          <p:cNvSpPr/>
          <p:nvPr/>
        </p:nvSpPr>
        <p:spPr>
          <a:xfrm>
            <a:off x="990534" y="4159581"/>
            <a:ext cx="9216430" cy="3596018"/>
          </a:xfrm>
          <a:prstGeom prst="roundRect">
            <a:avLst>
              <a:gd fmla="val 4238" name="adj"/>
            </a:avLst>
          </a:prstGeom>
          <a:solidFill>
            <a:srgbClr val="131C2E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571500" rotWithShape="0" algn="bl" dir="5400000" dist="228600">
              <a:srgbClr val="000000">
                <a:alpha val="8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8"/>
          <p:cNvSpPr/>
          <p:nvPr/>
        </p:nvSpPr>
        <p:spPr>
          <a:xfrm>
            <a:off x="995826" y="4164873"/>
            <a:ext cx="9205847" cy="607384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8"/>
          <p:cNvSpPr/>
          <p:nvPr/>
        </p:nvSpPr>
        <p:spPr>
          <a:xfrm>
            <a:off x="995826" y="4766965"/>
            <a:ext cx="9205847" cy="9525"/>
          </a:xfrm>
          <a:prstGeom prst="rect">
            <a:avLst/>
          </a:prstGeom>
          <a:solidFill>
            <a:srgbClr val="FFFFFF">
              <a:alpha val="901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8"/>
          <p:cNvSpPr/>
          <p:nvPr/>
        </p:nvSpPr>
        <p:spPr>
          <a:xfrm>
            <a:off x="1243459" y="4403990"/>
            <a:ext cx="123775" cy="123775"/>
          </a:xfrm>
          <a:prstGeom prst="ellipse">
            <a:avLst/>
          </a:prstGeom>
          <a:solidFill>
            <a:srgbClr val="3949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8"/>
          <p:cNvSpPr/>
          <p:nvPr/>
        </p:nvSpPr>
        <p:spPr>
          <a:xfrm>
            <a:off x="1471993" y="4403990"/>
            <a:ext cx="123775" cy="123775"/>
          </a:xfrm>
          <a:prstGeom prst="ellipse">
            <a:avLst/>
          </a:prstGeom>
          <a:solidFill>
            <a:srgbClr val="3949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8"/>
          <p:cNvSpPr/>
          <p:nvPr/>
        </p:nvSpPr>
        <p:spPr>
          <a:xfrm>
            <a:off x="1700527" y="4403990"/>
            <a:ext cx="123775" cy="123775"/>
          </a:xfrm>
          <a:prstGeom prst="ellipse">
            <a:avLst/>
          </a:prstGeom>
          <a:solidFill>
            <a:srgbClr val="3949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8"/>
          <p:cNvSpPr/>
          <p:nvPr/>
        </p:nvSpPr>
        <p:spPr>
          <a:xfrm>
            <a:off x="2062344" y="4336273"/>
            <a:ext cx="1804343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93A3BC"/>
                </a:solidFill>
                <a:latin typeface="Courier New"/>
                <a:ea typeface="Courier New"/>
                <a:cs typeface="Courier New"/>
                <a:sym typeface="Courier New"/>
              </a:rPr>
              <a:t>decompose.py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8"/>
          <p:cNvSpPr/>
          <p:nvPr/>
        </p:nvSpPr>
        <p:spPr>
          <a:xfrm>
            <a:off x="1319676" y="5058007"/>
            <a:ext cx="8834322" cy="24446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E0CE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2BE0CE"/>
                </a:solidFill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 statsmodels.tsa.seasonal </a:t>
            </a:r>
            <a:r>
              <a:rPr b="0" i="0" lang="en-US" sz="1950" u="none" cap="none" strike="noStrike">
                <a:solidFill>
                  <a:srgbClr val="2BE0CE"/>
                </a:solidFill>
                <a:latin typeface="Courier New"/>
                <a:ea typeface="Courier New"/>
                <a:cs typeface="Courier New"/>
                <a:sym typeface="Courier New"/>
              </a:rPr>
              <a:t>import </a:t>
            </a: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 seasonal_decompose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50"/>
              <a:buFont typeface="Calibri"/>
              <a:buNone/>
            </a:pPr>
            <a:r>
              <a:t/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D6E2F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result = seasonal_decompose(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D6E2F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    sales, model= 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86E3A8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86E3A8"/>
                </a:solidFill>
                <a:latin typeface="Courier New"/>
                <a:ea typeface="Courier New"/>
                <a:cs typeface="Courier New"/>
                <a:sym typeface="Courier New"/>
              </a:rPr>
              <a:t>"additive"</a:t>
            </a: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, period=</a:t>
            </a:r>
            <a:r>
              <a:rPr b="0" i="0" lang="en-US" sz="1950" u="none" cap="none" strike="noStrike">
                <a:solidFill>
                  <a:srgbClr val="F4B860"/>
                </a:solidFill>
                <a:latin typeface="Courier New"/>
                <a:ea typeface="Courier New"/>
                <a:cs typeface="Courier New"/>
                <a:sym typeface="Courier New"/>
              </a:rPr>
              <a:t>12 </a:t>
            </a: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D6E2F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result.plot()   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5E7286"/>
              </a:buClr>
              <a:buSzPts val="1950"/>
              <a:buFont typeface="Courier New"/>
              <a:buNone/>
            </a:pPr>
            <a:r>
              <a:rPr b="0" i="1" lang="en-US" sz="1950" u="none" cap="none" strike="noStrike">
                <a:solidFill>
                  <a:srgbClr val="5E7286"/>
                </a:solidFill>
                <a:latin typeface="Courier New"/>
                <a:ea typeface="Courier New"/>
                <a:cs typeface="Courier New"/>
                <a:sym typeface="Courier New"/>
              </a:rPr>
              <a:t># trend · seasonal · residual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8"/>
          <p:cNvSpPr/>
          <p:nvPr/>
        </p:nvSpPr>
        <p:spPr>
          <a:xfrm>
            <a:off x="11368980" y="4826331"/>
            <a:ext cx="6120543" cy="85318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Tách chuỗi thành </a:t>
            </a:r>
            <a:r>
              <a:rPr b="1" i="0" lang="en-US" sz="2400" u="none" cap="none" strike="noStrike">
                <a:solidFill>
                  <a:srgbClr val="2BE0CE"/>
                </a:solidFill>
                <a:latin typeface="Arial"/>
                <a:ea typeface="Arial"/>
                <a:cs typeface="Arial"/>
                <a:sym typeface="Arial"/>
              </a:rPr>
              <a:t>trend + seasonal + residual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8"/>
          <p:cNvSpPr/>
          <p:nvPr/>
        </p:nvSpPr>
        <p:spPr>
          <a:xfrm>
            <a:off x="11368980" y="5927163"/>
            <a:ext cx="1255911" cy="434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2BE0CE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2BE0CE"/>
                </a:solidFill>
                <a:latin typeface="Arial"/>
                <a:ea typeface="Arial"/>
                <a:cs typeface="Arial"/>
                <a:sym typeface="Arial"/>
              </a:rPr>
              <a:t>Additive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8"/>
          <p:cNvSpPr/>
          <p:nvPr/>
        </p:nvSpPr>
        <p:spPr>
          <a:xfrm>
            <a:off x="12633359" y="5964205"/>
            <a:ext cx="381049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vs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8"/>
          <p:cNvSpPr/>
          <p:nvPr/>
        </p:nvSpPr>
        <p:spPr>
          <a:xfrm>
            <a:off x="13022875" y="5927163"/>
            <a:ext cx="1997158" cy="434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2BE0CE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2BE0CE"/>
                </a:solidFill>
                <a:latin typeface="Arial"/>
                <a:ea typeface="Arial"/>
                <a:cs typeface="Arial"/>
                <a:sym typeface="Arial"/>
              </a:rPr>
              <a:t>Multiplicative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8"/>
          <p:cNvSpPr/>
          <p:nvPr/>
        </p:nvSpPr>
        <p:spPr>
          <a:xfrm>
            <a:off x="11368980" y="6420363"/>
            <a:ext cx="6106255" cy="7066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3BC"/>
                </a:solidFill>
                <a:latin typeface="Arial"/>
                <a:ea typeface="Arial"/>
                <a:cs typeface="Arial"/>
                <a:sym typeface="Arial"/>
              </a:rPr>
              <a:t>Cộng tính: biên độ mùa ổn định · Nhân tính: biên độ tăng theo mức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18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9"/>
          <p:cNvSpPr/>
          <p:nvPr/>
        </p:nvSpPr>
        <p:spPr>
          <a:xfrm>
            <a:off x="990534" y="800034"/>
            <a:ext cx="16796141" cy="334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E0C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BE0CE"/>
                </a:solidFill>
                <a:latin typeface="Courier New"/>
                <a:ea typeface="Courier New"/>
                <a:cs typeface="Courier New"/>
                <a:sym typeface="Courier New"/>
              </a:rPr>
              <a:t>VÍ DỤ VIỆT NAM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9"/>
          <p:cNvSpPr/>
          <p:nvPr/>
        </p:nvSpPr>
        <p:spPr>
          <a:xfrm>
            <a:off x="990534" y="1286867"/>
            <a:ext cx="14716126" cy="6842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Doanh số bán lẻ có mùa vụ Tết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9"/>
          <p:cNvSpPr/>
          <p:nvPr/>
        </p:nvSpPr>
        <p:spPr>
          <a:xfrm>
            <a:off x="1466784" y="5024272"/>
            <a:ext cx="1381009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Doanh số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9"/>
          <p:cNvSpPr/>
          <p:nvPr/>
        </p:nvSpPr>
        <p:spPr>
          <a:xfrm>
            <a:off x="2856260" y="4987230"/>
            <a:ext cx="2631529" cy="434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2BE0CE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2BE0CE"/>
                </a:solidFill>
                <a:latin typeface="Arial"/>
                <a:ea typeface="Arial"/>
                <a:cs typeface="Arial"/>
                <a:sym typeface="Arial"/>
              </a:rPr>
              <a:t>tăng mạnh dịp Tết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9"/>
          <p:cNvSpPr/>
          <p:nvPr/>
        </p:nvSpPr>
        <p:spPr>
          <a:xfrm>
            <a:off x="1466784" y="5480431"/>
            <a:ext cx="7554363" cy="3723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3BC"/>
                </a:solidFill>
                <a:latin typeface="Arial"/>
                <a:ea typeface="Arial"/>
                <a:cs typeface="Arial"/>
                <a:sym typeface="Arial"/>
              </a:rPr>
              <a:t>Seasonality lặp lại rõ rệt mỗi năm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9"/>
          <p:cNvSpPr/>
          <p:nvPr/>
        </p:nvSpPr>
        <p:spPr>
          <a:xfrm>
            <a:off x="1466784" y="6100465"/>
            <a:ext cx="2887614" cy="434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2BE0CE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2BE0CE"/>
                </a:solidFill>
                <a:latin typeface="Arial"/>
                <a:ea typeface="Arial"/>
                <a:cs typeface="Arial"/>
                <a:sym typeface="Arial"/>
              </a:rPr>
              <a:t>Tăng trưởng dài hạn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9"/>
          <p:cNvSpPr/>
          <p:nvPr/>
        </p:nvSpPr>
        <p:spPr>
          <a:xfrm>
            <a:off x="4354959" y="6137507"/>
            <a:ext cx="1821375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qua các năm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9"/>
          <p:cNvSpPr/>
          <p:nvPr/>
        </p:nvSpPr>
        <p:spPr>
          <a:xfrm>
            <a:off x="1466784" y="6593665"/>
            <a:ext cx="7554363" cy="3723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3BC"/>
                </a:solidFill>
                <a:latin typeface="Arial"/>
                <a:ea typeface="Arial"/>
                <a:cs typeface="Arial"/>
                <a:sym typeface="Arial"/>
              </a:rPr>
              <a:t>Trend đi lên ổn định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2" name="Google Shape;12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86884" y="3638848"/>
            <a:ext cx="7810583" cy="46374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18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0"/>
          <p:cNvSpPr/>
          <p:nvPr/>
        </p:nvSpPr>
        <p:spPr>
          <a:xfrm>
            <a:off x="990534" y="800034"/>
            <a:ext cx="16796141" cy="334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E0C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BE0CE"/>
                </a:solidFill>
                <a:latin typeface="Courier New"/>
                <a:ea typeface="Courier New"/>
                <a:cs typeface="Courier New"/>
                <a:sym typeface="Courier New"/>
              </a:rPr>
              <a:t>SECTION 6 · LECTURE 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0"/>
          <p:cNvSpPr/>
          <p:nvPr/>
        </p:nvSpPr>
        <p:spPr>
          <a:xfrm>
            <a:off x="990534" y="1286867"/>
            <a:ext cx="14716126" cy="6842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Tóm tắt &amp; chuyển bài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0"/>
          <p:cNvSpPr/>
          <p:nvPr/>
        </p:nvSpPr>
        <p:spPr>
          <a:xfrm>
            <a:off x="990534" y="4545873"/>
            <a:ext cx="16796141" cy="3185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86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5C6B86"/>
                </a:solidFill>
                <a:latin typeface="Courier New"/>
                <a:ea typeface="Courier New"/>
                <a:cs typeface="Courier New"/>
                <a:sym typeface="Courier New"/>
              </a:rPr>
              <a:t>ĐÃ HỌC TRONG BÀI NÀY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0"/>
          <p:cNvSpPr/>
          <p:nvPr/>
        </p:nvSpPr>
        <p:spPr>
          <a:xfrm>
            <a:off x="990534" y="5264465"/>
            <a:ext cx="2677914" cy="676176"/>
          </a:xfrm>
          <a:prstGeom prst="roundRect">
            <a:avLst>
              <a:gd fmla="val 50000" name="adj"/>
            </a:avLst>
          </a:prstGeom>
          <a:solidFill>
            <a:srgbClr val="131C2E"/>
          </a:solidFill>
          <a:ln cap="flat" cmpd="sng" w="9525">
            <a:solidFill>
              <a:srgbClr val="FFFFFF">
                <a:alpha val="1686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0"/>
          <p:cNvSpPr/>
          <p:nvPr/>
        </p:nvSpPr>
        <p:spPr>
          <a:xfrm>
            <a:off x="1300626" y="5441206"/>
            <a:ext cx="2138068" cy="3607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E7EDF8"/>
                </a:solidFill>
                <a:latin typeface="Courier New"/>
                <a:ea typeface="Courier New"/>
                <a:cs typeface="Courier New"/>
                <a:sym typeface="Courier New"/>
              </a:rPr>
              <a:t>4 thành phần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0"/>
          <p:cNvSpPr/>
          <p:nvPr/>
        </p:nvSpPr>
        <p:spPr>
          <a:xfrm>
            <a:off x="3858948" y="5264465"/>
            <a:ext cx="2849397" cy="676176"/>
          </a:xfrm>
          <a:prstGeom prst="roundRect">
            <a:avLst>
              <a:gd fmla="val 50000" name="adj"/>
            </a:avLst>
          </a:prstGeom>
          <a:solidFill>
            <a:srgbClr val="131C2E"/>
          </a:solidFill>
          <a:ln cap="flat" cmpd="sng" w="9525">
            <a:solidFill>
              <a:srgbClr val="FFFFFF">
                <a:alpha val="1686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0"/>
          <p:cNvSpPr/>
          <p:nvPr/>
        </p:nvSpPr>
        <p:spPr>
          <a:xfrm>
            <a:off x="4169040" y="5441206"/>
            <a:ext cx="2314696" cy="3607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E7EDF8"/>
                </a:solidFill>
                <a:latin typeface="Courier New"/>
                <a:ea typeface="Courier New"/>
                <a:cs typeface="Courier New"/>
                <a:sym typeface="Courier New"/>
              </a:rPr>
              <a:t>decomposition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0"/>
          <p:cNvSpPr/>
          <p:nvPr/>
        </p:nvSpPr>
        <p:spPr>
          <a:xfrm>
            <a:off x="6898845" y="5264465"/>
            <a:ext cx="4907112" cy="676176"/>
          </a:xfrm>
          <a:prstGeom prst="roundRect">
            <a:avLst>
              <a:gd fmla="val 50000" name="adj"/>
            </a:avLst>
          </a:prstGeom>
          <a:solidFill>
            <a:srgbClr val="131C2E"/>
          </a:solidFill>
          <a:ln cap="flat" cmpd="sng" w="9525">
            <a:solidFill>
              <a:srgbClr val="FFFFFF">
                <a:alpha val="1686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0"/>
          <p:cNvSpPr/>
          <p:nvPr/>
        </p:nvSpPr>
        <p:spPr>
          <a:xfrm>
            <a:off x="7208937" y="5441206"/>
            <a:ext cx="4434142" cy="3607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E7EDF8"/>
                </a:solidFill>
                <a:latin typeface="Courier New"/>
                <a:ea typeface="Courier New"/>
                <a:cs typeface="Courier New"/>
                <a:sym typeface="Courier New"/>
              </a:rPr>
              <a:t>additive / multiplicative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0"/>
          <p:cNvSpPr/>
          <p:nvPr/>
        </p:nvSpPr>
        <p:spPr>
          <a:xfrm>
            <a:off x="990534" y="6512058"/>
            <a:ext cx="16306933" cy="9525"/>
          </a:xfrm>
          <a:prstGeom prst="rect">
            <a:avLst/>
          </a:prstGeom>
          <a:solidFill>
            <a:srgbClr val="FFFFFF">
              <a:alpha val="901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0"/>
          <p:cNvSpPr/>
          <p:nvPr/>
        </p:nvSpPr>
        <p:spPr>
          <a:xfrm>
            <a:off x="990534" y="6993599"/>
            <a:ext cx="2394529" cy="3185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86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5C6B86"/>
                </a:solidFill>
                <a:latin typeface="Courier New"/>
                <a:ea typeface="Courier New"/>
                <a:cs typeface="Courier New"/>
                <a:sym typeface="Courier New"/>
              </a:rPr>
              <a:t>BÀI TIẾP THEO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0"/>
          <p:cNvSpPr/>
          <p:nvPr/>
        </p:nvSpPr>
        <p:spPr>
          <a:xfrm>
            <a:off x="3556496" y="6914720"/>
            <a:ext cx="514416" cy="4762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E0CE"/>
              </a:buClr>
              <a:buSzPts val="3450"/>
              <a:buFont typeface="Arial"/>
              <a:buNone/>
            </a:pPr>
            <a:r>
              <a:rPr b="0" i="0" lang="en-US" sz="3450" u="none" cap="none" strike="noStrike">
                <a:solidFill>
                  <a:srgbClr val="2BE0CE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0"/>
          <p:cNvSpPr/>
          <p:nvPr/>
        </p:nvSpPr>
        <p:spPr>
          <a:xfrm>
            <a:off x="4242346" y="6898349"/>
            <a:ext cx="5962416" cy="5090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Tính dừng (stationarity) &amp; ADF test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18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1"/>
          <p:cNvSpPr/>
          <p:nvPr/>
        </p:nvSpPr>
        <p:spPr>
          <a:xfrm>
            <a:off x="12084100" y="3609992"/>
            <a:ext cx="5605157" cy="31051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500"/>
              <a:buFont typeface="Arial"/>
              <a:buNone/>
            </a:pPr>
            <a:r>
              <a:rPr b="1" i="0" lang="en-US" sz="34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3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1"/>
          <p:cNvSpPr/>
          <p:nvPr/>
        </p:nvSpPr>
        <p:spPr>
          <a:xfrm>
            <a:off x="990534" y="4152966"/>
            <a:ext cx="16796141" cy="334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E0C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BE0CE"/>
                </a:solidFill>
                <a:latin typeface="Courier New"/>
                <a:ea typeface="Courier New"/>
                <a:cs typeface="Courier New"/>
                <a:sym typeface="Courier New"/>
              </a:rPr>
              <a:t>SECTION 6 · LECTURE 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1"/>
          <p:cNvSpPr/>
          <p:nvPr/>
        </p:nvSpPr>
        <p:spPr>
          <a:xfrm>
            <a:off x="990534" y="4773084"/>
            <a:ext cx="12753976" cy="8899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6450"/>
              <a:buFont typeface="Arial"/>
              <a:buNone/>
            </a:pPr>
            <a:r>
              <a:rPr b="1" i="0" lang="en-US" sz="645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Tính dừng, ADF test &amp; sai phân</a:t>
            </a:r>
            <a:endParaRPr b="0" i="0" sz="6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1"/>
          <p:cNvSpPr/>
          <p:nvPr/>
        </p:nvSpPr>
        <p:spPr>
          <a:xfrm>
            <a:off x="990534" y="5948743"/>
            <a:ext cx="16796141" cy="31855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93A3BC"/>
                </a:solidFill>
                <a:latin typeface="Courier New"/>
                <a:ea typeface="Courier New"/>
                <a:cs typeface="Courier New"/>
                <a:sym typeface="Courier New"/>
              </a:rPr>
              <a:t>~8 phút · 6 slides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18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2"/>
          <p:cNvSpPr/>
          <p:nvPr/>
        </p:nvSpPr>
        <p:spPr>
          <a:xfrm>
            <a:off x="990534" y="800034"/>
            <a:ext cx="16796141" cy="334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E0C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BE0CE"/>
                </a:solidFill>
                <a:latin typeface="Courier New"/>
                <a:ea typeface="Courier New"/>
                <a:cs typeface="Courier New"/>
                <a:sym typeface="Courier New"/>
              </a:rPr>
              <a:t>STATIONARITY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2"/>
          <p:cNvSpPr/>
          <p:nvPr/>
        </p:nvSpPr>
        <p:spPr>
          <a:xfrm>
            <a:off x="990534" y="1286867"/>
            <a:ext cx="14716126" cy="6842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Chuỗi dừng (stationary) là gì?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2"/>
          <p:cNvSpPr/>
          <p:nvPr/>
        </p:nvSpPr>
        <p:spPr>
          <a:xfrm>
            <a:off x="1466784" y="4853203"/>
            <a:ext cx="7568651" cy="4456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2BE0CE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2BE0CE"/>
                </a:solidFill>
                <a:latin typeface="Arial"/>
                <a:ea typeface="Arial"/>
                <a:cs typeface="Arial"/>
                <a:sym typeface="Arial"/>
              </a:rPr>
              <a:t>Trung bình </a:t>
            </a: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ổn định theo thời gian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2"/>
          <p:cNvSpPr/>
          <p:nvPr/>
        </p:nvSpPr>
        <p:spPr>
          <a:xfrm>
            <a:off x="1466784" y="5546494"/>
            <a:ext cx="7568651" cy="4456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2BE0CE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2BE0CE"/>
                </a:solidFill>
                <a:latin typeface="Arial"/>
                <a:ea typeface="Arial"/>
                <a:cs typeface="Arial"/>
                <a:sym typeface="Arial"/>
              </a:rPr>
              <a:t>Phương sai </a:t>
            </a: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ổn định theo thời gian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2"/>
          <p:cNvSpPr/>
          <p:nvPr/>
        </p:nvSpPr>
        <p:spPr>
          <a:xfrm>
            <a:off x="1466784" y="6271535"/>
            <a:ext cx="5462596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Không còn trend hay seasonality sót lại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2"/>
          <p:cNvSpPr/>
          <p:nvPr/>
        </p:nvSpPr>
        <p:spPr>
          <a:xfrm>
            <a:off x="1466784" y="6727693"/>
            <a:ext cx="7554363" cy="3723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3BC"/>
                </a:solidFill>
                <a:latin typeface="Arial"/>
                <a:ea typeface="Arial"/>
                <a:cs typeface="Arial"/>
                <a:sym typeface="Arial"/>
              </a:rPr>
              <a:t>Chuỗi dừng thì dễ dự báo hơn nhiều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1" name="Google Shape;16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86884" y="3638848"/>
            <a:ext cx="7810583" cy="46374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18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3"/>
          <p:cNvSpPr/>
          <p:nvPr/>
        </p:nvSpPr>
        <p:spPr>
          <a:xfrm>
            <a:off x="990534" y="800034"/>
            <a:ext cx="16796141" cy="334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E0C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BE0CE"/>
                </a:solidFill>
                <a:latin typeface="Courier New"/>
                <a:ea typeface="Courier New"/>
                <a:cs typeface="Courier New"/>
                <a:sym typeface="Courier New"/>
              </a:rPr>
              <a:t>ADF TEST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3"/>
          <p:cNvSpPr/>
          <p:nvPr/>
        </p:nvSpPr>
        <p:spPr>
          <a:xfrm>
            <a:off x="990534" y="1286867"/>
            <a:ext cx="14716126" cy="6842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Kiểm định Augmented Dickey-Fuller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3"/>
          <p:cNvSpPr/>
          <p:nvPr/>
        </p:nvSpPr>
        <p:spPr>
          <a:xfrm>
            <a:off x="990534" y="4159581"/>
            <a:ext cx="9216430" cy="3596018"/>
          </a:xfrm>
          <a:prstGeom prst="roundRect">
            <a:avLst>
              <a:gd fmla="val 4238" name="adj"/>
            </a:avLst>
          </a:prstGeom>
          <a:solidFill>
            <a:srgbClr val="131C2E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571500" rotWithShape="0" algn="bl" dir="5400000" dist="228600">
              <a:srgbClr val="000000">
                <a:alpha val="8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3"/>
          <p:cNvSpPr/>
          <p:nvPr/>
        </p:nvSpPr>
        <p:spPr>
          <a:xfrm>
            <a:off x="995826" y="4164873"/>
            <a:ext cx="9205847" cy="607384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3"/>
          <p:cNvSpPr/>
          <p:nvPr/>
        </p:nvSpPr>
        <p:spPr>
          <a:xfrm>
            <a:off x="995826" y="4766965"/>
            <a:ext cx="9205847" cy="9525"/>
          </a:xfrm>
          <a:prstGeom prst="rect">
            <a:avLst/>
          </a:prstGeom>
          <a:solidFill>
            <a:srgbClr val="FFFFFF">
              <a:alpha val="901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3"/>
          <p:cNvSpPr/>
          <p:nvPr/>
        </p:nvSpPr>
        <p:spPr>
          <a:xfrm>
            <a:off x="1243459" y="4403990"/>
            <a:ext cx="123775" cy="123775"/>
          </a:xfrm>
          <a:prstGeom prst="ellipse">
            <a:avLst/>
          </a:prstGeom>
          <a:solidFill>
            <a:srgbClr val="3949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3"/>
          <p:cNvSpPr/>
          <p:nvPr/>
        </p:nvSpPr>
        <p:spPr>
          <a:xfrm>
            <a:off x="1471993" y="4403990"/>
            <a:ext cx="123775" cy="123775"/>
          </a:xfrm>
          <a:prstGeom prst="ellipse">
            <a:avLst/>
          </a:prstGeom>
          <a:solidFill>
            <a:srgbClr val="3949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3"/>
          <p:cNvSpPr/>
          <p:nvPr/>
        </p:nvSpPr>
        <p:spPr>
          <a:xfrm>
            <a:off x="1700527" y="4403990"/>
            <a:ext cx="123775" cy="123775"/>
          </a:xfrm>
          <a:prstGeom prst="ellipse">
            <a:avLst/>
          </a:prstGeom>
          <a:solidFill>
            <a:srgbClr val="3949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3"/>
          <p:cNvSpPr/>
          <p:nvPr/>
        </p:nvSpPr>
        <p:spPr>
          <a:xfrm>
            <a:off x="2062344" y="4336273"/>
            <a:ext cx="940313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93A3BC"/>
                </a:solidFill>
                <a:latin typeface="Courier New"/>
                <a:ea typeface="Courier New"/>
                <a:cs typeface="Courier New"/>
                <a:sym typeface="Courier New"/>
              </a:rPr>
              <a:t>adf.py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3"/>
          <p:cNvSpPr/>
          <p:nvPr/>
        </p:nvSpPr>
        <p:spPr>
          <a:xfrm>
            <a:off x="1319676" y="5058007"/>
            <a:ext cx="8834322" cy="24446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E0CE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2BE0CE"/>
                </a:solidFill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 statsmodels.tsa.stattools </a:t>
            </a:r>
            <a:r>
              <a:rPr b="0" i="0" lang="en-US" sz="1950" u="none" cap="none" strike="noStrike">
                <a:solidFill>
                  <a:srgbClr val="2BE0CE"/>
                </a:solidFill>
                <a:latin typeface="Courier New"/>
                <a:ea typeface="Courier New"/>
                <a:cs typeface="Courier New"/>
                <a:sym typeface="Courier New"/>
              </a:rPr>
              <a:t>import </a:t>
            </a: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 adfuller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50"/>
              <a:buFont typeface="Calibri"/>
              <a:buNone/>
            </a:pPr>
            <a:r>
              <a:t/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D6E2F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stat, pval, *_ = adfuller(series) 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E0CE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2BE0CE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(f</a:t>
            </a:r>
            <a:r>
              <a:rPr b="0" i="0" lang="en-US" sz="1950" u="none" cap="none" strike="noStrike">
                <a:solidFill>
                  <a:srgbClr val="86E3A8"/>
                </a:solidFill>
                <a:latin typeface="Courier New"/>
                <a:ea typeface="Courier New"/>
                <a:cs typeface="Courier New"/>
                <a:sym typeface="Courier New"/>
              </a:rPr>
              <a:t>"p-value = {pval:.4f}"</a:t>
            </a: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b="0" i="1" lang="en-US" sz="1950" u="none" cap="none" strike="noStrike">
                <a:solidFill>
                  <a:srgbClr val="5E7286"/>
                </a:solidFill>
                <a:latin typeface="Courier New"/>
                <a:ea typeface="Courier New"/>
                <a:cs typeface="Courier New"/>
                <a:sym typeface="Courier New"/>
              </a:rPr>
              <a:t># p-value &lt; 0.05  -&gt;  chuoi DUNG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3"/>
          <p:cNvSpPr/>
          <p:nvPr/>
        </p:nvSpPr>
        <p:spPr>
          <a:xfrm>
            <a:off x="11816375" y="5054203"/>
            <a:ext cx="5198911" cy="4636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CFE8FF"/>
              </a:buClr>
              <a:buSzPts val="2160"/>
              <a:buFont typeface="Courier New"/>
              <a:buNone/>
            </a:pPr>
            <a:r>
              <a:rPr b="0" i="0" lang="en-US" sz="2160" u="none" cap="none" strike="noStrike">
                <a:solidFill>
                  <a:srgbClr val="CFE8FF"/>
                </a:solidFill>
                <a:highlight>
                  <a:srgbClr val="1A2740"/>
                </a:highlight>
                <a:latin typeface="Courier New"/>
                <a:ea typeface="Courier New"/>
                <a:cs typeface="Courier New"/>
                <a:sym typeface="Courier New"/>
              </a:rPr>
              <a:t>p-value &lt; 0.05 </a:t>
            </a: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→ chuỗi </a:t>
            </a:r>
            <a:r>
              <a:rPr b="1" i="0" lang="en-US" sz="2400" u="none" cap="none" strike="noStrike">
                <a:solidFill>
                  <a:srgbClr val="2BE0CE"/>
                </a:solidFill>
                <a:latin typeface="Arial"/>
                <a:ea typeface="Arial"/>
                <a:cs typeface="Arial"/>
                <a:sym typeface="Arial"/>
              </a:rPr>
              <a:t>dừng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3"/>
          <p:cNvSpPr/>
          <p:nvPr/>
        </p:nvSpPr>
        <p:spPr>
          <a:xfrm>
            <a:off x="11816375" y="5765519"/>
            <a:ext cx="5198911" cy="44034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Ngược lại → cần xử lý thêm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3"/>
          <p:cNvSpPr/>
          <p:nvPr/>
        </p:nvSpPr>
        <p:spPr>
          <a:xfrm>
            <a:off x="11816375" y="6453518"/>
            <a:ext cx="5198911" cy="4456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Nối lại khái niệm </a:t>
            </a:r>
            <a:r>
              <a:rPr b="1" i="0" lang="en-US" sz="2400" u="none" cap="none" strike="noStrike">
                <a:solidFill>
                  <a:srgbClr val="2BE0CE"/>
                </a:solidFill>
                <a:latin typeface="Arial"/>
                <a:ea typeface="Arial"/>
                <a:cs typeface="Arial"/>
                <a:sym typeface="Arial"/>
              </a:rPr>
              <a:t>p-value </a:t>
            </a: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ở Section 4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18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4"/>
          <p:cNvSpPr/>
          <p:nvPr/>
        </p:nvSpPr>
        <p:spPr>
          <a:xfrm>
            <a:off x="990534" y="800034"/>
            <a:ext cx="16796141" cy="334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E0C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BE0CE"/>
                </a:solidFill>
                <a:latin typeface="Courier New"/>
                <a:ea typeface="Courier New"/>
                <a:cs typeface="Courier New"/>
                <a:sym typeface="Courier New"/>
              </a:rPr>
              <a:t>DIFFERENCING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4"/>
          <p:cNvSpPr/>
          <p:nvPr/>
        </p:nvSpPr>
        <p:spPr>
          <a:xfrm>
            <a:off x="990534" y="1286867"/>
            <a:ext cx="14716126" cy="6842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Sai phân để khử trend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4"/>
          <p:cNvSpPr/>
          <p:nvPr/>
        </p:nvSpPr>
        <p:spPr>
          <a:xfrm>
            <a:off x="1466784" y="5051557"/>
            <a:ext cx="7568651" cy="4636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Trừ giá trị </a:t>
            </a:r>
            <a:r>
              <a:rPr b="1" i="0" lang="en-US" sz="2400" u="none" cap="none" strike="noStrike">
                <a:solidFill>
                  <a:srgbClr val="2BE0CE"/>
                </a:solidFill>
                <a:latin typeface="Arial"/>
                <a:ea typeface="Arial"/>
                <a:cs typeface="Arial"/>
                <a:sym typeface="Arial"/>
              </a:rPr>
              <a:t>kỳ trước</a:t>
            </a: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0" i="0" lang="en-US" sz="2160" u="none" cap="none" strike="noStrike">
                <a:solidFill>
                  <a:srgbClr val="CFE8FF"/>
                </a:solidFill>
                <a:highlight>
                  <a:srgbClr val="1A2740"/>
                </a:highlight>
                <a:latin typeface="Courier New"/>
                <a:ea typeface="Courier New"/>
                <a:cs typeface="Courier New"/>
                <a:sym typeface="Courier New"/>
              </a:rPr>
              <a:t>y_t − y_{t-1}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4"/>
          <p:cNvSpPr/>
          <p:nvPr/>
        </p:nvSpPr>
        <p:spPr>
          <a:xfrm>
            <a:off x="1466784" y="5762873"/>
            <a:ext cx="7568651" cy="4456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Biến chuỗi </a:t>
            </a:r>
            <a:r>
              <a:rPr b="1" i="0" lang="en-US" sz="2400" u="none" cap="none" strike="noStrike">
                <a:solidFill>
                  <a:srgbClr val="2BE0CE"/>
                </a:solidFill>
                <a:latin typeface="Arial"/>
                <a:ea typeface="Arial"/>
                <a:cs typeface="Arial"/>
                <a:sym typeface="Arial"/>
              </a:rPr>
              <a:t>không dừng → dừng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4"/>
          <p:cNvSpPr/>
          <p:nvPr/>
        </p:nvSpPr>
        <p:spPr>
          <a:xfrm>
            <a:off x="1466784" y="6456165"/>
            <a:ext cx="7568651" cy="4456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Chính là chữ </a:t>
            </a:r>
            <a:r>
              <a:rPr b="1" i="0" lang="en-US" sz="2400" u="none" cap="none" strike="noStrike">
                <a:solidFill>
                  <a:srgbClr val="2BE0CE"/>
                </a:solidFill>
                <a:latin typeface="Arial"/>
                <a:ea typeface="Arial"/>
                <a:cs typeface="Arial"/>
                <a:sym typeface="Arial"/>
              </a:rPr>
              <a:t>“I” </a:t>
            </a: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trong ARIMA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0" name="Google Shape;19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86884" y="3638848"/>
            <a:ext cx="7810583" cy="46374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18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5"/>
          <p:cNvSpPr/>
          <p:nvPr/>
        </p:nvSpPr>
        <p:spPr>
          <a:xfrm>
            <a:off x="990534" y="800034"/>
            <a:ext cx="16796141" cy="334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E0C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BE0CE"/>
                </a:solidFill>
                <a:latin typeface="Courier New"/>
                <a:ea typeface="Courier New"/>
                <a:cs typeface="Courier New"/>
                <a:sym typeface="Courier New"/>
              </a:rPr>
              <a:t>BAO NHIÊU LẦN?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5"/>
          <p:cNvSpPr/>
          <p:nvPr/>
        </p:nvSpPr>
        <p:spPr>
          <a:xfrm>
            <a:off x="990534" y="1286867"/>
            <a:ext cx="14716126" cy="6842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Sai phân bao nhiêu lần là đủ?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5"/>
          <p:cNvSpPr/>
          <p:nvPr/>
        </p:nvSpPr>
        <p:spPr>
          <a:xfrm>
            <a:off x="990534" y="4360168"/>
            <a:ext cx="9216430" cy="3194926"/>
          </a:xfrm>
          <a:prstGeom prst="roundRect">
            <a:avLst>
              <a:gd fmla="val 4770" name="adj"/>
            </a:avLst>
          </a:prstGeom>
          <a:solidFill>
            <a:srgbClr val="131C2E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571500" rotWithShape="0" algn="bl" dir="5400000" dist="228600">
              <a:srgbClr val="000000">
                <a:alpha val="8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5"/>
          <p:cNvSpPr/>
          <p:nvPr/>
        </p:nvSpPr>
        <p:spPr>
          <a:xfrm>
            <a:off x="995826" y="4365460"/>
            <a:ext cx="9205847" cy="607384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5"/>
          <p:cNvSpPr/>
          <p:nvPr/>
        </p:nvSpPr>
        <p:spPr>
          <a:xfrm>
            <a:off x="995826" y="4967552"/>
            <a:ext cx="9205847" cy="9525"/>
          </a:xfrm>
          <a:prstGeom prst="rect">
            <a:avLst/>
          </a:prstGeom>
          <a:solidFill>
            <a:srgbClr val="FFFFFF">
              <a:alpha val="901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5"/>
          <p:cNvSpPr/>
          <p:nvPr/>
        </p:nvSpPr>
        <p:spPr>
          <a:xfrm>
            <a:off x="1243459" y="4604577"/>
            <a:ext cx="123775" cy="123775"/>
          </a:xfrm>
          <a:prstGeom prst="ellipse">
            <a:avLst/>
          </a:prstGeom>
          <a:solidFill>
            <a:srgbClr val="3949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5"/>
          <p:cNvSpPr/>
          <p:nvPr/>
        </p:nvSpPr>
        <p:spPr>
          <a:xfrm>
            <a:off x="1471993" y="4604577"/>
            <a:ext cx="123775" cy="123775"/>
          </a:xfrm>
          <a:prstGeom prst="ellipse">
            <a:avLst/>
          </a:prstGeom>
          <a:solidFill>
            <a:srgbClr val="3949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5"/>
          <p:cNvSpPr/>
          <p:nvPr/>
        </p:nvSpPr>
        <p:spPr>
          <a:xfrm>
            <a:off x="1700527" y="4604577"/>
            <a:ext cx="123775" cy="123775"/>
          </a:xfrm>
          <a:prstGeom prst="ellipse">
            <a:avLst/>
          </a:prstGeom>
          <a:solidFill>
            <a:srgbClr val="3949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5"/>
          <p:cNvSpPr/>
          <p:nvPr/>
        </p:nvSpPr>
        <p:spPr>
          <a:xfrm>
            <a:off x="2062344" y="4536860"/>
            <a:ext cx="1084263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93A3BC"/>
                </a:solidFill>
                <a:latin typeface="Courier New"/>
                <a:ea typeface="Courier New"/>
                <a:cs typeface="Courier New"/>
                <a:sym typeface="Courier New"/>
              </a:rPr>
              <a:t>diff.py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5"/>
          <p:cNvSpPr/>
          <p:nvPr/>
        </p:nvSpPr>
        <p:spPr>
          <a:xfrm>
            <a:off x="1319676" y="5258594"/>
            <a:ext cx="8834322" cy="20435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E0CE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2BE0CE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 d </a:t>
            </a:r>
            <a:r>
              <a:rPr b="0" i="0" lang="en-US" sz="1950" u="none" cap="none" strike="noStrike">
                <a:solidFill>
                  <a:srgbClr val="2BE0CE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 [</a:t>
            </a:r>
            <a:r>
              <a:rPr b="0" i="0" lang="en-US" sz="1950" u="none" cap="none" strike="noStrike">
                <a:solidFill>
                  <a:srgbClr val="F4B860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950" u="none" cap="none" strike="noStrike">
                <a:solidFill>
                  <a:srgbClr val="F4B860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950" u="none" cap="none" strike="noStrike">
                <a:solidFill>
                  <a:srgbClr val="F4B860"/>
                </a:solidFill>
                <a:latin typeface="Courier New"/>
                <a:ea typeface="Courier New"/>
                <a:cs typeface="Courier New"/>
                <a:sym typeface="Courier New"/>
              </a:rPr>
              <a:t>2 </a:t>
            </a: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]: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D6E2F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    p = adfuller(series.diff(d).dropna())[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F4B86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F4B860"/>
                </a:solidFill>
                <a:latin typeface="Courier New"/>
                <a:ea typeface="Courier New"/>
                <a:cs typeface="Courier New"/>
                <a:sym typeface="Courier New"/>
              </a:rPr>
              <a:t>1 </a:t>
            </a: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D6E2F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E0CE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2BE0CE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(d, round(p, </a:t>
            </a:r>
            <a:r>
              <a:rPr b="0" i="0" lang="en-US" sz="1950" u="none" cap="none" strike="noStrike">
                <a:solidFill>
                  <a:srgbClr val="F4B860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)) </a:t>
            </a:r>
            <a:r>
              <a:rPr b="0" i="1" lang="en-US" sz="1950" u="none" cap="none" strike="noStrike">
                <a:solidFill>
                  <a:srgbClr val="5E7286"/>
                </a:solidFill>
                <a:latin typeface="Courier New"/>
                <a:ea typeface="Courier New"/>
                <a:cs typeface="Courier New"/>
                <a:sym typeface="Courier New"/>
              </a:rPr>
              <a:t># 0 0.6213   1 0.0102   2 0.0006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5"/>
          <p:cNvSpPr/>
          <p:nvPr/>
        </p:nvSpPr>
        <p:spPr>
          <a:xfrm>
            <a:off x="11885249" y="5060570"/>
            <a:ext cx="5056945" cy="4456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Thường </a:t>
            </a:r>
            <a:r>
              <a:rPr b="1" i="0" lang="en-US" sz="2400" u="none" cap="none" strike="noStrike">
                <a:solidFill>
                  <a:srgbClr val="2BE0CE"/>
                </a:solidFill>
                <a:latin typeface="Arial"/>
                <a:ea typeface="Arial"/>
                <a:cs typeface="Arial"/>
                <a:sym typeface="Arial"/>
              </a:rPr>
              <a:t>1–2 lần </a:t>
            </a: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là đủ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5"/>
          <p:cNvSpPr/>
          <p:nvPr/>
        </p:nvSpPr>
        <p:spPr>
          <a:xfrm>
            <a:off x="11885249" y="5753861"/>
            <a:ext cx="5056945" cy="4456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Sai phân </a:t>
            </a:r>
            <a:r>
              <a:rPr b="1" i="0" lang="en-US" sz="2400" u="none" cap="none" strike="noStrike">
                <a:solidFill>
                  <a:srgbClr val="2BE0CE"/>
                </a:solidFill>
                <a:latin typeface="Arial"/>
                <a:ea typeface="Arial"/>
                <a:cs typeface="Arial"/>
                <a:sym typeface="Arial"/>
              </a:rPr>
              <a:t>quá nhiều = mất thông tin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5"/>
          <p:cNvSpPr/>
          <p:nvPr/>
        </p:nvSpPr>
        <p:spPr>
          <a:xfrm>
            <a:off x="11885249" y="6447152"/>
            <a:ext cx="5056945" cy="4456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Kiểm tra lại ADF sau </a:t>
            </a:r>
            <a:r>
              <a:rPr b="1" i="0" lang="en-US" sz="2400" u="none" cap="none" strike="noStrike">
                <a:solidFill>
                  <a:srgbClr val="2BE0CE"/>
                </a:solidFill>
                <a:latin typeface="Arial"/>
                <a:ea typeface="Arial"/>
                <a:cs typeface="Arial"/>
                <a:sym typeface="Arial"/>
              </a:rPr>
              <a:t>mỗi lần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18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6"/>
          <p:cNvSpPr/>
          <p:nvPr/>
        </p:nvSpPr>
        <p:spPr>
          <a:xfrm>
            <a:off x="990534" y="800034"/>
            <a:ext cx="16796141" cy="334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E0C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BE0CE"/>
                </a:solidFill>
                <a:latin typeface="Courier New"/>
                <a:ea typeface="Courier New"/>
                <a:cs typeface="Courier New"/>
                <a:sym typeface="Courier New"/>
              </a:rPr>
              <a:t>SECTION 6 · LECTURE 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6"/>
          <p:cNvSpPr/>
          <p:nvPr/>
        </p:nvSpPr>
        <p:spPr>
          <a:xfrm>
            <a:off x="990534" y="1286867"/>
            <a:ext cx="14716126" cy="6842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Tóm tắt &amp; chuyển bài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6"/>
          <p:cNvSpPr/>
          <p:nvPr/>
        </p:nvSpPr>
        <p:spPr>
          <a:xfrm>
            <a:off x="990534" y="4545873"/>
            <a:ext cx="16796141" cy="3185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86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5C6B86"/>
                </a:solidFill>
                <a:latin typeface="Courier New"/>
                <a:ea typeface="Courier New"/>
                <a:cs typeface="Courier New"/>
                <a:sym typeface="Courier New"/>
              </a:rPr>
              <a:t>ĐÃ HỌC TRONG BÀI NÀY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6"/>
          <p:cNvSpPr/>
          <p:nvPr/>
        </p:nvSpPr>
        <p:spPr>
          <a:xfrm>
            <a:off x="990534" y="5264465"/>
            <a:ext cx="2677914" cy="676176"/>
          </a:xfrm>
          <a:prstGeom prst="roundRect">
            <a:avLst>
              <a:gd fmla="val 50000" name="adj"/>
            </a:avLst>
          </a:prstGeom>
          <a:solidFill>
            <a:srgbClr val="131C2E"/>
          </a:solidFill>
          <a:ln cap="flat" cmpd="sng" w="9525">
            <a:solidFill>
              <a:srgbClr val="FFFFFF">
                <a:alpha val="1686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6"/>
          <p:cNvSpPr/>
          <p:nvPr/>
        </p:nvSpPr>
        <p:spPr>
          <a:xfrm>
            <a:off x="1300626" y="5441206"/>
            <a:ext cx="2138068" cy="3607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E7EDF8"/>
                </a:solidFill>
                <a:latin typeface="Courier New"/>
                <a:ea typeface="Courier New"/>
                <a:cs typeface="Courier New"/>
                <a:sym typeface="Courier New"/>
              </a:rPr>
              <a:t>stationarity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6"/>
          <p:cNvSpPr/>
          <p:nvPr/>
        </p:nvSpPr>
        <p:spPr>
          <a:xfrm>
            <a:off x="3858948" y="5264465"/>
            <a:ext cx="1991982" cy="676176"/>
          </a:xfrm>
          <a:prstGeom prst="roundRect">
            <a:avLst>
              <a:gd fmla="val 50000" name="adj"/>
            </a:avLst>
          </a:prstGeom>
          <a:solidFill>
            <a:srgbClr val="131C2E"/>
          </a:solidFill>
          <a:ln cap="flat" cmpd="sng" w="9525">
            <a:solidFill>
              <a:srgbClr val="FFFFFF">
                <a:alpha val="1686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6"/>
          <p:cNvSpPr/>
          <p:nvPr/>
        </p:nvSpPr>
        <p:spPr>
          <a:xfrm>
            <a:off x="4169040" y="5441206"/>
            <a:ext cx="1447999" cy="3607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E7EDF8"/>
                </a:solidFill>
                <a:latin typeface="Courier New"/>
                <a:ea typeface="Courier New"/>
                <a:cs typeface="Courier New"/>
                <a:sym typeface="Courier New"/>
              </a:rPr>
              <a:t>ADF test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6"/>
          <p:cNvSpPr/>
          <p:nvPr/>
        </p:nvSpPr>
        <p:spPr>
          <a:xfrm>
            <a:off x="6041430" y="5264465"/>
            <a:ext cx="3363764" cy="676176"/>
          </a:xfrm>
          <a:prstGeom prst="roundRect">
            <a:avLst>
              <a:gd fmla="val 50000" name="adj"/>
            </a:avLst>
          </a:prstGeom>
          <a:solidFill>
            <a:srgbClr val="131C2E"/>
          </a:solidFill>
          <a:ln cap="flat" cmpd="sng" w="9525">
            <a:solidFill>
              <a:srgbClr val="FFFFFF">
                <a:alpha val="1686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6"/>
          <p:cNvSpPr/>
          <p:nvPr/>
        </p:nvSpPr>
        <p:spPr>
          <a:xfrm>
            <a:off x="6351522" y="5441206"/>
            <a:ext cx="2844493" cy="3607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E7EDF8"/>
                </a:solidFill>
                <a:latin typeface="Courier New"/>
                <a:ea typeface="Courier New"/>
                <a:cs typeface="Courier New"/>
                <a:sym typeface="Courier New"/>
              </a:rPr>
              <a:t>differencing (d)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6"/>
          <p:cNvSpPr/>
          <p:nvPr/>
        </p:nvSpPr>
        <p:spPr>
          <a:xfrm>
            <a:off x="990534" y="6512058"/>
            <a:ext cx="16306933" cy="9525"/>
          </a:xfrm>
          <a:prstGeom prst="rect">
            <a:avLst/>
          </a:prstGeom>
          <a:solidFill>
            <a:srgbClr val="FFFFFF">
              <a:alpha val="901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6"/>
          <p:cNvSpPr/>
          <p:nvPr/>
        </p:nvSpPr>
        <p:spPr>
          <a:xfrm>
            <a:off x="990534" y="6993599"/>
            <a:ext cx="2394529" cy="3185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86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5C6B86"/>
                </a:solidFill>
                <a:latin typeface="Courier New"/>
                <a:ea typeface="Courier New"/>
                <a:cs typeface="Courier New"/>
                <a:sym typeface="Courier New"/>
              </a:rPr>
              <a:t>BÀI TIẾP THEO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6"/>
          <p:cNvSpPr/>
          <p:nvPr/>
        </p:nvSpPr>
        <p:spPr>
          <a:xfrm>
            <a:off x="3556496" y="6914720"/>
            <a:ext cx="514416" cy="4762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E0CE"/>
              </a:buClr>
              <a:buSzPts val="3450"/>
              <a:buFont typeface="Arial"/>
              <a:buNone/>
            </a:pPr>
            <a:r>
              <a:rPr b="0" i="0" lang="en-US" sz="3450" u="none" cap="none" strike="noStrike">
                <a:solidFill>
                  <a:srgbClr val="2BE0CE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6"/>
          <p:cNvSpPr/>
          <p:nvPr/>
        </p:nvSpPr>
        <p:spPr>
          <a:xfrm>
            <a:off x="4242346" y="6898349"/>
            <a:ext cx="4522143" cy="5090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Smoothing &amp; Holt-Winters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18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7"/>
          <p:cNvSpPr/>
          <p:nvPr/>
        </p:nvSpPr>
        <p:spPr>
          <a:xfrm>
            <a:off x="12022832" y="3609992"/>
            <a:ext cx="5668263" cy="31051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500"/>
              <a:buFont typeface="Arial"/>
              <a:buNone/>
            </a:pPr>
            <a:r>
              <a:rPr b="1" i="0" lang="en-US" sz="34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3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7"/>
          <p:cNvSpPr/>
          <p:nvPr/>
        </p:nvSpPr>
        <p:spPr>
          <a:xfrm>
            <a:off x="990534" y="4152966"/>
            <a:ext cx="16796141" cy="334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E0C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BE0CE"/>
                </a:solidFill>
                <a:latin typeface="Courier New"/>
                <a:ea typeface="Courier New"/>
                <a:cs typeface="Courier New"/>
                <a:sym typeface="Courier New"/>
              </a:rPr>
              <a:t>SECTION 6 · LECTURE 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7"/>
          <p:cNvSpPr/>
          <p:nvPr/>
        </p:nvSpPr>
        <p:spPr>
          <a:xfrm>
            <a:off x="990534" y="4773084"/>
            <a:ext cx="12753976" cy="8899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6450"/>
              <a:buFont typeface="Arial"/>
              <a:buNone/>
            </a:pPr>
            <a:r>
              <a:rPr b="1" i="0" lang="en-US" sz="645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Làm mượt &amp; dự báo cơ bản</a:t>
            </a:r>
            <a:endParaRPr b="0" i="0" sz="6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7"/>
          <p:cNvSpPr/>
          <p:nvPr/>
        </p:nvSpPr>
        <p:spPr>
          <a:xfrm>
            <a:off x="990534" y="5948743"/>
            <a:ext cx="16796141" cy="31855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93A3BC"/>
                </a:solidFill>
                <a:latin typeface="Courier New"/>
                <a:ea typeface="Courier New"/>
                <a:cs typeface="Courier New"/>
                <a:sym typeface="Courier New"/>
              </a:rPr>
              <a:t>~8 phút · 6 slides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18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8"/>
          <p:cNvSpPr/>
          <p:nvPr/>
        </p:nvSpPr>
        <p:spPr>
          <a:xfrm>
            <a:off x="990534" y="800034"/>
            <a:ext cx="16796141" cy="334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E0C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BE0CE"/>
                </a:solidFill>
                <a:latin typeface="Courier New"/>
                <a:ea typeface="Courier New"/>
                <a:cs typeface="Courier New"/>
                <a:sym typeface="Courier New"/>
              </a:rPr>
              <a:t>MOVING AVERAGE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8"/>
          <p:cNvSpPr/>
          <p:nvPr/>
        </p:nvSpPr>
        <p:spPr>
          <a:xfrm>
            <a:off x="990534" y="1286867"/>
            <a:ext cx="14716126" cy="6842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Trung bình trượt làm mượt nhiễu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8"/>
          <p:cNvSpPr/>
          <p:nvPr/>
        </p:nvSpPr>
        <p:spPr>
          <a:xfrm>
            <a:off x="990534" y="4560673"/>
            <a:ext cx="9216430" cy="2793835"/>
          </a:xfrm>
          <a:prstGeom prst="roundRect">
            <a:avLst>
              <a:gd fmla="val 5455" name="adj"/>
            </a:avLst>
          </a:prstGeom>
          <a:solidFill>
            <a:srgbClr val="131C2E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571500" rotWithShape="0" algn="bl" dir="5400000" dist="228600">
              <a:srgbClr val="000000">
                <a:alpha val="8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8"/>
          <p:cNvSpPr/>
          <p:nvPr/>
        </p:nvSpPr>
        <p:spPr>
          <a:xfrm>
            <a:off x="995826" y="4565964"/>
            <a:ext cx="9205847" cy="607384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8"/>
          <p:cNvSpPr/>
          <p:nvPr/>
        </p:nvSpPr>
        <p:spPr>
          <a:xfrm>
            <a:off x="995826" y="5168057"/>
            <a:ext cx="9205847" cy="9525"/>
          </a:xfrm>
          <a:prstGeom prst="rect">
            <a:avLst/>
          </a:prstGeom>
          <a:solidFill>
            <a:srgbClr val="FFFFFF">
              <a:alpha val="901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8"/>
          <p:cNvSpPr/>
          <p:nvPr/>
        </p:nvSpPr>
        <p:spPr>
          <a:xfrm>
            <a:off x="1243459" y="4805082"/>
            <a:ext cx="123775" cy="123775"/>
          </a:xfrm>
          <a:prstGeom prst="ellipse">
            <a:avLst/>
          </a:prstGeom>
          <a:solidFill>
            <a:srgbClr val="3949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8"/>
          <p:cNvSpPr/>
          <p:nvPr/>
        </p:nvSpPr>
        <p:spPr>
          <a:xfrm>
            <a:off x="1471993" y="4805082"/>
            <a:ext cx="123775" cy="123775"/>
          </a:xfrm>
          <a:prstGeom prst="ellipse">
            <a:avLst/>
          </a:prstGeom>
          <a:solidFill>
            <a:srgbClr val="3949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8"/>
          <p:cNvSpPr/>
          <p:nvPr/>
        </p:nvSpPr>
        <p:spPr>
          <a:xfrm>
            <a:off x="1700527" y="4805082"/>
            <a:ext cx="123775" cy="123775"/>
          </a:xfrm>
          <a:prstGeom prst="ellipse">
            <a:avLst/>
          </a:prstGeom>
          <a:solidFill>
            <a:srgbClr val="3949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8"/>
          <p:cNvSpPr/>
          <p:nvPr/>
        </p:nvSpPr>
        <p:spPr>
          <a:xfrm>
            <a:off x="2062344" y="4737365"/>
            <a:ext cx="1516360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93A3BC"/>
                </a:solidFill>
                <a:latin typeface="Courier New"/>
                <a:ea typeface="Courier New"/>
                <a:cs typeface="Courier New"/>
                <a:sym typeface="Courier New"/>
              </a:rPr>
              <a:t>rolling.py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8"/>
          <p:cNvSpPr/>
          <p:nvPr/>
        </p:nvSpPr>
        <p:spPr>
          <a:xfrm>
            <a:off x="1319676" y="5459099"/>
            <a:ext cx="8834322" cy="16424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D6E2F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df[</a:t>
            </a:r>
            <a:r>
              <a:rPr b="0" i="0" lang="en-US" sz="1950" u="none" cap="none" strike="noStrike">
                <a:solidFill>
                  <a:srgbClr val="86E3A8"/>
                </a:solidFill>
                <a:latin typeface="Courier New"/>
                <a:ea typeface="Courier New"/>
                <a:cs typeface="Courier New"/>
                <a:sym typeface="Courier New"/>
              </a:rPr>
              <a:t>"ma7"</a:t>
            </a: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]  = df[</a:t>
            </a:r>
            <a:r>
              <a:rPr b="0" i="0" lang="en-US" sz="1950" u="none" cap="none" strike="noStrike">
                <a:solidFill>
                  <a:srgbClr val="86E3A8"/>
                </a:solidFill>
                <a:latin typeface="Courier New"/>
                <a:ea typeface="Courier New"/>
                <a:cs typeface="Courier New"/>
                <a:sym typeface="Courier New"/>
              </a:rPr>
              <a:t>"sales"</a:t>
            </a: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].rolling(</a:t>
            </a:r>
            <a:r>
              <a:rPr b="0" i="0" lang="en-US" sz="1950" u="none" cap="none" strike="noStrike">
                <a:solidFill>
                  <a:srgbClr val="F4B860"/>
                </a:solidFill>
                <a:latin typeface="Courier New"/>
                <a:ea typeface="Courier New"/>
                <a:cs typeface="Courier New"/>
                <a:sym typeface="Courier New"/>
              </a:rPr>
              <a:t>7 </a:t>
            </a: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).mean()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D6E2F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df[ 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86E3A8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86E3A8"/>
                </a:solidFill>
                <a:latin typeface="Courier New"/>
                <a:ea typeface="Courier New"/>
                <a:cs typeface="Courier New"/>
                <a:sym typeface="Courier New"/>
              </a:rPr>
              <a:t>"ma30"</a:t>
            </a: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] = df[</a:t>
            </a:r>
            <a:r>
              <a:rPr b="0" i="0" lang="en-US" sz="1950" u="none" cap="none" strike="noStrike">
                <a:solidFill>
                  <a:srgbClr val="86E3A8"/>
                </a:solidFill>
                <a:latin typeface="Courier New"/>
                <a:ea typeface="Courier New"/>
                <a:cs typeface="Courier New"/>
                <a:sym typeface="Courier New"/>
              </a:rPr>
              <a:t>"sales"</a:t>
            </a: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].rolling(</a:t>
            </a:r>
            <a:r>
              <a:rPr b="0" i="0" lang="en-US" sz="1950" u="none" cap="none" strike="noStrike">
                <a:solidFill>
                  <a:srgbClr val="F4B860"/>
                </a:solidFill>
                <a:latin typeface="Courier New"/>
                <a:ea typeface="Courier New"/>
                <a:cs typeface="Courier New"/>
                <a:sym typeface="Courier New"/>
              </a:rPr>
              <a:t>30</a:t>
            </a: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).mean() </a:t>
            </a:r>
            <a:r>
              <a:rPr b="0" i="1" lang="en-US" sz="1950" u="none" cap="none" strike="noStrike">
                <a:solidFill>
                  <a:srgbClr val="5E7286"/>
                </a:solidFill>
                <a:latin typeface="Courier New"/>
                <a:ea typeface="Courier New"/>
                <a:cs typeface="Courier New"/>
                <a:sym typeface="Courier New"/>
              </a:rPr>
              <a:t># cua so cang lon  -&gt;  cang muot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8"/>
          <p:cNvSpPr/>
          <p:nvPr/>
        </p:nvSpPr>
        <p:spPr>
          <a:xfrm>
            <a:off x="11715750" y="5054203"/>
            <a:ext cx="5406198" cy="4456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Trung bình </a:t>
            </a:r>
            <a:r>
              <a:rPr b="1" i="0" lang="en-US" sz="2400" u="none" cap="none" strike="noStrike">
                <a:solidFill>
                  <a:srgbClr val="2BE0CE"/>
                </a:solidFill>
                <a:latin typeface="Arial"/>
                <a:ea typeface="Arial"/>
                <a:cs typeface="Arial"/>
                <a:sym typeface="Arial"/>
              </a:rPr>
              <a:t>cửa sổ trượt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8"/>
          <p:cNvSpPr/>
          <p:nvPr/>
        </p:nvSpPr>
        <p:spPr>
          <a:xfrm>
            <a:off x="11715750" y="5747495"/>
            <a:ext cx="5406198" cy="4456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Làm </a:t>
            </a:r>
            <a:r>
              <a:rPr b="1" i="0" lang="en-US" sz="2400" u="none" cap="none" strike="noStrike">
                <a:solidFill>
                  <a:srgbClr val="2BE0CE"/>
                </a:solidFill>
                <a:latin typeface="Arial"/>
                <a:ea typeface="Arial"/>
                <a:cs typeface="Arial"/>
                <a:sym typeface="Arial"/>
              </a:rPr>
              <a:t>mượt nhiễu</a:t>
            </a: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, lộ rõ xu hướng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8"/>
          <p:cNvSpPr/>
          <p:nvPr/>
        </p:nvSpPr>
        <p:spPr>
          <a:xfrm>
            <a:off x="11715750" y="6440785"/>
            <a:ext cx="5406198" cy="45837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Nối lại </a:t>
            </a:r>
            <a:r>
              <a:rPr b="0" i="0" lang="en-US" sz="2160" u="none" cap="none" strike="noStrike">
                <a:solidFill>
                  <a:srgbClr val="CFE8FF"/>
                </a:solidFill>
                <a:highlight>
                  <a:srgbClr val="1A2740"/>
                </a:highlight>
                <a:latin typeface="Courier New"/>
                <a:ea typeface="Courier New"/>
                <a:cs typeface="Courier New"/>
                <a:sym typeface="Courier New"/>
              </a:rPr>
              <a:t>rolling() </a:t>
            </a: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đã học ở Section 2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18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9"/>
          <p:cNvSpPr/>
          <p:nvPr/>
        </p:nvSpPr>
        <p:spPr>
          <a:xfrm>
            <a:off x="990534" y="800034"/>
            <a:ext cx="16796141" cy="334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E0C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BE0CE"/>
                </a:solidFill>
                <a:latin typeface="Courier New"/>
                <a:ea typeface="Courier New"/>
                <a:cs typeface="Courier New"/>
                <a:sym typeface="Courier New"/>
              </a:rPr>
              <a:t>EXPONENTIAL SMOOTHING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9"/>
          <p:cNvSpPr/>
          <p:nvPr/>
        </p:nvSpPr>
        <p:spPr>
          <a:xfrm>
            <a:off x="990534" y="1286867"/>
            <a:ext cx="14716126" cy="6842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Trọng số giảm dần về quá khứ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9"/>
          <p:cNvSpPr/>
          <p:nvPr/>
        </p:nvSpPr>
        <p:spPr>
          <a:xfrm>
            <a:off x="1466784" y="5060570"/>
            <a:ext cx="7568651" cy="4456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2BE0CE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2BE0CE"/>
                </a:solidFill>
                <a:latin typeface="Arial"/>
                <a:ea typeface="Arial"/>
                <a:cs typeface="Arial"/>
                <a:sym typeface="Arial"/>
              </a:rPr>
              <a:t>Trọng số mũ </a:t>
            </a: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giảm dần theo độ trễ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9"/>
          <p:cNvSpPr/>
          <p:nvPr/>
        </p:nvSpPr>
        <p:spPr>
          <a:xfrm>
            <a:off x="1466784" y="5753861"/>
            <a:ext cx="7568651" cy="4456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Quan sát </a:t>
            </a:r>
            <a:r>
              <a:rPr b="1" i="0" lang="en-US" sz="2400" u="none" cap="none" strike="noStrike">
                <a:solidFill>
                  <a:srgbClr val="2BE0CE"/>
                </a:solidFill>
                <a:latin typeface="Arial"/>
                <a:ea typeface="Arial"/>
                <a:cs typeface="Arial"/>
                <a:sym typeface="Arial"/>
              </a:rPr>
              <a:t>gần đây quan trọng hơn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9"/>
          <p:cNvSpPr/>
          <p:nvPr/>
        </p:nvSpPr>
        <p:spPr>
          <a:xfrm>
            <a:off x="1466784" y="6447152"/>
            <a:ext cx="7568651" cy="4456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Phản ứng </a:t>
            </a:r>
            <a:r>
              <a:rPr b="1" i="0" lang="en-US" sz="2400" u="none" cap="none" strike="noStrike">
                <a:solidFill>
                  <a:srgbClr val="2BE0CE"/>
                </a:solidFill>
                <a:latin typeface="Arial"/>
                <a:ea typeface="Arial"/>
                <a:cs typeface="Arial"/>
                <a:sym typeface="Arial"/>
              </a:rPr>
              <a:t>nhanh </a:t>
            </a: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với thay đổi mới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64" name="Google Shape;26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86884" y="3760887"/>
            <a:ext cx="7810583" cy="43934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18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0"/>
          <p:cNvSpPr/>
          <p:nvPr/>
        </p:nvSpPr>
        <p:spPr>
          <a:xfrm>
            <a:off x="990534" y="800034"/>
            <a:ext cx="16796141" cy="334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E0C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BE0CE"/>
                </a:solidFill>
                <a:latin typeface="Courier New"/>
                <a:ea typeface="Courier New"/>
                <a:cs typeface="Courier New"/>
                <a:sym typeface="Courier New"/>
              </a:rPr>
              <a:t>HOLT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0"/>
          <p:cNvSpPr/>
          <p:nvPr/>
        </p:nvSpPr>
        <p:spPr>
          <a:xfrm>
            <a:off x="990534" y="1286867"/>
            <a:ext cx="14716126" cy="6842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Holt — thêm thành phần xu hướng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0"/>
          <p:cNvSpPr/>
          <p:nvPr/>
        </p:nvSpPr>
        <p:spPr>
          <a:xfrm>
            <a:off x="1466784" y="5407174"/>
            <a:ext cx="7568651" cy="4456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Mở rộng cho chuỗi </a:t>
            </a:r>
            <a:r>
              <a:rPr b="1" i="0" lang="en-US" sz="2400" u="none" cap="none" strike="noStrike">
                <a:solidFill>
                  <a:srgbClr val="2BE0CE"/>
                </a:solidFill>
                <a:latin typeface="Arial"/>
                <a:ea typeface="Arial"/>
                <a:cs typeface="Arial"/>
                <a:sym typeface="Arial"/>
              </a:rPr>
              <a:t>có trend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0"/>
          <p:cNvSpPr/>
          <p:nvPr/>
        </p:nvSpPr>
        <p:spPr>
          <a:xfrm>
            <a:off x="1466784" y="6100465"/>
            <a:ext cx="7568651" cy="4456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Dự báo nối tiếp theo </a:t>
            </a:r>
            <a:r>
              <a:rPr b="1" i="0" lang="en-US" sz="2400" u="none" cap="none" strike="noStrike">
                <a:solidFill>
                  <a:srgbClr val="2BE0CE"/>
                </a:solidFill>
                <a:latin typeface="Arial"/>
                <a:ea typeface="Arial"/>
                <a:cs typeface="Arial"/>
                <a:sym typeface="Arial"/>
              </a:rPr>
              <a:t>độ dốc </a:t>
            </a: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hiện tại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74" name="Google Shape;27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86884" y="3638848"/>
            <a:ext cx="7810583" cy="46374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18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1"/>
          <p:cNvSpPr/>
          <p:nvPr/>
        </p:nvSpPr>
        <p:spPr>
          <a:xfrm>
            <a:off x="990534" y="800034"/>
            <a:ext cx="16796141" cy="334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E0C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BE0CE"/>
                </a:solidFill>
                <a:latin typeface="Courier New"/>
                <a:ea typeface="Courier New"/>
                <a:cs typeface="Courier New"/>
                <a:sym typeface="Courier New"/>
              </a:rPr>
              <a:t>HOLT-WINTERS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1"/>
          <p:cNvSpPr/>
          <p:nvPr/>
        </p:nvSpPr>
        <p:spPr>
          <a:xfrm>
            <a:off x="990534" y="1286867"/>
            <a:ext cx="14716126" cy="6842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Thêm cả mùa vụ (seasonality)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1"/>
          <p:cNvSpPr/>
          <p:nvPr/>
        </p:nvSpPr>
        <p:spPr>
          <a:xfrm>
            <a:off x="990534" y="4159581"/>
            <a:ext cx="9575106" cy="3596018"/>
          </a:xfrm>
          <a:prstGeom prst="roundRect">
            <a:avLst>
              <a:gd fmla="val 4238" name="adj"/>
            </a:avLst>
          </a:prstGeom>
          <a:solidFill>
            <a:srgbClr val="131C2E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571500" rotWithShape="0" algn="bl" dir="5400000" dist="228600">
              <a:srgbClr val="000000">
                <a:alpha val="8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21"/>
          <p:cNvSpPr/>
          <p:nvPr/>
        </p:nvSpPr>
        <p:spPr>
          <a:xfrm>
            <a:off x="995826" y="4164873"/>
            <a:ext cx="9564523" cy="607384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21"/>
          <p:cNvSpPr/>
          <p:nvPr/>
        </p:nvSpPr>
        <p:spPr>
          <a:xfrm>
            <a:off x="995826" y="4766965"/>
            <a:ext cx="9564523" cy="9525"/>
          </a:xfrm>
          <a:prstGeom prst="rect">
            <a:avLst/>
          </a:prstGeom>
          <a:solidFill>
            <a:srgbClr val="FFFFFF">
              <a:alpha val="901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21"/>
          <p:cNvSpPr/>
          <p:nvPr/>
        </p:nvSpPr>
        <p:spPr>
          <a:xfrm>
            <a:off x="1243459" y="4403990"/>
            <a:ext cx="123775" cy="123775"/>
          </a:xfrm>
          <a:prstGeom prst="ellipse">
            <a:avLst/>
          </a:prstGeom>
          <a:solidFill>
            <a:srgbClr val="3949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21"/>
          <p:cNvSpPr/>
          <p:nvPr/>
        </p:nvSpPr>
        <p:spPr>
          <a:xfrm>
            <a:off x="1471993" y="4403990"/>
            <a:ext cx="123775" cy="123775"/>
          </a:xfrm>
          <a:prstGeom prst="ellipse">
            <a:avLst/>
          </a:prstGeom>
          <a:solidFill>
            <a:srgbClr val="3949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21"/>
          <p:cNvSpPr/>
          <p:nvPr/>
        </p:nvSpPr>
        <p:spPr>
          <a:xfrm>
            <a:off x="1700527" y="4403990"/>
            <a:ext cx="123775" cy="123775"/>
          </a:xfrm>
          <a:prstGeom prst="ellipse">
            <a:avLst/>
          </a:prstGeom>
          <a:solidFill>
            <a:srgbClr val="3949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21"/>
          <p:cNvSpPr/>
          <p:nvPr/>
        </p:nvSpPr>
        <p:spPr>
          <a:xfrm>
            <a:off x="2062344" y="4336273"/>
            <a:ext cx="2092325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93A3BC"/>
                </a:solidFill>
                <a:latin typeface="Courier New"/>
                <a:ea typeface="Courier New"/>
                <a:cs typeface="Courier New"/>
                <a:sym typeface="Courier New"/>
              </a:rPr>
              <a:t>holtwinters.py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1"/>
          <p:cNvSpPr/>
          <p:nvPr/>
        </p:nvSpPr>
        <p:spPr>
          <a:xfrm>
            <a:off x="1319676" y="5058007"/>
            <a:ext cx="9203758" cy="24446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E0CE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2BE0CE"/>
                </a:solidFill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 statsmodels.tsa.holtwinters </a:t>
            </a:r>
            <a:r>
              <a:rPr b="0" i="0" lang="en-US" sz="1950" u="none" cap="none" strike="noStrike">
                <a:solidFill>
                  <a:srgbClr val="2BE0CE"/>
                </a:solidFill>
                <a:latin typeface="Courier New"/>
                <a:ea typeface="Courier New"/>
                <a:cs typeface="Courier New"/>
                <a:sym typeface="Courier New"/>
              </a:rPr>
              <a:t>import </a:t>
            </a: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 ExponentialSmoothing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50"/>
              <a:buFont typeface="Calibri"/>
              <a:buNone/>
            </a:pPr>
            <a:r>
              <a:t/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D6E2F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model = ExponentialSmoothing(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D6E2F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    sales, trend= 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86E3A8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86E3A8"/>
                </a:solidFill>
                <a:latin typeface="Courier New"/>
                <a:ea typeface="Courier New"/>
                <a:cs typeface="Courier New"/>
                <a:sym typeface="Courier New"/>
              </a:rPr>
              <a:t>"add"</a:t>
            </a: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, seasonal=</a:t>
            </a:r>
            <a:r>
              <a:rPr b="0" i="0" lang="en-US" sz="1950" u="none" cap="none" strike="noStrike">
                <a:solidFill>
                  <a:srgbClr val="86E3A8"/>
                </a:solidFill>
                <a:latin typeface="Courier New"/>
                <a:ea typeface="Courier New"/>
                <a:cs typeface="Courier New"/>
                <a:sym typeface="Courier New"/>
              </a:rPr>
              <a:t>"add" </a:t>
            </a: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D6E2F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    seasonal_periods= 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F4B86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F4B860"/>
                </a:solidFill>
                <a:latin typeface="Courier New"/>
                <a:ea typeface="Courier New"/>
                <a:cs typeface="Courier New"/>
                <a:sym typeface="Courier New"/>
              </a:rPr>
              <a:t>12 </a:t>
            </a: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).fit()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D6E2F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forecast = model.forecast( 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F4B86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F4B860"/>
                </a:solidFill>
                <a:latin typeface="Courier New"/>
                <a:ea typeface="Courier New"/>
                <a:cs typeface="Courier New"/>
                <a:sym typeface="Courier New"/>
              </a:rPr>
              <a:t>12</a:t>
            </a: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1"/>
          <p:cNvSpPr/>
          <p:nvPr/>
        </p:nvSpPr>
        <p:spPr>
          <a:xfrm>
            <a:off x="11811993" y="5407174"/>
            <a:ext cx="4456377" cy="4456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Bộ ba: </a:t>
            </a:r>
            <a:r>
              <a:rPr b="1" i="0" lang="en-US" sz="2400" u="none" cap="none" strike="noStrike">
                <a:solidFill>
                  <a:srgbClr val="2BE0CE"/>
                </a:solidFill>
                <a:latin typeface="Arial"/>
                <a:ea typeface="Arial"/>
                <a:cs typeface="Arial"/>
                <a:sym typeface="Arial"/>
              </a:rPr>
              <a:t>level + trend + seasonal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1"/>
          <p:cNvSpPr/>
          <p:nvPr/>
        </p:nvSpPr>
        <p:spPr>
          <a:xfrm>
            <a:off x="11811993" y="6100465"/>
            <a:ext cx="4456377" cy="4456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Mạnh cho dữ liệu </a:t>
            </a:r>
            <a:r>
              <a:rPr b="1" i="0" lang="en-US" sz="2400" u="none" cap="none" strike="noStrike">
                <a:solidFill>
                  <a:srgbClr val="2BE0CE"/>
                </a:solidFill>
                <a:latin typeface="Arial"/>
                <a:ea typeface="Arial"/>
                <a:cs typeface="Arial"/>
                <a:sym typeface="Arial"/>
              </a:rPr>
              <a:t>mùa vụ rõ rệt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18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2"/>
          <p:cNvSpPr/>
          <p:nvPr/>
        </p:nvSpPr>
        <p:spPr>
          <a:xfrm>
            <a:off x="990534" y="800034"/>
            <a:ext cx="16796141" cy="334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E0C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BE0CE"/>
                </a:solidFill>
                <a:latin typeface="Courier New"/>
                <a:ea typeface="Courier New"/>
                <a:cs typeface="Courier New"/>
                <a:sym typeface="Courier New"/>
              </a:rPr>
              <a:t>SECTION 6 · LECTURE 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2"/>
          <p:cNvSpPr/>
          <p:nvPr/>
        </p:nvSpPr>
        <p:spPr>
          <a:xfrm>
            <a:off x="990534" y="1286867"/>
            <a:ext cx="14716126" cy="6842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Tóm tắt &amp; chuyển bài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2"/>
          <p:cNvSpPr/>
          <p:nvPr/>
        </p:nvSpPr>
        <p:spPr>
          <a:xfrm>
            <a:off x="990534" y="4545873"/>
            <a:ext cx="16796141" cy="3185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86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5C6B86"/>
                </a:solidFill>
                <a:latin typeface="Courier New"/>
                <a:ea typeface="Courier New"/>
                <a:cs typeface="Courier New"/>
                <a:sym typeface="Courier New"/>
              </a:rPr>
              <a:t>ĐÃ HỌC TRONG BÀI NÀY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2"/>
          <p:cNvSpPr/>
          <p:nvPr/>
        </p:nvSpPr>
        <p:spPr>
          <a:xfrm>
            <a:off x="990534" y="5264465"/>
            <a:ext cx="3020880" cy="676176"/>
          </a:xfrm>
          <a:prstGeom prst="roundRect">
            <a:avLst>
              <a:gd fmla="val 50000" name="adj"/>
            </a:avLst>
          </a:prstGeom>
          <a:solidFill>
            <a:srgbClr val="131C2E"/>
          </a:solidFill>
          <a:ln cap="flat" cmpd="sng" w="9525">
            <a:solidFill>
              <a:srgbClr val="FFFFFF">
                <a:alpha val="1686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22"/>
          <p:cNvSpPr/>
          <p:nvPr/>
        </p:nvSpPr>
        <p:spPr>
          <a:xfrm>
            <a:off x="1300626" y="5441206"/>
            <a:ext cx="2491324" cy="3607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E7EDF8"/>
                </a:solidFill>
                <a:latin typeface="Courier New"/>
                <a:ea typeface="Courier New"/>
                <a:cs typeface="Courier New"/>
                <a:sym typeface="Courier New"/>
              </a:rPr>
              <a:t>moving average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2"/>
          <p:cNvSpPr/>
          <p:nvPr/>
        </p:nvSpPr>
        <p:spPr>
          <a:xfrm>
            <a:off x="4201914" y="5264465"/>
            <a:ext cx="4221179" cy="676176"/>
          </a:xfrm>
          <a:prstGeom prst="roundRect">
            <a:avLst>
              <a:gd fmla="val 50000" name="adj"/>
            </a:avLst>
          </a:prstGeom>
          <a:solidFill>
            <a:srgbClr val="131C2E"/>
          </a:solidFill>
          <a:ln cap="flat" cmpd="sng" w="9525">
            <a:solidFill>
              <a:srgbClr val="FFFFFF">
                <a:alpha val="1686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22"/>
          <p:cNvSpPr/>
          <p:nvPr/>
        </p:nvSpPr>
        <p:spPr>
          <a:xfrm>
            <a:off x="4512006" y="5441206"/>
            <a:ext cx="3727631" cy="3607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E7EDF8"/>
                </a:solidFill>
                <a:latin typeface="Courier New"/>
                <a:ea typeface="Courier New"/>
                <a:cs typeface="Courier New"/>
                <a:sym typeface="Courier New"/>
              </a:rPr>
              <a:t>exponential smoothing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2"/>
          <p:cNvSpPr/>
          <p:nvPr/>
        </p:nvSpPr>
        <p:spPr>
          <a:xfrm>
            <a:off x="8613593" y="5264465"/>
            <a:ext cx="2677914" cy="676176"/>
          </a:xfrm>
          <a:prstGeom prst="roundRect">
            <a:avLst>
              <a:gd fmla="val 50000" name="adj"/>
            </a:avLst>
          </a:prstGeom>
          <a:solidFill>
            <a:srgbClr val="131C2E"/>
          </a:solidFill>
          <a:ln cap="flat" cmpd="sng" w="9525">
            <a:solidFill>
              <a:srgbClr val="FFFFFF">
                <a:alpha val="1686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22"/>
          <p:cNvSpPr/>
          <p:nvPr/>
        </p:nvSpPr>
        <p:spPr>
          <a:xfrm>
            <a:off x="8923685" y="5441206"/>
            <a:ext cx="2138068" cy="3607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E7EDF8"/>
                </a:solidFill>
                <a:latin typeface="Courier New"/>
                <a:ea typeface="Courier New"/>
                <a:cs typeface="Courier New"/>
                <a:sym typeface="Courier New"/>
              </a:rPr>
              <a:t>Holt-Winters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2"/>
          <p:cNvSpPr/>
          <p:nvPr/>
        </p:nvSpPr>
        <p:spPr>
          <a:xfrm>
            <a:off x="990534" y="6512058"/>
            <a:ext cx="16306933" cy="9525"/>
          </a:xfrm>
          <a:prstGeom prst="rect">
            <a:avLst/>
          </a:prstGeom>
          <a:solidFill>
            <a:srgbClr val="FFFFFF">
              <a:alpha val="901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22"/>
          <p:cNvSpPr/>
          <p:nvPr/>
        </p:nvSpPr>
        <p:spPr>
          <a:xfrm>
            <a:off x="990534" y="6993599"/>
            <a:ext cx="2394529" cy="3185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86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5C6B86"/>
                </a:solidFill>
                <a:latin typeface="Courier New"/>
                <a:ea typeface="Courier New"/>
                <a:cs typeface="Courier New"/>
                <a:sym typeface="Courier New"/>
              </a:rPr>
              <a:t>BÀI TIẾP THEO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2"/>
          <p:cNvSpPr/>
          <p:nvPr/>
        </p:nvSpPr>
        <p:spPr>
          <a:xfrm>
            <a:off x="3556496" y="6914720"/>
            <a:ext cx="514416" cy="4762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E0CE"/>
              </a:buClr>
              <a:buSzPts val="3450"/>
              <a:buFont typeface="Arial"/>
              <a:buNone/>
            </a:pPr>
            <a:r>
              <a:rPr b="0" i="0" lang="en-US" sz="3450" u="none" cap="none" strike="noStrike">
                <a:solidFill>
                  <a:srgbClr val="2BE0CE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2"/>
          <p:cNvSpPr/>
          <p:nvPr/>
        </p:nvSpPr>
        <p:spPr>
          <a:xfrm>
            <a:off x="4242346" y="6898349"/>
            <a:ext cx="5969058" cy="5090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ACF / PACF — chọn bậc cho ARIMA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18"/>
        </a:solid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3"/>
          <p:cNvSpPr/>
          <p:nvPr/>
        </p:nvSpPr>
        <p:spPr>
          <a:xfrm>
            <a:off x="11900132" y="3609992"/>
            <a:ext cx="5794645" cy="31051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500"/>
              <a:buFont typeface="Arial"/>
              <a:buNone/>
            </a:pPr>
            <a:r>
              <a:rPr b="1" i="0" lang="en-US" sz="34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3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3"/>
          <p:cNvSpPr/>
          <p:nvPr/>
        </p:nvSpPr>
        <p:spPr>
          <a:xfrm>
            <a:off x="990534" y="3727070"/>
            <a:ext cx="16796141" cy="334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E0C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BE0CE"/>
                </a:solidFill>
                <a:latin typeface="Courier New"/>
                <a:ea typeface="Courier New"/>
                <a:cs typeface="Courier New"/>
                <a:sym typeface="Courier New"/>
              </a:rPr>
              <a:t>SECTION 6 · LECTURE 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3"/>
          <p:cNvSpPr/>
          <p:nvPr/>
        </p:nvSpPr>
        <p:spPr>
          <a:xfrm>
            <a:off x="990534" y="4347187"/>
            <a:ext cx="12753976" cy="17418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6450"/>
              <a:buFont typeface="Arial"/>
              <a:buNone/>
            </a:pPr>
            <a:r>
              <a:rPr b="1" i="0" lang="en-US" sz="645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ACF / PACF — chọn bậc cho ARIMA</a:t>
            </a:r>
            <a:endParaRPr b="0" i="0" sz="6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3"/>
          <p:cNvSpPr/>
          <p:nvPr/>
        </p:nvSpPr>
        <p:spPr>
          <a:xfrm>
            <a:off x="990534" y="6374723"/>
            <a:ext cx="16796141" cy="31855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93A3BC"/>
                </a:solidFill>
                <a:latin typeface="Courier New"/>
                <a:ea typeface="Courier New"/>
                <a:cs typeface="Courier New"/>
                <a:sym typeface="Courier New"/>
              </a:rPr>
              <a:t>~7 phút · 5 slides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18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4"/>
          <p:cNvSpPr/>
          <p:nvPr/>
        </p:nvSpPr>
        <p:spPr>
          <a:xfrm>
            <a:off x="990534" y="800034"/>
            <a:ext cx="16796141" cy="334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E0C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BE0CE"/>
                </a:solidFill>
                <a:latin typeface="Courier New"/>
                <a:ea typeface="Courier New"/>
                <a:cs typeface="Courier New"/>
                <a:sym typeface="Courier New"/>
              </a:rPr>
              <a:t>ACF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4"/>
          <p:cNvSpPr/>
          <p:nvPr/>
        </p:nvSpPr>
        <p:spPr>
          <a:xfrm>
            <a:off x="990534" y="1286867"/>
            <a:ext cx="14716126" cy="6842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Tự tương quan (ACF)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4"/>
          <p:cNvSpPr/>
          <p:nvPr/>
        </p:nvSpPr>
        <p:spPr>
          <a:xfrm>
            <a:off x="1466784" y="5206091"/>
            <a:ext cx="7568651" cy="8478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Tương quan của chuỗi với </a:t>
            </a:r>
            <a:r>
              <a:rPr b="1" i="0" lang="en-US" sz="2400" u="none" cap="none" strike="noStrike">
                <a:solidFill>
                  <a:srgbClr val="2BE0CE"/>
                </a:solidFill>
                <a:latin typeface="Arial"/>
                <a:ea typeface="Arial"/>
                <a:cs typeface="Arial"/>
                <a:sym typeface="Arial"/>
              </a:rPr>
              <a:t>chính nó </a:t>
            </a: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ở các độ trễ (lags)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4"/>
          <p:cNvSpPr/>
          <p:nvPr/>
        </p:nvSpPr>
        <p:spPr>
          <a:xfrm>
            <a:off x="1466784" y="6301631"/>
            <a:ext cx="7568651" cy="4456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Giúp phát hiện </a:t>
            </a:r>
            <a:r>
              <a:rPr b="1" i="0" lang="en-US" sz="2400" u="none" cap="none" strike="noStrike">
                <a:solidFill>
                  <a:srgbClr val="2BE0CE"/>
                </a:solidFill>
                <a:latin typeface="Arial"/>
                <a:ea typeface="Arial"/>
                <a:cs typeface="Arial"/>
                <a:sym typeface="Arial"/>
              </a:rPr>
              <a:t>mùa vụ </a:t>
            </a: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&amp; quan hệ trễ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28" name="Google Shape;3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86884" y="3760887"/>
            <a:ext cx="7810583" cy="43934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18"/>
        </a:solidFill>
      </p:bgPr>
    </p:bg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5"/>
          <p:cNvSpPr/>
          <p:nvPr/>
        </p:nvSpPr>
        <p:spPr>
          <a:xfrm>
            <a:off x="990534" y="800034"/>
            <a:ext cx="16796141" cy="334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E0C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BE0CE"/>
                </a:solidFill>
                <a:latin typeface="Courier New"/>
                <a:ea typeface="Courier New"/>
                <a:cs typeface="Courier New"/>
                <a:sym typeface="Courier New"/>
              </a:rPr>
              <a:t>PACF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5"/>
          <p:cNvSpPr/>
          <p:nvPr/>
        </p:nvSpPr>
        <p:spPr>
          <a:xfrm>
            <a:off x="990534" y="1286867"/>
            <a:ext cx="14716126" cy="6842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Tương quan riêng phần (PACF)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5"/>
          <p:cNvSpPr/>
          <p:nvPr/>
        </p:nvSpPr>
        <p:spPr>
          <a:xfrm>
            <a:off x="1466784" y="5407174"/>
            <a:ext cx="7568651" cy="4456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Loại bỏ ảnh hưởng của các </a:t>
            </a:r>
            <a:r>
              <a:rPr b="1" i="0" lang="en-US" sz="2400" u="none" cap="none" strike="noStrike">
                <a:solidFill>
                  <a:srgbClr val="2BE0CE"/>
                </a:solidFill>
                <a:latin typeface="Arial"/>
                <a:ea typeface="Arial"/>
                <a:cs typeface="Arial"/>
                <a:sym typeface="Arial"/>
              </a:rPr>
              <a:t>độ trễ trung gian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5"/>
          <p:cNvSpPr/>
          <p:nvPr/>
        </p:nvSpPr>
        <p:spPr>
          <a:xfrm>
            <a:off x="1466784" y="6100465"/>
            <a:ext cx="7568651" cy="4456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Bổ trợ ACF để </a:t>
            </a:r>
            <a:r>
              <a:rPr b="1" i="0" lang="en-US" sz="2400" u="none" cap="none" strike="noStrike">
                <a:solidFill>
                  <a:srgbClr val="2BE0CE"/>
                </a:solidFill>
                <a:latin typeface="Arial"/>
                <a:ea typeface="Arial"/>
                <a:cs typeface="Arial"/>
                <a:sym typeface="Arial"/>
              </a:rPr>
              <a:t>chọn bậc </a:t>
            </a: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mô hình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8" name="Google Shape;33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86884" y="3760887"/>
            <a:ext cx="7810583" cy="43934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18"/>
        </a:solid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6"/>
          <p:cNvSpPr/>
          <p:nvPr/>
        </p:nvSpPr>
        <p:spPr>
          <a:xfrm>
            <a:off x="990534" y="800034"/>
            <a:ext cx="16796141" cy="334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E0C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BE0CE"/>
                </a:solidFill>
                <a:latin typeface="Courier New"/>
                <a:ea typeface="Courier New"/>
                <a:cs typeface="Courier New"/>
                <a:sym typeface="Courier New"/>
              </a:rPr>
              <a:t>ĐỌC BIỂU ĐỒ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6"/>
          <p:cNvSpPr/>
          <p:nvPr/>
        </p:nvSpPr>
        <p:spPr>
          <a:xfrm>
            <a:off x="990534" y="1286867"/>
            <a:ext cx="14716126" cy="6842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Quy tắc chọn p và q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6"/>
          <p:cNvSpPr/>
          <p:nvPr/>
        </p:nvSpPr>
        <p:spPr>
          <a:xfrm>
            <a:off x="990534" y="3959076"/>
            <a:ext cx="9723769" cy="3997110"/>
          </a:xfrm>
          <a:prstGeom prst="roundRect">
            <a:avLst>
              <a:gd fmla="val 3813" name="adj"/>
            </a:avLst>
          </a:prstGeom>
          <a:solidFill>
            <a:srgbClr val="131C2E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571500" rotWithShape="0" algn="bl" dir="5400000" dist="228600">
              <a:srgbClr val="000000">
                <a:alpha val="8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26"/>
          <p:cNvSpPr/>
          <p:nvPr/>
        </p:nvSpPr>
        <p:spPr>
          <a:xfrm>
            <a:off x="995826" y="3964368"/>
            <a:ext cx="9713186" cy="607384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26"/>
          <p:cNvSpPr/>
          <p:nvPr/>
        </p:nvSpPr>
        <p:spPr>
          <a:xfrm>
            <a:off x="995826" y="4566460"/>
            <a:ext cx="9713186" cy="9525"/>
          </a:xfrm>
          <a:prstGeom prst="rect">
            <a:avLst/>
          </a:prstGeom>
          <a:solidFill>
            <a:srgbClr val="FFFFFF">
              <a:alpha val="901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26"/>
          <p:cNvSpPr/>
          <p:nvPr/>
        </p:nvSpPr>
        <p:spPr>
          <a:xfrm>
            <a:off x="1243459" y="4203485"/>
            <a:ext cx="123775" cy="123775"/>
          </a:xfrm>
          <a:prstGeom prst="ellipse">
            <a:avLst/>
          </a:prstGeom>
          <a:solidFill>
            <a:srgbClr val="3949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26"/>
          <p:cNvSpPr/>
          <p:nvPr/>
        </p:nvSpPr>
        <p:spPr>
          <a:xfrm>
            <a:off x="1471993" y="4203485"/>
            <a:ext cx="123775" cy="123775"/>
          </a:xfrm>
          <a:prstGeom prst="ellipse">
            <a:avLst/>
          </a:prstGeom>
          <a:solidFill>
            <a:srgbClr val="3949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26"/>
          <p:cNvSpPr/>
          <p:nvPr/>
        </p:nvSpPr>
        <p:spPr>
          <a:xfrm>
            <a:off x="1700527" y="4203485"/>
            <a:ext cx="123775" cy="123775"/>
          </a:xfrm>
          <a:prstGeom prst="ellipse">
            <a:avLst/>
          </a:prstGeom>
          <a:solidFill>
            <a:srgbClr val="3949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26"/>
          <p:cNvSpPr/>
          <p:nvPr/>
        </p:nvSpPr>
        <p:spPr>
          <a:xfrm>
            <a:off x="2062344" y="4135768"/>
            <a:ext cx="1660310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93A3BC"/>
                </a:solidFill>
                <a:latin typeface="Courier New"/>
                <a:ea typeface="Courier New"/>
                <a:cs typeface="Courier New"/>
                <a:sym typeface="Courier New"/>
              </a:rPr>
              <a:t>acf_pacf.py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6"/>
          <p:cNvSpPr/>
          <p:nvPr/>
        </p:nvSpPr>
        <p:spPr>
          <a:xfrm>
            <a:off x="1319676" y="4857502"/>
            <a:ext cx="9356881" cy="284574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E0CE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2BE0CE"/>
                </a:solidFill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 statsmodels.graphics.tsaplots </a:t>
            </a:r>
            <a:r>
              <a:rPr b="0" i="0" lang="en-US" sz="1950" u="none" cap="none" strike="noStrike">
                <a:solidFill>
                  <a:srgbClr val="2BE0CE"/>
                </a:solidFill>
                <a:latin typeface="Courier New"/>
                <a:ea typeface="Courier New"/>
                <a:cs typeface="Courier New"/>
                <a:sym typeface="Courier New"/>
              </a:rPr>
              <a:t>import </a:t>
            </a: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 plot_acf, plot_pacf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50"/>
              <a:buFont typeface="Calibri"/>
              <a:buNone/>
            </a:pPr>
            <a:r>
              <a:t/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D6E2F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plot_acf(series.diff().dropna(),  lags= 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F4B86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F4B860"/>
                </a:solidFill>
                <a:latin typeface="Courier New"/>
                <a:ea typeface="Courier New"/>
                <a:cs typeface="Courier New"/>
                <a:sym typeface="Courier New"/>
              </a:rPr>
              <a:t>40 </a:t>
            </a: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D6E2F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plot_pacf(series.diff().dropna(), lags= 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F4B86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F4B860"/>
                </a:solidFill>
                <a:latin typeface="Courier New"/>
                <a:ea typeface="Courier New"/>
                <a:cs typeface="Courier New"/>
                <a:sym typeface="Courier New"/>
              </a:rPr>
              <a:t>40</a:t>
            </a: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b="0" i="1" lang="en-US" sz="1950" u="none" cap="none" strike="noStrike">
                <a:solidFill>
                  <a:srgbClr val="5E7286"/>
                </a:solidFill>
                <a:latin typeface="Courier New"/>
                <a:ea typeface="Courier New"/>
                <a:cs typeface="Courier New"/>
                <a:sym typeface="Courier New"/>
              </a:rPr>
              <a:t># PACF cat sau lag p  -&gt;  AR(p) # ACF  cat sau lag q  -&gt;  MA(q)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6"/>
          <p:cNvSpPr/>
          <p:nvPr/>
        </p:nvSpPr>
        <p:spPr>
          <a:xfrm>
            <a:off x="11876319" y="4658321"/>
            <a:ext cx="4504665" cy="85318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2BE0CE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2BE0CE"/>
                </a:solidFill>
                <a:latin typeface="Arial"/>
                <a:ea typeface="Arial"/>
                <a:cs typeface="Arial"/>
                <a:sym typeface="Arial"/>
              </a:rPr>
              <a:t>PACF </a:t>
            </a: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cắt sau lag p → bậc </a:t>
            </a:r>
            <a:r>
              <a:rPr b="1" i="0" lang="en-US" sz="2400" u="none" cap="none" strike="noStrike">
                <a:solidFill>
                  <a:srgbClr val="2BE0CE"/>
                </a:solidFill>
                <a:latin typeface="Arial"/>
                <a:ea typeface="Arial"/>
                <a:cs typeface="Arial"/>
                <a:sym typeface="Arial"/>
              </a:rPr>
              <a:t>AR (p)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6"/>
          <p:cNvSpPr/>
          <p:nvPr/>
        </p:nvSpPr>
        <p:spPr>
          <a:xfrm>
            <a:off x="11876319" y="5759153"/>
            <a:ext cx="4504665" cy="4456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2BE0CE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2BE0CE"/>
                </a:solidFill>
                <a:latin typeface="Arial"/>
                <a:ea typeface="Arial"/>
                <a:cs typeface="Arial"/>
                <a:sym typeface="Arial"/>
              </a:rPr>
              <a:t>ACF </a:t>
            </a: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cắt sau lag q → bậc </a:t>
            </a:r>
            <a:r>
              <a:rPr b="1" i="0" lang="en-US" sz="2400" u="none" cap="none" strike="noStrike">
                <a:solidFill>
                  <a:srgbClr val="2BE0CE"/>
                </a:solidFill>
                <a:latin typeface="Arial"/>
                <a:ea typeface="Arial"/>
                <a:cs typeface="Arial"/>
                <a:sym typeface="Arial"/>
              </a:rPr>
              <a:t>MA (q)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6"/>
          <p:cNvSpPr/>
          <p:nvPr/>
        </p:nvSpPr>
        <p:spPr>
          <a:xfrm>
            <a:off x="11876319" y="6452444"/>
            <a:ext cx="4504665" cy="8425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Quy tắc thực hành — không cần lý thuyết sâu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18"/>
        </a:solid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27"/>
          <p:cNvSpPr/>
          <p:nvPr/>
        </p:nvSpPr>
        <p:spPr>
          <a:xfrm>
            <a:off x="990534" y="800034"/>
            <a:ext cx="16796141" cy="334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E0C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BE0CE"/>
                </a:solidFill>
                <a:latin typeface="Courier New"/>
                <a:ea typeface="Courier New"/>
                <a:cs typeface="Courier New"/>
                <a:sym typeface="Courier New"/>
              </a:rPr>
              <a:t>SECTION 6 · LECTURE 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7"/>
          <p:cNvSpPr/>
          <p:nvPr/>
        </p:nvSpPr>
        <p:spPr>
          <a:xfrm>
            <a:off x="990534" y="1286867"/>
            <a:ext cx="14716126" cy="6842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Tóm tắt &amp; chuyển bài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7"/>
          <p:cNvSpPr/>
          <p:nvPr/>
        </p:nvSpPr>
        <p:spPr>
          <a:xfrm>
            <a:off x="990534" y="4545873"/>
            <a:ext cx="16796141" cy="3185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86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5C6B86"/>
                </a:solidFill>
                <a:latin typeface="Courier New"/>
                <a:ea typeface="Courier New"/>
                <a:cs typeface="Courier New"/>
                <a:sym typeface="Courier New"/>
              </a:rPr>
              <a:t>ĐÃ HỌC TRONG BÀI NÀY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7"/>
          <p:cNvSpPr/>
          <p:nvPr/>
        </p:nvSpPr>
        <p:spPr>
          <a:xfrm>
            <a:off x="990534" y="5264465"/>
            <a:ext cx="1134566" cy="676176"/>
          </a:xfrm>
          <a:prstGeom prst="roundRect">
            <a:avLst>
              <a:gd fmla="val 50000" name="adj"/>
            </a:avLst>
          </a:prstGeom>
          <a:solidFill>
            <a:srgbClr val="131C2E"/>
          </a:solidFill>
          <a:ln cap="flat" cmpd="sng" w="9525">
            <a:solidFill>
              <a:srgbClr val="FFFFFF">
                <a:alpha val="1686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27"/>
          <p:cNvSpPr/>
          <p:nvPr/>
        </p:nvSpPr>
        <p:spPr>
          <a:xfrm>
            <a:off x="1300626" y="5441206"/>
            <a:ext cx="590583" cy="3607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E7EDF8"/>
                </a:solidFill>
                <a:latin typeface="Courier New"/>
                <a:ea typeface="Courier New"/>
                <a:cs typeface="Courier New"/>
                <a:sym typeface="Courier New"/>
              </a:rPr>
              <a:t>ACF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7"/>
          <p:cNvSpPr/>
          <p:nvPr/>
        </p:nvSpPr>
        <p:spPr>
          <a:xfrm>
            <a:off x="2315600" y="5264465"/>
            <a:ext cx="1306049" cy="676176"/>
          </a:xfrm>
          <a:prstGeom prst="roundRect">
            <a:avLst>
              <a:gd fmla="val 50000" name="adj"/>
            </a:avLst>
          </a:prstGeom>
          <a:solidFill>
            <a:srgbClr val="131C2E"/>
          </a:solidFill>
          <a:ln cap="flat" cmpd="sng" w="9525">
            <a:solidFill>
              <a:srgbClr val="FFFFFF">
                <a:alpha val="1686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27"/>
          <p:cNvSpPr/>
          <p:nvPr/>
        </p:nvSpPr>
        <p:spPr>
          <a:xfrm>
            <a:off x="2625692" y="5441206"/>
            <a:ext cx="762066" cy="3607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E7EDF8"/>
                </a:solidFill>
                <a:latin typeface="Courier New"/>
                <a:ea typeface="Courier New"/>
                <a:cs typeface="Courier New"/>
                <a:sym typeface="Courier New"/>
              </a:rPr>
              <a:t>PACF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7"/>
          <p:cNvSpPr/>
          <p:nvPr/>
        </p:nvSpPr>
        <p:spPr>
          <a:xfrm>
            <a:off x="3812150" y="5264465"/>
            <a:ext cx="2163465" cy="676176"/>
          </a:xfrm>
          <a:prstGeom prst="roundRect">
            <a:avLst>
              <a:gd fmla="val 50000" name="adj"/>
            </a:avLst>
          </a:prstGeom>
          <a:solidFill>
            <a:srgbClr val="131C2E"/>
          </a:solidFill>
          <a:ln cap="flat" cmpd="sng" w="9525">
            <a:solidFill>
              <a:srgbClr val="FFFFFF">
                <a:alpha val="1686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27"/>
          <p:cNvSpPr/>
          <p:nvPr/>
        </p:nvSpPr>
        <p:spPr>
          <a:xfrm>
            <a:off x="4122242" y="5441206"/>
            <a:ext cx="1619482" cy="3607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E7EDF8"/>
                </a:solidFill>
                <a:latin typeface="Courier New"/>
                <a:ea typeface="Courier New"/>
                <a:cs typeface="Courier New"/>
                <a:sym typeface="Courier New"/>
              </a:rPr>
              <a:t>chọn p, q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7"/>
          <p:cNvSpPr/>
          <p:nvPr/>
        </p:nvSpPr>
        <p:spPr>
          <a:xfrm>
            <a:off x="990534" y="6512058"/>
            <a:ext cx="16306933" cy="9525"/>
          </a:xfrm>
          <a:prstGeom prst="rect">
            <a:avLst/>
          </a:prstGeom>
          <a:solidFill>
            <a:srgbClr val="FFFFFF">
              <a:alpha val="901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27"/>
          <p:cNvSpPr/>
          <p:nvPr/>
        </p:nvSpPr>
        <p:spPr>
          <a:xfrm>
            <a:off x="990534" y="6993599"/>
            <a:ext cx="2394529" cy="3185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86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5C6B86"/>
                </a:solidFill>
                <a:latin typeface="Courier New"/>
                <a:ea typeface="Courier New"/>
                <a:cs typeface="Courier New"/>
                <a:sym typeface="Courier New"/>
              </a:rPr>
              <a:t>BÀI TIẾP THEO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7"/>
          <p:cNvSpPr/>
          <p:nvPr/>
        </p:nvSpPr>
        <p:spPr>
          <a:xfrm>
            <a:off x="3556496" y="6914720"/>
            <a:ext cx="514416" cy="4762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E0CE"/>
              </a:buClr>
              <a:buSzPts val="3450"/>
              <a:buFont typeface="Arial"/>
              <a:buNone/>
            </a:pPr>
            <a:r>
              <a:rPr b="0" i="0" lang="en-US" sz="3450" u="none" cap="none" strike="noStrike">
                <a:solidFill>
                  <a:srgbClr val="2BE0CE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7"/>
          <p:cNvSpPr/>
          <p:nvPr/>
        </p:nvSpPr>
        <p:spPr>
          <a:xfrm>
            <a:off x="4242346" y="6898349"/>
            <a:ext cx="5135400" cy="5090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ARIMA &amp; SARIMA end-to-end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18"/>
        </a:solidFill>
      </p:bgPr>
    </p:bg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8"/>
          <p:cNvSpPr/>
          <p:nvPr/>
        </p:nvSpPr>
        <p:spPr>
          <a:xfrm>
            <a:off x="12057807" y="3609992"/>
            <a:ext cx="5632239" cy="31051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500"/>
              <a:buFont typeface="Arial"/>
              <a:buNone/>
            </a:pPr>
            <a:r>
              <a:rPr b="1" i="0" lang="en-US" sz="34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3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28"/>
          <p:cNvSpPr/>
          <p:nvPr/>
        </p:nvSpPr>
        <p:spPr>
          <a:xfrm>
            <a:off x="990534" y="4152966"/>
            <a:ext cx="16796141" cy="334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E0C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BE0CE"/>
                </a:solidFill>
                <a:latin typeface="Courier New"/>
                <a:ea typeface="Courier New"/>
                <a:cs typeface="Courier New"/>
                <a:sym typeface="Courier New"/>
              </a:rPr>
              <a:t>SECTION 6 · LECTURE 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28"/>
          <p:cNvSpPr/>
          <p:nvPr/>
        </p:nvSpPr>
        <p:spPr>
          <a:xfrm>
            <a:off x="990534" y="4773084"/>
            <a:ext cx="12753976" cy="8899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6450"/>
              <a:buFont typeface="Arial"/>
              <a:buNone/>
            </a:pPr>
            <a:r>
              <a:rPr b="1" i="0" lang="en-US" sz="645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ARIMA &amp; SARIMA end-to-end</a:t>
            </a:r>
            <a:endParaRPr b="0" i="0" sz="6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8"/>
          <p:cNvSpPr/>
          <p:nvPr/>
        </p:nvSpPr>
        <p:spPr>
          <a:xfrm>
            <a:off x="990534" y="5948743"/>
            <a:ext cx="16796141" cy="31855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93A3BC"/>
                </a:solidFill>
                <a:latin typeface="Courier New"/>
                <a:ea typeface="Courier New"/>
                <a:cs typeface="Courier New"/>
                <a:sym typeface="Courier New"/>
              </a:rPr>
              <a:t>~10 phút · 7 slides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18"/>
        </a:solidFill>
      </p:bgPr>
    </p:bg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29"/>
          <p:cNvSpPr/>
          <p:nvPr/>
        </p:nvSpPr>
        <p:spPr>
          <a:xfrm>
            <a:off x="990534" y="800034"/>
            <a:ext cx="16796141" cy="334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E0C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BE0CE"/>
                </a:solidFill>
                <a:latin typeface="Courier New"/>
                <a:ea typeface="Courier New"/>
                <a:cs typeface="Courier New"/>
                <a:sym typeface="Courier New"/>
              </a:rPr>
              <a:t>BA THÀNH PHẦN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29"/>
          <p:cNvSpPr/>
          <p:nvPr/>
        </p:nvSpPr>
        <p:spPr>
          <a:xfrm>
            <a:off x="990534" y="1286867"/>
            <a:ext cx="14716126" cy="6842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AR · I · MA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29"/>
          <p:cNvSpPr/>
          <p:nvPr/>
        </p:nvSpPr>
        <p:spPr>
          <a:xfrm>
            <a:off x="990534" y="4611522"/>
            <a:ext cx="5245117" cy="2021748"/>
          </a:xfrm>
          <a:prstGeom prst="roundRect">
            <a:avLst>
              <a:gd fmla="val 8480" name="adj"/>
            </a:avLst>
          </a:prstGeom>
          <a:solidFill>
            <a:srgbClr val="131C2E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29"/>
          <p:cNvSpPr/>
          <p:nvPr/>
        </p:nvSpPr>
        <p:spPr>
          <a:xfrm>
            <a:off x="1319609" y="4959697"/>
            <a:ext cx="4724575" cy="3344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E0CE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2BE0CE"/>
                </a:solidFill>
                <a:latin typeface="Courier New"/>
                <a:ea typeface="Courier New"/>
                <a:cs typeface="Courier New"/>
                <a:sym typeface="Courier New"/>
              </a:rPr>
              <a:t>AR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29"/>
          <p:cNvSpPr/>
          <p:nvPr/>
        </p:nvSpPr>
        <p:spPr>
          <a:xfrm>
            <a:off x="1319609" y="5389315"/>
            <a:ext cx="4724575" cy="4614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Auto-Regressive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29"/>
          <p:cNvSpPr/>
          <p:nvPr/>
        </p:nvSpPr>
        <p:spPr>
          <a:xfrm>
            <a:off x="1319609" y="5945932"/>
            <a:ext cx="4724575" cy="3772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93A3BC"/>
                </a:solidFill>
                <a:latin typeface="Arial"/>
                <a:ea typeface="Arial"/>
                <a:cs typeface="Arial"/>
                <a:sym typeface="Arial"/>
              </a:rPr>
              <a:t>Phụ thuộc các </a:t>
            </a:r>
            <a:r>
              <a:rPr b="1" i="0" lang="en-US" sz="1875" u="none" cap="none" strike="noStrike">
                <a:solidFill>
                  <a:srgbClr val="2BE0CE"/>
                </a:solidFill>
                <a:latin typeface="Arial"/>
                <a:ea typeface="Arial"/>
                <a:cs typeface="Arial"/>
                <a:sym typeface="Arial"/>
              </a:rPr>
              <a:t>giá trị quá khứ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29"/>
          <p:cNvSpPr/>
          <p:nvPr/>
        </p:nvSpPr>
        <p:spPr>
          <a:xfrm>
            <a:off x="6521401" y="4611522"/>
            <a:ext cx="5245117" cy="2021748"/>
          </a:xfrm>
          <a:prstGeom prst="roundRect">
            <a:avLst>
              <a:gd fmla="val 8480" name="adj"/>
            </a:avLst>
          </a:prstGeom>
          <a:solidFill>
            <a:srgbClr val="131C2E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29"/>
          <p:cNvSpPr/>
          <p:nvPr/>
        </p:nvSpPr>
        <p:spPr>
          <a:xfrm>
            <a:off x="6850476" y="4959697"/>
            <a:ext cx="4724575" cy="3344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E0CE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2BE0CE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29"/>
          <p:cNvSpPr/>
          <p:nvPr/>
        </p:nvSpPr>
        <p:spPr>
          <a:xfrm>
            <a:off x="6850476" y="5389315"/>
            <a:ext cx="4724575" cy="4614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Integrated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29"/>
          <p:cNvSpPr/>
          <p:nvPr/>
        </p:nvSpPr>
        <p:spPr>
          <a:xfrm>
            <a:off x="6850476" y="5945932"/>
            <a:ext cx="4724575" cy="3772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2BE0C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2BE0CE"/>
                </a:solidFill>
                <a:latin typeface="Arial"/>
                <a:ea typeface="Arial"/>
                <a:cs typeface="Arial"/>
                <a:sym typeface="Arial"/>
              </a:rPr>
              <a:t>Sai phân </a:t>
            </a:r>
            <a:r>
              <a:rPr b="0" i="0" lang="en-US" sz="1875" u="none" cap="none" strike="noStrike">
                <a:solidFill>
                  <a:srgbClr val="93A3BC"/>
                </a:solidFill>
                <a:latin typeface="Arial"/>
                <a:ea typeface="Arial"/>
                <a:cs typeface="Arial"/>
                <a:sym typeface="Arial"/>
              </a:rPr>
              <a:t>để đạt tính dừng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29"/>
          <p:cNvSpPr/>
          <p:nvPr/>
        </p:nvSpPr>
        <p:spPr>
          <a:xfrm>
            <a:off x="12052268" y="4611522"/>
            <a:ext cx="5245117" cy="2021748"/>
          </a:xfrm>
          <a:prstGeom prst="roundRect">
            <a:avLst>
              <a:gd fmla="val 8480" name="adj"/>
            </a:avLst>
          </a:prstGeom>
          <a:solidFill>
            <a:srgbClr val="131C2E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29"/>
          <p:cNvSpPr/>
          <p:nvPr/>
        </p:nvSpPr>
        <p:spPr>
          <a:xfrm>
            <a:off x="12381343" y="4959697"/>
            <a:ext cx="4724575" cy="3344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E0CE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2BE0CE"/>
                </a:solidFill>
                <a:latin typeface="Courier New"/>
                <a:ea typeface="Courier New"/>
                <a:cs typeface="Courier New"/>
                <a:sym typeface="Courier New"/>
              </a:rPr>
              <a:t>MA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29"/>
          <p:cNvSpPr/>
          <p:nvPr/>
        </p:nvSpPr>
        <p:spPr>
          <a:xfrm>
            <a:off x="12381343" y="5389315"/>
            <a:ext cx="4724575" cy="4614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Moving Average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29"/>
          <p:cNvSpPr/>
          <p:nvPr/>
        </p:nvSpPr>
        <p:spPr>
          <a:xfrm>
            <a:off x="12381343" y="5945932"/>
            <a:ext cx="4724575" cy="3772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93A3BC"/>
                </a:solidFill>
                <a:latin typeface="Arial"/>
                <a:ea typeface="Arial"/>
                <a:cs typeface="Arial"/>
                <a:sym typeface="Arial"/>
              </a:rPr>
              <a:t>Phụ thuộc các </a:t>
            </a:r>
            <a:r>
              <a:rPr b="1" i="0" lang="en-US" sz="1875" u="none" cap="none" strike="noStrike">
                <a:solidFill>
                  <a:srgbClr val="2BE0CE"/>
                </a:solidFill>
                <a:latin typeface="Arial"/>
                <a:ea typeface="Arial"/>
                <a:cs typeface="Arial"/>
                <a:sym typeface="Arial"/>
              </a:rPr>
              <a:t>nhiễu quá khứ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29"/>
          <p:cNvSpPr/>
          <p:nvPr/>
        </p:nvSpPr>
        <p:spPr>
          <a:xfrm>
            <a:off x="4913795" y="6957054"/>
            <a:ext cx="8460410" cy="3847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3BC"/>
                </a:solidFill>
                <a:latin typeface="Arial"/>
                <a:ea typeface="Arial"/>
                <a:cs typeface="Arial"/>
                <a:sym typeface="Arial"/>
              </a:rPr>
              <a:t>Ghép ba ý đã học ở các bài trước thành một mô hình thống kê hoàn chỉnh.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18"/>
        </a:solidFill>
      </p:bgPr>
    </p:bg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30"/>
          <p:cNvSpPr/>
          <p:nvPr/>
        </p:nvSpPr>
        <p:spPr>
          <a:xfrm>
            <a:off x="990534" y="800034"/>
            <a:ext cx="16796141" cy="334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E0C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BE0CE"/>
                </a:solidFill>
                <a:latin typeface="Courier New"/>
                <a:ea typeface="Courier New"/>
                <a:cs typeface="Courier New"/>
                <a:sym typeface="Courier New"/>
              </a:rPr>
              <a:t>THAM SỐ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30"/>
          <p:cNvSpPr/>
          <p:nvPr/>
        </p:nvSpPr>
        <p:spPr>
          <a:xfrm>
            <a:off x="990534" y="1286867"/>
            <a:ext cx="14716126" cy="6842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ARIMA(p, d, q)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30"/>
          <p:cNvSpPr/>
          <p:nvPr/>
        </p:nvSpPr>
        <p:spPr>
          <a:xfrm>
            <a:off x="990534" y="4946717"/>
            <a:ext cx="5245117" cy="2021748"/>
          </a:xfrm>
          <a:prstGeom prst="roundRect">
            <a:avLst>
              <a:gd fmla="val 8480" name="adj"/>
            </a:avLst>
          </a:prstGeom>
          <a:solidFill>
            <a:srgbClr val="131C2E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30"/>
          <p:cNvSpPr/>
          <p:nvPr/>
        </p:nvSpPr>
        <p:spPr>
          <a:xfrm>
            <a:off x="1319609" y="5294891"/>
            <a:ext cx="4724575" cy="3344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E0CE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2BE0CE"/>
                </a:solidFill>
                <a:latin typeface="Courier New"/>
                <a:ea typeface="Courier New"/>
                <a:cs typeface="Courier New"/>
                <a:sym typeface="Courier New"/>
              </a:rPr>
              <a:t>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30"/>
          <p:cNvSpPr/>
          <p:nvPr/>
        </p:nvSpPr>
        <p:spPr>
          <a:xfrm>
            <a:off x="1319609" y="5724509"/>
            <a:ext cx="4724575" cy="4614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AR order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30"/>
          <p:cNvSpPr/>
          <p:nvPr/>
        </p:nvSpPr>
        <p:spPr>
          <a:xfrm>
            <a:off x="1319609" y="6281126"/>
            <a:ext cx="4724575" cy="3772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93A3BC"/>
                </a:solidFill>
                <a:latin typeface="Arial"/>
                <a:ea typeface="Arial"/>
                <a:cs typeface="Arial"/>
                <a:sym typeface="Arial"/>
              </a:rPr>
              <a:t>Chọn từ </a:t>
            </a:r>
            <a:r>
              <a:rPr b="1" i="0" lang="en-US" sz="1875" u="none" cap="none" strike="noStrike">
                <a:solidFill>
                  <a:srgbClr val="2BE0CE"/>
                </a:solidFill>
                <a:latin typeface="Arial"/>
                <a:ea typeface="Arial"/>
                <a:cs typeface="Arial"/>
                <a:sym typeface="Arial"/>
              </a:rPr>
              <a:t>PACF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30"/>
          <p:cNvSpPr/>
          <p:nvPr/>
        </p:nvSpPr>
        <p:spPr>
          <a:xfrm>
            <a:off x="6521401" y="4946717"/>
            <a:ext cx="5245117" cy="2021748"/>
          </a:xfrm>
          <a:prstGeom prst="roundRect">
            <a:avLst>
              <a:gd fmla="val 8480" name="adj"/>
            </a:avLst>
          </a:prstGeom>
          <a:solidFill>
            <a:srgbClr val="131C2E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30"/>
          <p:cNvSpPr/>
          <p:nvPr/>
        </p:nvSpPr>
        <p:spPr>
          <a:xfrm>
            <a:off x="6850476" y="5294891"/>
            <a:ext cx="4724575" cy="3344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E0CE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2BE0CE"/>
                </a:solidFill>
                <a:latin typeface="Courier New"/>
                <a:ea typeface="Courier New"/>
                <a:cs typeface="Courier New"/>
                <a:sym typeface="Courier New"/>
              </a:rPr>
              <a:t>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30"/>
          <p:cNvSpPr/>
          <p:nvPr/>
        </p:nvSpPr>
        <p:spPr>
          <a:xfrm>
            <a:off x="6850476" y="5724509"/>
            <a:ext cx="4724575" cy="4614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Differencing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30"/>
          <p:cNvSpPr/>
          <p:nvPr/>
        </p:nvSpPr>
        <p:spPr>
          <a:xfrm>
            <a:off x="6850476" y="6281126"/>
            <a:ext cx="4724575" cy="3772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93A3BC"/>
                </a:solidFill>
                <a:latin typeface="Arial"/>
                <a:ea typeface="Arial"/>
                <a:cs typeface="Arial"/>
                <a:sym typeface="Arial"/>
              </a:rPr>
              <a:t>Số lần </a:t>
            </a:r>
            <a:r>
              <a:rPr b="1" i="0" lang="en-US" sz="1875" u="none" cap="none" strike="noStrike">
                <a:solidFill>
                  <a:srgbClr val="2BE0CE"/>
                </a:solidFill>
                <a:latin typeface="Arial"/>
                <a:ea typeface="Arial"/>
                <a:cs typeface="Arial"/>
                <a:sym typeface="Arial"/>
              </a:rPr>
              <a:t>sai phân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30"/>
          <p:cNvSpPr/>
          <p:nvPr/>
        </p:nvSpPr>
        <p:spPr>
          <a:xfrm>
            <a:off x="12052268" y="4946717"/>
            <a:ext cx="5245117" cy="2021748"/>
          </a:xfrm>
          <a:prstGeom prst="roundRect">
            <a:avLst>
              <a:gd fmla="val 8480" name="adj"/>
            </a:avLst>
          </a:prstGeom>
          <a:solidFill>
            <a:srgbClr val="131C2E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30"/>
          <p:cNvSpPr/>
          <p:nvPr/>
        </p:nvSpPr>
        <p:spPr>
          <a:xfrm>
            <a:off x="12381343" y="5294891"/>
            <a:ext cx="4724575" cy="3344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E0CE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2BE0CE"/>
                </a:solidFill>
                <a:latin typeface="Courier New"/>
                <a:ea typeface="Courier New"/>
                <a:cs typeface="Courier New"/>
                <a:sym typeface="Courier New"/>
              </a:rPr>
              <a:t>q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30"/>
          <p:cNvSpPr/>
          <p:nvPr/>
        </p:nvSpPr>
        <p:spPr>
          <a:xfrm>
            <a:off x="12381343" y="5724509"/>
            <a:ext cx="4724575" cy="4614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MA order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30"/>
          <p:cNvSpPr/>
          <p:nvPr/>
        </p:nvSpPr>
        <p:spPr>
          <a:xfrm>
            <a:off x="12381343" y="6281126"/>
            <a:ext cx="4724575" cy="3772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93A3BC"/>
                </a:solidFill>
                <a:latin typeface="Arial"/>
                <a:ea typeface="Arial"/>
                <a:cs typeface="Arial"/>
                <a:sym typeface="Arial"/>
              </a:rPr>
              <a:t>Chọn từ </a:t>
            </a:r>
            <a:r>
              <a:rPr b="1" i="0" lang="en-US" sz="1875" u="none" cap="none" strike="noStrike">
                <a:solidFill>
                  <a:srgbClr val="2BE0CE"/>
                </a:solidFill>
                <a:latin typeface="Arial"/>
                <a:ea typeface="Arial"/>
                <a:cs typeface="Arial"/>
                <a:sym typeface="Arial"/>
              </a:rPr>
              <a:t>ACF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18"/>
        </a:solidFill>
      </p:bgPr>
    </p:bg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31"/>
          <p:cNvSpPr/>
          <p:nvPr/>
        </p:nvSpPr>
        <p:spPr>
          <a:xfrm>
            <a:off x="990534" y="800034"/>
            <a:ext cx="16796141" cy="334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E0C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BE0CE"/>
                </a:solidFill>
                <a:latin typeface="Courier New"/>
                <a:ea typeface="Courier New"/>
                <a:cs typeface="Courier New"/>
                <a:sym typeface="Courier New"/>
              </a:rPr>
              <a:t>QUY TRÌNH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31"/>
          <p:cNvSpPr/>
          <p:nvPr/>
        </p:nvSpPr>
        <p:spPr>
          <a:xfrm>
            <a:off x="990534" y="1286867"/>
            <a:ext cx="14716126" cy="6842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Quy trình ARIMA chuẩn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31"/>
          <p:cNvSpPr/>
          <p:nvPr/>
        </p:nvSpPr>
        <p:spPr>
          <a:xfrm>
            <a:off x="5524500" y="2645172"/>
            <a:ext cx="7239001" cy="822193"/>
          </a:xfrm>
          <a:prstGeom prst="roundRect">
            <a:avLst>
              <a:gd fmla="val 16219" name="adj"/>
            </a:avLst>
          </a:prstGeom>
          <a:solidFill>
            <a:srgbClr val="131C2E"/>
          </a:solidFill>
          <a:ln cap="flat" cmpd="sng" w="9525">
            <a:solidFill>
              <a:srgbClr val="FFFFFF">
                <a:alpha val="1686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31"/>
          <p:cNvSpPr/>
          <p:nvPr/>
        </p:nvSpPr>
        <p:spPr>
          <a:xfrm>
            <a:off x="5840307" y="2879064"/>
            <a:ext cx="6607387" cy="3925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Kiểm tra tính dừng (ADF)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31"/>
          <p:cNvSpPr/>
          <p:nvPr/>
        </p:nvSpPr>
        <p:spPr>
          <a:xfrm>
            <a:off x="9062972" y="3600649"/>
            <a:ext cx="238175" cy="2324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rgbClr val="2BE0CE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2BE0CE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31"/>
          <p:cNvSpPr/>
          <p:nvPr/>
        </p:nvSpPr>
        <p:spPr>
          <a:xfrm>
            <a:off x="5524500" y="3928236"/>
            <a:ext cx="7239001" cy="822193"/>
          </a:xfrm>
          <a:prstGeom prst="roundRect">
            <a:avLst>
              <a:gd fmla="val 16219" name="adj"/>
            </a:avLst>
          </a:prstGeom>
          <a:solidFill>
            <a:srgbClr val="131C2E"/>
          </a:solidFill>
          <a:ln cap="flat" cmpd="sng" w="9525">
            <a:solidFill>
              <a:srgbClr val="FFFFFF">
                <a:alpha val="1686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31"/>
          <p:cNvSpPr/>
          <p:nvPr/>
        </p:nvSpPr>
        <p:spPr>
          <a:xfrm>
            <a:off x="5840307" y="4162127"/>
            <a:ext cx="6607387" cy="3925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Sai phân đến khi dừng → xác định d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31"/>
          <p:cNvSpPr/>
          <p:nvPr/>
        </p:nvSpPr>
        <p:spPr>
          <a:xfrm>
            <a:off x="9062972" y="4883712"/>
            <a:ext cx="238175" cy="2324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rgbClr val="2BE0CE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2BE0CE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31"/>
          <p:cNvSpPr/>
          <p:nvPr/>
        </p:nvSpPr>
        <p:spPr>
          <a:xfrm>
            <a:off x="5524500" y="5211300"/>
            <a:ext cx="7239001" cy="822193"/>
          </a:xfrm>
          <a:prstGeom prst="roundRect">
            <a:avLst>
              <a:gd fmla="val 16219" name="adj"/>
            </a:avLst>
          </a:prstGeom>
          <a:solidFill>
            <a:srgbClr val="131C2E"/>
          </a:solidFill>
          <a:ln cap="flat" cmpd="sng" w="9525">
            <a:solidFill>
              <a:srgbClr val="FFFFFF">
                <a:alpha val="1686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31"/>
          <p:cNvSpPr/>
          <p:nvPr/>
        </p:nvSpPr>
        <p:spPr>
          <a:xfrm>
            <a:off x="5840307" y="5445192"/>
            <a:ext cx="6607387" cy="3925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Đọc ACF / PACF → chọn p, q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31"/>
          <p:cNvSpPr/>
          <p:nvPr/>
        </p:nvSpPr>
        <p:spPr>
          <a:xfrm>
            <a:off x="9062972" y="6166776"/>
            <a:ext cx="238175" cy="2324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rgbClr val="2BE0CE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2BE0CE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31"/>
          <p:cNvSpPr/>
          <p:nvPr/>
        </p:nvSpPr>
        <p:spPr>
          <a:xfrm>
            <a:off x="5524500" y="6494363"/>
            <a:ext cx="7239001" cy="822193"/>
          </a:xfrm>
          <a:prstGeom prst="roundRect">
            <a:avLst>
              <a:gd fmla="val 16219" name="adj"/>
            </a:avLst>
          </a:prstGeom>
          <a:solidFill>
            <a:srgbClr val="131C2E"/>
          </a:solidFill>
          <a:ln cap="flat" cmpd="sng" w="9525">
            <a:solidFill>
              <a:srgbClr val="FFFFFF">
                <a:alpha val="1686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1"/>
          <p:cNvSpPr/>
          <p:nvPr/>
        </p:nvSpPr>
        <p:spPr>
          <a:xfrm>
            <a:off x="5840307" y="6728255"/>
            <a:ext cx="6607387" cy="3925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Fit mô hình &amp; kiểm định residual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31"/>
          <p:cNvSpPr/>
          <p:nvPr/>
        </p:nvSpPr>
        <p:spPr>
          <a:xfrm>
            <a:off x="9062972" y="7449840"/>
            <a:ext cx="238175" cy="2324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rgbClr val="2BE0CE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2BE0CE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31"/>
          <p:cNvSpPr/>
          <p:nvPr/>
        </p:nvSpPr>
        <p:spPr>
          <a:xfrm>
            <a:off x="5524500" y="7777428"/>
            <a:ext cx="7239001" cy="822193"/>
          </a:xfrm>
          <a:prstGeom prst="roundRect">
            <a:avLst>
              <a:gd fmla="val 16219" name="adj"/>
            </a:avLst>
          </a:prstGeom>
          <a:noFill/>
          <a:ln cap="flat" cmpd="sng" w="9525">
            <a:solidFill>
              <a:srgbClr val="2BE0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31"/>
          <p:cNvSpPr/>
          <p:nvPr/>
        </p:nvSpPr>
        <p:spPr>
          <a:xfrm>
            <a:off x="5840307" y="8011319"/>
            <a:ext cx="6607387" cy="3925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Dự báo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31"/>
          <p:cNvSpPr/>
          <p:nvPr/>
        </p:nvSpPr>
        <p:spPr>
          <a:xfrm>
            <a:off x="6975245" y="8923404"/>
            <a:ext cx="4337510" cy="3847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3BC"/>
                </a:solidFill>
                <a:latin typeface="Arial"/>
                <a:ea typeface="Arial"/>
                <a:cs typeface="Arial"/>
                <a:sym typeface="Arial"/>
              </a:rPr>
              <a:t>Làm theo từng bước, không nhảy cóc.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18"/>
        </a:solidFill>
      </p:bgPr>
    </p:bg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32"/>
          <p:cNvSpPr/>
          <p:nvPr/>
        </p:nvSpPr>
        <p:spPr>
          <a:xfrm>
            <a:off x="990534" y="800034"/>
            <a:ext cx="16796141" cy="334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E0C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BE0CE"/>
                </a:solidFill>
                <a:latin typeface="Courier New"/>
                <a:ea typeface="Courier New"/>
                <a:cs typeface="Courier New"/>
                <a:sym typeface="Courier New"/>
              </a:rPr>
              <a:t>SEASONALITY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32"/>
          <p:cNvSpPr/>
          <p:nvPr/>
        </p:nvSpPr>
        <p:spPr>
          <a:xfrm>
            <a:off x="990534" y="1286867"/>
            <a:ext cx="14716126" cy="6842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SARIMA — mở rộng cho mùa vụ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32"/>
          <p:cNvSpPr/>
          <p:nvPr/>
        </p:nvSpPr>
        <p:spPr>
          <a:xfrm>
            <a:off x="990534" y="4360168"/>
            <a:ext cx="9216430" cy="3194926"/>
          </a:xfrm>
          <a:prstGeom prst="roundRect">
            <a:avLst>
              <a:gd fmla="val 4770" name="adj"/>
            </a:avLst>
          </a:prstGeom>
          <a:solidFill>
            <a:srgbClr val="131C2E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571500" rotWithShape="0" algn="bl" dir="5400000" dist="228600">
              <a:srgbClr val="000000">
                <a:alpha val="8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32"/>
          <p:cNvSpPr/>
          <p:nvPr/>
        </p:nvSpPr>
        <p:spPr>
          <a:xfrm>
            <a:off x="995826" y="4365460"/>
            <a:ext cx="9205847" cy="607384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32"/>
          <p:cNvSpPr/>
          <p:nvPr/>
        </p:nvSpPr>
        <p:spPr>
          <a:xfrm>
            <a:off x="995826" y="4967552"/>
            <a:ext cx="9205847" cy="9525"/>
          </a:xfrm>
          <a:prstGeom prst="rect">
            <a:avLst/>
          </a:prstGeom>
          <a:solidFill>
            <a:srgbClr val="FFFFFF">
              <a:alpha val="901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32"/>
          <p:cNvSpPr/>
          <p:nvPr/>
        </p:nvSpPr>
        <p:spPr>
          <a:xfrm>
            <a:off x="1243459" y="4604577"/>
            <a:ext cx="123775" cy="123775"/>
          </a:xfrm>
          <a:prstGeom prst="ellipse">
            <a:avLst/>
          </a:prstGeom>
          <a:solidFill>
            <a:srgbClr val="3949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32"/>
          <p:cNvSpPr/>
          <p:nvPr/>
        </p:nvSpPr>
        <p:spPr>
          <a:xfrm>
            <a:off x="1471993" y="4604577"/>
            <a:ext cx="123775" cy="123775"/>
          </a:xfrm>
          <a:prstGeom prst="ellipse">
            <a:avLst/>
          </a:prstGeom>
          <a:solidFill>
            <a:srgbClr val="3949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32"/>
          <p:cNvSpPr/>
          <p:nvPr/>
        </p:nvSpPr>
        <p:spPr>
          <a:xfrm>
            <a:off x="1700527" y="4604577"/>
            <a:ext cx="123775" cy="123775"/>
          </a:xfrm>
          <a:prstGeom prst="ellipse">
            <a:avLst/>
          </a:prstGeom>
          <a:solidFill>
            <a:srgbClr val="3949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32"/>
          <p:cNvSpPr/>
          <p:nvPr/>
        </p:nvSpPr>
        <p:spPr>
          <a:xfrm>
            <a:off x="2062344" y="4536860"/>
            <a:ext cx="1372328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93A3BC"/>
                </a:solidFill>
                <a:latin typeface="Courier New"/>
                <a:ea typeface="Courier New"/>
                <a:cs typeface="Courier New"/>
                <a:sym typeface="Courier New"/>
              </a:rPr>
              <a:t>sarima.py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32"/>
          <p:cNvSpPr/>
          <p:nvPr/>
        </p:nvSpPr>
        <p:spPr>
          <a:xfrm>
            <a:off x="1319676" y="5258594"/>
            <a:ext cx="8834322" cy="20435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E0CE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2BE0CE"/>
                </a:solidFill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 statsmodels.tsa.statespace.sarimax </a:t>
            </a:r>
            <a:r>
              <a:rPr b="0" i="0" lang="en-US" sz="1950" u="none" cap="none" strike="noStrike">
                <a:solidFill>
                  <a:srgbClr val="2BE0CE"/>
                </a:solidFill>
                <a:latin typeface="Courier New"/>
                <a:ea typeface="Courier New"/>
                <a:cs typeface="Courier New"/>
                <a:sym typeface="Courier New"/>
              </a:rPr>
              <a:t>import </a:t>
            </a: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 SARIMAX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50"/>
              <a:buFont typeface="Calibri"/>
              <a:buNone/>
            </a:pPr>
            <a:r>
              <a:t/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D6E2F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model = SARIMAX(sales, order=( 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F4B86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F4B860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950" u="none" cap="none" strike="noStrike">
                <a:solidFill>
                  <a:srgbClr val="F4B860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950" u="none" cap="none" strike="noStrike">
                <a:solidFill>
                  <a:srgbClr val="F4B860"/>
                </a:solidFill>
                <a:latin typeface="Courier New"/>
                <a:ea typeface="Courier New"/>
                <a:cs typeface="Courier New"/>
                <a:sym typeface="Courier New"/>
              </a:rPr>
              <a:t>1 </a:t>
            </a: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),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D6E2F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seasonal_order=( 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F4B86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F4B860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950" u="none" cap="none" strike="noStrike">
                <a:solidFill>
                  <a:srgbClr val="F4B860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950" u="none" cap="none" strike="noStrike">
                <a:solidFill>
                  <a:srgbClr val="F4B860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950" u="none" cap="none" strike="noStrike">
                <a:solidFill>
                  <a:srgbClr val="F4B860"/>
                </a:solidFill>
                <a:latin typeface="Courier New"/>
                <a:ea typeface="Courier New"/>
                <a:cs typeface="Courier New"/>
                <a:sym typeface="Courier New"/>
              </a:rPr>
              <a:t>12 </a:t>
            </a: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)).fit()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D6E2F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pred = model.forecast( 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F4B86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F4B860"/>
                </a:solidFill>
                <a:latin typeface="Courier New"/>
                <a:ea typeface="Courier New"/>
                <a:cs typeface="Courier New"/>
                <a:sym typeface="Courier New"/>
              </a:rPr>
              <a:t>12</a:t>
            </a: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32"/>
          <p:cNvSpPr/>
          <p:nvPr/>
        </p:nvSpPr>
        <p:spPr>
          <a:xfrm>
            <a:off x="11687639" y="5400808"/>
            <a:ext cx="5464108" cy="45837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Thêm bộ tham số mùa </a:t>
            </a:r>
            <a:r>
              <a:rPr b="0" i="0" lang="en-US" sz="2160" u="none" cap="none" strike="noStrike">
                <a:solidFill>
                  <a:srgbClr val="CFE8FF"/>
                </a:solidFill>
                <a:highlight>
                  <a:srgbClr val="1A2740"/>
                </a:highlight>
                <a:latin typeface="Courier New"/>
                <a:ea typeface="Courier New"/>
                <a:cs typeface="Courier New"/>
                <a:sym typeface="Courier New"/>
              </a:rPr>
              <a:t>(P, D, Q, m)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32"/>
          <p:cNvSpPr/>
          <p:nvPr/>
        </p:nvSpPr>
        <p:spPr>
          <a:xfrm>
            <a:off x="11687639" y="6106832"/>
            <a:ext cx="5464108" cy="4456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Dùng khi có </a:t>
            </a:r>
            <a:r>
              <a:rPr b="1" i="0" lang="en-US" sz="2400" u="none" cap="none" strike="noStrike">
                <a:solidFill>
                  <a:srgbClr val="2BE0CE"/>
                </a:solidFill>
                <a:latin typeface="Arial"/>
                <a:ea typeface="Arial"/>
                <a:cs typeface="Arial"/>
                <a:sym typeface="Arial"/>
              </a:rPr>
              <a:t>mùa vụ rõ </a:t>
            </a: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— ví dụ Tết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18"/>
        </a:solidFill>
      </p:bgPr>
    </p:bg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33"/>
          <p:cNvSpPr/>
          <p:nvPr/>
        </p:nvSpPr>
        <p:spPr>
          <a:xfrm>
            <a:off x="990534" y="800034"/>
            <a:ext cx="16796141" cy="334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E0C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BE0CE"/>
                </a:solidFill>
                <a:latin typeface="Courier New"/>
                <a:ea typeface="Courier New"/>
                <a:cs typeface="Courier New"/>
                <a:sym typeface="Courier New"/>
              </a:rPr>
              <a:t>AUTOMATION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33"/>
          <p:cNvSpPr/>
          <p:nvPr/>
        </p:nvSpPr>
        <p:spPr>
          <a:xfrm>
            <a:off x="990534" y="1286867"/>
            <a:ext cx="14716126" cy="6842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Auto-ARIMA — tự dò tham số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33"/>
          <p:cNvSpPr/>
          <p:nvPr/>
        </p:nvSpPr>
        <p:spPr>
          <a:xfrm>
            <a:off x="990534" y="4360168"/>
            <a:ext cx="9216430" cy="3194926"/>
          </a:xfrm>
          <a:prstGeom prst="roundRect">
            <a:avLst>
              <a:gd fmla="val 4770" name="adj"/>
            </a:avLst>
          </a:prstGeom>
          <a:solidFill>
            <a:srgbClr val="131C2E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571500" rotWithShape="0" algn="bl" dir="5400000" dist="228600">
              <a:srgbClr val="000000">
                <a:alpha val="8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33"/>
          <p:cNvSpPr/>
          <p:nvPr/>
        </p:nvSpPr>
        <p:spPr>
          <a:xfrm>
            <a:off x="995826" y="4365460"/>
            <a:ext cx="9205847" cy="607384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33"/>
          <p:cNvSpPr/>
          <p:nvPr/>
        </p:nvSpPr>
        <p:spPr>
          <a:xfrm>
            <a:off x="995826" y="4967552"/>
            <a:ext cx="9205847" cy="9525"/>
          </a:xfrm>
          <a:prstGeom prst="rect">
            <a:avLst/>
          </a:prstGeom>
          <a:solidFill>
            <a:srgbClr val="FFFFFF">
              <a:alpha val="901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33"/>
          <p:cNvSpPr/>
          <p:nvPr/>
        </p:nvSpPr>
        <p:spPr>
          <a:xfrm>
            <a:off x="1243459" y="4604577"/>
            <a:ext cx="123775" cy="123775"/>
          </a:xfrm>
          <a:prstGeom prst="ellipse">
            <a:avLst/>
          </a:prstGeom>
          <a:solidFill>
            <a:srgbClr val="3949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33"/>
          <p:cNvSpPr/>
          <p:nvPr/>
        </p:nvSpPr>
        <p:spPr>
          <a:xfrm>
            <a:off x="1471993" y="4604577"/>
            <a:ext cx="123775" cy="123775"/>
          </a:xfrm>
          <a:prstGeom prst="ellipse">
            <a:avLst/>
          </a:prstGeom>
          <a:solidFill>
            <a:srgbClr val="3949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33"/>
          <p:cNvSpPr/>
          <p:nvPr/>
        </p:nvSpPr>
        <p:spPr>
          <a:xfrm>
            <a:off x="1700527" y="4604577"/>
            <a:ext cx="123775" cy="123775"/>
          </a:xfrm>
          <a:prstGeom prst="ellipse">
            <a:avLst/>
          </a:prstGeom>
          <a:solidFill>
            <a:srgbClr val="3949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33"/>
          <p:cNvSpPr/>
          <p:nvPr/>
        </p:nvSpPr>
        <p:spPr>
          <a:xfrm>
            <a:off x="2062344" y="4536860"/>
            <a:ext cx="1948375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93A3BC"/>
                </a:solidFill>
                <a:latin typeface="Courier New"/>
                <a:ea typeface="Courier New"/>
                <a:cs typeface="Courier New"/>
                <a:sym typeface="Courier New"/>
              </a:rPr>
              <a:t>auto_arima.py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33"/>
          <p:cNvSpPr/>
          <p:nvPr/>
        </p:nvSpPr>
        <p:spPr>
          <a:xfrm>
            <a:off x="1319676" y="5258594"/>
            <a:ext cx="8834322" cy="20435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E0CE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2BE0CE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 pmdarima </a:t>
            </a:r>
            <a:r>
              <a:rPr b="0" i="0" lang="en-US" sz="1950" u="none" cap="none" strike="noStrike">
                <a:solidFill>
                  <a:srgbClr val="2BE0CE"/>
                </a:solidFill>
                <a:latin typeface="Courier New"/>
                <a:ea typeface="Courier New"/>
                <a:cs typeface="Courier New"/>
                <a:sym typeface="Courier New"/>
              </a:rPr>
              <a:t>as </a:t>
            </a: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 pm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50"/>
              <a:buFont typeface="Calibri"/>
              <a:buNone/>
            </a:pPr>
            <a:r>
              <a:t/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D6E2F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model = pm.auto_arima(sales, seasonal=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E0CE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2BE0CE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, m=</a:t>
            </a:r>
            <a:r>
              <a:rPr b="0" i="0" lang="en-US" sz="1950" u="none" cap="none" strike="noStrike">
                <a:solidFill>
                  <a:srgbClr val="F4B860"/>
                </a:solidFill>
                <a:latin typeface="Courier New"/>
                <a:ea typeface="Courier New"/>
                <a:cs typeface="Courier New"/>
                <a:sym typeface="Courier New"/>
              </a:rPr>
              <a:t>12 </a:t>
            </a: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D6E2F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 stepwise= 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E0CE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2BE0CE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, trace=</a:t>
            </a:r>
            <a:r>
              <a:rPr b="0" i="0" lang="en-US" sz="1950" u="none" cap="none" strike="noStrike">
                <a:solidFill>
                  <a:srgbClr val="2BE0CE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b="0" i="0" lang="en-US" sz="1950" u="none" cap="none" strike="noStrike">
                <a:solidFill>
                  <a:srgbClr val="2BE0CE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(model.order, model.seasonal_order)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33"/>
          <p:cNvSpPr/>
          <p:nvPr/>
        </p:nvSpPr>
        <p:spPr>
          <a:xfrm>
            <a:off x="11989594" y="5400808"/>
            <a:ext cx="4841994" cy="4636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CFE8FF"/>
              </a:buClr>
              <a:buSzPts val="2160"/>
              <a:buFont typeface="Courier New"/>
              <a:buNone/>
            </a:pPr>
            <a:r>
              <a:rPr b="0" i="0" lang="en-US" sz="2160" u="none" cap="none" strike="noStrike">
                <a:solidFill>
                  <a:srgbClr val="CFE8FF"/>
                </a:solidFill>
                <a:highlight>
                  <a:srgbClr val="1A2740"/>
                </a:highlight>
                <a:latin typeface="Courier New"/>
                <a:ea typeface="Courier New"/>
                <a:cs typeface="Courier New"/>
                <a:sym typeface="Courier New"/>
              </a:rPr>
              <a:t>pmdarima </a:t>
            </a:r>
            <a:r>
              <a:rPr b="1" i="0" lang="en-US" sz="2400" u="none" cap="none" strike="noStrike">
                <a:solidFill>
                  <a:srgbClr val="2BE0CE"/>
                </a:solidFill>
                <a:latin typeface="Arial"/>
                <a:ea typeface="Arial"/>
                <a:cs typeface="Arial"/>
                <a:sym typeface="Arial"/>
              </a:rPr>
              <a:t>tự tìm </a:t>
            </a: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tham số tốt nhất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33"/>
          <p:cNvSpPr/>
          <p:nvPr/>
        </p:nvSpPr>
        <p:spPr>
          <a:xfrm>
            <a:off x="11989594" y="6112123"/>
            <a:ext cx="4841994" cy="44034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Tiết kiệm thời gian so với dò tay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18"/>
        </a:solidFill>
      </p:bgPr>
    </p:bg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34"/>
          <p:cNvSpPr/>
          <p:nvPr/>
        </p:nvSpPr>
        <p:spPr>
          <a:xfrm>
            <a:off x="990534" y="800034"/>
            <a:ext cx="16796141" cy="334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E0C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BE0CE"/>
                </a:solidFill>
                <a:latin typeface="Courier New"/>
                <a:ea typeface="Courier New"/>
                <a:cs typeface="Courier New"/>
                <a:sym typeface="Courier New"/>
              </a:rPr>
              <a:t>SECTION 6 · LECTURE 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34"/>
          <p:cNvSpPr/>
          <p:nvPr/>
        </p:nvSpPr>
        <p:spPr>
          <a:xfrm>
            <a:off x="990534" y="1286867"/>
            <a:ext cx="14716126" cy="6842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Tóm tắt &amp; chuyển bài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34"/>
          <p:cNvSpPr/>
          <p:nvPr/>
        </p:nvSpPr>
        <p:spPr>
          <a:xfrm>
            <a:off x="990534" y="4545873"/>
            <a:ext cx="16796141" cy="3185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86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5C6B86"/>
                </a:solidFill>
                <a:latin typeface="Courier New"/>
                <a:ea typeface="Courier New"/>
                <a:cs typeface="Courier New"/>
                <a:sym typeface="Courier New"/>
              </a:rPr>
              <a:t>ĐÃ HỌC TRONG BÀI NÀY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34"/>
          <p:cNvSpPr/>
          <p:nvPr/>
        </p:nvSpPr>
        <p:spPr>
          <a:xfrm>
            <a:off x="990534" y="5264465"/>
            <a:ext cx="1477533" cy="676176"/>
          </a:xfrm>
          <a:prstGeom prst="roundRect">
            <a:avLst>
              <a:gd fmla="val 50000" name="adj"/>
            </a:avLst>
          </a:prstGeom>
          <a:solidFill>
            <a:srgbClr val="131C2E"/>
          </a:solidFill>
          <a:ln cap="flat" cmpd="sng" w="9525">
            <a:solidFill>
              <a:srgbClr val="FFFFFF">
                <a:alpha val="1686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34"/>
          <p:cNvSpPr/>
          <p:nvPr/>
        </p:nvSpPr>
        <p:spPr>
          <a:xfrm>
            <a:off x="1300626" y="5441206"/>
            <a:ext cx="933549" cy="3607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E7EDF8"/>
                </a:solidFill>
                <a:latin typeface="Courier New"/>
                <a:ea typeface="Courier New"/>
                <a:cs typeface="Courier New"/>
                <a:sym typeface="Courier New"/>
              </a:rPr>
              <a:t>ARIMA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34"/>
          <p:cNvSpPr/>
          <p:nvPr/>
        </p:nvSpPr>
        <p:spPr>
          <a:xfrm>
            <a:off x="2658567" y="5264465"/>
            <a:ext cx="1649016" cy="676176"/>
          </a:xfrm>
          <a:prstGeom prst="roundRect">
            <a:avLst>
              <a:gd fmla="val 50000" name="adj"/>
            </a:avLst>
          </a:prstGeom>
          <a:solidFill>
            <a:srgbClr val="131C2E"/>
          </a:solidFill>
          <a:ln cap="flat" cmpd="sng" w="9525">
            <a:solidFill>
              <a:srgbClr val="FFFFFF">
                <a:alpha val="1686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34"/>
          <p:cNvSpPr/>
          <p:nvPr/>
        </p:nvSpPr>
        <p:spPr>
          <a:xfrm>
            <a:off x="2968658" y="5441206"/>
            <a:ext cx="1105032" cy="3607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E7EDF8"/>
                </a:solidFill>
                <a:latin typeface="Courier New"/>
                <a:ea typeface="Courier New"/>
                <a:cs typeface="Courier New"/>
                <a:sym typeface="Courier New"/>
              </a:rPr>
              <a:t>SARIMA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34"/>
          <p:cNvSpPr/>
          <p:nvPr/>
        </p:nvSpPr>
        <p:spPr>
          <a:xfrm>
            <a:off x="4498082" y="5264465"/>
            <a:ext cx="2334948" cy="676176"/>
          </a:xfrm>
          <a:prstGeom prst="roundRect">
            <a:avLst>
              <a:gd fmla="val 50000" name="adj"/>
            </a:avLst>
          </a:prstGeom>
          <a:solidFill>
            <a:srgbClr val="131C2E"/>
          </a:solidFill>
          <a:ln cap="flat" cmpd="sng" w="9525">
            <a:solidFill>
              <a:srgbClr val="FFFFFF">
                <a:alpha val="1686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34"/>
          <p:cNvSpPr/>
          <p:nvPr/>
        </p:nvSpPr>
        <p:spPr>
          <a:xfrm>
            <a:off x="4808174" y="5441206"/>
            <a:ext cx="1790965" cy="3607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E7EDF8"/>
                </a:solidFill>
                <a:latin typeface="Courier New"/>
                <a:ea typeface="Courier New"/>
                <a:cs typeface="Courier New"/>
                <a:sym typeface="Courier New"/>
              </a:rPr>
              <a:t>auto-ARIMA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34"/>
          <p:cNvSpPr/>
          <p:nvPr/>
        </p:nvSpPr>
        <p:spPr>
          <a:xfrm>
            <a:off x="990534" y="6512058"/>
            <a:ext cx="16306933" cy="9525"/>
          </a:xfrm>
          <a:prstGeom prst="rect">
            <a:avLst/>
          </a:prstGeom>
          <a:solidFill>
            <a:srgbClr val="FFFFFF">
              <a:alpha val="901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34"/>
          <p:cNvSpPr/>
          <p:nvPr/>
        </p:nvSpPr>
        <p:spPr>
          <a:xfrm>
            <a:off x="990534" y="6993599"/>
            <a:ext cx="2394529" cy="3185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86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5C6B86"/>
                </a:solidFill>
                <a:latin typeface="Courier New"/>
                <a:ea typeface="Courier New"/>
                <a:cs typeface="Courier New"/>
                <a:sym typeface="Courier New"/>
              </a:rPr>
              <a:t>BÀI TIẾP THEO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34"/>
          <p:cNvSpPr/>
          <p:nvPr/>
        </p:nvSpPr>
        <p:spPr>
          <a:xfrm>
            <a:off x="3556496" y="6914720"/>
            <a:ext cx="514416" cy="4762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E0CE"/>
              </a:buClr>
              <a:buSzPts val="3450"/>
              <a:buFont typeface="Arial"/>
              <a:buNone/>
            </a:pPr>
            <a:r>
              <a:rPr b="0" i="0" lang="en-US" sz="3450" u="none" cap="none" strike="noStrike">
                <a:solidFill>
                  <a:srgbClr val="2BE0CE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34"/>
          <p:cNvSpPr/>
          <p:nvPr/>
        </p:nvSpPr>
        <p:spPr>
          <a:xfrm>
            <a:off x="4242346" y="6898349"/>
            <a:ext cx="3126666" cy="5090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Facebook Prophet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18"/>
        </a:solidFill>
      </p:bgPr>
    </p:bg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35"/>
          <p:cNvSpPr/>
          <p:nvPr/>
        </p:nvSpPr>
        <p:spPr>
          <a:xfrm>
            <a:off x="11979011" y="3609992"/>
            <a:ext cx="5713400" cy="31051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500"/>
              <a:buFont typeface="Arial"/>
              <a:buNone/>
            </a:pPr>
            <a:r>
              <a:rPr b="1" i="0" lang="en-US" sz="34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i="0" sz="3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35"/>
          <p:cNvSpPr/>
          <p:nvPr/>
        </p:nvSpPr>
        <p:spPr>
          <a:xfrm>
            <a:off x="990534" y="3727070"/>
            <a:ext cx="16796141" cy="334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E0C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BE0CE"/>
                </a:solidFill>
                <a:latin typeface="Courier New"/>
                <a:ea typeface="Courier New"/>
                <a:cs typeface="Courier New"/>
                <a:sym typeface="Courier New"/>
              </a:rPr>
              <a:t>SECTION 6 · LECTURE 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35"/>
          <p:cNvSpPr/>
          <p:nvPr/>
        </p:nvSpPr>
        <p:spPr>
          <a:xfrm>
            <a:off x="990534" y="4347187"/>
            <a:ext cx="12753976" cy="17418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6450"/>
              <a:buFont typeface="Arial"/>
              <a:buNone/>
            </a:pPr>
            <a:r>
              <a:rPr b="1" i="0" lang="en-US" sz="645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Facebook Prophet — dự báo kinh doanh</a:t>
            </a:r>
            <a:endParaRPr b="0" i="0" sz="6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35"/>
          <p:cNvSpPr/>
          <p:nvPr/>
        </p:nvSpPr>
        <p:spPr>
          <a:xfrm>
            <a:off x="990534" y="6374723"/>
            <a:ext cx="16796141" cy="31855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93A3BC"/>
                </a:solidFill>
                <a:latin typeface="Courier New"/>
                <a:ea typeface="Courier New"/>
                <a:cs typeface="Courier New"/>
                <a:sym typeface="Courier New"/>
              </a:rPr>
              <a:t>~8 phút · 6 slides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18"/>
        </a:solidFill>
      </p:bgPr>
    </p:bg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36"/>
          <p:cNvSpPr/>
          <p:nvPr/>
        </p:nvSpPr>
        <p:spPr>
          <a:xfrm>
            <a:off x="990534" y="800034"/>
            <a:ext cx="16796141" cy="334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E0C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BE0CE"/>
                </a:solidFill>
                <a:latin typeface="Courier New"/>
                <a:ea typeface="Courier New"/>
                <a:cs typeface="Courier New"/>
                <a:sym typeface="Courier New"/>
              </a:rPr>
              <a:t>VÌ SAO PROPHET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36"/>
          <p:cNvSpPr/>
          <p:nvPr/>
        </p:nvSpPr>
        <p:spPr>
          <a:xfrm>
            <a:off x="990534" y="1286867"/>
            <a:ext cx="14716126" cy="6842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Ưu điểm cho dân kinh doanh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36"/>
          <p:cNvSpPr/>
          <p:nvPr/>
        </p:nvSpPr>
        <p:spPr>
          <a:xfrm>
            <a:off x="990534" y="4826331"/>
            <a:ext cx="5245117" cy="1592130"/>
          </a:xfrm>
          <a:prstGeom prst="roundRect">
            <a:avLst>
              <a:gd fmla="val 10769" name="adj"/>
            </a:avLst>
          </a:prstGeom>
          <a:solidFill>
            <a:srgbClr val="131C2E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36"/>
          <p:cNvSpPr/>
          <p:nvPr/>
        </p:nvSpPr>
        <p:spPr>
          <a:xfrm>
            <a:off x="1319609" y="5174506"/>
            <a:ext cx="4724575" cy="4614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Robust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36"/>
          <p:cNvSpPr/>
          <p:nvPr/>
        </p:nvSpPr>
        <p:spPr>
          <a:xfrm>
            <a:off x="1319609" y="5731123"/>
            <a:ext cx="4724575" cy="3772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93A3BC"/>
                </a:solidFill>
                <a:latin typeface="Arial"/>
                <a:ea typeface="Arial"/>
                <a:cs typeface="Arial"/>
                <a:sym typeface="Arial"/>
              </a:rPr>
              <a:t>Xử lý tốt </a:t>
            </a:r>
            <a:r>
              <a:rPr b="1" i="0" lang="en-US" sz="1875" u="none" cap="none" strike="noStrike">
                <a:solidFill>
                  <a:srgbClr val="2BE0CE"/>
                </a:solidFill>
                <a:latin typeface="Arial"/>
                <a:ea typeface="Arial"/>
                <a:cs typeface="Arial"/>
                <a:sym typeface="Arial"/>
              </a:rPr>
              <a:t>missing &amp; outlier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36"/>
          <p:cNvSpPr/>
          <p:nvPr/>
        </p:nvSpPr>
        <p:spPr>
          <a:xfrm>
            <a:off x="6521401" y="4826331"/>
            <a:ext cx="5245117" cy="1592130"/>
          </a:xfrm>
          <a:prstGeom prst="roundRect">
            <a:avLst>
              <a:gd fmla="val 10769" name="adj"/>
            </a:avLst>
          </a:prstGeom>
          <a:solidFill>
            <a:srgbClr val="131C2E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36"/>
          <p:cNvSpPr/>
          <p:nvPr/>
        </p:nvSpPr>
        <p:spPr>
          <a:xfrm>
            <a:off x="6850476" y="5174506"/>
            <a:ext cx="4724575" cy="4614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Holidays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36"/>
          <p:cNvSpPr/>
          <p:nvPr/>
        </p:nvSpPr>
        <p:spPr>
          <a:xfrm>
            <a:off x="6850476" y="5731123"/>
            <a:ext cx="4724575" cy="3772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93A3BC"/>
                </a:solidFill>
                <a:latin typeface="Arial"/>
                <a:ea typeface="Arial"/>
                <a:cs typeface="Arial"/>
                <a:sym typeface="Arial"/>
              </a:rPr>
              <a:t>Thêm </a:t>
            </a:r>
            <a:r>
              <a:rPr b="1" i="0" lang="en-US" sz="1875" u="none" cap="none" strike="noStrike">
                <a:solidFill>
                  <a:srgbClr val="2BE0CE"/>
                </a:solidFill>
                <a:latin typeface="Arial"/>
                <a:ea typeface="Arial"/>
                <a:cs typeface="Arial"/>
                <a:sym typeface="Arial"/>
              </a:rPr>
              <a:t>ngày lễ </a:t>
            </a:r>
            <a:r>
              <a:rPr b="0" i="0" lang="en-US" sz="1875" u="none" cap="none" strike="noStrike">
                <a:solidFill>
                  <a:srgbClr val="93A3BC"/>
                </a:solidFill>
                <a:latin typeface="Arial"/>
                <a:ea typeface="Arial"/>
                <a:cs typeface="Arial"/>
                <a:sym typeface="Arial"/>
              </a:rPr>
              <a:t>dễ dàng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36"/>
          <p:cNvSpPr/>
          <p:nvPr/>
        </p:nvSpPr>
        <p:spPr>
          <a:xfrm>
            <a:off x="12052268" y="4826331"/>
            <a:ext cx="5245117" cy="1592130"/>
          </a:xfrm>
          <a:prstGeom prst="roundRect">
            <a:avLst>
              <a:gd fmla="val 10769" name="adj"/>
            </a:avLst>
          </a:prstGeom>
          <a:solidFill>
            <a:srgbClr val="131C2E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36"/>
          <p:cNvSpPr/>
          <p:nvPr/>
        </p:nvSpPr>
        <p:spPr>
          <a:xfrm>
            <a:off x="12381343" y="5174506"/>
            <a:ext cx="4724575" cy="4614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Dễ dùng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36"/>
          <p:cNvSpPr/>
          <p:nvPr/>
        </p:nvSpPr>
        <p:spPr>
          <a:xfrm>
            <a:off x="12381343" y="5731123"/>
            <a:ext cx="4724575" cy="3772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93A3BC"/>
                </a:solidFill>
                <a:latin typeface="Arial"/>
                <a:ea typeface="Arial"/>
                <a:cs typeface="Arial"/>
                <a:sym typeface="Arial"/>
              </a:rPr>
              <a:t>Ít cần </a:t>
            </a:r>
            <a:r>
              <a:rPr b="1" i="0" lang="en-US" sz="1875" u="none" cap="none" strike="noStrike">
                <a:solidFill>
                  <a:srgbClr val="2BE0CE"/>
                </a:solidFill>
                <a:latin typeface="Arial"/>
                <a:ea typeface="Arial"/>
                <a:cs typeface="Arial"/>
                <a:sym typeface="Arial"/>
              </a:rPr>
              <a:t>thống kê sâu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36"/>
          <p:cNvSpPr/>
          <p:nvPr/>
        </p:nvSpPr>
        <p:spPr>
          <a:xfrm>
            <a:off x="5280508" y="6742245"/>
            <a:ext cx="7726903" cy="3847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3BC"/>
                </a:solidFill>
                <a:latin typeface="Arial"/>
                <a:ea typeface="Arial"/>
                <a:cs typeface="Arial"/>
                <a:sym typeface="Arial"/>
              </a:rPr>
              <a:t>Sản phẩm của Meta — được dân kinh doanh ưa chuộng vì dễ dùng.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18"/>
        </a:solidFill>
      </p:bgPr>
    </p:bg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37"/>
          <p:cNvSpPr/>
          <p:nvPr/>
        </p:nvSpPr>
        <p:spPr>
          <a:xfrm>
            <a:off x="990534" y="800034"/>
            <a:ext cx="16796141" cy="334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E0C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BE0CE"/>
                </a:solidFill>
                <a:latin typeface="Courier New"/>
                <a:ea typeface="Courier New"/>
                <a:cs typeface="Courier New"/>
                <a:sym typeface="Courier New"/>
              </a:rPr>
              <a:t>MÔ HÌNH CỘNG TÍNH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37"/>
          <p:cNvSpPr/>
          <p:nvPr/>
        </p:nvSpPr>
        <p:spPr>
          <a:xfrm>
            <a:off x="990534" y="1286867"/>
            <a:ext cx="14716126" cy="6842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Prophet = tổng các thành phần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37"/>
          <p:cNvSpPr/>
          <p:nvPr/>
        </p:nvSpPr>
        <p:spPr>
          <a:xfrm>
            <a:off x="3718140" y="5146146"/>
            <a:ext cx="1619250" cy="952500"/>
          </a:xfrm>
          <a:prstGeom prst="roundRect">
            <a:avLst>
              <a:gd fmla="val 16000" name="adj"/>
            </a:avLst>
          </a:prstGeom>
          <a:solidFill>
            <a:srgbClr val="131C2E"/>
          </a:solidFill>
          <a:ln cap="flat" cmpd="sng" w="9525">
            <a:solidFill>
              <a:srgbClr val="FFFFFF">
                <a:alpha val="1686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37"/>
          <p:cNvSpPr/>
          <p:nvPr/>
        </p:nvSpPr>
        <p:spPr>
          <a:xfrm>
            <a:off x="4099140" y="5437188"/>
            <a:ext cx="933450" cy="408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250"/>
              <a:buFont typeface="Courier New"/>
              <a:buNone/>
            </a:pPr>
            <a:r>
              <a:rPr b="1" i="0" lang="en-US" sz="2250" u="none" cap="none" strike="noStrike">
                <a:solidFill>
                  <a:srgbClr val="E7EDF8"/>
                </a:solidFill>
                <a:latin typeface="Courier New"/>
                <a:ea typeface="Courier New"/>
                <a:cs typeface="Courier New"/>
                <a:sym typeface="Courier New"/>
              </a:rPr>
              <a:t>Trend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37"/>
          <p:cNvSpPr/>
          <p:nvPr/>
        </p:nvSpPr>
        <p:spPr>
          <a:xfrm>
            <a:off x="5565924" y="5405438"/>
            <a:ext cx="457200" cy="4720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E0CE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BE0CE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37"/>
          <p:cNvSpPr/>
          <p:nvPr/>
        </p:nvSpPr>
        <p:spPr>
          <a:xfrm>
            <a:off x="6175458" y="5146146"/>
            <a:ext cx="2582333" cy="952500"/>
          </a:xfrm>
          <a:prstGeom prst="roundRect">
            <a:avLst>
              <a:gd fmla="val 16000" name="adj"/>
            </a:avLst>
          </a:prstGeom>
          <a:solidFill>
            <a:srgbClr val="131C2E"/>
          </a:solidFill>
          <a:ln cap="flat" cmpd="sng" w="9525">
            <a:solidFill>
              <a:srgbClr val="FFFFFF">
                <a:alpha val="1686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37"/>
          <p:cNvSpPr/>
          <p:nvPr/>
        </p:nvSpPr>
        <p:spPr>
          <a:xfrm>
            <a:off x="6523633" y="5437188"/>
            <a:ext cx="1962183" cy="408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250"/>
              <a:buFont typeface="Courier New"/>
              <a:buNone/>
            </a:pPr>
            <a:r>
              <a:rPr b="1" i="0" lang="en-US" sz="2250" u="none" cap="none" strike="noStrike">
                <a:solidFill>
                  <a:srgbClr val="E7EDF8"/>
                </a:solidFill>
                <a:latin typeface="Courier New"/>
                <a:ea typeface="Courier New"/>
                <a:cs typeface="Courier New"/>
                <a:sym typeface="Courier New"/>
              </a:rPr>
              <a:t>Seasonality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37"/>
          <p:cNvSpPr/>
          <p:nvPr/>
        </p:nvSpPr>
        <p:spPr>
          <a:xfrm>
            <a:off x="8986325" y="5405438"/>
            <a:ext cx="457200" cy="4720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E0CE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BE0CE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37"/>
          <p:cNvSpPr/>
          <p:nvPr/>
        </p:nvSpPr>
        <p:spPr>
          <a:xfrm>
            <a:off x="9595859" y="5146146"/>
            <a:ext cx="2067967" cy="952500"/>
          </a:xfrm>
          <a:prstGeom prst="roundRect">
            <a:avLst>
              <a:gd fmla="val 16000" name="adj"/>
            </a:avLst>
          </a:prstGeom>
          <a:solidFill>
            <a:srgbClr val="131C2E"/>
          </a:solidFill>
          <a:ln cap="flat" cmpd="sng" w="9525">
            <a:solidFill>
              <a:srgbClr val="FFFFFF">
                <a:alpha val="1686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37"/>
          <p:cNvSpPr/>
          <p:nvPr/>
        </p:nvSpPr>
        <p:spPr>
          <a:xfrm>
            <a:off x="9944035" y="5437188"/>
            <a:ext cx="1447817" cy="408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250"/>
              <a:buFont typeface="Courier New"/>
              <a:buNone/>
            </a:pPr>
            <a:r>
              <a:rPr b="1" i="0" lang="en-US" sz="2250" u="none" cap="none" strike="noStrike">
                <a:solidFill>
                  <a:srgbClr val="E7EDF8"/>
                </a:solidFill>
                <a:latin typeface="Courier New"/>
                <a:ea typeface="Courier New"/>
                <a:cs typeface="Courier New"/>
                <a:sym typeface="Courier New"/>
              </a:rPr>
              <a:t>Holidays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37"/>
          <p:cNvSpPr/>
          <p:nvPr/>
        </p:nvSpPr>
        <p:spPr>
          <a:xfrm>
            <a:off x="11892360" y="5405438"/>
            <a:ext cx="457200" cy="4720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E0CE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BE0CE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37"/>
          <p:cNvSpPr/>
          <p:nvPr/>
        </p:nvSpPr>
        <p:spPr>
          <a:xfrm>
            <a:off x="12501894" y="5146146"/>
            <a:ext cx="2067967" cy="952500"/>
          </a:xfrm>
          <a:prstGeom prst="roundRect">
            <a:avLst>
              <a:gd fmla="val 16000" name="adj"/>
            </a:avLst>
          </a:prstGeom>
          <a:noFill/>
          <a:ln cap="flat" cmpd="sng" w="9525">
            <a:solidFill>
              <a:srgbClr val="2BE0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37"/>
          <p:cNvSpPr/>
          <p:nvPr/>
        </p:nvSpPr>
        <p:spPr>
          <a:xfrm>
            <a:off x="12850069" y="5437188"/>
            <a:ext cx="1447817" cy="408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250"/>
              <a:buFont typeface="Courier New"/>
              <a:buNone/>
            </a:pPr>
            <a:r>
              <a:rPr b="1" i="0" lang="en-US" sz="2250" u="none" cap="none" strike="noStrike">
                <a:solidFill>
                  <a:srgbClr val="E7EDF8"/>
                </a:solidFill>
                <a:latin typeface="Courier New"/>
                <a:ea typeface="Courier New"/>
                <a:cs typeface="Courier New"/>
                <a:sym typeface="Courier New"/>
              </a:rPr>
              <a:t>Forecast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37"/>
          <p:cNvSpPr/>
          <p:nvPr/>
        </p:nvSpPr>
        <p:spPr>
          <a:xfrm>
            <a:off x="6407210" y="6422430"/>
            <a:ext cx="5473581" cy="3847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3BC"/>
                </a:solidFill>
                <a:latin typeface="Arial"/>
                <a:ea typeface="Arial"/>
                <a:cs typeface="Arial"/>
                <a:sym typeface="Arial"/>
              </a:rPr>
              <a:t>Mô hình cộng tính (additive) nên rất dễ diễn giải.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18"/>
        </a:solidFill>
      </p:bgPr>
    </p:bg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38"/>
          <p:cNvSpPr/>
          <p:nvPr/>
        </p:nvSpPr>
        <p:spPr>
          <a:xfrm>
            <a:off x="990534" y="800034"/>
            <a:ext cx="16796141" cy="334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E0C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BE0CE"/>
                </a:solidFill>
                <a:latin typeface="Courier New"/>
                <a:ea typeface="Courier New"/>
                <a:cs typeface="Courier New"/>
                <a:sym typeface="Courier New"/>
              </a:rPr>
              <a:t>HOLIDAYS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38"/>
          <p:cNvSpPr/>
          <p:nvPr/>
        </p:nvSpPr>
        <p:spPr>
          <a:xfrm>
            <a:off x="990534" y="1286867"/>
            <a:ext cx="14716126" cy="6842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Thêm ngày lễ Việt Nam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38"/>
          <p:cNvSpPr/>
          <p:nvPr/>
        </p:nvSpPr>
        <p:spPr>
          <a:xfrm>
            <a:off x="990534" y="4159581"/>
            <a:ext cx="9216430" cy="3596018"/>
          </a:xfrm>
          <a:prstGeom prst="roundRect">
            <a:avLst>
              <a:gd fmla="val 4238" name="adj"/>
            </a:avLst>
          </a:prstGeom>
          <a:solidFill>
            <a:srgbClr val="131C2E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571500" rotWithShape="0" algn="bl" dir="5400000" dist="228600">
              <a:srgbClr val="000000">
                <a:alpha val="8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38"/>
          <p:cNvSpPr/>
          <p:nvPr/>
        </p:nvSpPr>
        <p:spPr>
          <a:xfrm>
            <a:off x="995826" y="4164873"/>
            <a:ext cx="9205847" cy="607384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38"/>
          <p:cNvSpPr/>
          <p:nvPr/>
        </p:nvSpPr>
        <p:spPr>
          <a:xfrm>
            <a:off x="995826" y="4766965"/>
            <a:ext cx="9205847" cy="9525"/>
          </a:xfrm>
          <a:prstGeom prst="rect">
            <a:avLst/>
          </a:prstGeom>
          <a:solidFill>
            <a:srgbClr val="FFFFFF">
              <a:alpha val="901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38"/>
          <p:cNvSpPr/>
          <p:nvPr/>
        </p:nvSpPr>
        <p:spPr>
          <a:xfrm>
            <a:off x="1243459" y="4403990"/>
            <a:ext cx="123775" cy="123775"/>
          </a:xfrm>
          <a:prstGeom prst="ellipse">
            <a:avLst/>
          </a:prstGeom>
          <a:solidFill>
            <a:srgbClr val="3949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38"/>
          <p:cNvSpPr/>
          <p:nvPr/>
        </p:nvSpPr>
        <p:spPr>
          <a:xfrm>
            <a:off x="1471993" y="4403990"/>
            <a:ext cx="123775" cy="123775"/>
          </a:xfrm>
          <a:prstGeom prst="ellipse">
            <a:avLst/>
          </a:prstGeom>
          <a:solidFill>
            <a:srgbClr val="3949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38"/>
          <p:cNvSpPr/>
          <p:nvPr/>
        </p:nvSpPr>
        <p:spPr>
          <a:xfrm>
            <a:off x="1700527" y="4403990"/>
            <a:ext cx="123775" cy="123775"/>
          </a:xfrm>
          <a:prstGeom prst="ellipse">
            <a:avLst/>
          </a:prstGeom>
          <a:solidFill>
            <a:srgbClr val="3949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38"/>
          <p:cNvSpPr/>
          <p:nvPr/>
        </p:nvSpPr>
        <p:spPr>
          <a:xfrm>
            <a:off x="2062344" y="4336273"/>
            <a:ext cx="2092325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93A3BC"/>
                </a:solidFill>
                <a:latin typeface="Courier New"/>
                <a:ea typeface="Courier New"/>
                <a:cs typeface="Courier New"/>
                <a:sym typeface="Courier New"/>
              </a:rPr>
              <a:t>prophet_tet.py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38"/>
          <p:cNvSpPr/>
          <p:nvPr/>
        </p:nvSpPr>
        <p:spPr>
          <a:xfrm>
            <a:off x="1319676" y="5058007"/>
            <a:ext cx="8834322" cy="24446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E0CE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2BE0CE"/>
                </a:solidFill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 prophet </a:t>
            </a:r>
            <a:r>
              <a:rPr b="0" i="0" lang="en-US" sz="1950" u="none" cap="none" strike="noStrike">
                <a:solidFill>
                  <a:srgbClr val="2BE0CE"/>
                </a:solidFill>
                <a:latin typeface="Courier New"/>
                <a:ea typeface="Courier New"/>
                <a:cs typeface="Courier New"/>
                <a:sym typeface="Courier New"/>
              </a:rPr>
              <a:t>import </a:t>
            </a: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 Prophet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50"/>
              <a:buFont typeface="Calibri"/>
              <a:buNone/>
            </a:pPr>
            <a:r>
              <a:t/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D6E2F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tet = pd.DataFrame({ 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86E3A8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86E3A8"/>
                </a:solidFill>
                <a:latin typeface="Courier New"/>
                <a:ea typeface="Courier New"/>
                <a:cs typeface="Courier New"/>
                <a:sym typeface="Courier New"/>
              </a:rPr>
              <a:t>"holiday"</a:t>
            </a: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950" u="none" cap="none" strike="noStrike">
                <a:solidFill>
                  <a:srgbClr val="86E3A8"/>
                </a:solidFill>
                <a:latin typeface="Courier New"/>
                <a:ea typeface="Courier New"/>
                <a:cs typeface="Courier New"/>
                <a:sym typeface="Courier New"/>
              </a:rPr>
              <a:t>"tet" </a:t>
            </a: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D6E2F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86E3A8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86E3A8"/>
                </a:solidFill>
                <a:latin typeface="Courier New"/>
                <a:ea typeface="Courier New"/>
                <a:cs typeface="Courier New"/>
                <a:sym typeface="Courier New"/>
              </a:rPr>
              <a:t>"ds"</a:t>
            </a: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: [</a:t>
            </a:r>
            <a:r>
              <a:rPr b="0" i="0" lang="en-US" sz="1950" u="none" cap="none" strike="noStrike">
                <a:solidFill>
                  <a:srgbClr val="86E3A8"/>
                </a:solidFill>
                <a:latin typeface="Courier New"/>
                <a:ea typeface="Courier New"/>
                <a:cs typeface="Courier New"/>
                <a:sym typeface="Courier New"/>
              </a:rPr>
              <a:t>"2024-02-10"</a:t>
            </a: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950" u="none" cap="none" strike="noStrike">
                <a:solidFill>
                  <a:srgbClr val="86E3A8"/>
                </a:solidFill>
                <a:latin typeface="Courier New"/>
                <a:ea typeface="Courier New"/>
                <a:cs typeface="Courier New"/>
                <a:sym typeface="Courier New"/>
              </a:rPr>
              <a:t>"2025-01-29" </a:t>
            </a: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]})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D6E2F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m = Prophet(holidays=tet, yearly_seasonality=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E0CE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2BE0CE"/>
                </a:solidFill>
                <a:latin typeface="Courier New"/>
                <a:ea typeface="Courier New"/>
                <a:cs typeface="Courier New"/>
                <a:sym typeface="Courier New"/>
              </a:rPr>
              <a:t>True </a:t>
            </a: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D6E2F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m.fit(df)             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5E7286"/>
              </a:buClr>
              <a:buSzPts val="1950"/>
              <a:buFont typeface="Courier New"/>
              <a:buNone/>
            </a:pPr>
            <a:r>
              <a:rPr b="0" i="1" lang="en-US" sz="1950" u="none" cap="none" strike="noStrike">
                <a:solidFill>
                  <a:srgbClr val="5E7286"/>
                </a:solidFill>
                <a:latin typeface="Courier New"/>
                <a:ea typeface="Courier New"/>
                <a:cs typeface="Courier New"/>
                <a:sym typeface="Courier New"/>
              </a:rPr>
              <a:t># df: cot ds, 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38"/>
          <p:cNvSpPr/>
          <p:nvPr/>
        </p:nvSpPr>
        <p:spPr>
          <a:xfrm>
            <a:off x="12178358" y="5060570"/>
            <a:ext cx="4453226" cy="4456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Khai báo </a:t>
            </a:r>
            <a:r>
              <a:rPr b="1" i="0" lang="en-US" sz="2400" u="none" cap="none" strike="noStrike">
                <a:solidFill>
                  <a:srgbClr val="2BE0CE"/>
                </a:solidFill>
                <a:latin typeface="Arial"/>
                <a:ea typeface="Arial"/>
                <a:cs typeface="Arial"/>
                <a:sym typeface="Arial"/>
              </a:rPr>
              <a:t>Tết &amp; lễ VN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38"/>
          <p:cNvSpPr/>
          <p:nvPr/>
        </p:nvSpPr>
        <p:spPr>
          <a:xfrm>
            <a:off x="12178358" y="5753861"/>
            <a:ext cx="4453226" cy="4456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Cải thiện dự báo </a:t>
            </a:r>
            <a:r>
              <a:rPr b="1" i="0" lang="en-US" sz="2400" u="none" cap="none" strike="noStrike">
                <a:solidFill>
                  <a:srgbClr val="2BE0CE"/>
                </a:solidFill>
                <a:latin typeface="Arial"/>
                <a:ea typeface="Arial"/>
                <a:cs typeface="Arial"/>
                <a:sym typeface="Arial"/>
              </a:rPr>
              <a:t>mùa cao điểm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38"/>
          <p:cNvSpPr/>
          <p:nvPr/>
        </p:nvSpPr>
        <p:spPr>
          <a:xfrm>
            <a:off x="12178358" y="6447152"/>
            <a:ext cx="4453226" cy="4456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Cực hữu ích cho </a:t>
            </a:r>
            <a:r>
              <a:rPr b="1" i="0" lang="en-US" sz="2400" u="none" cap="none" strike="noStrike">
                <a:solidFill>
                  <a:srgbClr val="2BE0CE"/>
                </a:solidFill>
                <a:latin typeface="Arial"/>
                <a:ea typeface="Arial"/>
                <a:cs typeface="Arial"/>
                <a:sym typeface="Arial"/>
              </a:rPr>
              <a:t>bán lẻ VN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18"/>
        </a:soli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39"/>
          <p:cNvSpPr/>
          <p:nvPr/>
        </p:nvSpPr>
        <p:spPr>
          <a:xfrm>
            <a:off x="990534" y="800034"/>
            <a:ext cx="16796141" cy="334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E0C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BE0CE"/>
                </a:solidFill>
                <a:latin typeface="Courier New"/>
                <a:ea typeface="Courier New"/>
                <a:cs typeface="Courier New"/>
                <a:sym typeface="Courier New"/>
              </a:rPr>
              <a:t>UNCERTAINTY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39"/>
          <p:cNvSpPr/>
          <p:nvPr/>
        </p:nvSpPr>
        <p:spPr>
          <a:xfrm>
            <a:off x="990534" y="1286867"/>
            <a:ext cx="14716126" cy="6842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Trực quan &amp; khoảng tin cậy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39"/>
          <p:cNvSpPr/>
          <p:nvPr/>
        </p:nvSpPr>
        <p:spPr>
          <a:xfrm>
            <a:off x="990534" y="4761260"/>
            <a:ext cx="9216430" cy="2392743"/>
          </a:xfrm>
          <a:prstGeom prst="roundRect">
            <a:avLst>
              <a:gd fmla="val 6369" name="adj"/>
            </a:avLst>
          </a:prstGeom>
          <a:solidFill>
            <a:srgbClr val="131C2E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571500" rotWithShape="0" algn="bl" dir="5400000" dist="228600">
              <a:srgbClr val="000000">
                <a:alpha val="8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39"/>
          <p:cNvSpPr/>
          <p:nvPr/>
        </p:nvSpPr>
        <p:spPr>
          <a:xfrm>
            <a:off x="995826" y="4766552"/>
            <a:ext cx="9205847" cy="607384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39"/>
          <p:cNvSpPr/>
          <p:nvPr/>
        </p:nvSpPr>
        <p:spPr>
          <a:xfrm>
            <a:off x="995826" y="5368644"/>
            <a:ext cx="9205847" cy="9525"/>
          </a:xfrm>
          <a:prstGeom prst="rect">
            <a:avLst/>
          </a:prstGeom>
          <a:solidFill>
            <a:srgbClr val="FFFFFF">
              <a:alpha val="901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39"/>
          <p:cNvSpPr/>
          <p:nvPr/>
        </p:nvSpPr>
        <p:spPr>
          <a:xfrm>
            <a:off x="1243459" y="5005669"/>
            <a:ext cx="123775" cy="123775"/>
          </a:xfrm>
          <a:prstGeom prst="ellipse">
            <a:avLst/>
          </a:prstGeom>
          <a:solidFill>
            <a:srgbClr val="3949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39"/>
          <p:cNvSpPr/>
          <p:nvPr/>
        </p:nvSpPr>
        <p:spPr>
          <a:xfrm>
            <a:off x="1471993" y="5005669"/>
            <a:ext cx="123775" cy="123775"/>
          </a:xfrm>
          <a:prstGeom prst="ellipse">
            <a:avLst/>
          </a:prstGeom>
          <a:solidFill>
            <a:srgbClr val="3949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39"/>
          <p:cNvSpPr/>
          <p:nvPr/>
        </p:nvSpPr>
        <p:spPr>
          <a:xfrm>
            <a:off x="1700527" y="5005669"/>
            <a:ext cx="123775" cy="123775"/>
          </a:xfrm>
          <a:prstGeom prst="ellipse">
            <a:avLst/>
          </a:prstGeom>
          <a:solidFill>
            <a:srgbClr val="3949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39"/>
          <p:cNvSpPr/>
          <p:nvPr/>
        </p:nvSpPr>
        <p:spPr>
          <a:xfrm>
            <a:off x="2062344" y="4937952"/>
            <a:ext cx="2236358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93A3BC"/>
                </a:solidFill>
                <a:latin typeface="Courier New"/>
                <a:ea typeface="Courier New"/>
                <a:cs typeface="Courier New"/>
                <a:sym typeface="Courier New"/>
              </a:rPr>
              <a:t>prophet_plot.py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39"/>
          <p:cNvSpPr/>
          <p:nvPr/>
        </p:nvSpPr>
        <p:spPr>
          <a:xfrm>
            <a:off x="1319676" y="5659686"/>
            <a:ext cx="8834322" cy="12413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D6E2F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future   = m.make_future_dataframe(periods=</a:t>
            </a:r>
            <a:r>
              <a:rPr b="0" i="0" lang="en-US" sz="1950" u="none" cap="none" strike="noStrike">
                <a:solidFill>
                  <a:srgbClr val="F4B860"/>
                </a:solidFill>
                <a:latin typeface="Courier New"/>
                <a:ea typeface="Courier New"/>
                <a:cs typeface="Courier New"/>
                <a:sym typeface="Courier New"/>
              </a:rPr>
              <a:t>90 </a:t>
            </a: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D6E2F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forecast = m.predict(future)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D6E2F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m.plot(forecast)      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5E7286"/>
              </a:buClr>
              <a:buSzPts val="1950"/>
              <a:buFont typeface="Courier New"/>
              <a:buNone/>
            </a:pPr>
            <a:r>
              <a:rPr b="0" i="1" lang="en-US" sz="1950" u="none" cap="none" strike="noStrike">
                <a:solidFill>
                  <a:srgbClr val="5E7286"/>
                </a:solidFill>
                <a:latin typeface="Courier New"/>
                <a:ea typeface="Courier New"/>
                <a:cs typeface="Courier New"/>
                <a:sym typeface="Courier New"/>
              </a:rPr>
              <a:t># yhat + uncertainty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39"/>
          <p:cNvSpPr/>
          <p:nvPr/>
        </p:nvSpPr>
        <p:spPr>
          <a:xfrm>
            <a:off x="11895584" y="5407174"/>
            <a:ext cx="5035654" cy="4456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Biểu đồ dự báo kèm </a:t>
            </a:r>
            <a:r>
              <a:rPr b="1" i="0" lang="en-US" sz="2400" u="none" cap="none" strike="noStrike">
                <a:solidFill>
                  <a:srgbClr val="2BE0CE"/>
                </a:solidFill>
                <a:latin typeface="Arial"/>
                <a:ea typeface="Arial"/>
                <a:cs typeface="Arial"/>
                <a:sym typeface="Arial"/>
              </a:rPr>
              <a:t>khoảng tin cậy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39"/>
          <p:cNvSpPr/>
          <p:nvPr/>
        </p:nvSpPr>
        <p:spPr>
          <a:xfrm>
            <a:off x="11895584" y="6100465"/>
            <a:ext cx="5035654" cy="4456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Giúp </a:t>
            </a:r>
            <a:r>
              <a:rPr b="1" i="0" lang="en-US" sz="2400" u="none" cap="none" strike="noStrike">
                <a:solidFill>
                  <a:srgbClr val="2BE0CE"/>
                </a:solidFill>
                <a:latin typeface="Arial"/>
                <a:ea typeface="Arial"/>
                <a:cs typeface="Arial"/>
                <a:sym typeface="Arial"/>
              </a:rPr>
              <a:t>ra quyết định thận trọng </a:t>
            </a: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hơn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18"/>
        </a:solidFill>
      </p:bgPr>
    </p:bg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40"/>
          <p:cNvSpPr/>
          <p:nvPr/>
        </p:nvSpPr>
        <p:spPr>
          <a:xfrm>
            <a:off x="990534" y="800034"/>
            <a:ext cx="16796141" cy="334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E0C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BE0CE"/>
                </a:solidFill>
                <a:latin typeface="Courier New"/>
                <a:ea typeface="Courier New"/>
                <a:cs typeface="Courier New"/>
                <a:sym typeface="Courier New"/>
              </a:rPr>
              <a:t>SECTION 6 · LECTURE 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40"/>
          <p:cNvSpPr/>
          <p:nvPr/>
        </p:nvSpPr>
        <p:spPr>
          <a:xfrm>
            <a:off x="990534" y="1286867"/>
            <a:ext cx="14716126" cy="6842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Tóm tắt &amp; chuyển bài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40"/>
          <p:cNvSpPr/>
          <p:nvPr/>
        </p:nvSpPr>
        <p:spPr>
          <a:xfrm>
            <a:off x="990534" y="4545873"/>
            <a:ext cx="16796141" cy="3185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86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5C6B86"/>
                </a:solidFill>
                <a:latin typeface="Courier New"/>
                <a:ea typeface="Courier New"/>
                <a:cs typeface="Courier New"/>
                <a:sym typeface="Courier New"/>
              </a:rPr>
              <a:t>ĐÃ HỌC TRONG BÀI NÀY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40"/>
          <p:cNvSpPr/>
          <p:nvPr/>
        </p:nvSpPr>
        <p:spPr>
          <a:xfrm>
            <a:off x="990534" y="5264465"/>
            <a:ext cx="1820499" cy="676176"/>
          </a:xfrm>
          <a:prstGeom prst="roundRect">
            <a:avLst>
              <a:gd fmla="val 50000" name="adj"/>
            </a:avLst>
          </a:prstGeom>
          <a:solidFill>
            <a:srgbClr val="131C2E"/>
          </a:solidFill>
          <a:ln cap="flat" cmpd="sng" w="9525">
            <a:solidFill>
              <a:srgbClr val="FFFFFF">
                <a:alpha val="1686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40"/>
          <p:cNvSpPr/>
          <p:nvPr/>
        </p:nvSpPr>
        <p:spPr>
          <a:xfrm>
            <a:off x="1300626" y="5441206"/>
            <a:ext cx="1276515" cy="3607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E7EDF8"/>
                </a:solidFill>
                <a:latin typeface="Courier New"/>
                <a:ea typeface="Courier New"/>
                <a:cs typeface="Courier New"/>
                <a:sym typeface="Courier New"/>
              </a:rPr>
              <a:t>Prophet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40"/>
          <p:cNvSpPr/>
          <p:nvPr/>
        </p:nvSpPr>
        <p:spPr>
          <a:xfrm>
            <a:off x="3001533" y="5264465"/>
            <a:ext cx="1991982" cy="676176"/>
          </a:xfrm>
          <a:prstGeom prst="roundRect">
            <a:avLst>
              <a:gd fmla="val 50000" name="adj"/>
            </a:avLst>
          </a:prstGeom>
          <a:solidFill>
            <a:srgbClr val="131C2E"/>
          </a:solidFill>
          <a:ln cap="flat" cmpd="sng" w="9525">
            <a:solidFill>
              <a:srgbClr val="FFFFFF">
                <a:alpha val="1686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40"/>
          <p:cNvSpPr/>
          <p:nvPr/>
        </p:nvSpPr>
        <p:spPr>
          <a:xfrm>
            <a:off x="3311624" y="5441206"/>
            <a:ext cx="1447999" cy="3607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E7EDF8"/>
                </a:solidFill>
                <a:latin typeface="Courier New"/>
                <a:ea typeface="Courier New"/>
                <a:cs typeface="Courier New"/>
                <a:sym typeface="Courier New"/>
              </a:rPr>
              <a:t>holidays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40"/>
          <p:cNvSpPr/>
          <p:nvPr/>
        </p:nvSpPr>
        <p:spPr>
          <a:xfrm>
            <a:off x="5184014" y="5264465"/>
            <a:ext cx="2506431" cy="676176"/>
          </a:xfrm>
          <a:prstGeom prst="roundRect">
            <a:avLst>
              <a:gd fmla="val 50000" name="adj"/>
            </a:avLst>
          </a:prstGeom>
          <a:solidFill>
            <a:srgbClr val="131C2E"/>
          </a:solidFill>
          <a:ln cap="flat" cmpd="sng" w="9525">
            <a:solidFill>
              <a:srgbClr val="FFFFFF">
                <a:alpha val="1686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40"/>
          <p:cNvSpPr/>
          <p:nvPr/>
        </p:nvSpPr>
        <p:spPr>
          <a:xfrm>
            <a:off x="5494106" y="5441206"/>
            <a:ext cx="1962448" cy="3607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E7EDF8"/>
                </a:solidFill>
                <a:latin typeface="Courier New"/>
                <a:ea typeface="Courier New"/>
                <a:cs typeface="Courier New"/>
                <a:sym typeface="Courier New"/>
              </a:rPr>
              <a:t>uncertainty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40"/>
          <p:cNvSpPr/>
          <p:nvPr/>
        </p:nvSpPr>
        <p:spPr>
          <a:xfrm>
            <a:off x="990534" y="6512058"/>
            <a:ext cx="16306933" cy="9525"/>
          </a:xfrm>
          <a:prstGeom prst="rect">
            <a:avLst/>
          </a:prstGeom>
          <a:solidFill>
            <a:srgbClr val="FFFFFF">
              <a:alpha val="901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40"/>
          <p:cNvSpPr/>
          <p:nvPr/>
        </p:nvSpPr>
        <p:spPr>
          <a:xfrm>
            <a:off x="990534" y="6993599"/>
            <a:ext cx="2394529" cy="3185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86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5C6B86"/>
                </a:solidFill>
                <a:latin typeface="Courier New"/>
                <a:ea typeface="Courier New"/>
                <a:cs typeface="Courier New"/>
                <a:sym typeface="Courier New"/>
              </a:rPr>
              <a:t>BÀI TIẾP THEO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40"/>
          <p:cNvSpPr/>
          <p:nvPr/>
        </p:nvSpPr>
        <p:spPr>
          <a:xfrm>
            <a:off x="3556496" y="6914720"/>
            <a:ext cx="514416" cy="4762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E0CE"/>
              </a:buClr>
              <a:buSzPts val="3450"/>
              <a:buFont typeface="Arial"/>
              <a:buNone/>
            </a:pPr>
            <a:r>
              <a:rPr b="0" i="0" lang="en-US" sz="3450" u="none" cap="none" strike="noStrike">
                <a:solidFill>
                  <a:srgbClr val="2BE0CE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40"/>
          <p:cNvSpPr/>
          <p:nvPr/>
        </p:nvSpPr>
        <p:spPr>
          <a:xfrm>
            <a:off x="4242346" y="6898349"/>
            <a:ext cx="6737907" cy="5090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Tiếp cận ML: sliding window + XGBoost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18"/>
        </a:solidFill>
      </p:bgPr>
    </p:bg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41"/>
          <p:cNvSpPr/>
          <p:nvPr/>
        </p:nvSpPr>
        <p:spPr>
          <a:xfrm>
            <a:off x="12347030" y="3609992"/>
            <a:ext cx="5334340" cy="31051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500"/>
              <a:buFont typeface="Arial"/>
              <a:buNone/>
            </a:pPr>
            <a:r>
              <a:rPr b="1" i="0" lang="en-US" sz="34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b="0" i="0" sz="3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41"/>
          <p:cNvSpPr/>
          <p:nvPr/>
        </p:nvSpPr>
        <p:spPr>
          <a:xfrm>
            <a:off x="990534" y="3727070"/>
            <a:ext cx="16796141" cy="334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E0C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BE0CE"/>
                </a:solidFill>
                <a:latin typeface="Courier New"/>
                <a:ea typeface="Courier New"/>
                <a:cs typeface="Courier New"/>
                <a:sym typeface="Courier New"/>
              </a:rPr>
              <a:t>SECTION 6 · LECTURE 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41"/>
          <p:cNvSpPr/>
          <p:nvPr/>
        </p:nvSpPr>
        <p:spPr>
          <a:xfrm>
            <a:off x="990534" y="4347187"/>
            <a:ext cx="12753976" cy="17418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6450"/>
              <a:buFont typeface="Arial"/>
              <a:buNone/>
            </a:pPr>
            <a:r>
              <a:rPr b="1" i="0" lang="en-US" sz="645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Tiếp cận ML — sliding window + XGBoost</a:t>
            </a:r>
            <a:endParaRPr b="0" i="0" sz="6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41"/>
          <p:cNvSpPr/>
          <p:nvPr/>
        </p:nvSpPr>
        <p:spPr>
          <a:xfrm>
            <a:off x="990534" y="6374723"/>
            <a:ext cx="16796141" cy="31855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93A3BC"/>
                </a:solidFill>
                <a:latin typeface="Courier New"/>
                <a:ea typeface="Courier New"/>
                <a:cs typeface="Courier New"/>
                <a:sym typeface="Courier New"/>
              </a:rPr>
              <a:t>~8 phút · 6 slides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18"/>
        </a:solidFill>
      </p:bgPr>
    </p:bg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42"/>
          <p:cNvSpPr/>
          <p:nvPr/>
        </p:nvSpPr>
        <p:spPr>
          <a:xfrm>
            <a:off x="990534" y="800034"/>
            <a:ext cx="16796141" cy="334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E0C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BE0CE"/>
                </a:solidFill>
                <a:latin typeface="Courier New"/>
                <a:ea typeface="Courier New"/>
                <a:cs typeface="Courier New"/>
                <a:sym typeface="Courier New"/>
              </a:rPr>
              <a:t>SLIDING WINDOW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42"/>
          <p:cNvSpPr/>
          <p:nvPr/>
        </p:nvSpPr>
        <p:spPr>
          <a:xfrm>
            <a:off x="990534" y="1286867"/>
            <a:ext cx="14716126" cy="6842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Biến time-series thành bài toán ML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42"/>
          <p:cNvSpPr/>
          <p:nvPr/>
        </p:nvSpPr>
        <p:spPr>
          <a:xfrm>
            <a:off x="1466784" y="5407174"/>
            <a:ext cx="7568651" cy="4456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Dùng </a:t>
            </a:r>
            <a:r>
              <a:rPr b="1" i="0" lang="en-US" sz="2400" u="none" cap="none" strike="noStrike">
                <a:solidFill>
                  <a:srgbClr val="2BE0CE"/>
                </a:solidFill>
                <a:latin typeface="Arial"/>
                <a:ea typeface="Arial"/>
                <a:cs typeface="Arial"/>
                <a:sym typeface="Arial"/>
              </a:rPr>
              <a:t>quá khứ </a:t>
            </a: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làm feature dự đoán </a:t>
            </a:r>
            <a:r>
              <a:rPr b="1" i="0" lang="en-US" sz="2400" u="none" cap="none" strike="noStrike">
                <a:solidFill>
                  <a:srgbClr val="2BE0CE"/>
                </a:solidFill>
                <a:latin typeface="Arial"/>
                <a:ea typeface="Arial"/>
                <a:cs typeface="Arial"/>
                <a:sym typeface="Arial"/>
              </a:rPr>
              <a:t>tương lai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42"/>
          <p:cNvSpPr/>
          <p:nvPr/>
        </p:nvSpPr>
        <p:spPr>
          <a:xfrm>
            <a:off x="1466784" y="6100465"/>
            <a:ext cx="7568651" cy="4456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Bước chuẩn bị quan trọng — cả cho </a:t>
            </a:r>
            <a:r>
              <a:rPr b="1" i="0" lang="en-US" sz="2400" u="none" cap="none" strike="noStrike">
                <a:solidFill>
                  <a:srgbClr val="2BE0CE"/>
                </a:solidFill>
                <a:latin typeface="Arial"/>
                <a:ea typeface="Arial"/>
                <a:cs typeface="Arial"/>
                <a:sym typeface="Arial"/>
              </a:rPr>
              <a:t>LSTM </a:t>
            </a: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sau này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42"/>
          <p:cNvSpPr/>
          <p:nvPr/>
        </p:nvSpPr>
        <p:spPr>
          <a:xfrm>
            <a:off x="9812652" y="4890823"/>
            <a:ext cx="1624459" cy="952500"/>
          </a:xfrm>
          <a:prstGeom prst="roundRect">
            <a:avLst>
              <a:gd fmla="val 16000" name="adj"/>
            </a:avLst>
          </a:prstGeom>
          <a:solidFill>
            <a:srgbClr val="131C2E"/>
          </a:solidFill>
          <a:ln cap="flat" cmpd="sng" w="9525">
            <a:solidFill>
              <a:srgbClr val="FFFFFF">
                <a:alpha val="1686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42"/>
          <p:cNvSpPr/>
          <p:nvPr/>
        </p:nvSpPr>
        <p:spPr>
          <a:xfrm>
            <a:off x="10160827" y="5181865"/>
            <a:ext cx="1004309" cy="408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250"/>
              <a:buFont typeface="Courier New"/>
              <a:buNone/>
            </a:pPr>
            <a:r>
              <a:rPr b="1" i="0" lang="en-US" sz="2250" u="none" cap="none" strike="noStrike">
                <a:solidFill>
                  <a:srgbClr val="E7EDF8"/>
                </a:solidFill>
                <a:latin typeface="Courier New"/>
                <a:ea typeface="Courier New"/>
                <a:cs typeface="Courier New"/>
                <a:sym typeface="Courier New"/>
              </a:rPr>
              <a:t>y₍ₜ₋₃₎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42"/>
          <p:cNvSpPr/>
          <p:nvPr/>
        </p:nvSpPr>
        <p:spPr>
          <a:xfrm>
            <a:off x="11665645" y="5150115"/>
            <a:ext cx="457200" cy="4720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E0CE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BE0CE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42"/>
          <p:cNvSpPr/>
          <p:nvPr/>
        </p:nvSpPr>
        <p:spPr>
          <a:xfrm>
            <a:off x="12275179" y="4890823"/>
            <a:ext cx="1624459" cy="952500"/>
          </a:xfrm>
          <a:prstGeom prst="roundRect">
            <a:avLst>
              <a:gd fmla="val 16000" name="adj"/>
            </a:avLst>
          </a:prstGeom>
          <a:solidFill>
            <a:srgbClr val="131C2E"/>
          </a:solidFill>
          <a:ln cap="flat" cmpd="sng" w="9525">
            <a:solidFill>
              <a:srgbClr val="FFFFFF">
                <a:alpha val="1686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42"/>
          <p:cNvSpPr/>
          <p:nvPr/>
        </p:nvSpPr>
        <p:spPr>
          <a:xfrm>
            <a:off x="12623354" y="5181865"/>
            <a:ext cx="1004309" cy="408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250"/>
              <a:buFont typeface="Courier New"/>
              <a:buNone/>
            </a:pPr>
            <a:r>
              <a:rPr b="1" i="0" lang="en-US" sz="2250" u="none" cap="none" strike="noStrike">
                <a:solidFill>
                  <a:srgbClr val="E7EDF8"/>
                </a:solidFill>
                <a:latin typeface="Courier New"/>
                <a:ea typeface="Courier New"/>
                <a:cs typeface="Courier New"/>
                <a:sym typeface="Courier New"/>
              </a:rPr>
              <a:t>y₍ₜ₋₂₎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42"/>
          <p:cNvSpPr/>
          <p:nvPr/>
        </p:nvSpPr>
        <p:spPr>
          <a:xfrm>
            <a:off x="14128171" y="5150115"/>
            <a:ext cx="457200" cy="4720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E0CE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BE0CE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42"/>
          <p:cNvSpPr/>
          <p:nvPr/>
        </p:nvSpPr>
        <p:spPr>
          <a:xfrm>
            <a:off x="14737706" y="4890823"/>
            <a:ext cx="1624459" cy="952500"/>
          </a:xfrm>
          <a:prstGeom prst="roundRect">
            <a:avLst>
              <a:gd fmla="val 16000" name="adj"/>
            </a:avLst>
          </a:prstGeom>
          <a:solidFill>
            <a:srgbClr val="131C2E"/>
          </a:solidFill>
          <a:ln cap="flat" cmpd="sng" w="9525">
            <a:solidFill>
              <a:srgbClr val="FFFFFF">
                <a:alpha val="1686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42"/>
          <p:cNvSpPr/>
          <p:nvPr/>
        </p:nvSpPr>
        <p:spPr>
          <a:xfrm>
            <a:off x="15085882" y="5181865"/>
            <a:ext cx="1004309" cy="408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250"/>
              <a:buFont typeface="Courier New"/>
              <a:buNone/>
            </a:pPr>
            <a:r>
              <a:rPr b="1" i="0" lang="en-US" sz="2250" u="none" cap="none" strike="noStrike">
                <a:solidFill>
                  <a:srgbClr val="E7EDF8"/>
                </a:solidFill>
                <a:latin typeface="Courier New"/>
                <a:ea typeface="Courier New"/>
                <a:cs typeface="Courier New"/>
                <a:sym typeface="Courier New"/>
              </a:rPr>
              <a:t>y₍ₜ₋₁₎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42"/>
          <p:cNvSpPr/>
          <p:nvPr/>
        </p:nvSpPr>
        <p:spPr>
          <a:xfrm>
            <a:off x="16590699" y="5150115"/>
            <a:ext cx="457200" cy="4720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E0CE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BE0CE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42"/>
          <p:cNvSpPr/>
          <p:nvPr/>
        </p:nvSpPr>
        <p:spPr>
          <a:xfrm>
            <a:off x="12582509" y="6071857"/>
            <a:ext cx="1619250" cy="952500"/>
          </a:xfrm>
          <a:prstGeom prst="roundRect">
            <a:avLst>
              <a:gd fmla="val 16000" name="adj"/>
            </a:avLst>
          </a:prstGeom>
          <a:noFill/>
          <a:ln cap="flat" cmpd="sng" w="9525">
            <a:solidFill>
              <a:srgbClr val="2BE0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42"/>
          <p:cNvSpPr/>
          <p:nvPr/>
        </p:nvSpPr>
        <p:spPr>
          <a:xfrm>
            <a:off x="13100100" y="6362899"/>
            <a:ext cx="660268" cy="408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250"/>
              <a:buFont typeface="Courier New"/>
              <a:buNone/>
            </a:pPr>
            <a:r>
              <a:rPr b="1" i="0" lang="en-US" sz="2250" u="none" cap="none" strike="noStrike">
                <a:solidFill>
                  <a:srgbClr val="E7EDF8"/>
                </a:solidFill>
                <a:latin typeface="Courier New"/>
                <a:ea typeface="Courier New"/>
                <a:cs typeface="Courier New"/>
                <a:sym typeface="Courier New"/>
              </a:rPr>
              <a:t>ŷ₍ₜ₎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18"/>
        </a:solidFill>
      </p:bgPr>
    </p:bg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43"/>
          <p:cNvSpPr/>
          <p:nvPr/>
        </p:nvSpPr>
        <p:spPr>
          <a:xfrm>
            <a:off x="990534" y="800034"/>
            <a:ext cx="16796141" cy="334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E0C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BE0CE"/>
                </a:solidFill>
                <a:latin typeface="Courier New"/>
                <a:ea typeface="Courier New"/>
                <a:cs typeface="Courier New"/>
                <a:sym typeface="Courier New"/>
              </a:rPr>
              <a:t>FEATURES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43"/>
          <p:cNvSpPr/>
          <p:nvPr/>
        </p:nvSpPr>
        <p:spPr>
          <a:xfrm>
            <a:off x="990534" y="1286867"/>
            <a:ext cx="14716126" cy="6842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Feature từ thời gian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43"/>
          <p:cNvSpPr/>
          <p:nvPr/>
        </p:nvSpPr>
        <p:spPr>
          <a:xfrm>
            <a:off x="990534" y="4159581"/>
            <a:ext cx="9216430" cy="3596018"/>
          </a:xfrm>
          <a:prstGeom prst="roundRect">
            <a:avLst>
              <a:gd fmla="val 4238" name="adj"/>
            </a:avLst>
          </a:prstGeom>
          <a:solidFill>
            <a:srgbClr val="131C2E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571500" rotWithShape="0" algn="bl" dir="5400000" dist="228600">
              <a:srgbClr val="000000">
                <a:alpha val="8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43"/>
          <p:cNvSpPr/>
          <p:nvPr/>
        </p:nvSpPr>
        <p:spPr>
          <a:xfrm>
            <a:off x="995826" y="4164873"/>
            <a:ext cx="9205847" cy="607384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43"/>
          <p:cNvSpPr/>
          <p:nvPr/>
        </p:nvSpPr>
        <p:spPr>
          <a:xfrm>
            <a:off x="995826" y="4766965"/>
            <a:ext cx="9205847" cy="9525"/>
          </a:xfrm>
          <a:prstGeom prst="rect">
            <a:avLst/>
          </a:prstGeom>
          <a:solidFill>
            <a:srgbClr val="FFFFFF">
              <a:alpha val="901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43"/>
          <p:cNvSpPr/>
          <p:nvPr/>
        </p:nvSpPr>
        <p:spPr>
          <a:xfrm>
            <a:off x="1243459" y="4403990"/>
            <a:ext cx="123775" cy="123775"/>
          </a:xfrm>
          <a:prstGeom prst="ellipse">
            <a:avLst/>
          </a:prstGeom>
          <a:solidFill>
            <a:srgbClr val="3949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43"/>
          <p:cNvSpPr/>
          <p:nvPr/>
        </p:nvSpPr>
        <p:spPr>
          <a:xfrm>
            <a:off x="1471993" y="4403990"/>
            <a:ext cx="123775" cy="123775"/>
          </a:xfrm>
          <a:prstGeom prst="ellipse">
            <a:avLst/>
          </a:prstGeom>
          <a:solidFill>
            <a:srgbClr val="3949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43"/>
          <p:cNvSpPr/>
          <p:nvPr/>
        </p:nvSpPr>
        <p:spPr>
          <a:xfrm>
            <a:off x="1700527" y="4403990"/>
            <a:ext cx="123775" cy="123775"/>
          </a:xfrm>
          <a:prstGeom prst="ellipse">
            <a:avLst/>
          </a:prstGeom>
          <a:solidFill>
            <a:srgbClr val="3949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43"/>
          <p:cNvSpPr/>
          <p:nvPr/>
        </p:nvSpPr>
        <p:spPr>
          <a:xfrm>
            <a:off x="2062344" y="4336273"/>
            <a:ext cx="1660310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93A3BC"/>
                </a:solidFill>
                <a:latin typeface="Courier New"/>
                <a:ea typeface="Courier New"/>
                <a:cs typeface="Courier New"/>
                <a:sym typeface="Courier New"/>
              </a:rPr>
              <a:t>features.py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43"/>
          <p:cNvSpPr/>
          <p:nvPr/>
        </p:nvSpPr>
        <p:spPr>
          <a:xfrm>
            <a:off x="1319676" y="5058007"/>
            <a:ext cx="8834322" cy="24446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E0CE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2BE0CE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 lag </a:t>
            </a:r>
            <a:r>
              <a:rPr b="0" i="0" lang="en-US" sz="1950" u="none" cap="none" strike="noStrike">
                <a:solidFill>
                  <a:srgbClr val="2BE0CE"/>
                </a:solidFill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 [</a:t>
            </a:r>
            <a:r>
              <a:rPr b="0" i="0" lang="en-US" sz="1950" u="none" cap="none" strike="noStrike">
                <a:solidFill>
                  <a:srgbClr val="F4B860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950" u="none" cap="none" strike="noStrike">
                <a:solidFill>
                  <a:srgbClr val="F4B860"/>
                </a:solidFill>
                <a:latin typeface="Courier New"/>
                <a:ea typeface="Courier New"/>
                <a:cs typeface="Courier New"/>
                <a:sym typeface="Courier New"/>
              </a:rPr>
              <a:t>7</a:t>
            </a: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950" u="none" cap="none" strike="noStrike">
                <a:solidFill>
                  <a:srgbClr val="F4B860"/>
                </a:solidFill>
                <a:latin typeface="Courier New"/>
                <a:ea typeface="Courier New"/>
                <a:cs typeface="Courier New"/>
                <a:sym typeface="Courier New"/>
              </a:rPr>
              <a:t>14 </a:t>
            </a: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]: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D6E2F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    df[f 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86E3A8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86E3A8"/>
                </a:solidFill>
                <a:latin typeface="Courier New"/>
                <a:ea typeface="Courier New"/>
                <a:cs typeface="Courier New"/>
                <a:sym typeface="Courier New"/>
              </a:rPr>
              <a:t>"lag_{lag}"</a:t>
            </a: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] = df[</a:t>
            </a:r>
            <a:r>
              <a:rPr b="0" i="0" lang="en-US" sz="1950" u="none" cap="none" strike="noStrike">
                <a:solidFill>
                  <a:srgbClr val="86E3A8"/>
                </a:solidFill>
                <a:latin typeface="Courier New"/>
                <a:ea typeface="Courier New"/>
                <a:cs typeface="Courier New"/>
                <a:sym typeface="Courier New"/>
              </a:rPr>
              <a:t>"y" </a:t>
            </a: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].shift(lag)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50"/>
              <a:buFont typeface="Calibri"/>
              <a:buNone/>
            </a:pPr>
            <a:r>
              <a:t/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D6E2F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df[ 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86E3A8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86E3A8"/>
                </a:solidFill>
                <a:latin typeface="Courier New"/>
                <a:ea typeface="Courier New"/>
                <a:cs typeface="Courier New"/>
                <a:sym typeface="Courier New"/>
              </a:rPr>
              <a:t>"roll7"</a:t>
            </a: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] = df[</a:t>
            </a:r>
            <a:r>
              <a:rPr b="0" i="0" lang="en-US" sz="1950" u="none" cap="none" strike="noStrike">
                <a:solidFill>
                  <a:srgbClr val="86E3A8"/>
                </a:solidFill>
                <a:latin typeface="Courier New"/>
                <a:ea typeface="Courier New"/>
                <a:cs typeface="Courier New"/>
                <a:sym typeface="Courier New"/>
              </a:rPr>
              <a:t>"y"</a:t>
            </a: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].shift(</a:t>
            </a:r>
            <a:r>
              <a:rPr b="0" i="0" lang="en-US" sz="1950" u="none" cap="none" strike="noStrike">
                <a:solidFill>
                  <a:srgbClr val="F4B860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).rolling(</a:t>
            </a:r>
            <a:r>
              <a:rPr b="0" i="0" lang="en-US" sz="1950" u="none" cap="none" strike="noStrike">
                <a:solidFill>
                  <a:srgbClr val="F4B860"/>
                </a:solidFill>
                <a:latin typeface="Courier New"/>
                <a:ea typeface="Courier New"/>
                <a:cs typeface="Courier New"/>
                <a:sym typeface="Courier New"/>
              </a:rPr>
              <a:t>7 </a:t>
            </a: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).mean()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D6E2F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df[ 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86E3A8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86E3A8"/>
                </a:solidFill>
                <a:latin typeface="Courier New"/>
                <a:ea typeface="Courier New"/>
                <a:cs typeface="Courier New"/>
                <a:sym typeface="Courier New"/>
              </a:rPr>
              <a:t>"dow" </a:t>
            </a: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]   = df.index.dayofweek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D6E2F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df[ 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86E3A8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86E3A8"/>
                </a:solidFill>
                <a:latin typeface="Courier New"/>
                <a:ea typeface="Courier New"/>
                <a:cs typeface="Courier New"/>
                <a:sym typeface="Courier New"/>
              </a:rPr>
              <a:t>"month"</a:t>
            </a: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] = df.index.month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43"/>
          <p:cNvSpPr/>
          <p:nvPr/>
        </p:nvSpPr>
        <p:spPr>
          <a:xfrm>
            <a:off x="11876237" y="5065862"/>
            <a:ext cx="5075596" cy="4456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2BE0CE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2BE0CE"/>
                </a:solidFill>
                <a:latin typeface="Arial"/>
                <a:ea typeface="Arial"/>
                <a:cs typeface="Arial"/>
                <a:sym typeface="Arial"/>
              </a:rPr>
              <a:t>lag </a:t>
            </a: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&amp; </a:t>
            </a:r>
            <a:r>
              <a:rPr b="1" i="0" lang="en-US" sz="2400" u="none" cap="none" strike="noStrike">
                <a:solidFill>
                  <a:srgbClr val="2BE0CE"/>
                </a:solidFill>
                <a:latin typeface="Arial"/>
                <a:ea typeface="Arial"/>
                <a:cs typeface="Arial"/>
                <a:sym typeface="Arial"/>
              </a:rPr>
              <a:t>rolling mean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43"/>
          <p:cNvSpPr/>
          <p:nvPr/>
        </p:nvSpPr>
        <p:spPr>
          <a:xfrm>
            <a:off x="11876237" y="5759153"/>
            <a:ext cx="5075596" cy="44034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ngày / tháng / thứ trong tuần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43"/>
          <p:cNvSpPr/>
          <p:nvPr/>
        </p:nvSpPr>
        <p:spPr>
          <a:xfrm>
            <a:off x="11876237" y="6447152"/>
            <a:ext cx="5075596" cy="44034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Nối lại feature engineering Section 2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18"/>
        </a:solidFill>
      </p:bgPr>
    </p:bg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44"/>
          <p:cNvSpPr/>
          <p:nvPr/>
        </p:nvSpPr>
        <p:spPr>
          <a:xfrm>
            <a:off x="990534" y="800034"/>
            <a:ext cx="16796141" cy="334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E0C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BE0CE"/>
                </a:solidFill>
                <a:latin typeface="Courier New"/>
                <a:ea typeface="Courier New"/>
                <a:cs typeface="Courier New"/>
                <a:sym typeface="Courier New"/>
              </a:rPr>
              <a:t>XGBOOST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44"/>
          <p:cNvSpPr/>
          <p:nvPr/>
        </p:nvSpPr>
        <p:spPr>
          <a:xfrm>
            <a:off x="990534" y="1286867"/>
            <a:ext cx="14716126" cy="6842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Huấn luyện XGBoost cho dự báo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44"/>
          <p:cNvSpPr/>
          <p:nvPr/>
        </p:nvSpPr>
        <p:spPr>
          <a:xfrm>
            <a:off x="990534" y="4360168"/>
            <a:ext cx="9216430" cy="3194926"/>
          </a:xfrm>
          <a:prstGeom prst="roundRect">
            <a:avLst>
              <a:gd fmla="val 4770" name="adj"/>
            </a:avLst>
          </a:prstGeom>
          <a:solidFill>
            <a:srgbClr val="131C2E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571500" rotWithShape="0" algn="bl" dir="5400000" dist="228600">
              <a:srgbClr val="000000">
                <a:alpha val="8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44"/>
          <p:cNvSpPr/>
          <p:nvPr/>
        </p:nvSpPr>
        <p:spPr>
          <a:xfrm>
            <a:off x="995826" y="4365460"/>
            <a:ext cx="9205847" cy="607384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44"/>
          <p:cNvSpPr/>
          <p:nvPr/>
        </p:nvSpPr>
        <p:spPr>
          <a:xfrm>
            <a:off x="995826" y="4967552"/>
            <a:ext cx="9205847" cy="9525"/>
          </a:xfrm>
          <a:prstGeom prst="rect">
            <a:avLst/>
          </a:prstGeom>
          <a:solidFill>
            <a:srgbClr val="FFFFFF">
              <a:alpha val="901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44"/>
          <p:cNvSpPr/>
          <p:nvPr/>
        </p:nvSpPr>
        <p:spPr>
          <a:xfrm>
            <a:off x="1243459" y="4604577"/>
            <a:ext cx="123775" cy="123775"/>
          </a:xfrm>
          <a:prstGeom prst="ellipse">
            <a:avLst/>
          </a:prstGeom>
          <a:solidFill>
            <a:srgbClr val="3949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44"/>
          <p:cNvSpPr/>
          <p:nvPr/>
        </p:nvSpPr>
        <p:spPr>
          <a:xfrm>
            <a:off x="1471993" y="4604577"/>
            <a:ext cx="123775" cy="123775"/>
          </a:xfrm>
          <a:prstGeom prst="ellipse">
            <a:avLst/>
          </a:prstGeom>
          <a:solidFill>
            <a:srgbClr val="3949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44"/>
          <p:cNvSpPr/>
          <p:nvPr/>
        </p:nvSpPr>
        <p:spPr>
          <a:xfrm>
            <a:off x="1700527" y="4604577"/>
            <a:ext cx="123775" cy="123775"/>
          </a:xfrm>
          <a:prstGeom prst="ellipse">
            <a:avLst/>
          </a:prstGeom>
          <a:solidFill>
            <a:srgbClr val="3949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44"/>
          <p:cNvSpPr/>
          <p:nvPr/>
        </p:nvSpPr>
        <p:spPr>
          <a:xfrm>
            <a:off x="2062344" y="4536860"/>
            <a:ext cx="940313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93A3BC"/>
                </a:solidFill>
                <a:latin typeface="Courier New"/>
                <a:ea typeface="Courier New"/>
                <a:cs typeface="Courier New"/>
                <a:sym typeface="Courier New"/>
              </a:rPr>
              <a:t>xgb.py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44"/>
          <p:cNvSpPr/>
          <p:nvPr/>
        </p:nvSpPr>
        <p:spPr>
          <a:xfrm>
            <a:off x="1319676" y="5258594"/>
            <a:ext cx="8834322" cy="20435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E0CE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2BE0CE"/>
                </a:solidFill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 xgboost </a:t>
            </a:r>
            <a:r>
              <a:rPr b="0" i="0" lang="en-US" sz="1950" u="none" cap="none" strike="noStrike">
                <a:solidFill>
                  <a:srgbClr val="2BE0CE"/>
                </a:solidFill>
                <a:latin typeface="Courier New"/>
                <a:ea typeface="Courier New"/>
                <a:cs typeface="Courier New"/>
                <a:sym typeface="Courier New"/>
              </a:rPr>
              <a:t>import </a:t>
            </a: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 XGBRegressor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50"/>
              <a:buFont typeface="Calibri"/>
              <a:buNone/>
            </a:pPr>
            <a:r>
              <a:t/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D6E2F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model = XGBRegressor(n_estimators=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F4B86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F4B860"/>
                </a:solidFill>
                <a:latin typeface="Courier New"/>
                <a:ea typeface="Courier New"/>
                <a:cs typeface="Courier New"/>
                <a:sym typeface="Courier New"/>
              </a:rPr>
              <a:t>400</a:t>
            </a: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, max_depth=</a:t>
            </a:r>
            <a:r>
              <a:rPr b="0" i="0" lang="en-US" sz="1950" u="none" cap="none" strike="noStrike">
                <a:solidFill>
                  <a:srgbClr val="F4B860"/>
                </a:solidFill>
                <a:latin typeface="Courier New"/>
                <a:ea typeface="Courier New"/>
                <a:cs typeface="Courier New"/>
                <a:sym typeface="Courier New"/>
              </a:rPr>
              <a:t>4 </a:t>
            </a: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D6E2F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model.fit(X_train, y_train)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D6E2F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pred = model.predict(X_test)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44"/>
          <p:cNvSpPr/>
          <p:nvPr/>
        </p:nvSpPr>
        <p:spPr>
          <a:xfrm>
            <a:off x="11759738" y="5407174"/>
            <a:ext cx="5315585" cy="4456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Đưa lag features vào </a:t>
            </a:r>
            <a:r>
              <a:rPr b="1" i="0" lang="en-US" sz="2400" u="none" cap="none" strike="noStrike">
                <a:solidFill>
                  <a:srgbClr val="2BE0CE"/>
                </a:solidFill>
                <a:latin typeface="Arial"/>
                <a:ea typeface="Arial"/>
                <a:cs typeface="Arial"/>
                <a:sym typeface="Arial"/>
              </a:rPr>
              <a:t>XGBoost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44"/>
          <p:cNvSpPr/>
          <p:nvPr/>
        </p:nvSpPr>
        <p:spPr>
          <a:xfrm>
            <a:off x="11759738" y="6100465"/>
            <a:ext cx="5315585" cy="4456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Bắt </a:t>
            </a:r>
            <a:r>
              <a:rPr b="1" i="0" lang="en-US" sz="2400" u="none" cap="none" strike="noStrike">
                <a:solidFill>
                  <a:srgbClr val="2BE0CE"/>
                </a:solidFill>
                <a:latin typeface="Arial"/>
                <a:ea typeface="Arial"/>
                <a:cs typeface="Arial"/>
                <a:sym typeface="Arial"/>
              </a:rPr>
              <a:t>quan hệ phi tuyến </a:t>
            </a: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tốt hơn ARIMA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18"/>
        </a:solidFill>
      </p:bgPr>
    </p:bg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45"/>
          <p:cNvSpPr/>
          <p:nvPr/>
        </p:nvSpPr>
        <p:spPr>
          <a:xfrm>
            <a:off x="990534" y="800034"/>
            <a:ext cx="16796141" cy="334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E0C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BE0CE"/>
                </a:solidFill>
                <a:latin typeface="Courier New"/>
                <a:ea typeface="Courier New"/>
                <a:cs typeface="Courier New"/>
                <a:sym typeface="Courier New"/>
              </a:rPr>
              <a:t>BACKTESTING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45"/>
          <p:cNvSpPr/>
          <p:nvPr/>
        </p:nvSpPr>
        <p:spPr>
          <a:xfrm>
            <a:off x="990534" y="1286867"/>
            <a:ext cx="14716126" cy="6842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Đánh giá đúng với TimeSeriesSplit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45"/>
          <p:cNvSpPr/>
          <p:nvPr/>
        </p:nvSpPr>
        <p:spPr>
          <a:xfrm>
            <a:off x="4191000" y="4176944"/>
            <a:ext cx="1295350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93A3BC"/>
                </a:solidFill>
                <a:latin typeface="Courier New"/>
                <a:ea typeface="Courier New"/>
                <a:cs typeface="Courier New"/>
                <a:sym typeface="Courier New"/>
              </a:rPr>
              <a:t>fold 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45"/>
          <p:cNvSpPr/>
          <p:nvPr/>
        </p:nvSpPr>
        <p:spPr>
          <a:xfrm>
            <a:off x="8233255" y="4106582"/>
            <a:ext cx="1099509" cy="400017"/>
          </a:xfrm>
          <a:prstGeom prst="roundRect">
            <a:avLst>
              <a:gd fmla="val 16668" name="adj"/>
            </a:avLst>
          </a:prstGeom>
          <a:solidFill>
            <a:srgbClr val="F4B8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45"/>
          <p:cNvSpPr/>
          <p:nvPr/>
        </p:nvSpPr>
        <p:spPr>
          <a:xfrm>
            <a:off x="4191000" y="4710245"/>
            <a:ext cx="1295350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93A3BC"/>
                </a:solidFill>
                <a:latin typeface="Courier New"/>
                <a:ea typeface="Courier New"/>
                <a:cs typeface="Courier New"/>
                <a:sym typeface="Courier New"/>
              </a:rPr>
              <a:t>fold 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45"/>
          <p:cNvSpPr/>
          <p:nvPr/>
        </p:nvSpPr>
        <p:spPr>
          <a:xfrm>
            <a:off x="9417431" y="4639882"/>
            <a:ext cx="1099509" cy="400017"/>
          </a:xfrm>
          <a:prstGeom prst="roundRect">
            <a:avLst>
              <a:gd fmla="val 16668" name="adj"/>
            </a:avLst>
          </a:prstGeom>
          <a:solidFill>
            <a:srgbClr val="F4B8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45"/>
          <p:cNvSpPr/>
          <p:nvPr/>
        </p:nvSpPr>
        <p:spPr>
          <a:xfrm>
            <a:off x="4191000" y="5243546"/>
            <a:ext cx="1295350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93A3BC"/>
                </a:solidFill>
                <a:latin typeface="Courier New"/>
                <a:ea typeface="Courier New"/>
                <a:cs typeface="Courier New"/>
                <a:sym typeface="Courier New"/>
              </a:rPr>
              <a:t>fold 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45"/>
          <p:cNvSpPr/>
          <p:nvPr/>
        </p:nvSpPr>
        <p:spPr>
          <a:xfrm>
            <a:off x="10601606" y="5173183"/>
            <a:ext cx="1099509" cy="400017"/>
          </a:xfrm>
          <a:prstGeom prst="roundRect">
            <a:avLst>
              <a:gd fmla="val 16668" name="adj"/>
            </a:avLst>
          </a:prstGeom>
          <a:solidFill>
            <a:srgbClr val="F4B8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45"/>
          <p:cNvSpPr/>
          <p:nvPr/>
        </p:nvSpPr>
        <p:spPr>
          <a:xfrm>
            <a:off x="4191000" y="5776847"/>
            <a:ext cx="1295350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93A3BC"/>
                </a:solidFill>
                <a:latin typeface="Courier New"/>
                <a:ea typeface="Courier New"/>
                <a:cs typeface="Courier New"/>
                <a:sym typeface="Courier New"/>
              </a:rPr>
              <a:t>fold 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45"/>
          <p:cNvSpPr/>
          <p:nvPr/>
        </p:nvSpPr>
        <p:spPr>
          <a:xfrm>
            <a:off x="11785783" y="5706484"/>
            <a:ext cx="1099509" cy="400017"/>
          </a:xfrm>
          <a:prstGeom prst="roundRect">
            <a:avLst>
              <a:gd fmla="val 16668" name="adj"/>
            </a:avLst>
          </a:prstGeom>
          <a:solidFill>
            <a:srgbClr val="F4B8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45"/>
          <p:cNvSpPr/>
          <p:nvPr/>
        </p:nvSpPr>
        <p:spPr>
          <a:xfrm>
            <a:off x="4191000" y="6310147"/>
            <a:ext cx="1295350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93A3BC"/>
                </a:solidFill>
                <a:latin typeface="Courier New"/>
                <a:ea typeface="Courier New"/>
                <a:cs typeface="Courier New"/>
                <a:sym typeface="Courier New"/>
              </a:rPr>
              <a:t>fold 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45"/>
          <p:cNvSpPr/>
          <p:nvPr/>
        </p:nvSpPr>
        <p:spPr>
          <a:xfrm>
            <a:off x="12800791" y="6239785"/>
            <a:ext cx="1099509" cy="400017"/>
          </a:xfrm>
          <a:prstGeom prst="roundRect">
            <a:avLst>
              <a:gd fmla="val 16668" name="adj"/>
            </a:avLst>
          </a:prstGeom>
          <a:solidFill>
            <a:srgbClr val="F4B8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45"/>
          <p:cNvSpPr/>
          <p:nvPr/>
        </p:nvSpPr>
        <p:spPr>
          <a:xfrm>
            <a:off x="4191000" y="6868335"/>
            <a:ext cx="2527730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93A3BC"/>
                </a:solidFill>
                <a:latin typeface="Courier New"/>
                <a:ea typeface="Courier New"/>
                <a:cs typeface="Courier New"/>
                <a:sym typeface="Courier New"/>
              </a:rPr>
              <a:t>train (quá khứ)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45"/>
          <p:cNvSpPr/>
          <p:nvPr/>
        </p:nvSpPr>
        <p:spPr>
          <a:xfrm>
            <a:off x="6966314" y="6868335"/>
            <a:ext cx="2666361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93A3BC"/>
                </a:solidFill>
                <a:latin typeface="Courier New"/>
                <a:ea typeface="Courier New"/>
                <a:cs typeface="Courier New"/>
                <a:sym typeface="Courier New"/>
              </a:rPr>
              <a:t>test (tương lai)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45"/>
          <p:cNvSpPr/>
          <p:nvPr/>
        </p:nvSpPr>
        <p:spPr>
          <a:xfrm>
            <a:off x="4539335" y="7451411"/>
            <a:ext cx="9209331" cy="39537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3BC"/>
                </a:solidFill>
                <a:latin typeface="Arial"/>
                <a:ea typeface="Arial"/>
                <a:cs typeface="Arial"/>
                <a:sym typeface="Arial"/>
              </a:rPr>
              <a:t>⚠ Lỗi kinh điển: </a:t>
            </a:r>
            <a:r>
              <a:rPr b="1" i="0" lang="en-US" sz="1950" u="none" cap="none" strike="noStrike">
                <a:solidFill>
                  <a:srgbClr val="2BE0CE"/>
                </a:solidFill>
                <a:latin typeface="Arial"/>
                <a:ea typeface="Arial"/>
                <a:cs typeface="Arial"/>
                <a:sym typeface="Arial"/>
              </a:rPr>
              <a:t>shuffle </a:t>
            </a:r>
            <a:r>
              <a:rPr b="0" i="0" lang="en-US" sz="1950" u="none" cap="none" strike="noStrike">
                <a:solidFill>
                  <a:srgbClr val="93A3BC"/>
                </a:solidFill>
                <a:latin typeface="Arial"/>
                <a:ea typeface="Arial"/>
                <a:cs typeface="Arial"/>
                <a:sym typeface="Arial"/>
              </a:rPr>
              <a:t>dữ liệu time-series. Tập test phải </a:t>
            </a:r>
            <a:r>
              <a:rPr b="1" i="0" lang="en-US" sz="1950" u="none" cap="none" strike="noStrike">
                <a:solidFill>
                  <a:srgbClr val="2BE0CE"/>
                </a:solidFill>
                <a:latin typeface="Arial"/>
                <a:ea typeface="Arial"/>
                <a:cs typeface="Arial"/>
                <a:sym typeface="Arial"/>
              </a:rPr>
              <a:t>luôn nằm sau </a:t>
            </a:r>
            <a:r>
              <a:rPr b="0" i="0" lang="en-US" sz="1950" u="none" cap="none" strike="noStrike">
                <a:solidFill>
                  <a:srgbClr val="93A3BC"/>
                </a:solidFill>
                <a:latin typeface="Arial"/>
                <a:ea typeface="Arial"/>
                <a:cs typeface="Arial"/>
                <a:sym typeface="Arial"/>
              </a:rPr>
              <a:t>tập train.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18"/>
        </a:solidFill>
      </p:bgPr>
    </p:bg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46"/>
          <p:cNvSpPr/>
          <p:nvPr/>
        </p:nvSpPr>
        <p:spPr>
          <a:xfrm>
            <a:off x="990534" y="800034"/>
            <a:ext cx="16796141" cy="334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E0C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BE0CE"/>
                </a:solidFill>
                <a:latin typeface="Courier New"/>
                <a:ea typeface="Courier New"/>
                <a:cs typeface="Courier New"/>
                <a:sym typeface="Courier New"/>
              </a:rPr>
              <a:t>SECTION 6 · LECTURE 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46"/>
          <p:cNvSpPr/>
          <p:nvPr/>
        </p:nvSpPr>
        <p:spPr>
          <a:xfrm>
            <a:off x="990534" y="1286867"/>
            <a:ext cx="14716126" cy="6842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Tóm tắt &amp; chuyển bài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46"/>
          <p:cNvSpPr/>
          <p:nvPr/>
        </p:nvSpPr>
        <p:spPr>
          <a:xfrm>
            <a:off x="990534" y="4545873"/>
            <a:ext cx="16796141" cy="3185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86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5C6B86"/>
                </a:solidFill>
                <a:latin typeface="Courier New"/>
                <a:ea typeface="Courier New"/>
                <a:cs typeface="Courier New"/>
                <a:sym typeface="Courier New"/>
              </a:rPr>
              <a:t>ĐÃ HỌC TRONG BÀI NÀY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46"/>
          <p:cNvSpPr/>
          <p:nvPr/>
        </p:nvSpPr>
        <p:spPr>
          <a:xfrm>
            <a:off x="990534" y="5264465"/>
            <a:ext cx="3020880" cy="676176"/>
          </a:xfrm>
          <a:prstGeom prst="roundRect">
            <a:avLst>
              <a:gd fmla="val 50000" name="adj"/>
            </a:avLst>
          </a:prstGeom>
          <a:solidFill>
            <a:srgbClr val="131C2E"/>
          </a:solidFill>
          <a:ln cap="flat" cmpd="sng" w="9525">
            <a:solidFill>
              <a:srgbClr val="FFFFFF">
                <a:alpha val="1686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46"/>
          <p:cNvSpPr/>
          <p:nvPr/>
        </p:nvSpPr>
        <p:spPr>
          <a:xfrm>
            <a:off x="1300626" y="5441206"/>
            <a:ext cx="2491324" cy="3607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E7EDF8"/>
                </a:solidFill>
                <a:latin typeface="Courier New"/>
                <a:ea typeface="Courier New"/>
                <a:cs typeface="Courier New"/>
                <a:sym typeface="Courier New"/>
              </a:rPr>
              <a:t>sliding window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46"/>
          <p:cNvSpPr/>
          <p:nvPr/>
        </p:nvSpPr>
        <p:spPr>
          <a:xfrm>
            <a:off x="4201914" y="5264465"/>
            <a:ext cx="2677914" cy="676176"/>
          </a:xfrm>
          <a:prstGeom prst="roundRect">
            <a:avLst>
              <a:gd fmla="val 50000" name="adj"/>
            </a:avLst>
          </a:prstGeom>
          <a:solidFill>
            <a:srgbClr val="131C2E"/>
          </a:solidFill>
          <a:ln cap="flat" cmpd="sng" w="9525">
            <a:solidFill>
              <a:srgbClr val="FFFFFF">
                <a:alpha val="1686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46"/>
          <p:cNvSpPr/>
          <p:nvPr/>
        </p:nvSpPr>
        <p:spPr>
          <a:xfrm>
            <a:off x="4512006" y="5441206"/>
            <a:ext cx="2138068" cy="3607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E7EDF8"/>
                </a:solidFill>
                <a:latin typeface="Courier New"/>
                <a:ea typeface="Courier New"/>
                <a:cs typeface="Courier New"/>
                <a:sym typeface="Courier New"/>
              </a:rPr>
              <a:t>lag features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46"/>
          <p:cNvSpPr/>
          <p:nvPr/>
        </p:nvSpPr>
        <p:spPr>
          <a:xfrm>
            <a:off x="7070328" y="5264465"/>
            <a:ext cx="3192364" cy="676176"/>
          </a:xfrm>
          <a:prstGeom prst="roundRect">
            <a:avLst>
              <a:gd fmla="val 50000" name="adj"/>
            </a:avLst>
          </a:prstGeom>
          <a:solidFill>
            <a:srgbClr val="131C2E"/>
          </a:solidFill>
          <a:ln cap="flat" cmpd="sng" w="9525">
            <a:solidFill>
              <a:srgbClr val="FFFFFF">
                <a:alpha val="1686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46"/>
          <p:cNvSpPr/>
          <p:nvPr/>
        </p:nvSpPr>
        <p:spPr>
          <a:xfrm>
            <a:off x="7380420" y="5441206"/>
            <a:ext cx="2667951" cy="3607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E7EDF8"/>
                </a:solidFill>
                <a:latin typeface="Courier New"/>
                <a:ea typeface="Courier New"/>
                <a:cs typeface="Courier New"/>
                <a:sym typeface="Courier New"/>
              </a:rPr>
              <a:t>TimeSeriesSplit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46"/>
          <p:cNvSpPr/>
          <p:nvPr/>
        </p:nvSpPr>
        <p:spPr>
          <a:xfrm>
            <a:off x="990534" y="6512058"/>
            <a:ext cx="16306933" cy="9525"/>
          </a:xfrm>
          <a:prstGeom prst="rect">
            <a:avLst/>
          </a:prstGeom>
          <a:solidFill>
            <a:srgbClr val="FFFFFF">
              <a:alpha val="901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46"/>
          <p:cNvSpPr/>
          <p:nvPr/>
        </p:nvSpPr>
        <p:spPr>
          <a:xfrm>
            <a:off x="990534" y="6993599"/>
            <a:ext cx="2394529" cy="3185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86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5C6B86"/>
                </a:solidFill>
                <a:latin typeface="Courier New"/>
                <a:ea typeface="Courier New"/>
                <a:cs typeface="Courier New"/>
                <a:sym typeface="Courier New"/>
              </a:rPr>
              <a:t>BÀI TIẾP THEO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46"/>
          <p:cNvSpPr/>
          <p:nvPr/>
        </p:nvSpPr>
        <p:spPr>
          <a:xfrm>
            <a:off x="3556496" y="6914720"/>
            <a:ext cx="514416" cy="4762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E0CE"/>
              </a:buClr>
              <a:buSzPts val="3450"/>
              <a:buFont typeface="Arial"/>
              <a:buNone/>
            </a:pPr>
            <a:r>
              <a:rPr b="0" i="0" lang="en-US" sz="3450" u="none" cap="none" strike="noStrike">
                <a:solidFill>
                  <a:srgbClr val="2BE0CE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46"/>
          <p:cNvSpPr/>
          <p:nvPr/>
        </p:nvSpPr>
        <p:spPr>
          <a:xfrm>
            <a:off x="4242346" y="6898349"/>
            <a:ext cx="2156321" cy="5090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LSTM &amp; GRU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18"/>
        </a:solidFill>
      </p:bgPr>
    </p:bg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47"/>
          <p:cNvSpPr/>
          <p:nvPr/>
        </p:nvSpPr>
        <p:spPr>
          <a:xfrm>
            <a:off x="12057807" y="3609992"/>
            <a:ext cx="5632239" cy="31051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500"/>
              <a:buFont typeface="Arial"/>
              <a:buNone/>
            </a:pPr>
            <a:r>
              <a:rPr b="1" i="0" lang="en-US" sz="34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 b="0" i="0" sz="3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47"/>
          <p:cNvSpPr/>
          <p:nvPr/>
        </p:nvSpPr>
        <p:spPr>
          <a:xfrm>
            <a:off x="990534" y="4152966"/>
            <a:ext cx="16796141" cy="334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E0C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BE0CE"/>
                </a:solidFill>
                <a:latin typeface="Courier New"/>
                <a:ea typeface="Courier New"/>
                <a:cs typeface="Courier New"/>
                <a:sym typeface="Courier New"/>
              </a:rPr>
              <a:t>SECTION 6 · LECTURE 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47"/>
          <p:cNvSpPr/>
          <p:nvPr/>
        </p:nvSpPr>
        <p:spPr>
          <a:xfrm>
            <a:off x="990534" y="4773084"/>
            <a:ext cx="12753976" cy="8899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6450"/>
              <a:buFont typeface="Arial"/>
              <a:buNone/>
            </a:pPr>
            <a:r>
              <a:rPr b="1" i="0" lang="en-US" sz="645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LSTM &amp; GRU cho dự đoán chuỗi</a:t>
            </a:r>
            <a:endParaRPr b="0" i="0" sz="6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47"/>
          <p:cNvSpPr/>
          <p:nvPr/>
        </p:nvSpPr>
        <p:spPr>
          <a:xfrm>
            <a:off x="990534" y="5948743"/>
            <a:ext cx="16796141" cy="31855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93A3BC"/>
                </a:solidFill>
                <a:latin typeface="Courier New"/>
                <a:ea typeface="Courier New"/>
                <a:cs typeface="Courier New"/>
                <a:sym typeface="Courier New"/>
              </a:rPr>
              <a:t>~9 phút · 6 slides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18"/>
        </a:solidFill>
      </p:bgPr>
    </p:bg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48"/>
          <p:cNvSpPr/>
          <p:nvPr/>
        </p:nvSpPr>
        <p:spPr>
          <a:xfrm>
            <a:off x="990534" y="800034"/>
            <a:ext cx="16796141" cy="334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E0C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BE0CE"/>
                </a:solidFill>
                <a:latin typeface="Courier New"/>
                <a:ea typeface="Courier New"/>
                <a:cs typeface="Courier New"/>
                <a:sym typeface="Courier New"/>
              </a:rPr>
              <a:t>MOTIVATION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48"/>
          <p:cNvSpPr/>
          <p:nvPr/>
        </p:nvSpPr>
        <p:spPr>
          <a:xfrm>
            <a:off x="990534" y="1286867"/>
            <a:ext cx="14716126" cy="6842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Vì sao cần “bộ nhớ”?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48"/>
          <p:cNvSpPr/>
          <p:nvPr/>
        </p:nvSpPr>
        <p:spPr>
          <a:xfrm>
            <a:off x="1466784" y="5197244"/>
            <a:ext cx="7568651" cy="4456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Regression thường </a:t>
            </a:r>
            <a:r>
              <a:rPr b="1" i="0" lang="en-US" sz="2400" u="none" cap="none" strike="noStrike">
                <a:solidFill>
                  <a:srgbClr val="2BE0CE"/>
                </a:solidFill>
                <a:latin typeface="Arial"/>
                <a:ea typeface="Arial"/>
                <a:cs typeface="Arial"/>
                <a:sym typeface="Arial"/>
              </a:rPr>
              <a:t>quên quá khứ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48"/>
          <p:cNvSpPr/>
          <p:nvPr/>
        </p:nvSpPr>
        <p:spPr>
          <a:xfrm>
            <a:off x="1466784" y="5927577"/>
            <a:ext cx="1448726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Chuỗi cần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48"/>
          <p:cNvSpPr/>
          <p:nvPr/>
        </p:nvSpPr>
        <p:spPr>
          <a:xfrm>
            <a:off x="2923977" y="5890535"/>
            <a:ext cx="1959207" cy="434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2BE0CE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2BE0CE"/>
                </a:solidFill>
                <a:latin typeface="Arial"/>
                <a:ea typeface="Arial"/>
                <a:cs typeface="Arial"/>
                <a:sym typeface="Arial"/>
              </a:rPr>
              <a:t>nhớ ngữ cảnh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48"/>
          <p:cNvSpPr/>
          <p:nvPr/>
        </p:nvSpPr>
        <p:spPr>
          <a:xfrm>
            <a:off x="4891650" y="5927577"/>
            <a:ext cx="482997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dài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48"/>
          <p:cNvSpPr/>
          <p:nvPr/>
        </p:nvSpPr>
        <p:spPr>
          <a:xfrm>
            <a:off x="1466784" y="6383735"/>
            <a:ext cx="7554363" cy="3723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3BC"/>
                </a:solidFill>
                <a:latin typeface="Arial"/>
                <a:ea typeface="Arial"/>
                <a:cs typeface="Arial"/>
                <a:sym typeface="Arial"/>
              </a:rPr>
              <a:t>Thông tin phải truyền qua các bước thời gian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48"/>
          <p:cNvSpPr/>
          <p:nvPr/>
        </p:nvSpPr>
        <p:spPr>
          <a:xfrm>
            <a:off x="9820424" y="4890823"/>
            <a:ext cx="1619250" cy="952500"/>
          </a:xfrm>
          <a:prstGeom prst="roundRect">
            <a:avLst>
              <a:gd fmla="val 16000" name="adj"/>
            </a:avLst>
          </a:prstGeom>
          <a:solidFill>
            <a:srgbClr val="131C2E"/>
          </a:solidFill>
          <a:ln cap="flat" cmpd="sng" w="9525">
            <a:solidFill>
              <a:srgbClr val="FFFFFF">
                <a:alpha val="1686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p48"/>
          <p:cNvSpPr/>
          <p:nvPr/>
        </p:nvSpPr>
        <p:spPr>
          <a:xfrm>
            <a:off x="10458236" y="5181865"/>
            <a:ext cx="419745" cy="408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250"/>
              <a:buFont typeface="Courier New"/>
              <a:buNone/>
            </a:pPr>
            <a:r>
              <a:rPr b="1" i="0" lang="en-US" sz="2250" u="none" cap="none" strike="noStrike">
                <a:solidFill>
                  <a:srgbClr val="E7EDF8"/>
                </a:solidFill>
                <a:latin typeface="Courier New"/>
                <a:ea typeface="Courier New"/>
                <a:cs typeface="Courier New"/>
                <a:sym typeface="Courier New"/>
              </a:rPr>
              <a:t>t₁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48"/>
          <p:cNvSpPr/>
          <p:nvPr/>
        </p:nvSpPr>
        <p:spPr>
          <a:xfrm>
            <a:off x="11668209" y="5150115"/>
            <a:ext cx="457200" cy="4720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E0CE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BE0CE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48"/>
          <p:cNvSpPr/>
          <p:nvPr/>
        </p:nvSpPr>
        <p:spPr>
          <a:xfrm>
            <a:off x="12277742" y="4890823"/>
            <a:ext cx="1619250" cy="952500"/>
          </a:xfrm>
          <a:prstGeom prst="roundRect">
            <a:avLst>
              <a:gd fmla="val 16000" name="adj"/>
            </a:avLst>
          </a:prstGeom>
          <a:solidFill>
            <a:srgbClr val="131C2E"/>
          </a:solidFill>
          <a:ln cap="flat" cmpd="sng" w="9525">
            <a:solidFill>
              <a:srgbClr val="FFFFFF">
                <a:alpha val="1686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p48"/>
          <p:cNvSpPr/>
          <p:nvPr/>
        </p:nvSpPr>
        <p:spPr>
          <a:xfrm>
            <a:off x="12915554" y="5181865"/>
            <a:ext cx="419745" cy="408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250"/>
              <a:buFont typeface="Courier New"/>
              <a:buNone/>
            </a:pPr>
            <a:r>
              <a:rPr b="1" i="0" lang="en-US" sz="2250" u="none" cap="none" strike="noStrike">
                <a:solidFill>
                  <a:srgbClr val="E7EDF8"/>
                </a:solidFill>
                <a:latin typeface="Courier New"/>
                <a:ea typeface="Courier New"/>
                <a:cs typeface="Courier New"/>
                <a:sym typeface="Courier New"/>
              </a:rPr>
              <a:t>t₂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48"/>
          <p:cNvSpPr/>
          <p:nvPr/>
        </p:nvSpPr>
        <p:spPr>
          <a:xfrm>
            <a:off x="14125526" y="5150115"/>
            <a:ext cx="457200" cy="4720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E0CE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BE0CE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48"/>
          <p:cNvSpPr/>
          <p:nvPr/>
        </p:nvSpPr>
        <p:spPr>
          <a:xfrm>
            <a:off x="14735060" y="4890823"/>
            <a:ext cx="1619250" cy="952500"/>
          </a:xfrm>
          <a:prstGeom prst="roundRect">
            <a:avLst>
              <a:gd fmla="val 16000" name="adj"/>
            </a:avLst>
          </a:prstGeom>
          <a:solidFill>
            <a:srgbClr val="131C2E"/>
          </a:solidFill>
          <a:ln cap="flat" cmpd="sng" w="9525">
            <a:solidFill>
              <a:srgbClr val="FFFFFF">
                <a:alpha val="1686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p48"/>
          <p:cNvSpPr/>
          <p:nvPr/>
        </p:nvSpPr>
        <p:spPr>
          <a:xfrm>
            <a:off x="15372871" y="5181865"/>
            <a:ext cx="419745" cy="408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250"/>
              <a:buFont typeface="Courier New"/>
              <a:buNone/>
            </a:pPr>
            <a:r>
              <a:rPr b="1" i="0" lang="en-US" sz="2250" u="none" cap="none" strike="noStrike">
                <a:solidFill>
                  <a:srgbClr val="E7EDF8"/>
                </a:solidFill>
                <a:latin typeface="Courier New"/>
                <a:ea typeface="Courier New"/>
                <a:cs typeface="Courier New"/>
                <a:sym typeface="Courier New"/>
              </a:rPr>
              <a:t>t₃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48"/>
          <p:cNvSpPr/>
          <p:nvPr/>
        </p:nvSpPr>
        <p:spPr>
          <a:xfrm>
            <a:off x="16582844" y="5150115"/>
            <a:ext cx="457200" cy="4720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E0CE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BE0CE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48"/>
          <p:cNvSpPr/>
          <p:nvPr/>
        </p:nvSpPr>
        <p:spPr>
          <a:xfrm>
            <a:off x="12582509" y="6071857"/>
            <a:ext cx="1619250" cy="952500"/>
          </a:xfrm>
          <a:prstGeom prst="roundRect">
            <a:avLst>
              <a:gd fmla="val 16000" name="adj"/>
            </a:avLst>
          </a:prstGeom>
          <a:noFill/>
          <a:ln cap="flat" cmpd="sng" w="9525">
            <a:solidFill>
              <a:srgbClr val="2BE0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8" name="Google Shape;728;p48"/>
          <p:cNvSpPr/>
          <p:nvPr/>
        </p:nvSpPr>
        <p:spPr>
          <a:xfrm>
            <a:off x="13220320" y="6362899"/>
            <a:ext cx="419745" cy="408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250"/>
              <a:buFont typeface="Courier New"/>
              <a:buNone/>
            </a:pPr>
            <a:r>
              <a:rPr b="1" i="0" lang="en-US" sz="2250" u="none" cap="none" strike="noStrike">
                <a:solidFill>
                  <a:srgbClr val="E7EDF8"/>
                </a:solidFill>
                <a:latin typeface="Courier New"/>
                <a:ea typeface="Courier New"/>
                <a:cs typeface="Courier New"/>
                <a:sym typeface="Courier New"/>
              </a:rPr>
              <a:t>t₄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18"/>
        </a:solidFill>
      </p:bgPr>
    </p:bg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49"/>
          <p:cNvSpPr/>
          <p:nvPr/>
        </p:nvSpPr>
        <p:spPr>
          <a:xfrm>
            <a:off x="990534" y="800034"/>
            <a:ext cx="16796141" cy="334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E0C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BE0CE"/>
                </a:solidFill>
                <a:latin typeface="Courier New"/>
                <a:ea typeface="Courier New"/>
                <a:cs typeface="Courier New"/>
                <a:sym typeface="Courier New"/>
              </a:rPr>
              <a:t>RNN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49"/>
          <p:cNvSpPr/>
          <p:nvPr/>
        </p:nvSpPr>
        <p:spPr>
          <a:xfrm>
            <a:off x="990534" y="1286867"/>
            <a:ext cx="14716126" cy="6842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RNN &amp; vấn đề vanishing gradient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49"/>
          <p:cNvSpPr/>
          <p:nvPr/>
        </p:nvSpPr>
        <p:spPr>
          <a:xfrm>
            <a:off x="1466784" y="5197244"/>
            <a:ext cx="7568651" cy="4456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RNN chỉ có </a:t>
            </a:r>
            <a:r>
              <a:rPr b="1" i="0" lang="en-US" sz="2400" u="none" cap="none" strike="noStrike">
                <a:solidFill>
                  <a:srgbClr val="2BE0CE"/>
                </a:solidFill>
                <a:latin typeface="Arial"/>
                <a:ea typeface="Arial"/>
                <a:cs typeface="Arial"/>
                <a:sym typeface="Arial"/>
              </a:rPr>
              <a:t>trí nhớ ngắn hạn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49"/>
          <p:cNvSpPr/>
          <p:nvPr/>
        </p:nvSpPr>
        <p:spPr>
          <a:xfrm>
            <a:off x="1466784" y="5890535"/>
            <a:ext cx="2710560" cy="434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2BE0CE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2BE0CE"/>
                </a:solidFill>
                <a:latin typeface="Arial"/>
                <a:ea typeface="Arial"/>
                <a:cs typeface="Arial"/>
                <a:sym typeface="Arial"/>
              </a:rPr>
              <a:t>Vanishing gradient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49"/>
          <p:cNvSpPr/>
          <p:nvPr/>
        </p:nvSpPr>
        <p:spPr>
          <a:xfrm>
            <a:off x="4183063" y="5927577"/>
            <a:ext cx="2225775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qua nhiều bước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49"/>
          <p:cNvSpPr/>
          <p:nvPr/>
        </p:nvSpPr>
        <p:spPr>
          <a:xfrm>
            <a:off x="1466784" y="6383735"/>
            <a:ext cx="7554363" cy="3723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3BC"/>
                </a:solidFill>
                <a:latin typeface="Arial"/>
                <a:ea typeface="Arial"/>
                <a:cs typeface="Arial"/>
                <a:sym typeface="Arial"/>
              </a:rPr>
              <a:t>Gradient mờ dần → khó nhớ quan hệ xa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40" name="Google Shape;740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86884" y="3638848"/>
            <a:ext cx="7810583" cy="46374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18"/>
        </a:solidFill>
      </p:bgPr>
    </p:bg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50"/>
          <p:cNvSpPr/>
          <p:nvPr/>
        </p:nvSpPr>
        <p:spPr>
          <a:xfrm>
            <a:off x="990534" y="800034"/>
            <a:ext cx="16796141" cy="334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E0C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BE0CE"/>
                </a:solidFill>
                <a:latin typeface="Courier New"/>
                <a:ea typeface="Courier New"/>
                <a:cs typeface="Courier New"/>
                <a:sym typeface="Courier New"/>
              </a:rPr>
              <a:t>LSTM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50"/>
          <p:cNvSpPr/>
          <p:nvPr/>
        </p:nvSpPr>
        <p:spPr>
          <a:xfrm>
            <a:off x="990534" y="1286867"/>
            <a:ext cx="14716126" cy="6842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Cơ chế cổng (gates)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50"/>
          <p:cNvSpPr/>
          <p:nvPr/>
        </p:nvSpPr>
        <p:spPr>
          <a:xfrm>
            <a:off x="990534" y="4611522"/>
            <a:ext cx="5245117" cy="2021748"/>
          </a:xfrm>
          <a:prstGeom prst="roundRect">
            <a:avLst>
              <a:gd fmla="val 8480" name="adj"/>
            </a:avLst>
          </a:prstGeom>
          <a:solidFill>
            <a:srgbClr val="131C2E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9" name="Google Shape;749;p50"/>
          <p:cNvSpPr/>
          <p:nvPr/>
        </p:nvSpPr>
        <p:spPr>
          <a:xfrm>
            <a:off x="1319609" y="4959697"/>
            <a:ext cx="4724575" cy="3344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E0CE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2BE0CE"/>
                </a:solidFill>
                <a:latin typeface="Courier New"/>
                <a:ea typeface="Courier New"/>
                <a:cs typeface="Courier New"/>
                <a:sym typeface="Courier New"/>
              </a:rPr>
              <a:t>⌫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50"/>
          <p:cNvSpPr/>
          <p:nvPr/>
        </p:nvSpPr>
        <p:spPr>
          <a:xfrm>
            <a:off x="1319609" y="5389315"/>
            <a:ext cx="4724575" cy="4614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Forget gate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50"/>
          <p:cNvSpPr/>
          <p:nvPr/>
        </p:nvSpPr>
        <p:spPr>
          <a:xfrm>
            <a:off x="1319609" y="5945932"/>
            <a:ext cx="4724575" cy="3772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93A3BC"/>
                </a:solidFill>
                <a:latin typeface="Arial"/>
                <a:ea typeface="Arial"/>
                <a:cs typeface="Arial"/>
                <a:sym typeface="Arial"/>
              </a:rPr>
              <a:t>Quyết định </a:t>
            </a:r>
            <a:r>
              <a:rPr b="1" i="0" lang="en-US" sz="1875" u="none" cap="none" strike="noStrike">
                <a:solidFill>
                  <a:srgbClr val="2BE0CE"/>
                </a:solidFill>
                <a:latin typeface="Arial"/>
                <a:ea typeface="Arial"/>
                <a:cs typeface="Arial"/>
                <a:sym typeface="Arial"/>
              </a:rPr>
              <a:t>quên </a:t>
            </a:r>
            <a:r>
              <a:rPr b="0" i="0" lang="en-US" sz="1875" u="none" cap="none" strike="noStrike">
                <a:solidFill>
                  <a:srgbClr val="93A3BC"/>
                </a:solidFill>
                <a:latin typeface="Arial"/>
                <a:ea typeface="Arial"/>
                <a:cs typeface="Arial"/>
                <a:sym typeface="Arial"/>
              </a:rPr>
              <a:t>thông tin nào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50"/>
          <p:cNvSpPr/>
          <p:nvPr/>
        </p:nvSpPr>
        <p:spPr>
          <a:xfrm>
            <a:off x="6521401" y="4611522"/>
            <a:ext cx="5245117" cy="2021748"/>
          </a:xfrm>
          <a:prstGeom prst="roundRect">
            <a:avLst>
              <a:gd fmla="val 8480" name="adj"/>
            </a:avLst>
          </a:prstGeom>
          <a:solidFill>
            <a:srgbClr val="131C2E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p50"/>
          <p:cNvSpPr/>
          <p:nvPr/>
        </p:nvSpPr>
        <p:spPr>
          <a:xfrm>
            <a:off x="6850476" y="4959697"/>
            <a:ext cx="4724575" cy="3344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E0CE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2BE0CE"/>
                </a:solidFill>
                <a:latin typeface="Courier New"/>
                <a:ea typeface="Courier New"/>
                <a:cs typeface="Courier New"/>
                <a:sym typeface="Courier New"/>
              </a:rPr>
              <a:t>+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50"/>
          <p:cNvSpPr/>
          <p:nvPr/>
        </p:nvSpPr>
        <p:spPr>
          <a:xfrm>
            <a:off x="6850476" y="5389315"/>
            <a:ext cx="4724575" cy="4614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Input gate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50"/>
          <p:cNvSpPr/>
          <p:nvPr/>
        </p:nvSpPr>
        <p:spPr>
          <a:xfrm>
            <a:off x="6850476" y="5945932"/>
            <a:ext cx="4724575" cy="3772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93A3BC"/>
                </a:solidFill>
                <a:latin typeface="Arial"/>
                <a:ea typeface="Arial"/>
                <a:cs typeface="Arial"/>
                <a:sym typeface="Arial"/>
              </a:rPr>
              <a:t>Quyết định </a:t>
            </a:r>
            <a:r>
              <a:rPr b="1" i="0" lang="en-US" sz="1875" u="none" cap="none" strike="noStrike">
                <a:solidFill>
                  <a:srgbClr val="2BE0CE"/>
                </a:solidFill>
                <a:latin typeface="Arial"/>
                <a:ea typeface="Arial"/>
                <a:cs typeface="Arial"/>
                <a:sym typeface="Arial"/>
              </a:rPr>
              <a:t>ghi </a:t>
            </a:r>
            <a:r>
              <a:rPr b="0" i="0" lang="en-US" sz="1875" u="none" cap="none" strike="noStrike">
                <a:solidFill>
                  <a:srgbClr val="93A3BC"/>
                </a:solidFill>
                <a:latin typeface="Arial"/>
                <a:ea typeface="Arial"/>
                <a:cs typeface="Arial"/>
                <a:sym typeface="Arial"/>
              </a:rPr>
              <a:t>thông tin mới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50"/>
          <p:cNvSpPr/>
          <p:nvPr/>
        </p:nvSpPr>
        <p:spPr>
          <a:xfrm>
            <a:off x="12052268" y="4611522"/>
            <a:ext cx="5245117" cy="2021748"/>
          </a:xfrm>
          <a:prstGeom prst="roundRect">
            <a:avLst>
              <a:gd fmla="val 8480" name="adj"/>
            </a:avLst>
          </a:prstGeom>
          <a:solidFill>
            <a:srgbClr val="131C2E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7" name="Google Shape;757;p50"/>
          <p:cNvSpPr/>
          <p:nvPr/>
        </p:nvSpPr>
        <p:spPr>
          <a:xfrm>
            <a:off x="12381343" y="4959697"/>
            <a:ext cx="4724575" cy="3344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E0CE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2BE0CE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50"/>
          <p:cNvSpPr/>
          <p:nvPr/>
        </p:nvSpPr>
        <p:spPr>
          <a:xfrm>
            <a:off x="12381343" y="5389315"/>
            <a:ext cx="4724575" cy="4614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Output gate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50"/>
          <p:cNvSpPr/>
          <p:nvPr/>
        </p:nvSpPr>
        <p:spPr>
          <a:xfrm>
            <a:off x="12381343" y="5945932"/>
            <a:ext cx="4724575" cy="3772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93A3BC"/>
                </a:solidFill>
                <a:latin typeface="Arial"/>
                <a:ea typeface="Arial"/>
                <a:cs typeface="Arial"/>
                <a:sym typeface="Arial"/>
              </a:rPr>
              <a:t>Quyết định </a:t>
            </a:r>
            <a:r>
              <a:rPr b="1" i="0" lang="en-US" sz="1875" u="none" cap="none" strike="noStrike">
                <a:solidFill>
                  <a:srgbClr val="2BE0CE"/>
                </a:solidFill>
                <a:latin typeface="Arial"/>
                <a:ea typeface="Arial"/>
                <a:cs typeface="Arial"/>
                <a:sym typeface="Arial"/>
              </a:rPr>
              <a:t>xuất </a:t>
            </a:r>
            <a:r>
              <a:rPr b="0" i="0" lang="en-US" sz="1875" u="none" cap="none" strike="noStrike">
                <a:solidFill>
                  <a:srgbClr val="93A3BC"/>
                </a:solidFill>
                <a:latin typeface="Arial"/>
                <a:ea typeface="Arial"/>
                <a:cs typeface="Arial"/>
                <a:sym typeface="Arial"/>
              </a:rPr>
              <a:t>ra gì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50"/>
          <p:cNvSpPr/>
          <p:nvPr/>
        </p:nvSpPr>
        <p:spPr>
          <a:xfrm>
            <a:off x="5132664" y="6957054"/>
            <a:ext cx="8022673" cy="3847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3BC"/>
                </a:solidFill>
                <a:latin typeface="Arial"/>
                <a:ea typeface="Arial"/>
                <a:cs typeface="Arial"/>
                <a:sym typeface="Arial"/>
              </a:rPr>
              <a:t>Cell state mang thông tin xuyên suốt; các cổng kiểm soát nhớ và quên.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18"/>
        </a:solidFill>
      </p:bgPr>
    </p:bg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51"/>
          <p:cNvSpPr/>
          <p:nvPr/>
        </p:nvSpPr>
        <p:spPr>
          <a:xfrm>
            <a:off x="990534" y="800034"/>
            <a:ext cx="16796141" cy="334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E0C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BE0CE"/>
                </a:solidFill>
                <a:latin typeface="Courier New"/>
                <a:ea typeface="Courier New"/>
                <a:cs typeface="Courier New"/>
                <a:sym typeface="Courier New"/>
              </a:rPr>
              <a:t>CHUẨN BỊ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51"/>
          <p:cNvSpPr/>
          <p:nvPr/>
        </p:nvSpPr>
        <p:spPr>
          <a:xfrm>
            <a:off x="990534" y="1286867"/>
            <a:ext cx="14716126" cy="6842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GRU &amp; chuẩn bị dữ liệu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51"/>
          <p:cNvSpPr/>
          <p:nvPr/>
        </p:nvSpPr>
        <p:spPr>
          <a:xfrm>
            <a:off x="990534" y="4360168"/>
            <a:ext cx="9216430" cy="3194926"/>
          </a:xfrm>
          <a:prstGeom prst="roundRect">
            <a:avLst>
              <a:gd fmla="val 4770" name="adj"/>
            </a:avLst>
          </a:prstGeom>
          <a:solidFill>
            <a:srgbClr val="131C2E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571500" rotWithShape="0" algn="bl" dir="5400000" dist="228600">
              <a:srgbClr val="000000">
                <a:alpha val="8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9" name="Google Shape;769;p51"/>
          <p:cNvSpPr/>
          <p:nvPr/>
        </p:nvSpPr>
        <p:spPr>
          <a:xfrm>
            <a:off x="995826" y="4365460"/>
            <a:ext cx="9205847" cy="607384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0" name="Google Shape;770;p51"/>
          <p:cNvSpPr/>
          <p:nvPr/>
        </p:nvSpPr>
        <p:spPr>
          <a:xfrm>
            <a:off x="995826" y="4967552"/>
            <a:ext cx="9205847" cy="9525"/>
          </a:xfrm>
          <a:prstGeom prst="rect">
            <a:avLst/>
          </a:prstGeom>
          <a:solidFill>
            <a:srgbClr val="FFFFFF">
              <a:alpha val="901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1" name="Google Shape;771;p51"/>
          <p:cNvSpPr/>
          <p:nvPr/>
        </p:nvSpPr>
        <p:spPr>
          <a:xfrm>
            <a:off x="1243459" y="4604577"/>
            <a:ext cx="123775" cy="123775"/>
          </a:xfrm>
          <a:prstGeom prst="ellipse">
            <a:avLst/>
          </a:prstGeom>
          <a:solidFill>
            <a:srgbClr val="3949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51"/>
          <p:cNvSpPr/>
          <p:nvPr/>
        </p:nvSpPr>
        <p:spPr>
          <a:xfrm>
            <a:off x="1471993" y="4604577"/>
            <a:ext cx="123775" cy="123775"/>
          </a:xfrm>
          <a:prstGeom prst="ellipse">
            <a:avLst/>
          </a:prstGeom>
          <a:solidFill>
            <a:srgbClr val="3949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3" name="Google Shape;773;p51"/>
          <p:cNvSpPr/>
          <p:nvPr/>
        </p:nvSpPr>
        <p:spPr>
          <a:xfrm>
            <a:off x="1700527" y="4604577"/>
            <a:ext cx="123775" cy="123775"/>
          </a:xfrm>
          <a:prstGeom prst="ellipse">
            <a:avLst/>
          </a:prstGeom>
          <a:solidFill>
            <a:srgbClr val="3949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p51"/>
          <p:cNvSpPr/>
          <p:nvPr/>
        </p:nvSpPr>
        <p:spPr>
          <a:xfrm>
            <a:off x="2062344" y="4536860"/>
            <a:ext cx="1804343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93A3BC"/>
                </a:solidFill>
                <a:latin typeface="Courier New"/>
                <a:ea typeface="Courier New"/>
                <a:cs typeface="Courier New"/>
                <a:sym typeface="Courier New"/>
              </a:rPr>
              <a:t>lstm_prep.py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51"/>
          <p:cNvSpPr/>
          <p:nvPr/>
        </p:nvSpPr>
        <p:spPr>
          <a:xfrm>
            <a:off x="1319676" y="5258594"/>
            <a:ext cx="8834322" cy="20435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E0CE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2BE0CE"/>
                </a:solidFill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 sklearn.preprocessing </a:t>
            </a:r>
            <a:r>
              <a:rPr b="0" i="0" lang="en-US" sz="1950" u="none" cap="none" strike="noStrike">
                <a:solidFill>
                  <a:srgbClr val="2BE0CE"/>
                </a:solidFill>
                <a:latin typeface="Courier New"/>
                <a:ea typeface="Courier New"/>
                <a:cs typeface="Courier New"/>
                <a:sym typeface="Courier New"/>
              </a:rPr>
              <a:t>import </a:t>
            </a: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 MinMaxScaler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50"/>
              <a:buFont typeface="Calibri"/>
              <a:buNone/>
            </a:pPr>
            <a:r>
              <a:t/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D6E2F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scaled = MinMaxScaler().fit_transform(series) 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5E7286"/>
              </a:buClr>
              <a:buSzPts val="1950"/>
              <a:buFont typeface="Courier New"/>
              <a:buNone/>
            </a:pPr>
            <a:r>
              <a:rPr b="0" i="1" lang="en-US" sz="1950" u="none" cap="none" strike="noStrike">
                <a:solidFill>
                  <a:srgbClr val="5E7286"/>
                </a:solidFill>
                <a:latin typeface="Courier New"/>
                <a:ea typeface="Courier New"/>
                <a:cs typeface="Courier New"/>
                <a:sym typeface="Courier New"/>
              </a:rPr>
              <a:t># [samples, timesteps, features] </a:t>
            </a: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X = X.reshape((X.shape[</a:t>
            </a:r>
            <a:r>
              <a:rPr b="0" i="0" lang="en-US" sz="1950" u="none" cap="none" strike="noStrike">
                <a:solidFill>
                  <a:srgbClr val="F4B860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], window, </a:t>
            </a:r>
            <a:r>
              <a:rPr b="0" i="0" lang="en-US" sz="1950" u="none" cap="none" strike="noStrike">
                <a:solidFill>
                  <a:srgbClr val="F4B860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))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51"/>
          <p:cNvSpPr/>
          <p:nvPr/>
        </p:nvSpPr>
        <p:spPr>
          <a:xfrm>
            <a:off x="12089475" y="5060570"/>
            <a:ext cx="4636326" cy="4456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2BE0CE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2BE0CE"/>
                </a:solidFill>
                <a:latin typeface="Arial"/>
                <a:ea typeface="Arial"/>
                <a:cs typeface="Arial"/>
                <a:sym typeface="Arial"/>
              </a:rPr>
              <a:t>GRU </a:t>
            </a: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gọn hơn LSTM, ít tham số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51"/>
          <p:cNvSpPr/>
          <p:nvPr/>
        </p:nvSpPr>
        <p:spPr>
          <a:xfrm>
            <a:off x="12089475" y="5753861"/>
            <a:ext cx="4636326" cy="4456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⚠ LSTM </a:t>
            </a:r>
            <a:r>
              <a:rPr b="1" i="0" lang="en-US" sz="2400" u="none" cap="none" strike="noStrike">
                <a:solidFill>
                  <a:srgbClr val="2BE0CE"/>
                </a:solidFill>
                <a:latin typeface="Arial"/>
                <a:ea typeface="Arial"/>
                <a:cs typeface="Arial"/>
                <a:sym typeface="Arial"/>
              </a:rPr>
              <a:t>bắt buộc scale </a:t>
            </a: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về [0, 1]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51"/>
          <p:cNvSpPr/>
          <p:nvPr/>
        </p:nvSpPr>
        <p:spPr>
          <a:xfrm>
            <a:off x="12089475" y="6447152"/>
            <a:ext cx="4636326" cy="4456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ARIMA thì </a:t>
            </a:r>
            <a:r>
              <a:rPr b="1" i="0" lang="en-US" sz="2400" u="none" cap="none" strike="noStrike">
                <a:solidFill>
                  <a:srgbClr val="2BE0CE"/>
                </a:solidFill>
                <a:latin typeface="Arial"/>
                <a:ea typeface="Arial"/>
                <a:cs typeface="Arial"/>
                <a:sym typeface="Arial"/>
              </a:rPr>
              <a:t>không </a:t>
            </a: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cần scale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18"/>
        </a:solidFill>
      </p:bgPr>
    </p:bg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52"/>
          <p:cNvSpPr/>
          <p:nvPr/>
        </p:nvSpPr>
        <p:spPr>
          <a:xfrm>
            <a:off x="990534" y="800034"/>
            <a:ext cx="16796141" cy="334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E0C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BE0CE"/>
                </a:solidFill>
                <a:latin typeface="Courier New"/>
                <a:ea typeface="Courier New"/>
                <a:cs typeface="Courier New"/>
                <a:sym typeface="Courier New"/>
              </a:rPr>
              <a:t>SECTION 6 · LECTURE 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p52"/>
          <p:cNvSpPr/>
          <p:nvPr/>
        </p:nvSpPr>
        <p:spPr>
          <a:xfrm>
            <a:off x="990534" y="1286867"/>
            <a:ext cx="14716126" cy="6842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Tóm tắt &amp; chuyển bài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52"/>
          <p:cNvSpPr/>
          <p:nvPr/>
        </p:nvSpPr>
        <p:spPr>
          <a:xfrm>
            <a:off x="990534" y="4540581"/>
            <a:ext cx="16796141" cy="3185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86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5C6B86"/>
                </a:solidFill>
                <a:latin typeface="Courier New"/>
                <a:ea typeface="Courier New"/>
                <a:cs typeface="Courier New"/>
                <a:sym typeface="Courier New"/>
              </a:rPr>
              <a:t>ĐÃ HỌC TRONG BÀI NÀY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52"/>
          <p:cNvSpPr/>
          <p:nvPr/>
        </p:nvSpPr>
        <p:spPr>
          <a:xfrm>
            <a:off x="990534" y="5259173"/>
            <a:ext cx="1134566" cy="676176"/>
          </a:xfrm>
          <a:prstGeom prst="roundRect">
            <a:avLst>
              <a:gd fmla="val 50000" name="adj"/>
            </a:avLst>
          </a:prstGeom>
          <a:solidFill>
            <a:srgbClr val="131C2E"/>
          </a:solidFill>
          <a:ln cap="flat" cmpd="sng" w="9525">
            <a:solidFill>
              <a:srgbClr val="FFFFFF">
                <a:alpha val="1686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8" name="Google Shape;788;p52"/>
          <p:cNvSpPr/>
          <p:nvPr/>
        </p:nvSpPr>
        <p:spPr>
          <a:xfrm>
            <a:off x="1300626" y="5435914"/>
            <a:ext cx="590583" cy="3607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E7EDF8"/>
                </a:solidFill>
                <a:latin typeface="Courier New"/>
                <a:ea typeface="Courier New"/>
                <a:cs typeface="Courier New"/>
                <a:sym typeface="Courier New"/>
              </a:rPr>
              <a:t>RNN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52"/>
          <p:cNvSpPr/>
          <p:nvPr/>
        </p:nvSpPr>
        <p:spPr>
          <a:xfrm>
            <a:off x="2315600" y="5259173"/>
            <a:ext cx="1306049" cy="676176"/>
          </a:xfrm>
          <a:prstGeom prst="roundRect">
            <a:avLst>
              <a:gd fmla="val 50000" name="adj"/>
            </a:avLst>
          </a:prstGeom>
          <a:solidFill>
            <a:srgbClr val="131C2E"/>
          </a:solidFill>
          <a:ln cap="flat" cmpd="sng" w="9525">
            <a:solidFill>
              <a:srgbClr val="FFFFFF">
                <a:alpha val="1686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0" name="Google Shape;790;p52"/>
          <p:cNvSpPr/>
          <p:nvPr/>
        </p:nvSpPr>
        <p:spPr>
          <a:xfrm>
            <a:off x="2625692" y="5435914"/>
            <a:ext cx="762066" cy="3607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E7EDF8"/>
                </a:solidFill>
                <a:latin typeface="Courier New"/>
                <a:ea typeface="Courier New"/>
                <a:cs typeface="Courier New"/>
                <a:sym typeface="Courier New"/>
              </a:rPr>
              <a:t>LSTM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52"/>
          <p:cNvSpPr/>
          <p:nvPr/>
        </p:nvSpPr>
        <p:spPr>
          <a:xfrm>
            <a:off x="3812150" y="5259173"/>
            <a:ext cx="1134566" cy="676176"/>
          </a:xfrm>
          <a:prstGeom prst="roundRect">
            <a:avLst>
              <a:gd fmla="val 50000" name="adj"/>
            </a:avLst>
          </a:prstGeom>
          <a:solidFill>
            <a:srgbClr val="131C2E"/>
          </a:solidFill>
          <a:ln cap="flat" cmpd="sng" w="9525">
            <a:solidFill>
              <a:srgbClr val="FFFFFF">
                <a:alpha val="1686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2" name="Google Shape;792;p52"/>
          <p:cNvSpPr/>
          <p:nvPr/>
        </p:nvSpPr>
        <p:spPr>
          <a:xfrm>
            <a:off x="4122242" y="5435914"/>
            <a:ext cx="590583" cy="3607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E7EDF8"/>
                </a:solidFill>
                <a:latin typeface="Courier New"/>
                <a:ea typeface="Courier New"/>
                <a:cs typeface="Courier New"/>
                <a:sym typeface="Courier New"/>
              </a:rPr>
              <a:t>GRU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52"/>
          <p:cNvSpPr/>
          <p:nvPr/>
        </p:nvSpPr>
        <p:spPr>
          <a:xfrm>
            <a:off x="5137217" y="5259173"/>
            <a:ext cx="1820499" cy="676176"/>
          </a:xfrm>
          <a:prstGeom prst="roundRect">
            <a:avLst>
              <a:gd fmla="val 50000" name="adj"/>
            </a:avLst>
          </a:prstGeom>
          <a:solidFill>
            <a:srgbClr val="131C2E"/>
          </a:solidFill>
          <a:ln cap="flat" cmpd="sng" w="9525">
            <a:solidFill>
              <a:srgbClr val="FFFFFF">
                <a:alpha val="1686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4" name="Google Shape;794;p52"/>
          <p:cNvSpPr/>
          <p:nvPr/>
        </p:nvSpPr>
        <p:spPr>
          <a:xfrm>
            <a:off x="5447308" y="5435914"/>
            <a:ext cx="1276515" cy="3607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E7EDF8"/>
                </a:solidFill>
                <a:latin typeface="Courier New"/>
                <a:ea typeface="Courier New"/>
                <a:cs typeface="Courier New"/>
                <a:sym typeface="Courier New"/>
              </a:rPr>
              <a:t>scaling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52"/>
          <p:cNvSpPr/>
          <p:nvPr/>
        </p:nvSpPr>
        <p:spPr>
          <a:xfrm>
            <a:off x="990534" y="6506766"/>
            <a:ext cx="16306933" cy="9525"/>
          </a:xfrm>
          <a:prstGeom prst="rect">
            <a:avLst/>
          </a:prstGeom>
          <a:solidFill>
            <a:srgbClr val="FFFFFF">
              <a:alpha val="901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6" name="Google Shape;796;p52"/>
          <p:cNvSpPr/>
          <p:nvPr/>
        </p:nvSpPr>
        <p:spPr>
          <a:xfrm>
            <a:off x="990534" y="6993599"/>
            <a:ext cx="2394529" cy="3185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86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5C6B86"/>
                </a:solidFill>
                <a:latin typeface="Courier New"/>
                <a:ea typeface="Courier New"/>
                <a:cs typeface="Courier New"/>
                <a:sym typeface="Courier New"/>
              </a:rPr>
              <a:t>BÀI TIẾP THEO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52"/>
          <p:cNvSpPr/>
          <p:nvPr/>
        </p:nvSpPr>
        <p:spPr>
          <a:xfrm>
            <a:off x="3556496" y="6914720"/>
            <a:ext cx="514416" cy="4762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E0CE"/>
              </a:buClr>
              <a:buSzPts val="3450"/>
              <a:buFont typeface="Arial"/>
              <a:buNone/>
            </a:pPr>
            <a:r>
              <a:rPr b="0" i="0" lang="en-US" sz="3450" u="none" cap="none" strike="noStrike">
                <a:solidFill>
                  <a:srgbClr val="2BE0CE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52"/>
          <p:cNvSpPr/>
          <p:nvPr/>
        </p:nvSpPr>
        <p:spPr>
          <a:xfrm>
            <a:off x="4242346" y="6893058"/>
            <a:ext cx="6133337" cy="5196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🏆 Capstone 2 — Dự báo time-series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18"/>
        </a:solidFill>
      </p:bgPr>
    </p:bg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53"/>
          <p:cNvSpPr/>
          <p:nvPr/>
        </p:nvSpPr>
        <p:spPr>
          <a:xfrm>
            <a:off x="13144501" y="3609992"/>
            <a:ext cx="4512945" cy="31051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500"/>
              <a:buFont typeface="Arial"/>
              <a:buNone/>
            </a:pPr>
            <a:r>
              <a:rPr b="1" i="0" lang="en-US" sz="34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🏆</a:t>
            </a:r>
            <a:endParaRPr b="0" i="0" sz="3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5" name="Google Shape;805;p53"/>
          <p:cNvSpPr/>
          <p:nvPr/>
        </p:nvSpPr>
        <p:spPr>
          <a:xfrm>
            <a:off x="990534" y="3724424"/>
            <a:ext cx="16796141" cy="339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E0C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BE0CE"/>
                </a:solidFill>
                <a:latin typeface="Courier New"/>
                <a:ea typeface="Courier New"/>
                <a:cs typeface="Courier New"/>
                <a:sym typeface="Courier New"/>
              </a:rPr>
              <a:t>SECTION 6 · CAPSTONE 2 🏆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p53"/>
          <p:cNvSpPr/>
          <p:nvPr/>
        </p:nvSpPr>
        <p:spPr>
          <a:xfrm>
            <a:off x="990534" y="4349833"/>
            <a:ext cx="12753976" cy="17418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6450"/>
              <a:buFont typeface="Arial"/>
              <a:buNone/>
            </a:pPr>
            <a:r>
              <a:rPr b="1" i="0" lang="en-US" sz="645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Dự báo doanh số / chứng khoán Việt Nam</a:t>
            </a:r>
            <a:endParaRPr b="0" i="0" sz="6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53"/>
          <p:cNvSpPr/>
          <p:nvPr/>
        </p:nvSpPr>
        <p:spPr>
          <a:xfrm>
            <a:off x="990534" y="6377368"/>
            <a:ext cx="16796141" cy="31855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93A3BC"/>
                </a:solidFill>
                <a:latin typeface="Courier New"/>
                <a:ea typeface="Courier New"/>
                <a:cs typeface="Courier New"/>
                <a:sym typeface="Courier New"/>
              </a:rPr>
              <a:t>~14 phút · 7 slides · screen recording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18"/>
        </a:solidFill>
      </p:bgPr>
    </p:bg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54"/>
          <p:cNvSpPr/>
          <p:nvPr/>
        </p:nvSpPr>
        <p:spPr>
          <a:xfrm>
            <a:off x="990534" y="800034"/>
            <a:ext cx="16796141" cy="334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E0C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BE0CE"/>
                </a:solidFill>
                <a:latin typeface="Courier New"/>
                <a:ea typeface="Courier New"/>
                <a:cs typeface="Courier New"/>
                <a:sym typeface="Courier New"/>
              </a:rPr>
              <a:t>BÀI TOÁN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4" name="Google Shape;814;p54"/>
          <p:cNvSpPr/>
          <p:nvPr/>
        </p:nvSpPr>
        <p:spPr>
          <a:xfrm>
            <a:off x="990534" y="1286867"/>
            <a:ext cx="14716126" cy="6842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Bài toán &amp; dữ liệu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54"/>
          <p:cNvSpPr/>
          <p:nvPr/>
        </p:nvSpPr>
        <p:spPr>
          <a:xfrm>
            <a:off x="1466784" y="5060570"/>
            <a:ext cx="7568651" cy="4456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Dữ liệu </a:t>
            </a:r>
            <a:r>
              <a:rPr b="1" i="0" lang="en-US" sz="2400" u="none" cap="none" strike="noStrike">
                <a:solidFill>
                  <a:srgbClr val="2BE0CE"/>
                </a:solidFill>
                <a:latin typeface="Arial"/>
                <a:ea typeface="Arial"/>
                <a:cs typeface="Arial"/>
                <a:sym typeface="Arial"/>
              </a:rPr>
              <a:t>doanh số / cổ phiếu VN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54"/>
          <p:cNvSpPr/>
          <p:nvPr/>
        </p:nvSpPr>
        <p:spPr>
          <a:xfrm>
            <a:off x="1466784" y="5753861"/>
            <a:ext cx="7568651" cy="4456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Mục tiêu: </a:t>
            </a:r>
            <a:r>
              <a:rPr b="1" i="0" lang="en-US" sz="2400" u="none" cap="none" strike="noStrike">
                <a:solidFill>
                  <a:srgbClr val="2BE0CE"/>
                </a:solidFill>
                <a:latin typeface="Arial"/>
                <a:ea typeface="Arial"/>
                <a:cs typeface="Arial"/>
                <a:sym typeface="Arial"/>
              </a:rPr>
              <a:t>dự báo N kỳ tới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Google Shape;817;p54"/>
          <p:cNvSpPr/>
          <p:nvPr/>
        </p:nvSpPr>
        <p:spPr>
          <a:xfrm>
            <a:off x="1466784" y="6447152"/>
            <a:ext cx="7568651" cy="4456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Xác định rõ </a:t>
            </a:r>
            <a:r>
              <a:rPr b="1" i="0" lang="en-US" sz="2400" u="none" cap="none" strike="noStrike">
                <a:solidFill>
                  <a:srgbClr val="2BE0CE"/>
                </a:solidFill>
                <a:latin typeface="Arial"/>
                <a:ea typeface="Arial"/>
                <a:cs typeface="Arial"/>
                <a:sym typeface="Arial"/>
              </a:rPr>
              <a:t>khung thời gian </a:t>
            </a: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đánh giá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18" name="Google Shape;818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86884" y="3638848"/>
            <a:ext cx="7810583" cy="46374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18"/>
        </a:solidFill>
      </p:bgPr>
    </p:bg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55"/>
          <p:cNvSpPr/>
          <p:nvPr/>
        </p:nvSpPr>
        <p:spPr>
          <a:xfrm>
            <a:off x="990534" y="800034"/>
            <a:ext cx="16796141" cy="334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E0C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BE0CE"/>
                </a:solidFill>
                <a:latin typeface="Courier New"/>
                <a:ea typeface="Courier New"/>
                <a:cs typeface="Courier New"/>
                <a:sym typeface="Courier New"/>
              </a:rPr>
              <a:t>EDA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5" name="Google Shape;825;p55"/>
          <p:cNvSpPr/>
          <p:nvPr/>
        </p:nvSpPr>
        <p:spPr>
          <a:xfrm>
            <a:off x="990534" y="1286867"/>
            <a:ext cx="14716126" cy="6842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EDA &amp; decomposition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" name="Google Shape;826;p55"/>
          <p:cNvSpPr/>
          <p:nvPr/>
        </p:nvSpPr>
        <p:spPr>
          <a:xfrm>
            <a:off x="990534" y="4560673"/>
            <a:ext cx="9216430" cy="2793835"/>
          </a:xfrm>
          <a:prstGeom prst="roundRect">
            <a:avLst>
              <a:gd fmla="val 5455" name="adj"/>
            </a:avLst>
          </a:prstGeom>
          <a:solidFill>
            <a:srgbClr val="131C2E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571500" rotWithShape="0" algn="bl" dir="5400000" dist="228600">
              <a:srgbClr val="000000">
                <a:alpha val="8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7" name="Google Shape;827;p55"/>
          <p:cNvSpPr/>
          <p:nvPr/>
        </p:nvSpPr>
        <p:spPr>
          <a:xfrm>
            <a:off x="995826" y="4565964"/>
            <a:ext cx="9205847" cy="607384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8" name="Google Shape;828;p55"/>
          <p:cNvSpPr/>
          <p:nvPr/>
        </p:nvSpPr>
        <p:spPr>
          <a:xfrm>
            <a:off x="995826" y="5168057"/>
            <a:ext cx="9205847" cy="9525"/>
          </a:xfrm>
          <a:prstGeom prst="rect">
            <a:avLst/>
          </a:prstGeom>
          <a:solidFill>
            <a:srgbClr val="FFFFFF">
              <a:alpha val="901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9" name="Google Shape;829;p55"/>
          <p:cNvSpPr/>
          <p:nvPr/>
        </p:nvSpPr>
        <p:spPr>
          <a:xfrm>
            <a:off x="1243459" y="4805082"/>
            <a:ext cx="123775" cy="123775"/>
          </a:xfrm>
          <a:prstGeom prst="ellipse">
            <a:avLst/>
          </a:prstGeom>
          <a:solidFill>
            <a:srgbClr val="3949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0" name="Google Shape;830;p55"/>
          <p:cNvSpPr/>
          <p:nvPr/>
        </p:nvSpPr>
        <p:spPr>
          <a:xfrm>
            <a:off x="1471993" y="4805082"/>
            <a:ext cx="123775" cy="123775"/>
          </a:xfrm>
          <a:prstGeom prst="ellipse">
            <a:avLst/>
          </a:prstGeom>
          <a:solidFill>
            <a:srgbClr val="3949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1" name="Google Shape;831;p55"/>
          <p:cNvSpPr/>
          <p:nvPr/>
        </p:nvSpPr>
        <p:spPr>
          <a:xfrm>
            <a:off x="1700527" y="4805082"/>
            <a:ext cx="123775" cy="123775"/>
          </a:xfrm>
          <a:prstGeom prst="ellipse">
            <a:avLst/>
          </a:prstGeom>
          <a:solidFill>
            <a:srgbClr val="3949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2" name="Google Shape;832;p55"/>
          <p:cNvSpPr/>
          <p:nvPr/>
        </p:nvSpPr>
        <p:spPr>
          <a:xfrm>
            <a:off x="2062344" y="4737365"/>
            <a:ext cx="940313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93A3BC"/>
                </a:solidFill>
                <a:latin typeface="Courier New"/>
                <a:ea typeface="Courier New"/>
                <a:cs typeface="Courier New"/>
                <a:sym typeface="Courier New"/>
              </a:rPr>
              <a:t>eda.py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3" name="Google Shape;833;p55"/>
          <p:cNvSpPr/>
          <p:nvPr/>
        </p:nvSpPr>
        <p:spPr>
          <a:xfrm>
            <a:off x="1319676" y="5459099"/>
            <a:ext cx="8834322" cy="16424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D6E2F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decomp = seasonal_decompose(y, period=</a:t>
            </a:r>
            <a:r>
              <a:rPr b="0" i="0" lang="en-US" sz="1950" u="none" cap="none" strike="noStrike">
                <a:solidFill>
                  <a:srgbClr val="F4B860"/>
                </a:solidFill>
                <a:latin typeface="Courier New"/>
                <a:ea typeface="Courier New"/>
                <a:cs typeface="Courier New"/>
                <a:sym typeface="Courier New"/>
              </a:rPr>
              <a:t>12 </a:t>
            </a: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D6E2F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decomp.plot() 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E0CE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2BE0CE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0" i="0" lang="en-US" sz="1950" u="none" cap="none" strike="noStrike">
                <a:solidFill>
                  <a:srgbClr val="86E3A8"/>
                </a:solidFill>
                <a:latin typeface="Courier New"/>
                <a:ea typeface="Courier New"/>
                <a:cs typeface="Courier New"/>
                <a:sym typeface="Courier New"/>
              </a:rPr>
              <a:t>"ADF p ="</a:t>
            </a: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, adfuller(y)[</a:t>
            </a:r>
            <a:r>
              <a:rPr b="0" i="0" lang="en-US" sz="1950" u="none" cap="none" strike="noStrike">
                <a:solidFill>
                  <a:srgbClr val="F4B860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])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p55"/>
          <p:cNvSpPr/>
          <p:nvPr/>
        </p:nvSpPr>
        <p:spPr>
          <a:xfrm>
            <a:off x="11955530" y="5060570"/>
            <a:ext cx="4912254" cy="4456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Tách </a:t>
            </a:r>
            <a:r>
              <a:rPr b="1" i="0" lang="en-US" sz="2400" u="none" cap="none" strike="noStrike">
                <a:solidFill>
                  <a:srgbClr val="2BE0CE"/>
                </a:solidFill>
                <a:latin typeface="Arial"/>
                <a:ea typeface="Arial"/>
                <a:cs typeface="Arial"/>
                <a:sym typeface="Arial"/>
              </a:rPr>
              <a:t>trend / seasonality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p55"/>
          <p:cNvSpPr/>
          <p:nvPr/>
        </p:nvSpPr>
        <p:spPr>
          <a:xfrm>
            <a:off x="11955530" y="5753861"/>
            <a:ext cx="4912254" cy="4456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Kiểm tra </a:t>
            </a:r>
            <a:r>
              <a:rPr b="1" i="0" lang="en-US" sz="2400" u="none" cap="none" strike="noStrike">
                <a:solidFill>
                  <a:srgbClr val="2BE0CE"/>
                </a:solidFill>
                <a:latin typeface="Arial"/>
                <a:ea typeface="Arial"/>
                <a:cs typeface="Arial"/>
                <a:sym typeface="Arial"/>
              </a:rPr>
              <a:t>tính dừng </a:t>
            </a: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(ADF)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6" name="Google Shape;836;p55"/>
          <p:cNvSpPr/>
          <p:nvPr/>
        </p:nvSpPr>
        <p:spPr>
          <a:xfrm>
            <a:off x="11955530" y="6447152"/>
            <a:ext cx="4912254" cy="4456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Hiểu dữ liệu </a:t>
            </a:r>
            <a:r>
              <a:rPr b="1" i="0" lang="en-US" sz="2400" u="none" cap="none" strike="noStrike">
                <a:solidFill>
                  <a:srgbClr val="2BE0CE"/>
                </a:solidFill>
                <a:latin typeface="Arial"/>
                <a:ea typeface="Arial"/>
                <a:cs typeface="Arial"/>
                <a:sym typeface="Arial"/>
              </a:rPr>
              <a:t>trước khi </a:t>
            </a: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mô hình hoá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18"/>
        </a:solidFill>
      </p:bgPr>
    </p:bg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56"/>
          <p:cNvSpPr/>
          <p:nvPr/>
        </p:nvSpPr>
        <p:spPr>
          <a:xfrm>
            <a:off x="990534" y="800034"/>
            <a:ext cx="16796141" cy="334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E0C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BE0CE"/>
                </a:solidFill>
                <a:latin typeface="Courier New"/>
                <a:ea typeface="Courier New"/>
                <a:cs typeface="Courier New"/>
                <a:sym typeface="Courier New"/>
              </a:rPr>
              <a:t>MÔ HÌNH HOÁ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56"/>
          <p:cNvSpPr/>
          <p:nvPr/>
        </p:nvSpPr>
        <p:spPr>
          <a:xfrm>
            <a:off x="990534" y="1286867"/>
            <a:ext cx="14716126" cy="6842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Đa phương pháp — để so sánh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p56"/>
          <p:cNvSpPr/>
          <p:nvPr/>
        </p:nvSpPr>
        <p:spPr>
          <a:xfrm>
            <a:off x="990534" y="4611522"/>
            <a:ext cx="5245117" cy="2011164"/>
          </a:xfrm>
          <a:prstGeom prst="roundRect">
            <a:avLst>
              <a:gd fmla="val 8525" name="adj"/>
            </a:avLst>
          </a:prstGeom>
          <a:solidFill>
            <a:srgbClr val="131C2E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5" name="Google Shape;845;p56"/>
          <p:cNvSpPr/>
          <p:nvPr/>
        </p:nvSpPr>
        <p:spPr>
          <a:xfrm>
            <a:off x="1319609" y="4959697"/>
            <a:ext cx="4724575" cy="3344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E0CE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2BE0CE"/>
                </a:solidFill>
                <a:latin typeface="Courier New"/>
                <a:ea typeface="Courier New"/>
                <a:cs typeface="Courier New"/>
                <a:sym typeface="Courier New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6" name="Google Shape;846;p56"/>
          <p:cNvSpPr/>
          <p:nvPr/>
        </p:nvSpPr>
        <p:spPr>
          <a:xfrm>
            <a:off x="1319609" y="5389315"/>
            <a:ext cx="4724575" cy="4614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ARIMA / SARIMA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56"/>
          <p:cNvSpPr/>
          <p:nvPr/>
        </p:nvSpPr>
        <p:spPr>
          <a:xfrm>
            <a:off x="1319609" y="5945932"/>
            <a:ext cx="4724575" cy="36667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93A3BC"/>
                </a:solidFill>
                <a:latin typeface="Arial"/>
                <a:ea typeface="Arial"/>
                <a:cs typeface="Arial"/>
                <a:sym typeface="Arial"/>
              </a:rPr>
              <a:t>Mô hình thống kê kinh điển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8" name="Google Shape;848;p56"/>
          <p:cNvSpPr/>
          <p:nvPr/>
        </p:nvSpPr>
        <p:spPr>
          <a:xfrm>
            <a:off x="6521401" y="4611522"/>
            <a:ext cx="5245117" cy="2011164"/>
          </a:xfrm>
          <a:prstGeom prst="roundRect">
            <a:avLst>
              <a:gd fmla="val 8525" name="adj"/>
            </a:avLst>
          </a:prstGeom>
          <a:solidFill>
            <a:srgbClr val="131C2E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9" name="Google Shape;849;p56"/>
          <p:cNvSpPr/>
          <p:nvPr/>
        </p:nvSpPr>
        <p:spPr>
          <a:xfrm>
            <a:off x="6850476" y="4959697"/>
            <a:ext cx="4724575" cy="3344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E0CE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2BE0CE"/>
                </a:solidFill>
                <a:latin typeface="Courier New"/>
                <a:ea typeface="Courier New"/>
                <a:cs typeface="Courier New"/>
                <a:sym typeface="Courier New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p56"/>
          <p:cNvSpPr/>
          <p:nvPr/>
        </p:nvSpPr>
        <p:spPr>
          <a:xfrm>
            <a:off x="6850476" y="5389315"/>
            <a:ext cx="4724575" cy="4614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Prophet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" name="Google Shape;851;p56"/>
          <p:cNvSpPr/>
          <p:nvPr/>
        </p:nvSpPr>
        <p:spPr>
          <a:xfrm>
            <a:off x="6850476" y="5945932"/>
            <a:ext cx="4724575" cy="36667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93A3BC"/>
                </a:solidFill>
                <a:latin typeface="Arial"/>
                <a:ea typeface="Arial"/>
                <a:cs typeface="Arial"/>
                <a:sym typeface="Arial"/>
              </a:rPr>
              <a:t>Mạnh về ngày lễ, dễ dùng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2" name="Google Shape;852;p56"/>
          <p:cNvSpPr/>
          <p:nvPr/>
        </p:nvSpPr>
        <p:spPr>
          <a:xfrm>
            <a:off x="12052268" y="4611522"/>
            <a:ext cx="5245117" cy="2011164"/>
          </a:xfrm>
          <a:prstGeom prst="roundRect">
            <a:avLst>
              <a:gd fmla="val 8525" name="adj"/>
            </a:avLst>
          </a:prstGeom>
          <a:solidFill>
            <a:srgbClr val="131C2E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3" name="Google Shape;853;p56"/>
          <p:cNvSpPr/>
          <p:nvPr/>
        </p:nvSpPr>
        <p:spPr>
          <a:xfrm>
            <a:off x="12381343" y="4959697"/>
            <a:ext cx="4724575" cy="3344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E0CE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2BE0CE"/>
                </a:solidFill>
                <a:latin typeface="Courier New"/>
                <a:ea typeface="Courier New"/>
                <a:cs typeface="Courier New"/>
                <a:sym typeface="Courier New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4" name="Google Shape;854;p56"/>
          <p:cNvSpPr/>
          <p:nvPr/>
        </p:nvSpPr>
        <p:spPr>
          <a:xfrm>
            <a:off x="12381343" y="5389315"/>
            <a:ext cx="4724575" cy="4614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LSTM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5" name="Google Shape;855;p56"/>
          <p:cNvSpPr/>
          <p:nvPr/>
        </p:nvSpPr>
        <p:spPr>
          <a:xfrm>
            <a:off x="12381343" y="5945932"/>
            <a:ext cx="4724575" cy="36667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93A3BC"/>
                </a:solidFill>
                <a:latin typeface="Arial"/>
                <a:ea typeface="Arial"/>
                <a:cs typeface="Arial"/>
                <a:sym typeface="Arial"/>
              </a:rPr>
              <a:t>Deep learning cho chuỗi dài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56"/>
          <p:cNvSpPr/>
          <p:nvPr/>
        </p:nvSpPr>
        <p:spPr>
          <a:xfrm>
            <a:off x="6013674" y="6946470"/>
            <a:ext cx="6260570" cy="39537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3BC"/>
                </a:solidFill>
                <a:latin typeface="Arial"/>
                <a:ea typeface="Arial"/>
                <a:cs typeface="Arial"/>
                <a:sym typeface="Arial"/>
              </a:rPr>
              <a:t>Mục tiêu là </a:t>
            </a:r>
            <a:r>
              <a:rPr b="1" i="0" lang="en-US" sz="1950" u="none" cap="none" strike="noStrike">
                <a:solidFill>
                  <a:srgbClr val="2BE0CE"/>
                </a:solidFill>
                <a:latin typeface="Arial"/>
                <a:ea typeface="Arial"/>
                <a:cs typeface="Arial"/>
                <a:sym typeface="Arial"/>
              </a:rPr>
              <a:t>so sánh</a:t>
            </a:r>
            <a:r>
              <a:rPr b="0" i="0" lang="en-US" sz="1950" u="none" cap="none" strike="noStrike">
                <a:solidFill>
                  <a:srgbClr val="93A3BC"/>
                </a:solidFill>
                <a:latin typeface="Arial"/>
                <a:ea typeface="Arial"/>
                <a:cs typeface="Arial"/>
                <a:sym typeface="Arial"/>
              </a:rPr>
              <a:t>, không phải chọn sẵn một mô hình.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18"/>
        </a:solidFill>
      </p:bgPr>
    </p:bg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p57"/>
          <p:cNvSpPr/>
          <p:nvPr/>
        </p:nvSpPr>
        <p:spPr>
          <a:xfrm>
            <a:off x="990534" y="800034"/>
            <a:ext cx="16796141" cy="334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E0C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BE0CE"/>
                </a:solidFill>
                <a:latin typeface="Courier New"/>
                <a:ea typeface="Courier New"/>
                <a:cs typeface="Courier New"/>
                <a:sym typeface="Courier New"/>
              </a:rPr>
              <a:t>ĐÁNH GIÁ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3" name="Google Shape;863;p57"/>
          <p:cNvSpPr/>
          <p:nvPr/>
        </p:nvSpPr>
        <p:spPr>
          <a:xfrm>
            <a:off x="990534" y="1286867"/>
            <a:ext cx="14716126" cy="6842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Đánh giá đúng cách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4" name="Google Shape;864;p57"/>
          <p:cNvSpPr/>
          <p:nvPr/>
        </p:nvSpPr>
        <p:spPr>
          <a:xfrm>
            <a:off x="990534" y="4611522"/>
            <a:ext cx="5245117" cy="2011164"/>
          </a:xfrm>
          <a:prstGeom prst="roundRect">
            <a:avLst>
              <a:gd fmla="val 8525" name="adj"/>
            </a:avLst>
          </a:prstGeom>
          <a:solidFill>
            <a:srgbClr val="131C2E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5" name="Google Shape;865;p57"/>
          <p:cNvSpPr/>
          <p:nvPr/>
        </p:nvSpPr>
        <p:spPr>
          <a:xfrm>
            <a:off x="1319609" y="4959697"/>
            <a:ext cx="4724575" cy="3344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E0CE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2BE0CE"/>
                </a:solidFill>
                <a:latin typeface="Courier New"/>
                <a:ea typeface="Courier New"/>
                <a:cs typeface="Courier New"/>
                <a:sym typeface="Courier New"/>
              </a:rPr>
              <a:t>MAE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6" name="Google Shape;866;p57"/>
          <p:cNvSpPr/>
          <p:nvPr/>
        </p:nvSpPr>
        <p:spPr>
          <a:xfrm>
            <a:off x="1319609" y="5389315"/>
            <a:ext cx="4724575" cy="4614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Mean Abs Error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7" name="Google Shape;867;p57"/>
          <p:cNvSpPr/>
          <p:nvPr/>
        </p:nvSpPr>
        <p:spPr>
          <a:xfrm>
            <a:off x="1319609" y="5945932"/>
            <a:ext cx="4724575" cy="36667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93A3BC"/>
                </a:solidFill>
                <a:latin typeface="Arial"/>
                <a:ea typeface="Arial"/>
                <a:cs typeface="Arial"/>
                <a:sym typeface="Arial"/>
              </a:rPr>
              <a:t>Trung bình sai số tuyệt đối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57"/>
          <p:cNvSpPr/>
          <p:nvPr/>
        </p:nvSpPr>
        <p:spPr>
          <a:xfrm>
            <a:off x="6521401" y="4611522"/>
            <a:ext cx="5245117" cy="2011164"/>
          </a:xfrm>
          <a:prstGeom prst="roundRect">
            <a:avLst>
              <a:gd fmla="val 8525" name="adj"/>
            </a:avLst>
          </a:prstGeom>
          <a:solidFill>
            <a:srgbClr val="131C2E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9" name="Google Shape;869;p57"/>
          <p:cNvSpPr/>
          <p:nvPr/>
        </p:nvSpPr>
        <p:spPr>
          <a:xfrm>
            <a:off x="6850476" y="4959697"/>
            <a:ext cx="4724575" cy="3344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E0CE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2BE0CE"/>
                </a:solidFill>
                <a:latin typeface="Courier New"/>
                <a:ea typeface="Courier New"/>
                <a:cs typeface="Courier New"/>
                <a:sym typeface="Courier New"/>
              </a:rPr>
              <a:t>RMSE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0" name="Google Shape;870;p57"/>
          <p:cNvSpPr/>
          <p:nvPr/>
        </p:nvSpPr>
        <p:spPr>
          <a:xfrm>
            <a:off x="6850476" y="5389315"/>
            <a:ext cx="4724575" cy="4614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Root MSE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p57"/>
          <p:cNvSpPr/>
          <p:nvPr/>
        </p:nvSpPr>
        <p:spPr>
          <a:xfrm>
            <a:off x="6850476" y="5945932"/>
            <a:ext cx="4724575" cy="36667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93A3BC"/>
                </a:solidFill>
                <a:latin typeface="Arial"/>
                <a:ea typeface="Arial"/>
                <a:cs typeface="Arial"/>
                <a:sym typeface="Arial"/>
              </a:rPr>
              <a:t>Phạt nặng sai số lớn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57"/>
          <p:cNvSpPr/>
          <p:nvPr/>
        </p:nvSpPr>
        <p:spPr>
          <a:xfrm>
            <a:off x="12052268" y="4611522"/>
            <a:ext cx="5245117" cy="2011164"/>
          </a:xfrm>
          <a:prstGeom prst="roundRect">
            <a:avLst>
              <a:gd fmla="val 8525" name="adj"/>
            </a:avLst>
          </a:prstGeom>
          <a:solidFill>
            <a:srgbClr val="131C2E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3" name="Google Shape;873;p57"/>
          <p:cNvSpPr/>
          <p:nvPr/>
        </p:nvSpPr>
        <p:spPr>
          <a:xfrm>
            <a:off x="12381343" y="4959697"/>
            <a:ext cx="4724575" cy="3344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E0CE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2BE0CE"/>
                </a:solidFill>
                <a:latin typeface="Courier New"/>
                <a:ea typeface="Courier New"/>
                <a:cs typeface="Courier New"/>
                <a:sym typeface="Courier New"/>
              </a:rPr>
              <a:t>MAPE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4" name="Google Shape;874;p57"/>
          <p:cNvSpPr/>
          <p:nvPr/>
        </p:nvSpPr>
        <p:spPr>
          <a:xfrm>
            <a:off x="12381343" y="5389315"/>
            <a:ext cx="4724575" cy="4614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Mean Abs % Error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5" name="Google Shape;875;p57"/>
          <p:cNvSpPr/>
          <p:nvPr/>
        </p:nvSpPr>
        <p:spPr>
          <a:xfrm>
            <a:off x="12381343" y="5945932"/>
            <a:ext cx="4724575" cy="36667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93A3BC"/>
                </a:solidFill>
                <a:latin typeface="Arial"/>
                <a:ea typeface="Arial"/>
                <a:cs typeface="Arial"/>
                <a:sym typeface="Arial"/>
              </a:rPr>
              <a:t>Sai số theo phần trăm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p57"/>
          <p:cNvSpPr/>
          <p:nvPr/>
        </p:nvSpPr>
        <p:spPr>
          <a:xfrm>
            <a:off x="5623116" y="6946470"/>
            <a:ext cx="7041768" cy="39537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3BC"/>
                </a:solidFill>
                <a:latin typeface="Arial"/>
                <a:ea typeface="Arial"/>
                <a:cs typeface="Arial"/>
                <a:sym typeface="Arial"/>
              </a:rPr>
              <a:t>⚠ Backtesting bằng TimeSeriesSplit — </a:t>
            </a:r>
            <a:r>
              <a:rPr b="1" i="0" lang="en-US" sz="1950" u="none" cap="none" strike="noStrike">
                <a:solidFill>
                  <a:srgbClr val="2BE0CE"/>
                </a:solidFill>
                <a:latin typeface="Arial"/>
                <a:ea typeface="Arial"/>
                <a:cs typeface="Arial"/>
                <a:sym typeface="Arial"/>
              </a:rPr>
              <a:t>không bao giờ </a:t>
            </a:r>
            <a:r>
              <a:rPr b="0" i="0" lang="en-US" sz="1950" u="none" cap="none" strike="noStrike">
                <a:solidFill>
                  <a:srgbClr val="93A3BC"/>
                </a:solidFill>
                <a:latin typeface="Arial"/>
                <a:ea typeface="Arial"/>
                <a:cs typeface="Arial"/>
                <a:sym typeface="Arial"/>
              </a:rPr>
              <a:t>shuffle.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18"/>
        </a:solidFill>
      </p:bgPr>
    </p:bg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p58"/>
          <p:cNvSpPr/>
          <p:nvPr/>
        </p:nvSpPr>
        <p:spPr>
          <a:xfrm>
            <a:off x="990534" y="800034"/>
            <a:ext cx="16796141" cy="334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E0C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BE0CE"/>
                </a:solidFill>
                <a:latin typeface="Courier New"/>
                <a:ea typeface="Courier New"/>
                <a:cs typeface="Courier New"/>
                <a:sym typeface="Courier New"/>
              </a:rPr>
              <a:t>KẾT LUẬN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p58"/>
          <p:cNvSpPr/>
          <p:nvPr/>
        </p:nvSpPr>
        <p:spPr>
          <a:xfrm>
            <a:off x="990534" y="1286867"/>
            <a:ext cx="14716126" cy="6842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So sánh &amp; trade-off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4" name="Google Shape;884;p58"/>
          <p:cNvSpPr/>
          <p:nvPr/>
        </p:nvSpPr>
        <p:spPr>
          <a:xfrm>
            <a:off x="990534" y="4788958"/>
            <a:ext cx="3474558" cy="15875"/>
          </a:xfrm>
          <a:prstGeom prst="rect">
            <a:avLst/>
          </a:prstGeom>
          <a:solidFill>
            <a:srgbClr val="FFFFFF">
              <a:alpha val="1686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5" name="Google Shape;885;p58"/>
          <p:cNvSpPr/>
          <p:nvPr/>
        </p:nvSpPr>
        <p:spPr>
          <a:xfrm>
            <a:off x="1257234" y="4291046"/>
            <a:ext cx="3045395" cy="326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E7EDF8"/>
                </a:solidFill>
                <a:latin typeface="Courier New"/>
                <a:ea typeface="Courier New"/>
                <a:cs typeface="Courier New"/>
                <a:sym typeface="Courier New"/>
              </a:rPr>
              <a:t>MÔ HÌNH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6" name="Google Shape;886;p58"/>
          <p:cNvSpPr/>
          <p:nvPr/>
        </p:nvSpPr>
        <p:spPr>
          <a:xfrm>
            <a:off x="4465092" y="4788958"/>
            <a:ext cx="6463854" cy="15875"/>
          </a:xfrm>
          <a:prstGeom prst="rect">
            <a:avLst/>
          </a:prstGeom>
          <a:solidFill>
            <a:srgbClr val="FFFFFF">
              <a:alpha val="1686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7" name="Google Shape;887;p58"/>
          <p:cNvSpPr/>
          <p:nvPr/>
        </p:nvSpPr>
        <p:spPr>
          <a:xfrm>
            <a:off x="4731792" y="4291046"/>
            <a:ext cx="6124369" cy="326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E0C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BE0CE"/>
                </a:solidFill>
                <a:latin typeface="Courier New"/>
                <a:ea typeface="Courier New"/>
                <a:cs typeface="Courier New"/>
                <a:sym typeface="Courier New"/>
              </a:rPr>
              <a:t>ĐIỂM MẠNH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8" name="Google Shape;888;p58"/>
          <p:cNvSpPr/>
          <p:nvPr/>
        </p:nvSpPr>
        <p:spPr>
          <a:xfrm>
            <a:off x="10928946" y="4788958"/>
            <a:ext cx="6368521" cy="15875"/>
          </a:xfrm>
          <a:prstGeom prst="rect">
            <a:avLst/>
          </a:prstGeom>
          <a:solidFill>
            <a:srgbClr val="FFFFFF">
              <a:alpha val="1686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9" name="Google Shape;889;p58"/>
          <p:cNvSpPr/>
          <p:nvPr/>
        </p:nvSpPr>
        <p:spPr>
          <a:xfrm>
            <a:off x="11195646" y="4291046"/>
            <a:ext cx="6026177" cy="326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E0C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BE0CE"/>
                </a:solidFill>
                <a:latin typeface="Courier New"/>
                <a:ea typeface="Courier New"/>
                <a:cs typeface="Courier New"/>
                <a:sym typeface="Courier New"/>
              </a:rPr>
              <a:t>ĐÁNH ĐỔI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0" name="Google Shape;890;p58"/>
          <p:cNvSpPr/>
          <p:nvPr/>
        </p:nvSpPr>
        <p:spPr>
          <a:xfrm>
            <a:off x="990534" y="5741955"/>
            <a:ext cx="3474558" cy="9525"/>
          </a:xfrm>
          <a:prstGeom prst="rect">
            <a:avLst/>
          </a:prstGeom>
          <a:solidFill>
            <a:srgbClr val="FFFFFF">
              <a:alpha val="901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1" name="Google Shape;891;p58"/>
          <p:cNvSpPr/>
          <p:nvPr/>
        </p:nvSpPr>
        <p:spPr>
          <a:xfrm>
            <a:off x="1257234" y="5071533"/>
            <a:ext cx="3045395" cy="4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325"/>
              <a:buFont typeface="Arial"/>
              <a:buNone/>
            </a:pPr>
            <a:r>
              <a:rPr b="1" i="0" lang="en-US" sz="2325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ARIMA / SARIMA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2" name="Google Shape;892;p58"/>
          <p:cNvSpPr/>
          <p:nvPr/>
        </p:nvSpPr>
        <p:spPr>
          <a:xfrm>
            <a:off x="4465092" y="5741955"/>
            <a:ext cx="6463854" cy="9525"/>
          </a:xfrm>
          <a:prstGeom prst="rect">
            <a:avLst/>
          </a:prstGeom>
          <a:solidFill>
            <a:srgbClr val="FFFFFF">
              <a:alpha val="901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3" name="Google Shape;893;p58"/>
          <p:cNvSpPr/>
          <p:nvPr/>
        </p:nvSpPr>
        <p:spPr>
          <a:xfrm>
            <a:off x="4731792" y="5071533"/>
            <a:ext cx="6124369" cy="4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93A3BC"/>
                </a:solidFill>
                <a:latin typeface="Arial"/>
                <a:ea typeface="Arial"/>
                <a:cs typeface="Arial"/>
                <a:sym typeface="Arial"/>
              </a:rPr>
              <a:t>Nền tảng thống kê vững, xử lý mùa vụ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4" name="Google Shape;894;p58"/>
          <p:cNvSpPr/>
          <p:nvPr/>
        </p:nvSpPr>
        <p:spPr>
          <a:xfrm>
            <a:off x="10928946" y="5741955"/>
            <a:ext cx="6368521" cy="9525"/>
          </a:xfrm>
          <a:prstGeom prst="rect">
            <a:avLst/>
          </a:prstGeom>
          <a:solidFill>
            <a:srgbClr val="FFFFFF">
              <a:alpha val="901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5" name="Google Shape;895;p58"/>
          <p:cNvSpPr/>
          <p:nvPr/>
        </p:nvSpPr>
        <p:spPr>
          <a:xfrm>
            <a:off x="11195646" y="5071533"/>
            <a:ext cx="6026177" cy="4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93A3BC"/>
                </a:solidFill>
                <a:latin typeface="Arial"/>
                <a:ea typeface="Arial"/>
                <a:cs typeface="Arial"/>
                <a:sym typeface="Arial"/>
              </a:rPr>
              <a:t>Cần chuỗi dừng, dò tham số thủ công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6" name="Google Shape;896;p58"/>
          <p:cNvSpPr/>
          <p:nvPr/>
        </p:nvSpPr>
        <p:spPr>
          <a:xfrm>
            <a:off x="990534" y="6679076"/>
            <a:ext cx="3474558" cy="9525"/>
          </a:xfrm>
          <a:prstGeom prst="rect">
            <a:avLst/>
          </a:prstGeom>
          <a:solidFill>
            <a:srgbClr val="FFFFFF">
              <a:alpha val="901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7" name="Google Shape;897;p58"/>
          <p:cNvSpPr/>
          <p:nvPr/>
        </p:nvSpPr>
        <p:spPr>
          <a:xfrm>
            <a:off x="1257234" y="6013946"/>
            <a:ext cx="3045395" cy="4365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325"/>
              <a:buFont typeface="Arial"/>
              <a:buNone/>
            </a:pPr>
            <a:r>
              <a:rPr b="1" i="0" lang="en-US" sz="2325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Prophet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8" name="Google Shape;898;p58"/>
          <p:cNvSpPr/>
          <p:nvPr/>
        </p:nvSpPr>
        <p:spPr>
          <a:xfrm>
            <a:off x="4465092" y="6679076"/>
            <a:ext cx="6463854" cy="9525"/>
          </a:xfrm>
          <a:prstGeom prst="rect">
            <a:avLst/>
          </a:prstGeom>
          <a:solidFill>
            <a:srgbClr val="FFFFFF">
              <a:alpha val="901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9" name="Google Shape;899;p58"/>
          <p:cNvSpPr/>
          <p:nvPr/>
        </p:nvSpPr>
        <p:spPr>
          <a:xfrm>
            <a:off x="4731792" y="6013946"/>
            <a:ext cx="6124369" cy="4365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93A3BC"/>
                </a:solidFill>
                <a:latin typeface="Arial"/>
                <a:ea typeface="Arial"/>
                <a:cs typeface="Arial"/>
                <a:sym typeface="Arial"/>
              </a:rPr>
              <a:t>Ngày lễ, dễ dùng, robust với outlier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0" name="Google Shape;900;p58"/>
          <p:cNvSpPr/>
          <p:nvPr/>
        </p:nvSpPr>
        <p:spPr>
          <a:xfrm>
            <a:off x="10928946" y="6679076"/>
            <a:ext cx="6368521" cy="9525"/>
          </a:xfrm>
          <a:prstGeom prst="rect">
            <a:avLst/>
          </a:prstGeom>
          <a:solidFill>
            <a:srgbClr val="FFFFFF">
              <a:alpha val="901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1" name="Google Shape;901;p58"/>
          <p:cNvSpPr/>
          <p:nvPr/>
        </p:nvSpPr>
        <p:spPr>
          <a:xfrm>
            <a:off x="11195646" y="6013946"/>
            <a:ext cx="6026177" cy="4365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93A3BC"/>
                </a:solidFill>
                <a:latin typeface="Arial"/>
                <a:ea typeface="Arial"/>
                <a:cs typeface="Arial"/>
                <a:sym typeface="Arial"/>
              </a:rPr>
              <a:t>Kém với quan hệ phi tuyến phức tạp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2" name="Google Shape;902;p58"/>
          <p:cNvSpPr/>
          <p:nvPr/>
        </p:nvSpPr>
        <p:spPr>
          <a:xfrm>
            <a:off x="990534" y="7616197"/>
            <a:ext cx="3474558" cy="9525"/>
          </a:xfrm>
          <a:prstGeom prst="rect">
            <a:avLst/>
          </a:prstGeom>
          <a:solidFill>
            <a:srgbClr val="FFFFFF">
              <a:alpha val="901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3" name="Google Shape;903;p58"/>
          <p:cNvSpPr/>
          <p:nvPr/>
        </p:nvSpPr>
        <p:spPr>
          <a:xfrm>
            <a:off x="1257234" y="6951068"/>
            <a:ext cx="3045395" cy="4365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325"/>
              <a:buFont typeface="Arial"/>
              <a:buNone/>
            </a:pPr>
            <a:r>
              <a:rPr b="1" i="0" lang="en-US" sz="2325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LSTM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4" name="Google Shape;904;p58"/>
          <p:cNvSpPr/>
          <p:nvPr/>
        </p:nvSpPr>
        <p:spPr>
          <a:xfrm>
            <a:off x="4465092" y="7616197"/>
            <a:ext cx="6463854" cy="9525"/>
          </a:xfrm>
          <a:prstGeom prst="rect">
            <a:avLst/>
          </a:prstGeom>
          <a:solidFill>
            <a:srgbClr val="FFFFFF">
              <a:alpha val="901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5" name="Google Shape;905;p58"/>
          <p:cNvSpPr/>
          <p:nvPr/>
        </p:nvSpPr>
        <p:spPr>
          <a:xfrm>
            <a:off x="4731792" y="6951068"/>
            <a:ext cx="6124369" cy="4365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93A3BC"/>
                </a:solidFill>
                <a:latin typeface="Arial"/>
                <a:ea typeface="Arial"/>
                <a:cs typeface="Arial"/>
                <a:sym typeface="Arial"/>
              </a:rPr>
              <a:t>Bắt phi tuyến, mạnh với chuỗi dài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6" name="Google Shape;906;p58"/>
          <p:cNvSpPr/>
          <p:nvPr/>
        </p:nvSpPr>
        <p:spPr>
          <a:xfrm>
            <a:off x="10928946" y="7616197"/>
            <a:ext cx="6368521" cy="9525"/>
          </a:xfrm>
          <a:prstGeom prst="rect">
            <a:avLst/>
          </a:prstGeom>
          <a:solidFill>
            <a:srgbClr val="FFFFFF">
              <a:alpha val="901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7" name="Google Shape;907;p58"/>
          <p:cNvSpPr/>
          <p:nvPr/>
        </p:nvSpPr>
        <p:spPr>
          <a:xfrm>
            <a:off x="11195646" y="6951068"/>
            <a:ext cx="6026177" cy="4365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93A3BC"/>
                </a:solidFill>
                <a:latin typeface="Arial"/>
                <a:ea typeface="Arial"/>
                <a:cs typeface="Arial"/>
                <a:sym typeface="Arial"/>
              </a:rPr>
              <a:t>Cần nhiều dữ liệu, bắt buộc scale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11E"/>
        </a:solidFill>
      </p:bgPr>
    </p:bg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59"/>
          <p:cNvSpPr/>
          <p:nvPr/>
        </p:nvSpPr>
        <p:spPr>
          <a:xfrm>
            <a:off x="990534" y="3175579"/>
            <a:ext cx="3218822" cy="538592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2BE0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4" name="Google Shape;914;p59"/>
          <p:cNvSpPr/>
          <p:nvPr/>
        </p:nvSpPr>
        <p:spPr>
          <a:xfrm>
            <a:off x="1262526" y="3304696"/>
            <a:ext cx="2771403" cy="3184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E0CE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2BE0CE"/>
                </a:solidFill>
                <a:latin typeface="Courier New"/>
                <a:ea typeface="Courier New"/>
                <a:cs typeface="Courier New"/>
                <a:sym typeface="Courier New"/>
              </a:rPr>
              <a:t>PROJECT 2 / 7 ✓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5" name="Google Shape;915;p59"/>
          <p:cNvSpPr/>
          <p:nvPr/>
        </p:nvSpPr>
        <p:spPr>
          <a:xfrm>
            <a:off x="990534" y="3999922"/>
            <a:ext cx="16796141" cy="11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6900"/>
              <a:buFont typeface="Arial"/>
              <a:buNone/>
            </a:pPr>
            <a:r>
              <a:rPr b="1" i="0" lang="en-US" sz="69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Section 6 hoàn thành</a:t>
            </a:r>
            <a:endParaRPr b="0" i="0" sz="6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6" name="Google Shape;916;p59"/>
          <p:cNvSpPr/>
          <p:nvPr/>
        </p:nvSpPr>
        <p:spPr>
          <a:xfrm>
            <a:off x="990534" y="5428672"/>
            <a:ext cx="16796141" cy="387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93A3BC"/>
                </a:solidFill>
                <a:latin typeface="Arial"/>
                <a:ea typeface="Arial"/>
                <a:cs typeface="Arial"/>
                <a:sym typeface="Arial"/>
              </a:rPr>
              <a:t>Time Series — 9 lectures · Capstone 2 dự báo doanh số / chứng khoán VN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7" name="Google Shape;917;p59"/>
          <p:cNvSpPr/>
          <p:nvPr/>
        </p:nvSpPr>
        <p:spPr>
          <a:xfrm>
            <a:off x="990534" y="6349422"/>
            <a:ext cx="16306933" cy="9525"/>
          </a:xfrm>
          <a:prstGeom prst="rect">
            <a:avLst/>
          </a:prstGeom>
          <a:solidFill>
            <a:srgbClr val="FFFFFF">
              <a:alpha val="901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8" name="Google Shape;918;p59"/>
          <p:cNvSpPr/>
          <p:nvPr/>
        </p:nvSpPr>
        <p:spPr>
          <a:xfrm>
            <a:off x="990534" y="6830963"/>
            <a:ext cx="3122663" cy="3185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86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5C6B86"/>
                </a:solidFill>
                <a:latin typeface="Courier New"/>
                <a:ea typeface="Courier New"/>
                <a:cs typeface="Courier New"/>
                <a:sym typeface="Courier New"/>
              </a:rPr>
              <a:t>SECTION TIẾP THEO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9" name="Google Shape;919;p59"/>
          <p:cNvSpPr/>
          <p:nvPr/>
        </p:nvSpPr>
        <p:spPr>
          <a:xfrm>
            <a:off x="4269879" y="6752084"/>
            <a:ext cx="514416" cy="4762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E0CE"/>
              </a:buClr>
              <a:buSzPts val="3450"/>
              <a:buFont typeface="Arial"/>
              <a:buNone/>
            </a:pPr>
            <a:r>
              <a:rPr b="0" i="0" lang="en-US" sz="3450" u="none" cap="none" strike="noStrike">
                <a:solidFill>
                  <a:srgbClr val="2BE0CE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0" name="Google Shape;920;p59"/>
          <p:cNvSpPr/>
          <p:nvPr/>
        </p:nvSpPr>
        <p:spPr>
          <a:xfrm>
            <a:off x="4955729" y="6735713"/>
            <a:ext cx="6252991" cy="5090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Section 7 · Nhập môn Deep Learning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11E"/>
        </a:solidFill>
      </p:bgPr>
    </p:bg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p60"/>
          <p:cNvSpPr/>
          <p:nvPr/>
        </p:nvSpPr>
        <p:spPr>
          <a:xfrm>
            <a:off x="990534" y="3743358"/>
            <a:ext cx="4257542" cy="293363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0"/>
              <a:buFont typeface="Arial"/>
              <a:buNone/>
            </a:pPr>
            <a:r>
              <a:rPr b="1" i="0" lang="en-US" sz="28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b="0" i="0" sz="28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7" name="Google Shape;927;p60"/>
          <p:cNvSpPr/>
          <p:nvPr/>
        </p:nvSpPr>
        <p:spPr>
          <a:xfrm>
            <a:off x="5733604" y="3698214"/>
            <a:ext cx="9225086" cy="334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8C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B98CFF"/>
                </a:solidFill>
                <a:latin typeface="Courier New"/>
                <a:ea typeface="Courier New"/>
                <a:cs typeface="Courier New"/>
                <a:sym typeface="Courier New"/>
              </a:rPr>
              <a:t>SECTION 7 · 12 LECTURES · DEEP LEARNING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8" name="Google Shape;928;p60"/>
          <p:cNvSpPr/>
          <p:nvPr/>
        </p:nvSpPr>
        <p:spPr>
          <a:xfrm>
            <a:off x="5733604" y="4280297"/>
            <a:ext cx="9225086" cy="87021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6300"/>
              <a:buFont typeface="Arial"/>
              <a:buNone/>
            </a:pPr>
            <a:r>
              <a:rPr b="1" i="0" lang="en-US" sz="63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Nhập môn Deep Learning</a:t>
            </a:r>
            <a:endParaRPr b="0" i="0" sz="6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9" name="Google Shape;929;p60"/>
          <p:cNvSpPr/>
          <p:nvPr/>
        </p:nvSpPr>
        <p:spPr>
          <a:xfrm>
            <a:off x="5733604" y="5398162"/>
            <a:ext cx="26458" cy="1285875"/>
          </a:xfrm>
          <a:prstGeom prst="rect">
            <a:avLst/>
          </a:prstGeom>
          <a:solidFill>
            <a:srgbClr val="B98C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0" name="Google Shape;930;p60"/>
          <p:cNvSpPr/>
          <p:nvPr/>
        </p:nvSpPr>
        <p:spPr>
          <a:xfrm>
            <a:off x="6026762" y="5398162"/>
            <a:ext cx="8340302" cy="1323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93A3BC"/>
                </a:solidFill>
                <a:latin typeface="Arial"/>
                <a:ea typeface="Arial"/>
                <a:cs typeface="Arial"/>
                <a:sym typeface="Arial"/>
              </a:rPr>
              <a:t>Hiểu cách neural network hoạt động — forward, loss, backpropagation, optimizer; áp dụng regularization và xây mạng từ đầu bằng NumPy rồi tái hiện bằng PyTorch.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18"/>
        </a:solidFill>
      </p:bgPr>
    </p:bg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61"/>
          <p:cNvSpPr/>
          <p:nvPr/>
        </p:nvSpPr>
        <p:spPr>
          <a:xfrm>
            <a:off x="12706285" y="3609992"/>
            <a:ext cx="4964308" cy="31051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500"/>
              <a:buFont typeface="Arial"/>
              <a:buNone/>
            </a:pPr>
            <a:r>
              <a:rPr b="1" i="0" lang="en-US" sz="34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3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7" name="Google Shape;937;p61"/>
          <p:cNvSpPr/>
          <p:nvPr/>
        </p:nvSpPr>
        <p:spPr>
          <a:xfrm>
            <a:off x="990534" y="3727070"/>
            <a:ext cx="16796141" cy="334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8C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B98CFF"/>
                </a:solidFill>
                <a:latin typeface="Courier New"/>
                <a:ea typeface="Courier New"/>
                <a:cs typeface="Courier New"/>
                <a:sym typeface="Courier New"/>
              </a:rPr>
              <a:t>SECTION 7 · LECTURE 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8" name="Google Shape;938;p61"/>
          <p:cNvSpPr/>
          <p:nvPr/>
        </p:nvSpPr>
        <p:spPr>
          <a:xfrm>
            <a:off x="990534" y="4347187"/>
            <a:ext cx="12753976" cy="17418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6450"/>
              <a:buFont typeface="Arial"/>
              <a:buNone/>
            </a:pPr>
            <a:r>
              <a:rPr b="1" i="0" lang="en-US" sz="645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Từ Perceptron đến Neural Network</a:t>
            </a:r>
            <a:endParaRPr b="0" i="0" sz="6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9" name="Google Shape;939;p61"/>
          <p:cNvSpPr/>
          <p:nvPr/>
        </p:nvSpPr>
        <p:spPr>
          <a:xfrm>
            <a:off x="990534" y="6374723"/>
            <a:ext cx="16796141" cy="31855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93A3BC"/>
                </a:solidFill>
                <a:latin typeface="Courier New"/>
                <a:ea typeface="Courier New"/>
                <a:cs typeface="Courier New"/>
                <a:sym typeface="Courier New"/>
              </a:rPr>
              <a:t>~8 phút · 6 slides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18"/>
        </a:solidFill>
      </p:bgPr>
    </p:bg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p62"/>
          <p:cNvSpPr/>
          <p:nvPr/>
        </p:nvSpPr>
        <p:spPr>
          <a:xfrm>
            <a:off x="990534" y="800034"/>
            <a:ext cx="16796141" cy="334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8C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B98CFF"/>
                </a:solidFill>
                <a:latin typeface="Courier New"/>
                <a:ea typeface="Courier New"/>
                <a:cs typeface="Courier New"/>
                <a:sym typeface="Courier New"/>
              </a:rPr>
              <a:t>PERCEPTRON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6" name="Google Shape;946;p62"/>
          <p:cNvSpPr/>
          <p:nvPr/>
        </p:nvSpPr>
        <p:spPr>
          <a:xfrm>
            <a:off x="990534" y="1286867"/>
            <a:ext cx="14716126" cy="6842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Nơ-ron đơn — đơn vị nhỏ nhất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47" name="Google Shape;947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0534" y="3145896"/>
            <a:ext cx="16306933" cy="4953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8" name="Google Shape;948;p62"/>
          <p:cNvSpPr/>
          <p:nvPr/>
        </p:nvSpPr>
        <p:spPr>
          <a:xfrm>
            <a:off x="5173713" y="8422680"/>
            <a:ext cx="7940491" cy="3847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3BC"/>
                </a:solidFill>
                <a:latin typeface="Arial"/>
                <a:ea typeface="Arial"/>
                <a:cs typeface="Arial"/>
                <a:sym typeface="Arial"/>
              </a:rPr>
              <a:t>Nhân trọng số → cộng → đưa qua hàm kích hoạt → cho ra một giá trị.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18"/>
        </a:solidFill>
      </p:bgPr>
    </p:bg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63"/>
          <p:cNvSpPr/>
          <p:nvPr/>
        </p:nvSpPr>
        <p:spPr>
          <a:xfrm>
            <a:off x="990534" y="800034"/>
            <a:ext cx="16796141" cy="334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8C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B98CFF"/>
                </a:solidFill>
                <a:latin typeface="Courier New"/>
                <a:ea typeface="Courier New"/>
                <a:cs typeface="Courier New"/>
                <a:sym typeface="Courier New"/>
              </a:rPr>
              <a:t>GIỚI HẠN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5" name="Google Shape;955;p63"/>
          <p:cNvSpPr/>
          <p:nvPr/>
        </p:nvSpPr>
        <p:spPr>
          <a:xfrm>
            <a:off x="990534" y="1286867"/>
            <a:ext cx="14716126" cy="6842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Bài toán XOR — không tách tuyến tính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6" name="Google Shape;956;p63"/>
          <p:cNvSpPr/>
          <p:nvPr/>
        </p:nvSpPr>
        <p:spPr>
          <a:xfrm>
            <a:off x="1466784" y="5060570"/>
            <a:ext cx="7568651" cy="4456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Perceptron đơn </a:t>
            </a:r>
            <a:r>
              <a:rPr b="1" i="0" lang="en-US" sz="2400" u="none" cap="none" strike="noStrike">
                <a:solidFill>
                  <a:srgbClr val="B98CFF"/>
                </a:solidFill>
                <a:latin typeface="Arial"/>
                <a:ea typeface="Arial"/>
                <a:cs typeface="Arial"/>
                <a:sym typeface="Arial"/>
              </a:rPr>
              <a:t>không giải được XOR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7" name="Google Shape;957;p63"/>
          <p:cNvSpPr/>
          <p:nvPr/>
        </p:nvSpPr>
        <p:spPr>
          <a:xfrm>
            <a:off x="1466784" y="5753861"/>
            <a:ext cx="7568651" cy="4456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Hai lớp không thể tách bằng </a:t>
            </a:r>
            <a:r>
              <a:rPr b="1" i="0" lang="en-US" sz="2400" u="none" cap="none" strike="noStrike">
                <a:solidFill>
                  <a:srgbClr val="B98CFF"/>
                </a:solidFill>
                <a:latin typeface="Arial"/>
                <a:ea typeface="Arial"/>
                <a:cs typeface="Arial"/>
                <a:sym typeface="Arial"/>
              </a:rPr>
              <a:t>một đường thẳng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8" name="Google Shape;958;p63"/>
          <p:cNvSpPr/>
          <p:nvPr/>
        </p:nvSpPr>
        <p:spPr>
          <a:xfrm>
            <a:off x="1466784" y="6447152"/>
            <a:ext cx="7568651" cy="4456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Lý do lịch sử cần </a:t>
            </a:r>
            <a:r>
              <a:rPr b="1" i="0" lang="en-US" sz="2400" u="none" cap="none" strike="noStrike">
                <a:solidFill>
                  <a:srgbClr val="B98CFF"/>
                </a:solidFill>
                <a:latin typeface="Arial"/>
                <a:ea typeface="Arial"/>
                <a:cs typeface="Arial"/>
                <a:sym typeface="Arial"/>
              </a:rPr>
              <a:t>mạng nhiều lớp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59" name="Google Shape;959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86884" y="3957340"/>
            <a:ext cx="7810583" cy="400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18"/>
        </a:solidFill>
      </p:bgPr>
    </p:bg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p64"/>
          <p:cNvSpPr/>
          <p:nvPr/>
        </p:nvSpPr>
        <p:spPr>
          <a:xfrm>
            <a:off x="990534" y="800034"/>
            <a:ext cx="16796141" cy="334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8C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B98CFF"/>
                </a:solidFill>
                <a:latin typeface="Courier New"/>
                <a:ea typeface="Courier New"/>
                <a:cs typeface="Courier New"/>
                <a:sym typeface="Courier New"/>
              </a:rPr>
              <a:t>MLP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6" name="Google Shape;966;p64"/>
          <p:cNvSpPr/>
          <p:nvPr/>
        </p:nvSpPr>
        <p:spPr>
          <a:xfrm>
            <a:off x="990534" y="1286867"/>
            <a:ext cx="14716126" cy="6842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Multi-Layer Perceptron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67" name="Google Shape;967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0534" y="3145896"/>
            <a:ext cx="16306933" cy="4953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8" name="Google Shape;968;p64"/>
          <p:cNvSpPr/>
          <p:nvPr/>
        </p:nvSpPr>
        <p:spPr>
          <a:xfrm>
            <a:off x="4771744" y="8422680"/>
            <a:ext cx="8744512" cy="3847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3BC"/>
                </a:solidFill>
                <a:latin typeface="Arial"/>
                <a:ea typeface="Arial"/>
                <a:cs typeface="Arial"/>
                <a:sym typeface="Arial"/>
              </a:rPr>
              <a:t>Input → các lớp ẩn → output: nhiều lớp giúp học quan hệ phi tuyến phức tạp.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18"/>
        </a:solidFill>
      </p:bgPr>
    </p:bg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p65"/>
          <p:cNvSpPr/>
          <p:nvPr/>
        </p:nvSpPr>
        <p:spPr>
          <a:xfrm>
            <a:off x="990534" y="800034"/>
            <a:ext cx="16796141" cy="334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8C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B98CFF"/>
                </a:solidFill>
                <a:latin typeface="Courier New"/>
                <a:ea typeface="Courier New"/>
                <a:cs typeface="Courier New"/>
                <a:sym typeface="Courier New"/>
              </a:rPr>
              <a:t>UNIVERSAL APPROXIMATION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5" name="Google Shape;975;p65"/>
          <p:cNvSpPr/>
          <p:nvPr/>
        </p:nvSpPr>
        <p:spPr>
          <a:xfrm>
            <a:off x="990534" y="1286867"/>
            <a:ext cx="14716126" cy="6842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Mạng đủ lớn xấp xỉ được hàm bất kỳ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6" name="Google Shape;976;p65"/>
          <p:cNvSpPr/>
          <p:nvPr/>
        </p:nvSpPr>
        <p:spPr>
          <a:xfrm>
            <a:off x="1466784" y="5407174"/>
            <a:ext cx="7568651" cy="4456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Mạng đủ lớn </a:t>
            </a:r>
            <a:r>
              <a:rPr b="1" i="0" lang="en-US" sz="2400" u="none" cap="none" strike="noStrike">
                <a:solidFill>
                  <a:srgbClr val="B98CFF"/>
                </a:solidFill>
                <a:latin typeface="Arial"/>
                <a:ea typeface="Arial"/>
                <a:cs typeface="Arial"/>
                <a:sym typeface="Arial"/>
              </a:rPr>
              <a:t>xấp xỉ được hàm bất kỳ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7" name="Google Shape;977;p65"/>
          <p:cNvSpPr/>
          <p:nvPr/>
        </p:nvSpPr>
        <p:spPr>
          <a:xfrm>
            <a:off x="1466784" y="6100465"/>
            <a:ext cx="7568651" cy="4456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Đây là sức mạnh </a:t>
            </a:r>
            <a:r>
              <a:rPr b="1" i="0" lang="en-US" sz="2400" u="none" cap="none" strike="noStrike">
                <a:solidFill>
                  <a:srgbClr val="B98CFF"/>
                </a:solidFill>
                <a:latin typeface="Arial"/>
                <a:ea typeface="Arial"/>
                <a:cs typeface="Arial"/>
                <a:sym typeface="Arial"/>
              </a:rPr>
              <a:t>lý thuyết </a:t>
            </a: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của neural network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78" name="Google Shape;978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86884" y="3638848"/>
            <a:ext cx="7810583" cy="46374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18"/>
        </a:solidFill>
      </p:bgPr>
    </p:bg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p66"/>
          <p:cNvSpPr/>
          <p:nvPr/>
        </p:nvSpPr>
        <p:spPr>
          <a:xfrm>
            <a:off x="990534" y="800034"/>
            <a:ext cx="16796141" cy="334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8C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B98CFF"/>
                </a:solidFill>
                <a:latin typeface="Courier New"/>
                <a:ea typeface="Courier New"/>
                <a:cs typeface="Courier New"/>
                <a:sym typeface="Courier New"/>
              </a:rPr>
              <a:t>SECTION 7 · LECTURE 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5" name="Google Shape;985;p66"/>
          <p:cNvSpPr/>
          <p:nvPr/>
        </p:nvSpPr>
        <p:spPr>
          <a:xfrm>
            <a:off x="990534" y="1286867"/>
            <a:ext cx="14716126" cy="6842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Tóm tắt &amp; chuyển bài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6" name="Google Shape;986;p66"/>
          <p:cNvSpPr/>
          <p:nvPr/>
        </p:nvSpPr>
        <p:spPr>
          <a:xfrm>
            <a:off x="990534" y="4545873"/>
            <a:ext cx="16796141" cy="3185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86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5C6B86"/>
                </a:solidFill>
                <a:latin typeface="Courier New"/>
                <a:ea typeface="Courier New"/>
                <a:cs typeface="Courier New"/>
                <a:sym typeface="Courier New"/>
              </a:rPr>
              <a:t>ĐÃ HỌC TRONG BÀI NÀY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7" name="Google Shape;987;p66"/>
          <p:cNvSpPr/>
          <p:nvPr/>
        </p:nvSpPr>
        <p:spPr>
          <a:xfrm>
            <a:off x="990534" y="5264465"/>
            <a:ext cx="2334948" cy="676176"/>
          </a:xfrm>
          <a:prstGeom prst="roundRect">
            <a:avLst>
              <a:gd fmla="val 50000" name="adj"/>
            </a:avLst>
          </a:prstGeom>
          <a:solidFill>
            <a:srgbClr val="131C2E"/>
          </a:solidFill>
          <a:ln cap="flat" cmpd="sng" w="9525">
            <a:solidFill>
              <a:srgbClr val="FFFFFF">
                <a:alpha val="1686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8" name="Google Shape;988;p66"/>
          <p:cNvSpPr/>
          <p:nvPr/>
        </p:nvSpPr>
        <p:spPr>
          <a:xfrm>
            <a:off x="1300626" y="5441206"/>
            <a:ext cx="1790965" cy="3607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E7EDF8"/>
                </a:solidFill>
                <a:latin typeface="Courier New"/>
                <a:ea typeface="Courier New"/>
                <a:cs typeface="Courier New"/>
                <a:sym typeface="Courier New"/>
              </a:rPr>
              <a:t>perceptron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9" name="Google Shape;989;p66"/>
          <p:cNvSpPr/>
          <p:nvPr/>
        </p:nvSpPr>
        <p:spPr>
          <a:xfrm>
            <a:off x="3515982" y="5264465"/>
            <a:ext cx="1134566" cy="676176"/>
          </a:xfrm>
          <a:prstGeom prst="roundRect">
            <a:avLst>
              <a:gd fmla="val 50000" name="adj"/>
            </a:avLst>
          </a:prstGeom>
          <a:solidFill>
            <a:srgbClr val="131C2E"/>
          </a:solidFill>
          <a:ln cap="flat" cmpd="sng" w="9525">
            <a:solidFill>
              <a:srgbClr val="FFFFFF">
                <a:alpha val="1686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0" name="Google Shape;990;p66"/>
          <p:cNvSpPr/>
          <p:nvPr/>
        </p:nvSpPr>
        <p:spPr>
          <a:xfrm>
            <a:off x="3826074" y="5441206"/>
            <a:ext cx="590583" cy="3607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E7EDF8"/>
                </a:solidFill>
                <a:latin typeface="Courier New"/>
                <a:ea typeface="Courier New"/>
                <a:cs typeface="Courier New"/>
                <a:sym typeface="Courier New"/>
              </a:rPr>
              <a:t>MLP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1" name="Google Shape;991;p66"/>
          <p:cNvSpPr/>
          <p:nvPr/>
        </p:nvSpPr>
        <p:spPr>
          <a:xfrm>
            <a:off x="4841048" y="5264465"/>
            <a:ext cx="4564146" cy="676176"/>
          </a:xfrm>
          <a:prstGeom prst="roundRect">
            <a:avLst>
              <a:gd fmla="val 50000" name="adj"/>
            </a:avLst>
          </a:prstGeom>
          <a:solidFill>
            <a:srgbClr val="131C2E"/>
          </a:solidFill>
          <a:ln cap="flat" cmpd="sng" w="9525">
            <a:solidFill>
              <a:srgbClr val="FFFFFF">
                <a:alpha val="1686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2" name="Google Shape;992;p66"/>
          <p:cNvSpPr/>
          <p:nvPr/>
        </p:nvSpPr>
        <p:spPr>
          <a:xfrm>
            <a:off x="5151140" y="5441206"/>
            <a:ext cx="4080887" cy="3607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E7EDF8"/>
                </a:solidFill>
                <a:latin typeface="Courier New"/>
                <a:ea typeface="Courier New"/>
                <a:cs typeface="Courier New"/>
                <a:sym typeface="Courier New"/>
              </a:rPr>
              <a:t>universal approximation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3" name="Google Shape;993;p66"/>
          <p:cNvSpPr/>
          <p:nvPr/>
        </p:nvSpPr>
        <p:spPr>
          <a:xfrm>
            <a:off x="990534" y="6512058"/>
            <a:ext cx="16306933" cy="9525"/>
          </a:xfrm>
          <a:prstGeom prst="rect">
            <a:avLst/>
          </a:prstGeom>
          <a:solidFill>
            <a:srgbClr val="FFFFFF">
              <a:alpha val="901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4" name="Google Shape;994;p66"/>
          <p:cNvSpPr/>
          <p:nvPr/>
        </p:nvSpPr>
        <p:spPr>
          <a:xfrm>
            <a:off x="990534" y="6993599"/>
            <a:ext cx="2394529" cy="3185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86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5C6B86"/>
                </a:solidFill>
                <a:latin typeface="Courier New"/>
                <a:ea typeface="Courier New"/>
                <a:cs typeface="Courier New"/>
                <a:sym typeface="Courier New"/>
              </a:rPr>
              <a:t>BÀI TIẾP THEO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5" name="Google Shape;995;p66"/>
          <p:cNvSpPr/>
          <p:nvPr/>
        </p:nvSpPr>
        <p:spPr>
          <a:xfrm>
            <a:off x="3556496" y="6914720"/>
            <a:ext cx="514416" cy="4762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98CFF"/>
              </a:buClr>
              <a:buSzPts val="3450"/>
              <a:buFont typeface="Arial"/>
              <a:buNone/>
            </a:pPr>
            <a:r>
              <a:rPr b="0" i="0" lang="en-US" sz="3450" u="none" cap="none" strike="noStrike">
                <a:solidFill>
                  <a:srgbClr val="B98CF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6" name="Google Shape;996;p66"/>
          <p:cNvSpPr/>
          <p:nvPr/>
        </p:nvSpPr>
        <p:spPr>
          <a:xfrm>
            <a:off x="4242346" y="6898349"/>
            <a:ext cx="4575114" cy="5090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Hàm kích hoạt (Activation)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18"/>
        </a:solidFill>
      </p:bgPr>
    </p:bg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p67"/>
          <p:cNvSpPr/>
          <p:nvPr/>
        </p:nvSpPr>
        <p:spPr>
          <a:xfrm>
            <a:off x="12084100" y="3609992"/>
            <a:ext cx="5605157" cy="31051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500"/>
              <a:buFont typeface="Arial"/>
              <a:buNone/>
            </a:pPr>
            <a:r>
              <a:rPr b="1" i="0" lang="en-US" sz="34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3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3" name="Google Shape;1003;p67"/>
          <p:cNvSpPr/>
          <p:nvPr/>
        </p:nvSpPr>
        <p:spPr>
          <a:xfrm>
            <a:off x="990534" y="4152966"/>
            <a:ext cx="16796141" cy="334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8C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B98CFF"/>
                </a:solidFill>
                <a:latin typeface="Courier New"/>
                <a:ea typeface="Courier New"/>
                <a:cs typeface="Courier New"/>
                <a:sym typeface="Courier New"/>
              </a:rPr>
              <a:t>SECTION 7 · LECTURE 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4" name="Google Shape;1004;p67"/>
          <p:cNvSpPr/>
          <p:nvPr/>
        </p:nvSpPr>
        <p:spPr>
          <a:xfrm>
            <a:off x="990534" y="4773084"/>
            <a:ext cx="12753976" cy="8899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6450"/>
              <a:buFont typeface="Arial"/>
              <a:buNone/>
            </a:pPr>
            <a:r>
              <a:rPr b="1" i="0" lang="en-US" sz="645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Hàm kích hoạt — Activation</a:t>
            </a:r>
            <a:endParaRPr b="0" i="0" sz="6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5" name="Google Shape;1005;p67"/>
          <p:cNvSpPr/>
          <p:nvPr/>
        </p:nvSpPr>
        <p:spPr>
          <a:xfrm>
            <a:off x="990534" y="5948743"/>
            <a:ext cx="16796141" cy="31855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93A3BC"/>
                </a:solidFill>
                <a:latin typeface="Courier New"/>
                <a:ea typeface="Courier New"/>
                <a:cs typeface="Courier New"/>
                <a:sym typeface="Courier New"/>
              </a:rPr>
              <a:t>~8 phút · 6 slides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18"/>
        </a:solidFill>
      </p:bgPr>
    </p:bg>
    <p:spTree>
      <p:nvGrpSpPr>
        <p:cNvPr id="1010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p68"/>
          <p:cNvSpPr/>
          <p:nvPr/>
        </p:nvSpPr>
        <p:spPr>
          <a:xfrm>
            <a:off x="990534" y="800034"/>
            <a:ext cx="16796141" cy="334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8C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B98CFF"/>
                </a:solidFill>
                <a:latin typeface="Courier New"/>
                <a:ea typeface="Courier New"/>
                <a:cs typeface="Courier New"/>
                <a:sym typeface="Courier New"/>
              </a:rPr>
              <a:t>PHI TUYẾN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2" name="Google Shape;1012;p68"/>
          <p:cNvSpPr/>
          <p:nvPr/>
        </p:nvSpPr>
        <p:spPr>
          <a:xfrm>
            <a:off x="990534" y="1286867"/>
            <a:ext cx="14716126" cy="6842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Vì sao cần phi tuyến?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3" name="Google Shape;1013;p68"/>
          <p:cNvSpPr/>
          <p:nvPr/>
        </p:nvSpPr>
        <p:spPr>
          <a:xfrm>
            <a:off x="1466784" y="5197244"/>
            <a:ext cx="7568651" cy="4456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Xếp chồng tuyến tính </a:t>
            </a:r>
            <a:r>
              <a:rPr b="1" i="0" lang="en-US" sz="2400" u="none" cap="none" strike="noStrike">
                <a:solidFill>
                  <a:srgbClr val="B98CFF"/>
                </a:solidFill>
                <a:latin typeface="Arial"/>
                <a:ea typeface="Arial"/>
                <a:cs typeface="Arial"/>
                <a:sym typeface="Arial"/>
              </a:rPr>
              <a:t>vẫn chỉ là tuyến tính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4" name="Google Shape;1014;p68"/>
          <p:cNvSpPr/>
          <p:nvPr/>
        </p:nvSpPr>
        <p:spPr>
          <a:xfrm>
            <a:off x="1466784" y="5927577"/>
            <a:ext cx="1347109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Phi tuyến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5" name="Google Shape;1015;p68"/>
          <p:cNvSpPr/>
          <p:nvPr/>
        </p:nvSpPr>
        <p:spPr>
          <a:xfrm>
            <a:off x="2822360" y="5890535"/>
            <a:ext cx="2716181" cy="434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B98C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B98CFF"/>
                </a:solidFill>
                <a:latin typeface="Arial"/>
                <a:ea typeface="Arial"/>
                <a:cs typeface="Arial"/>
                <a:sym typeface="Arial"/>
              </a:rPr>
              <a:t>mở khoá sức mạnh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6" name="Google Shape;1016;p68"/>
          <p:cNvSpPr/>
          <p:nvPr/>
        </p:nvSpPr>
        <p:spPr>
          <a:xfrm>
            <a:off x="5544096" y="5927577"/>
            <a:ext cx="1414826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của mạng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7" name="Google Shape;1017;p68"/>
          <p:cNvSpPr/>
          <p:nvPr/>
        </p:nvSpPr>
        <p:spPr>
          <a:xfrm>
            <a:off x="1466784" y="6383735"/>
            <a:ext cx="7554363" cy="3723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3BC"/>
                </a:solidFill>
                <a:latin typeface="Arial"/>
                <a:ea typeface="Arial"/>
                <a:cs typeface="Arial"/>
                <a:sym typeface="Arial"/>
              </a:rPr>
              <a:t>Đây chính là lý do tồn tại của activation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18" name="Google Shape;1018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86884" y="3638848"/>
            <a:ext cx="7810583" cy="46374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18"/>
        </a:solidFill>
      </p:bgPr>
    </p:bg>
    <p:spTree>
      <p:nvGrpSpPr>
        <p:cNvPr id="1023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p69"/>
          <p:cNvSpPr/>
          <p:nvPr/>
        </p:nvSpPr>
        <p:spPr>
          <a:xfrm>
            <a:off x="990534" y="800034"/>
            <a:ext cx="16796141" cy="334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8C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B98CFF"/>
                </a:solidFill>
                <a:latin typeface="Courier New"/>
                <a:ea typeface="Courier New"/>
                <a:cs typeface="Courier New"/>
                <a:sym typeface="Courier New"/>
              </a:rPr>
              <a:t>SIGMOID / TANH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5" name="Google Shape;1025;p69"/>
          <p:cNvSpPr/>
          <p:nvPr/>
        </p:nvSpPr>
        <p:spPr>
          <a:xfrm>
            <a:off x="990534" y="1286867"/>
            <a:ext cx="14716126" cy="6842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Sigmoid &amp; Tanh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6" name="Google Shape;1026;p69"/>
          <p:cNvSpPr/>
          <p:nvPr/>
        </p:nvSpPr>
        <p:spPr>
          <a:xfrm>
            <a:off x="1466784" y="5060570"/>
            <a:ext cx="7568651" cy="4456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B98C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B98CFF"/>
                </a:solidFill>
                <a:latin typeface="Arial"/>
                <a:ea typeface="Arial"/>
                <a:cs typeface="Arial"/>
                <a:sym typeface="Arial"/>
              </a:rPr>
              <a:t>Sigmoid</a:t>
            </a: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: nén về khoảng [0, 1]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7" name="Google Shape;1027;p69"/>
          <p:cNvSpPr/>
          <p:nvPr/>
        </p:nvSpPr>
        <p:spPr>
          <a:xfrm>
            <a:off x="1466784" y="5753861"/>
            <a:ext cx="7568651" cy="4456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B98C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B98CFF"/>
                </a:solidFill>
                <a:latin typeface="Arial"/>
                <a:ea typeface="Arial"/>
                <a:cs typeface="Arial"/>
                <a:sym typeface="Arial"/>
              </a:rPr>
              <a:t>Tanh</a:t>
            </a: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: nén về khoảng [−1, 1]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8" name="Google Shape;1028;p69"/>
          <p:cNvSpPr/>
          <p:nvPr/>
        </p:nvSpPr>
        <p:spPr>
          <a:xfrm>
            <a:off x="1466784" y="6447152"/>
            <a:ext cx="7568651" cy="4456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Dễ </a:t>
            </a:r>
            <a:r>
              <a:rPr b="1" i="0" lang="en-US" sz="2400" u="none" cap="none" strike="noStrike">
                <a:solidFill>
                  <a:srgbClr val="B98CFF"/>
                </a:solidFill>
                <a:latin typeface="Arial"/>
                <a:ea typeface="Arial"/>
                <a:cs typeface="Arial"/>
                <a:sym typeface="Arial"/>
              </a:rPr>
              <a:t>vanishing gradient </a:t>
            </a: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— ít dùng ở lớp ẩn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29" name="Google Shape;1029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86884" y="3638848"/>
            <a:ext cx="7810583" cy="46374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18"/>
        </a:solidFill>
      </p:bgPr>
    </p:bg>
    <p:spTree>
      <p:nvGrpSpPr>
        <p:cNvPr id="1034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p70"/>
          <p:cNvSpPr/>
          <p:nvPr/>
        </p:nvSpPr>
        <p:spPr>
          <a:xfrm>
            <a:off x="990534" y="800034"/>
            <a:ext cx="16796141" cy="334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8C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B98CFF"/>
                </a:solidFill>
                <a:latin typeface="Courier New"/>
                <a:ea typeface="Courier New"/>
                <a:cs typeface="Courier New"/>
                <a:sym typeface="Courier New"/>
              </a:rPr>
              <a:t>RELU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6" name="Google Shape;1036;p70"/>
          <p:cNvSpPr/>
          <p:nvPr/>
        </p:nvSpPr>
        <p:spPr>
          <a:xfrm>
            <a:off x="990534" y="1286867"/>
            <a:ext cx="14716126" cy="6842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ReLU &amp; các biến thể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7" name="Google Shape;1037;p70"/>
          <p:cNvSpPr/>
          <p:nvPr/>
        </p:nvSpPr>
        <p:spPr>
          <a:xfrm>
            <a:off x="1466784" y="5060570"/>
            <a:ext cx="7568651" cy="4456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B98C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B98CFF"/>
                </a:solidFill>
                <a:latin typeface="Arial"/>
                <a:ea typeface="Arial"/>
                <a:cs typeface="Arial"/>
                <a:sym typeface="Arial"/>
              </a:rPr>
              <a:t>ReLU</a:t>
            </a: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: đơn giản, hiệu quả, ít vanishing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8" name="Google Shape;1038;p70"/>
          <p:cNvSpPr/>
          <p:nvPr/>
        </p:nvSpPr>
        <p:spPr>
          <a:xfrm>
            <a:off x="1466784" y="5753861"/>
            <a:ext cx="7568651" cy="4456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Biến thể: </a:t>
            </a:r>
            <a:r>
              <a:rPr b="1" i="0" lang="en-US" sz="2400" u="none" cap="none" strike="noStrike">
                <a:solidFill>
                  <a:srgbClr val="B98CFF"/>
                </a:solidFill>
                <a:latin typeface="Arial"/>
                <a:ea typeface="Arial"/>
                <a:cs typeface="Arial"/>
                <a:sym typeface="Arial"/>
              </a:rPr>
              <a:t>Leaky ReLU</a:t>
            </a: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n-US" sz="2400" u="none" cap="none" strike="noStrike">
                <a:solidFill>
                  <a:srgbClr val="B98CFF"/>
                </a:solidFill>
                <a:latin typeface="Arial"/>
                <a:ea typeface="Arial"/>
                <a:cs typeface="Arial"/>
                <a:sym typeface="Arial"/>
              </a:rPr>
              <a:t>GELU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9" name="Google Shape;1039;p70"/>
          <p:cNvSpPr/>
          <p:nvPr/>
        </p:nvSpPr>
        <p:spPr>
          <a:xfrm>
            <a:off x="1466784" y="6447152"/>
            <a:ext cx="7568651" cy="4456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ReLU là </a:t>
            </a:r>
            <a:r>
              <a:rPr b="1" i="0" lang="en-US" sz="2400" u="none" cap="none" strike="noStrike">
                <a:solidFill>
                  <a:srgbClr val="B98CFF"/>
                </a:solidFill>
                <a:latin typeface="Arial"/>
                <a:ea typeface="Arial"/>
                <a:cs typeface="Arial"/>
                <a:sym typeface="Arial"/>
              </a:rPr>
              <a:t>mặc định </a:t>
            </a: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cho lớp ẩn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40" name="Google Shape;1040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86884" y="3638848"/>
            <a:ext cx="7810583" cy="46374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18"/>
        </a:solidFill>
      </p:bgPr>
    </p:bg>
    <p:spTree>
      <p:nvGrpSpPr>
        <p:cNvPr id="1045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p71"/>
          <p:cNvSpPr/>
          <p:nvPr/>
        </p:nvSpPr>
        <p:spPr>
          <a:xfrm>
            <a:off x="990534" y="800034"/>
            <a:ext cx="16796141" cy="334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8C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B98CFF"/>
                </a:solidFill>
                <a:latin typeface="Courier New"/>
                <a:ea typeface="Courier New"/>
                <a:cs typeface="Courier New"/>
                <a:sym typeface="Courier New"/>
              </a:rPr>
              <a:t>SOFTMAX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7" name="Google Shape;1047;p71"/>
          <p:cNvSpPr/>
          <p:nvPr/>
        </p:nvSpPr>
        <p:spPr>
          <a:xfrm>
            <a:off x="990534" y="1286867"/>
            <a:ext cx="14716126" cy="6842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Softmax cho lớp output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" name="Google Shape;1048;p71"/>
          <p:cNvSpPr/>
          <p:nvPr/>
        </p:nvSpPr>
        <p:spPr>
          <a:xfrm>
            <a:off x="1466784" y="5063216"/>
            <a:ext cx="7568651" cy="4456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Dùng ở </a:t>
            </a:r>
            <a:r>
              <a:rPr b="1" i="0" lang="en-US" sz="2400" u="none" cap="none" strike="noStrike">
                <a:solidFill>
                  <a:srgbClr val="B98CFF"/>
                </a:solidFill>
                <a:latin typeface="Arial"/>
                <a:ea typeface="Arial"/>
                <a:cs typeface="Arial"/>
                <a:sym typeface="Arial"/>
              </a:rPr>
              <a:t>lớp output </a:t>
            </a: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phân loại nhiều lớp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9" name="Google Shape;1049;p71"/>
          <p:cNvSpPr/>
          <p:nvPr/>
        </p:nvSpPr>
        <p:spPr>
          <a:xfrm>
            <a:off x="1466784" y="5756507"/>
            <a:ext cx="7568651" cy="4456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Biến điểm số thành </a:t>
            </a:r>
            <a:r>
              <a:rPr b="1" i="0" lang="en-US" sz="2400" u="none" cap="none" strike="noStrike">
                <a:solidFill>
                  <a:srgbClr val="B98CFF"/>
                </a:solidFill>
                <a:latin typeface="Arial"/>
                <a:ea typeface="Arial"/>
                <a:cs typeface="Arial"/>
                <a:sym typeface="Arial"/>
              </a:rPr>
              <a:t>xác suất</a:t>
            </a: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, tổng = 1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0" name="Google Shape;1050;p71"/>
          <p:cNvSpPr/>
          <p:nvPr/>
        </p:nvSpPr>
        <p:spPr>
          <a:xfrm>
            <a:off x="1466784" y="6449798"/>
            <a:ext cx="7568651" cy="44034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Không dùng ở lớp ẩn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51" name="Google Shape;1051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86884" y="3760887"/>
            <a:ext cx="7810583" cy="43934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18"/>
        </a:solidFill>
      </p:bgPr>
    </p:bg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p72"/>
          <p:cNvSpPr/>
          <p:nvPr/>
        </p:nvSpPr>
        <p:spPr>
          <a:xfrm>
            <a:off x="990534" y="800034"/>
            <a:ext cx="16796141" cy="334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8C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B98CFF"/>
                </a:solidFill>
                <a:latin typeface="Courier New"/>
                <a:ea typeface="Courier New"/>
                <a:cs typeface="Courier New"/>
                <a:sym typeface="Courier New"/>
              </a:rPr>
              <a:t>SECTION 7 · LECTURE 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8" name="Google Shape;1058;p72"/>
          <p:cNvSpPr/>
          <p:nvPr/>
        </p:nvSpPr>
        <p:spPr>
          <a:xfrm>
            <a:off x="990534" y="1286867"/>
            <a:ext cx="14716126" cy="6842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Tóm tắt &amp; chuyển bài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9" name="Google Shape;1059;p72"/>
          <p:cNvSpPr/>
          <p:nvPr/>
        </p:nvSpPr>
        <p:spPr>
          <a:xfrm>
            <a:off x="990534" y="4545873"/>
            <a:ext cx="16796141" cy="3185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86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5C6B86"/>
                </a:solidFill>
                <a:latin typeface="Courier New"/>
                <a:ea typeface="Courier New"/>
                <a:cs typeface="Courier New"/>
                <a:sym typeface="Courier New"/>
              </a:rPr>
              <a:t>ĐÃ HỌC TRONG BÀI NÀY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0" name="Google Shape;1060;p72"/>
          <p:cNvSpPr/>
          <p:nvPr/>
        </p:nvSpPr>
        <p:spPr>
          <a:xfrm>
            <a:off x="990534" y="5264465"/>
            <a:ext cx="1306049" cy="676176"/>
          </a:xfrm>
          <a:prstGeom prst="roundRect">
            <a:avLst>
              <a:gd fmla="val 50000" name="adj"/>
            </a:avLst>
          </a:prstGeom>
          <a:solidFill>
            <a:srgbClr val="131C2E"/>
          </a:solidFill>
          <a:ln cap="flat" cmpd="sng" w="9525">
            <a:solidFill>
              <a:srgbClr val="FFFFFF">
                <a:alpha val="1686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1" name="Google Shape;1061;p72"/>
          <p:cNvSpPr/>
          <p:nvPr/>
        </p:nvSpPr>
        <p:spPr>
          <a:xfrm>
            <a:off x="1300626" y="5441206"/>
            <a:ext cx="762066" cy="3607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E7EDF8"/>
                </a:solidFill>
                <a:latin typeface="Courier New"/>
                <a:ea typeface="Courier New"/>
                <a:cs typeface="Courier New"/>
                <a:sym typeface="Courier New"/>
              </a:rPr>
              <a:t>ReLU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2" name="Google Shape;1062;p72"/>
          <p:cNvSpPr/>
          <p:nvPr/>
        </p:nvSpPr>
        <p:spPr>
          <a:xfrm>
            <a:off x="2487083" y="5264465"/>
            <a:ext cx="3020880" cy="676176"/>
          </a:xfrm>
          <a:prstGeom prst="roundRect">
            <a:avLst>
              <a:gd fmla="val 50000" name="adj"/>
            </a:avLst>
          </a:prstGeom>
          <a:solidFill>
            <a:srgbClr val="131C2E"/>
          </a:solidFill>
          <a:ln cap="flat" cmpd="sng" w="9525">
            <a:solidFill>
              <a:srgbClr val="FFFFFF">
                <a:alpha val="1686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3" name="Google Shape;1063;p72"/>
          <p:cNvSpPr/>
          <p:nvPr/>
        </p:nvSpPr>
        <p:spPr>
          <a:xfrm>
            <a:off x="2797175" y="5441206"/>
            <a:ext cx="2491324" cy="3607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E7EDF8"/>
                </a:solidFill>
                <a:latin typeface="Courier New"/>
                <a:ea typeface="Courier New"/>
                <a:cs typeface="Courier New"/>
                <a:sym typeface="Courier New"/>
              </a:rPr>
              <a:t>Sigmoid / Tanh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4" name="Google Shape;1064;p72"/>
          <p:cNvSpPr/>
          <p:nvPr/>
        </p:nvSpPr>
        <p:spPr>
          <a:xfrm>
            <a:off x="5698464" y="5264465"/>
            <a:ext cx="1306049" cy="676176"/>
          </a:xfrm>
          <a:prstGeom prst="roundRect">
            <a:avLst>
              <a:gd fmla="val 50000" name="adj"/>
            </a:avLst>
          </a:prstGeom>
          <a:solidFill>
            <a:srgbClr val="131C2E"/>
          </a:solidFill>
          <a:ln cap="flat" cmpd="sng" w="9525">
            <a:solidFill>
              <a:srgbClr val="FFFFFF">
                <a:alpha val="1686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5" name="Google Shape;1065;p72"/>
          <p:cNvSpPr/>
          <p:nvPr/>
        </p:nvSpPr>
        <p:spPr>
          <a:xfrm>
            <a:off x="6008555" y="5441206"/>
            <a:ext cx="762066" cy="3607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E7EDF8"/>
                </a:solidFill>
                <a:latin typeface="Courier New"/>
                <a:ea typeface="Courier New"/>
                <a:cs typeface="Courier New"/>
                <a:sym typeface="Courier New"/>
              </a:rPr>
              <a:t>GELU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6" name="Google Shape;1066;p72"/>
          <p:cNvSpPr/>
          <p:nvPr/>
        </p:nvSpPr>
        <p:spPr>
          <a:xfrm>
            <a:off x="7195013" y="5264465"/>
            <a:ext cx="1820499" cy="676176"/>
          </a:xfrm>
          <a:prstGeom prst="roundRect">
            <a:avLst>
              <a:gd fmla="val 50000" name="adj"/>
            </a:avLst>
          </a:prstGeom>
          <a:solidFill>
            <a:srgbClr val="131C2E"/>
          </a:solidFill>
          <a:ln cap="flat" cmpd="sng" w="9525">
            <a:solidFill>
              <a:srgbClr val="FFFFFF">
                <a:alpha val="1686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7" name="Google Shape;1067;p72"/>
          <p:cNvSpPr/>
          <p:nvPr/>
        </p:nvSpPr>
        <p:spPr>
          <a:xfrm>
            <a:off x="7505105" y="5441206"/>
            <a:ext cx="1276515" cy="3607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E7EDF8"/>
                </a:solidFill>
                <a:latin typeface="Courier New"/>
                <a:ea typeface="Courier New"/>
                <a:cs typeface="Courier New"/>
                <a:sym typeface="Courier New"/>
              </a:rPr>
              <a:t>Softmax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8" name="Google Shape;1068;p72"/>
          <p:cNvSpPr/>
          <p:nvPr/>
        </p:nvSpPr>
        <p:spPr>
          <a:xfrm>
            <a:off x="990534" y="6512058"/>
            <a:ext cx="16306933" cy="9525"/>
          </a:xfrm>
          <a:prstGeom prst="rect">
            <a:avLst/>
          </a:prstGeom>
          <a:solidFill>
            <a:srgbClr val="FFFFFF">
              <a:alpha val="901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9" name="Google Shape;1069;p72"/>
          <p:cNvSpPr/>
          <p:nvPr/>
        </p:nvSpPr>
        <p:spPr>
          <a:xfrm>
            <a:off x="990534" y="6993599"/>
            <a:ext cx="2394529" cy="3185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86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5C6B86"/>
                </a:solidFill>
                <a:latin typeface="Courier New"/>
                <a:ea typeface="Courier New"/>
                <a:cs typeface="Courier New"/>
                <a:sym typeface="Courier New"/>
              </a:rPr>
              <a:t>BÀI TIẾP THEO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0" name="Google Shape;1070;p72"/>
          <p:cNvSpPr/>
          <p:nvPr/>
        </p:nvSpPr>
        <p:spPr>
          <a:xfrm>
            <a:off x="3556496" y="6914720"/>
            <a:ext cx="514416" cy="4762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98CFF"/>
              </a:buClr>
              <a:buSzPts val="3450"/>
              <a:buFont typeface="Arial"/>
              <a:buNone/>
            </a:pPr>
            <a:r>
              <a:rPr b="0" i="0" lang="en-US" sz="3450" u="none" cap="none" strike="noStrike">
                <a:solidFill>
                  <a:srgbClr val="B98CF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1" name="Google Shape;1071;p72"/>
          <p:cNvSpPr/>
          <p:nvPr/>
        </p:nvSpPr>
        <p:spPr>
          <a:xfrm>
            <a:off x="4242346" y="6898349"/>
            <a:ext cx="3617714" cy="5090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Forward propagation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18"/>
        </a:solidFill>
      </p:bgPr>
    </p:bg>
    <p:spTree>
      <p:nvGrpSpPr>
        <p:cNvPr id="1076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Google Shape;1077;p73"/>
          <p:cNvSpPr/>
          <p:nvPr/>
        </p:nvSpPr>
        <p:spPr>
          <a:xfrm>
            <a:off x="12022832" y="3609992"/>
            <a:ext cx="5668263" cy="31051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500"/>
              <a:buFont typeface="Arial"/>
              <a:buNone/>
            </a:pPr>
            <a:r>
              <a:rPr b="1" i="0" lang="en-US" sz="34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3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8" name="Google Shape;1078;p73"/>
          <p:cNvSpPr/>
          <p:nvPr/>
        </p:nvSpPr>
        <p:spPr>
          <a:xfrm>
            <a:off x="990534" y="3727070"/>
            <a:ext cx="16796141" cy="334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8C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B98CFF"/>
                </a:solidFill>
                <a:latin typeface="Courier New"/>
                <a:ea typeface="Courier New"/>
                <a:cs typeface="Courier New"/>
                <a:sym typeface="Courier New"/>
              </a:rPr>
              <a:t>SECTION 7 · LECTURE 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9" name="Google Shape;1079;p73"/>
          <p:cNvSpPr/>
          <p:nvPr/>
        </p:nvSpPr>
        <p:spPr>
          <a:xfrm>
            <a:off x="990534" y="4347187"/>
            <a:ext cx="12753976" cy="17418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6450"/>
              <a:buFont typeface="Arial"/>
              <a:buNone/>
            </a:pPr>
            <a:r>
              <a:rPr b="1" i="0" lang="en-US" sz="645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Forward propagation — toán + code</a:t>
            </a:r>
            <a:endParaRPr b="0" i="0" sz="6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0" name="Google Shape;1080;p73"/>
          <p:cNvSpPr/>
          <p:nvPr/>
        </p:nvSpPr>
        <p:spPr>
          <a:xfrm>
            <a:off x="990534" y="6374723"/>
            <a:ext cx="16796141" cy="31855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93A3BC"/>
                </a:solidFill>
                <a:latin typeface="Courier New"/>
                <a:ea typeface="Courier New"/>
                <a:cs typeface="Courier New"/>
                <a:sym typeface="Courier New"/>
              </a:rPr>
              <a:t>~8 phút · 5 slides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18"/>
        </a:solidFill>
      </p:bgPr>
    </p:bg>
    <p:spTree>
      <p:nvGrpSpPr>
        <p:cNvPr id="1085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p74"/>
          <p:cNvSpPr/>
          <p:nvPr/>
        </p:nvSpPr>
        <p:spPr>
          <a:xfrm>
            <a:off x="990534" y="800034"/>
            <a:ext cx="16796141" cy="334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8C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B98CFF"/>
                </a:solidFill>
                <a:latin typeface="Courier New"/>
                <a:ea typeface="Courier New"/>
                <a:cs typeface="Courier New"/>
                <a:sym typeface="Courier New"/>
              </a:rPr>
              <a:t>MỘT LỚP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7" name="Google Shape;1087;p74"/>
          <p:cNvSpPr/>
          <p:nvPr/>
        </p:nvSpPr>
        <p:spPr>
          <a:xfrm>
            <a:off x="990534" y="1286867"/>
            <a:ext cx="14716126" cy="6842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Một lớp tính những gì?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8" name="Google Shape;1088;p74"/>
          <p:cNvSpPr/>
          <p:nvPr/>
        </p:nvSpPr>
        <p:spPr>
          <a:xfrm>
            <a:off x="990534" y="4611522"/>
            <a:ext cx="8010591" cy="2021748"/>
          </a:xfrm>
          <a:prstGeom prst="roundRect">
            <a:avLst>
              <a:gd fmla="val 8480" name="adj"/>
            </a:avLst>
          </a:prstGeom>
          <a:solidFill>
            <a:srgbClr val="131C2E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9" name="Google Shape;1089;p74"/>
          <p:cNvSpPr/>
          <p:nvPr/>
        </p:nvSpPr>
        <p:spPr>
          <a:xfrm>
            <a:off x="1319609" y="4959697"/>
            <a:ext cx="7573013" cy="3344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8CFF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B98CFF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0" name="Google Shape;1090;p74"/>
          <p:cNvSpPr/>
          <p:nvPr/>
        </p:nvSpPr>
        <p:spPr>
          <a:xfrm>
            <a:off x="1319609" y="5389315"/>
            <a:ext cx="7573013" cy="4614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z = W·x + b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1" name="Google Shape;1091;p74"/>
          <p:cNvSpPr/>
          <p:nvPr/>
        </p:nvSpPr>
        <p:spPr>
          <a:xfrm>
            <a:off x="1319609" y="5945932"/>
            <a:ext cx="7573013" cy="3772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93A3BC"/>
                </a:solidFill>
                <a:latin typeface="Arial"/>
                <a:ea typeface="Arial"/>
                <a:cs typeface="Arial"/>
                <a:sym typeface="Arial"/>
              </a:rPr>
              <a:t>Tổ hợp </a:t>
            </a:r>
            <a:r>
              <a:rPr b="1" i="0" lang="en-US" sz="1875" u="none" cap="none" strike="noStrike">
                <a:solidFill>
                  <a:srgbClr val="B98CFF"/>
                </a:solidFill>
                <a:latin typeface="Arial"/>
                <a:ea typeface="Arial"/>
                <a:cs typeface="Arial"/>
                <a:sym typeface="Arial"/>
              </a:rPr>
              <a:t>tuyến tính </a:t>
            </a:r>
            <a:r>
              <a:rPr b="0" i="0" lang="en-US" sz="1875" u="none" cap="none" strike="noStrike">
                <a:solidFill>
                  <a:srgbClr val="93A3BC"/>
                </a:solidFill>
                <a:latin typeface="Arial"/>
                <a:ea typeface="Arial"/>
                <a:cs typeface="Arial"/>
                <a:sym typeface="Arial"/>
              </a:rPr>
              <a:t>của input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2" name="Google Shape;1092;p74"/>
          <p:cNvSpPr/>
          <p:nvPr/>
        </p:nvSpPr>
        <p:spPr>
          <a:xfrm>
            <a:off x="9286876" y="4611522"/>
            <a:ext cx="8010591" cy="2021748"/>
          </a:xfrm>
          <a:prstGeom prst="roundRect">
            <a:avLst>
              <a:gd fmla="val 8480" name="adj"/>
            </a:avLst>
          </a:prstGeom>
          <a:solidFill>
            <a:srgbClr val="131C2E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3" name="Google Shape;1093;p74"/>
          <p:cNvSpPr/>
          <p:nvPr/>
        </p:nvSpPr>
        <p:spPr>
          <a:xfrm>
            <a:off x="9615951" y="4959697"/>
            <a:ext cx="7573013" cy="3344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8CFF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B98CFF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4" name="Google Shape;1094;p74"/>
          <p:cNvSpPr/>
          <p:nvPr/>
        </p:nvSpPr>
        <p:spPr>
          <a:xfrm>
            <a:off x="9615951" y="5389315"/>
            <a:ext cx="7573013" cy="4614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a = f(z)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5" name="Google Shape;1095;p74"/>
          <p:cNvSpPr/>
          <p:nvPr/>
        </p:nvSpPr>
        <p:spPr>
          <a:xfrm>
            <a:off x="9615951" y="5945932"/>
            <a:ext cx="7573013" cy="3772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93A3BC"/>
                </a:solidFill>
                <a:latin typeface="Arial"/>
                <a:ea typeface="Arial"/>
                <a:cs typeface="Arial"/>
                <a:sym typeface="Arial"/>
              </a:rPr>
              <a:t>Đưa qua </a:t>
            </a:r>
            <a:r>
              <a:rPr b="1" i="0" lang="en-US" sz="1875" u="none" cap="none" strike="noStrike">
                <a:solidFill>
                  <a:srgbClr val="B98CFF"/>
                </a:solidFill>
                <a:latin typeface="Arial"/>
                <a:ea typeface="Arial"/>
                <a:cs typeface="Arial"/>
                <a:sym typeface="Arial"/>
              </a:rPr>
              <a:t>hàm kích hoạt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6" name="Google Shape;1096;p74"/>
          <p:cNvSpPr/>
          <p:nvPr/>
        </p:nvSpPr>
        <p:spPr>
          <a:xfrm>
            <a:off x="6543385" y="6957054"/>
            <a:ext cx="5201230" cy="3847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3BC"/>
                </a:solidFill>
                <a:latin typeface="Arial"/>
                <a:ea typeface="Arial"/>
                <a:cs typeface="Arial"/>
                <a:sym typeface="Arial"/>
              </a:rPr>
              <a:t>Nối lại phép nhân ma trận đã học ở Section 4.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18"/>
        </a:solidFill>
      </p:bgPr>
    </p:bg>
    <p:spTree>
      <p:nvGrpSpPr>
        <p:cNvPr id="110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Google Shape;1102;p75"/>
          <p:cNvSpPr/>
          <p:nvPr/>
        </p:nvSpPr>
        <p:spPr>
          <a:xfrm>
            <a:off x="990534" y="800034"/>
            <a:ext cx="16796141" cy="334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8C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B98CFF"/>
                </a:solidFill>
                <a:latin typeface="Courier New"/>
                <a:ea typeface="Courier New"/>
                <a:cs typeface="Courier New"/>
                <a:sym typeface="Courier New"/>
              </a:rPr>
              <a:t>XẾP CHỒNG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3" name="Google Shape;1103;p75"/>
          <p:cNvSpPr/>
          <p:nvPr/>
        </p:nvSpPr>
        <p:spPr>
          <a:xfrm>
            <a:off x="990534" y="1286867"/>
            <a:ext cx="14716126" cy="6842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Output lớp này = input lớp sau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04" name="Google Shape;1104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0534" y="3145896"/>
            <a:ext cx="16306933" cy="495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5" name="Google Shape;1105;p75"/>
          <p:cNvSpPr/>
          <p:nvPr/>
        </p:nvSpPr>
        <p:spPr>
          <a:xfrm>
            <a:off x="6232371" y="8422680"/>
            <a:ext cx="5823260" cy="3847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3BC"/>
                </a:solidFill>
                <a:latin typeface="Arial"/>
                <a:ea typeface="Arial"/>
                <a:cs typeface="Arial"/>
                <a:sym typeface="Arial"/>
              </a:rPr>
              <a:t>Cứ thế truyền tiếp cho tới lớp output → ra dự đoán.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18"/>
        </a:solidFill>
      </p:bgPr>
    </p:bg>
    <p:spTree>
      <p:nvGrpSpPr>
        <p:cNvPr id="1110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p76"/>
          <p:cNvSpPr/>
          <p:nvPr/>
        </p:nvSpPr>
        <p:spPr>
          <a:xfrm>
            <a:off x="990534" y="800034"/>
            <a:ext cx="16796141" cy="334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8C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B98CFF"/>
                </a:solidFill>
                <a:latin typeface="Courier New"/>
                <a:ea typeface="Courier New"/>
                <a:cs typeface="Courier New"/>
                <a:sym typeface="Courier New"/>
              </a:rPr>
              <a:t>NUMPY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2" name="Google Shape;1112;p76"/>
          <p:cNvSpPr/>
          <p:nvPr/>
        </p:nvSpPr>
        <p:spPr>
          <a:xfrm>
            <a:off x="990534" y="1286867"/>
            <a:ext cx="14716126" cy="6842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Forward pass bằng NumPy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3" name="Google Shape;1113;p76"/>
          <p:cNvSpPr/>
          <p:nvPr/>
        </p:nvSpPr>
        <p:spPr>
          <a:xfrm>
            <a:off x="4000500" y="4038617"/>
            <a:ext cx="10287000" cy="3194926"/>
          </a:xfrm>
          <a:prstGeom prst="roundRect">
            <a:avLst>
              <a:gd fmla="val 4770" name="adj"/>
            </a:avLst>
          </a:prstGeom>
          <a:solidFill>
            <a:srgbClr val="131C2E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571500" rotWithShape="0" algn="bl" dir="5400000" dist="228600">
              <a:srgbClr val="000000">
                <a:alpha val="8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4" name="Google Shape;1114;p76"/>
          <p:cNvSpPr/>
          <p:nvPr/>
        </p:nvSpPr>
        <p:spPr>
          <a:xfrm>
            <a:off x="4005792" y="4043908"/>
            <a:ext cx="10276417" cy="607384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5" name="Google Shape;1115;p76"/>
          <p:cNvSpPr/>
          <p:nvPr/>
        </p:nvSpPr>
        <p:spPr>
          <a:xfrm>
            <a:off x="4005792" y="4646001"/>
            <a:ext cx="10276417" cy="9525"/>
          </a:xfrm>
          <a:prstGeom prst="rect">
            <a:avLst/>
          </a:prstGeom>
          <a:solidFill>
            <a:srgbClr val="FFFFFF">
              <a:alpha val="901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6" name="Google Shape;1116;p76"/>
          <p:cNvSpPr/>
          <p:nvPr/>
        </p:nvSpPr>
        <p:spPr>
          <a:xfrm>
            <a:off x="4253425" y="4283025"/>
            <a:ext cx="123775" cy="123775"/>
          </a:xfrm>
          <a:prstGeom prst="ellipse">
            <a:avLst/>
          </a:prstGeom>
          <a:solidFill>
            <a:srgbClr val="3949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7" name="Google Shape;1117;p76"/>
          <p:cNvSpPr/>
          <p:nvPr/>
        </p:nvSpPr>
        <p:spPr>
          <a:xfrm>
            <a:off x="4481959" y="4283025"/>
            <a:ext cx="123775" cy="123775"/>
          </a:xfrm>
          <a:prstGeom prst="ellipse">
            <a:avLst/>
          </a:prstGeom>
          <a:solidFill>
            <a:srgbClr val="3949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8" name="Google Shape;1118;p76"/>
          <p:cNvSpPr/>
          <p:nvPr/>
        </p:nvSpPr>
        <p:spPr>
          <a:xfrm>
            <a:off x="4710493" y="4283025"/>
            <a:ext cx="123775" cy="123775"/>
          </a:xfrm>
          <a:prstGeom prst="ellipse">
            <a:avLst/>
          </a:prstGeom>
          <a:solidFill>
            <a:srgbClr val="3949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9" name="Google Shape;1119;p76"/>
          <p:cNvSpPr/>
          <p:nvPr/>
        </p:nvSpPr>
        <p:spPr>
          <a:xfrm>
            <a:off x="5072311" y="4215309"/>
            <a:ext cx="1516360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93A3BC"/>
                </a:solidFill>
                <a:latin typeface="Courier New"/>
                <a:ea typeface="Courier New"/>
                <a:cs typeface="Courier New"/>
                <a:sym typeface="Courier New"/>
              </a:rPr>
              <a:t>forward.py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0" name="Google Shape;1120;p76"/>
          <p:cNvSpPr/>
          <p:nvPr/>
        </p:nvSpPr>
        <p:spPr>
          <a:xfrm>
            <a:off x="4329642" y="4937043"/>
            <a:ext cx="9937009" cy="20435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B98CFF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B98CFF"/>
                </a:solidFill>
                <a:latin typeface="Courier New"/>
                <a:ea typeface="Courier New"/>
                <a:cs typeface="Courier New"/>
                <a:sym typeface="Courier New"/>
              </a:rPr>
              <a:t>def </a:t>
            </a: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 forward(x, W1, b1, W2, b2):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D6E2F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    z1 = x @ W1 + b1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D6E2F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    a1 = np.maximum( 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F4B86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F4B860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, z1)        </a:t>
            </a:r>
            <a:r>
              <a:rPr b="0" i="1" lang="en-US" sz="1950" u="none" cap="none" strike="noStrike">
                <a:solidFill>
                  <a:srgbClr val="5E7286"/>
                </a:solidFill>
                <a:latin typeface="Courier New"/>
                <a:ea typeface="Courier New"/>
                <a:cs typeface="Courier New"/>
                <a:sym typeface="Courier New"/>
              </a:rPr>
              <a:t># ReLU </a:t>
            </a: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    z2 = a1 @ W2 + b2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D6E2F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B98CFF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B98CFF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 softmax(z2)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1" name="Google Shape;1121;p76"/>
          <p:cNvSpPr/>
          <p:nvPr/>
        </p:nvSpPr>
        <p:spPr>
          <a:xfrm>
            <a:off x="5951419" y="7519293"/>
            <a:ext cx="6385164" cy="39537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3BC"/>
                </a:solidFill>
                <a:latin typeface="Arial"/>
                <a:ea typeface="Arial"/>
                <a:cs typeface="Arial"/>
                <a:sym typeface="Arial"/>
              </a:rPr>
              <a:t>Thấy rõ: neural network về bản chất chỉ là </a:t>
            </a:r>
            <a:r>
              <a:rPr b="1" i="0" lang="en-US" sz="1950" u="none" cap="none" strike="noStrike">
                <a:solidFill>
                  <a:srgbClr val="F4B860"/>
                </a:solidFill>
                <a:latin typeface="Arial"/>
                <a:ea typeface="Arial"/>
                <a:cs typeface="Arial"/>
                <a:sym typeface="Arial"/>
              </a:rPr>
              <a:t>toán ma trận</a:t>
            </a:r>
            <a:r>
              <a:rPr b="0" i="0" lang="en-US" sz="1950" u="none" cap="none" strike="noStrike">
                <a:solidFill>
                  <a:srgbClr val="93A3BC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18"/>
        </a:solidFill>
      </p:bgPr>
    </p:bg>
    <p:spTree>
      <p:nvGrpSpPr>
        <p:cNvPr id="1126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Google Shape;1127;p77"/>
          <p:cNvSpPr/>
          <p:nvPr/>
        </p:nvSpPr>
        <p:spPr>
          <a:xfrm>
            <a:off x="990534" y="800034"/>
            <a:ext cx="16796141" cy="334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8C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B98CFF"/>
                </a:solidFill>
                <a:latin typeface="Courier New"/>
                <a:ea typeface="Courier New"/>
                <a:cs typeface="Courier New"/>
                <a:sym typeface="Courier New"/>
              </a:rPr>
              <a:t>SECTION 7 · LECTURE 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8" name="Google Shape;1128;p77"/>
          <p:cNvSpPr/>
          <p:nvPr/>
        </p:nvSpPr>
        <p:spPr>
          <a:xfrm>
            <a:off x="990534" y="1286867"/>
            <a:ext cx="14716126" cy="6842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Tóm tắt &amp; chuyển bài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9" name="Google Shape;1129;p77"/>
          <p:cNvSpPr/>
          <p:nvPr/>
        </p:nvSpPr>
        <p:spPr>
          <a:xfrm>
            <a:off x="990534" y="4545873"/>
            <a:ext cx="16796141" cy="3185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86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5C6B86"/>
                </a:solidFill>
                <a:latin typeface="Courier New"/>
                <a:ea typeface="Courier New"/>
                <a:cs typeface="Courier New"/>
                <a:sym typeface="Courier New"/>
              </a:rPr>
              <a:t>ĐÃ HỌC TRONG BÀI NÀY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0" name="Google Shape;1130;p77"/>
          <p:cNvSpPr/>
          <p:nvPr/>
        </p:nvSpPr>
        <p:spPr>
          <a:xfrm>
            <a:off x="990534" y="5264465"/>
            <a:ext cx="2334948" cy="676176"/>
          </a:xfrm>
          <a:prstGeom prst="roundRect">
            <a:avLst>
              <a:gd fmla="val 50000" name="adj"/>
            </a:avLst>
          </a:prstGeom>
          <a:solidFill>
            <a:srgbClr val="131C2E"/>
          </a:solidFill>
          <a:ln cap="flat" cmpd="sng" w="9525">
            <a:solidFill>
              <a:srgbClr val="FFFFFF">
                <a:alpha val="1686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1" name="Google Shape;1131;p77"/>
          <p:cNvSpPr/>
          <p:nvPr/>
        </p:nvSpPr>
        <p:spPr>
          <a:xfrm>
            <a:off x="1300626" y="5441206"/>
            <a:ext cx="1790965" cy="3607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E7EDF8"/>
                </a:solidFill>
                <a:latin typeface="Courier New"/>
                <a:ea typeface="Courier New"/>
                <a:cs typeface="Courier New"/>
                <a:sym typeface="Courier New"/>
              </a:rPr>
              <a:t>z = Wx + b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2" name="Google Shape;1132;p77"/>
          <p:cNvSpPr/>
          <p:nvPr/>
        </p:nvSpPr>
        <p:spPr>
          <a:xfrm>
            <a:off x="3515982" y="5264465"/>
            <a:ext cx="2334948" cy="676176"/>
          </a:xfrm>
          <a:prstGeom prst="roundRect">
            <a:avLst>
              <a:gd fmla="val 50000" name="adj"/>
            </a:avLst>
          </a:prstGeom>
          <a:solidFill>
            <a:srgbClr val="131C2E"/>
          </a:solidFill>
          <a:ln cap="flat" cmpd="sng" w="9525">
            <a:solidFill>
              <a:srgbClr val="FFFFFF">
                <a:alpha val="1686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3" name="Google Shape;1133;p77"/>
          <p:cNvSpPr/>
          <p:nvPr/>
        </p:nvSpPr>
        <p:spPr>
          <a:xfrm>
            <a:off x="3826074" y="5441206"/>
            <a:ext cx="1790965" cy="3607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E7EDF8"/>
                </a:solidFill>
                <a:latin typeface="Courier New"/>
                <a:ea typeface="Courier New"/>
                <a:cs typeface="Courier New"/>
                <a:sym typeface="Courier New"/>
              </a:rPr>
              <a:t>activation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4" name="Google Shape;1134;p77"/>
          <p:cNvSpPr/>
          <p:nvPr/>
        </p:nvSpPr>
        <p:spPr>
          <a:xfrm>
            <a:off x="6041430" y="5264465"/>
            <a:ext cx="1820499" cy="676176"/>
          </a:xfrm>
          <a:prstGeom prst="roundRect">
            <a:avLst>
              <a:gd fmla="val 50000" name="adj"/>
            </a:avLst>
          </a:prstGeom>
          <a:solidFill>
            <a:srgbClr val="131C2E"/>
          </a:solidFill>
          <a:ln cap="flat" cmpd="sng" w="9525">
            <a:solidFill>
              <a:srgbClr val="FFFFFF">
                <a:alpha val="1686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5" name="Google Shape;1135;p77"/>
          <p:cNvSpPr/>
          <p:nvPr/>
        </p:nvSpPr>
        <p:spPr>
          <a:xfrm>
            <a:off x="6351522" y="5441206"/>
            <a:ext cx="1276515" cy="3607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E7EDF8"/>
                </a:solidFill>
                <a:latin typeface="Courier New"/>
                <a:ea typeface="Courier New"/>
                <a:cs typeface="Courier New"/>
                <a:sym typeface="Courier New"/>
              </a:rPr>
              <a:t>xếp lớp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6" name="Google Shape;1136;p77"/>
          <p:cNvSpPr/>
          <p:nvPr/>
        </p:nvSpPr>
        <p:spPr>
          <a:xfrm>
            <a:off x="990534" y="6512058"/>
            <a:ext cx="16306933" cy="9525"/>
          </a:xfrm>
          <a:prstGeom prst="rect">
            <a:avLst/>
          </a:prstGeom>
          <a:solidFill>
            <a:srgbClr val="FFFFFF">
              <a:alpha val="901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7" name="Google Shape;1137;p77"/>
          <p:cNvSpPr/>
          <p:nvPr/>
        </p:nvSpPr>
        <p:spPr>
          <a:xfrm>
            <a:off x="990534" y="6993599"/>
            <a:ext cx="2394529" cy="3185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86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5C6B86"/>
                </a:solidFill>
                <a:latin typeface="Courier New"/>
                <a:ea typeface="Courier New"/>
                <a:cs typeface="Courier New"/>
                <a:sym typeface="Courier New"/>
              </a:rPr>
              <a:t>BÀI TIẾP THEO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8" name="Google Shape;1138;p77"/>
          <p:cNvSpPr/>
          <p:nvPr/>
        </p:nvSpPr>
        <p:spPr>
          <a:xfrm>
            <a:off x="3556496" y="6914720"/>
            <a:ext cx="514416" cy="4762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98CFF"/>
              </a:buClr>
              <a:buSzPts val="3450"/>
              <a:buFont typeface="Arial"/>
              <a:buNone/>
            </a:pPr>
            <a:r>
              <a:rPr b="0" i="0" lang="en-US" sz="3450" u="none" cap="none" strike="noStrike">
                <a:solidFill>
                  <a:srgbClr val="B98CF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9" name="Google Shape;1139;p77"/>
          <p:cNvSpPr/>
          <p:nvPr/>
        </p:nvSpPr>
        <p:spPr>
          <a:xfrm>
            <a:off x="4242346" y="6898349"/>
            <a:ext cx="3448155" cy="5090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Hàm mất mát (Loss)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18"/>
        </a:solidFill>
      </p:bgPr>
    </p:bg>
    <p:spTree>
      <p:nvGrpSpPr>
        <p:cNvPr id="1144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" name="Google Shape;1145;p78"/>
          <p:cNvSpPr/>
          <p:nvPr/>
        </p:nvSpPr>
        <p:spPr>
          <a:xfrm>
            <a:off x="11900132" y="3609992"/>
            <a:ext cx="5794645" cy="31051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500"/>
              <a:buFont typeface="Arial"/>
              <a:buNone/>
            </a:pPr>
            <a:r>
              <a:rPr b="1" i="0" lang="en-US" sz="34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3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6" name="Google Shape;1146;p78"/>
          <p:cNvSpPr/>
          <p:nvPr/>
        </p:nvSpPr>
        <p:spPr>
          <a:xfrm>
            <a:off x="990534" y="4152966"/>
            <a:ext cx="16796141" cy="334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8C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B98CFF"/>
                </a:solidFill>
                <a:latin typeface="Courier New"/>
                <a:ea typeface="Courier New"/>
                <a:cs typeface="Courier New"/>
                <a:sym typeface="Courier New"/>
              </a:rPr>
              <a:t>SECTION 7 · LECTURE 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7" name="Google Shape;1147;p78"/>
          <p:cNvSpPr/>
          <p:nvPr/>
        </p:nvSpPr>
        <p:spPr>
          <a:xfrm>
            <a:off x="990534" y="4773084"/>
            <a:ext cx="12753976" cy="8899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6450"/>
              <a:buFont typeface="Arial"/>
              <a:buNone/>
            </a:pPr>
            <a:r>
              <a:rPr b="1" i="0" lang="en-US" sz="645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Hàm mất mát — Loss</a:t>
            </a:r>
            <a:endParaRPr b="0" i="0" sz="6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8" name="Google Shape;1148;p78"/>
          <p:cNvSpPr/>
          <p:nvPr/>
        </p:nvSpPr>
        <p:spPr>
          <a:xfrm>
            <a:off x="990534" y="5948743"/>
            <a:ext cx="16796141" cy="31855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93A3BC"/>
                </a:solidFill>
                <a:latin typeface="Courier New"/>
                <a:ea typeface="Courier New"/>
                <a:cs typeface="Courier New"/>
                <a:sym typeface="Courier New"/>
              </a:rPr>
              <a:t>~7 phút · 5 slides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18"/>
        </a:solidFill>
      </p:bgPr>
    </p:bg>
    <p:spTree>
      <p:nvGrpSpPr>
        <p:cNvPr id="1153" name="Shape 1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Google Shape;1154;p79"/>
          <p:cNvSpPr/>
          <p:nvPr/>
        </p:nvSpPr>
        <p:spPr>
          <a:xfrm>
            <a:off x="990534" y="800034"/>
            <a:ext cx="16796141" cy="334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8C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B98CFF"/>
                </a:solidFill>
                <a:latin typeface="Courier New"/>
                <a:ea typeface="Courier New"/>
                <a:cs typeface="Courier New"/>
                <a:sym typeface="Courier New"/>
              </a:rPr>
              <a:t>REGRESSION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5" name="Google Shape;1155;p79"/>
          <p:cNvSpPr/>
          <p:nvPr/>
        </p:nvSpPr>
        <p:spPr>
          <a:xfrm>
            <a:off x="990534" y="1286867"/>
            <a:ext cx="14716126" cy="6842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MSE cho bài toán hồi quy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6" name="Google Shape;1156;p79"/>
          <p:cNvSpPr/>
          <p:nvPr/>
        </p:nvSpPr>
        <p:spPr>
          <a:xfrm>
            <a:off x="1466784" y="4862050"/>
            <a:ext cx="7568651" cy="4456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B98C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B98CFF"/>
                </a:solidFill>
                <a:latin typeface="Arial"/>
                <a:ea typeface="Arial"/>
                <a:cs typeface="Arial"/>
                <a:sym typeface="Arial"/>
              </a:rPr>
              <a:t>Sai số bình phương </a:t>
            </a: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trung bình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7" name="Google Shape;1157;p79"/>
          <p:cNvSpPr/>
          <p:nvPr/>
        </p:nvSpPr>
        <p:spPr>
          <a:xfrm>
            <a:off x="1466784" y="5555341"/>
            <a:ext cx="7568651" cy="84259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Phạt theo bình phương khoảng cách dự đoán – thực tế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8" name="Google Shape;1158;p79"/>
          <p:cNvSpPr/>
          <p:nvPr/>
        </p:nvSpPr>
        <p:spPr>
          <a:xfrm>
            <a:off x="1466784" y="6645590"/>
            <a:ext cx="7568651" cy="4456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Nối lại </a:t>
            </a:r>
            <a:r>
              <a:rPr b="1" i="0" lang="en-US" sz="2400" u="none" cap="none" strike="noStrike">
                <a:solidFill>
                  <a:srgbClr val="B98CFF"/>
                </a:solidFill>
                <a:latin typeface="Arial"/>
                <a:ea typeface="Arial"/>
                <a:cs typeface="Arial"/>
                <a:sym typeface="Arial"/>
              </a:rPr>
              <a:t>Linear Regression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59" name="Google Shape;1159;p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86884" y="3638848"/>
            <a:ext cx="7810583" cy="46374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18"/>
        </a:solidFill>
      </p:bgPr>
    </p:bg>
    <p:spTree>
      <p:nvGrpSpPr>
        <p:cNvPr id="1164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p80"/>
          <p:cNvSpPr/>
          <p:nvPr/>
        </p:nvSpPr>
        <p:spPr>
          <a:xfrm>
            <a:off x="990534" y="800034"/>
            <a:ext cx="16796141" cy="334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8C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B98CFF"/>
                </a:solidFill>
                <a:latin typeface="Courier New"/>
                <a:ea typeface="Courier New"/>
                <a:cs typeface="Courier New"/>
                <a:sym typeface="Courier New"/>
              </a:rPr>
              <a:t>CLASSIFICATION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6" name="Google Shape;1166;p80"/>
          <p:cNvSpPr/>
          <p:nvPr/>
        </p:nvSpPr>
        <p:spPr>
          <a:xfrm>
            <a:off x="990534" y="1286867"/>
            <a:ext cx="14716126" cy="6842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Cross-Entropy cho phân loại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7" name="Google Shape;1167;p80"/>
          <p:cNvSpPr/>
          <p:nvPr/>
        </p:nvSpPr>
        <p:spPr>
          <a:xfrm>
            <a:off x="1466784" y="5407174"/>
            <a:ext cx="7568651" cy="4456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Phạt </a:t>
            </a:r>
            <a:r>
              <a:rPr b="1" i="0" lang="en-US" sz="2400" u="none" cap="none" strike="noStrike">
                <a:solidFill>
                  <a:srgbClr val="B98CFF"/>
                </a:solidFill>
                <a:latin typeface="Arial"/>
                <a:ea typeface="Arial"/>
                <a:cs typeface="Arial"/>
                <a:sym typeface="Arial"/>
              </a:rPr>
              <a:t>nặng </a:t>
            </a: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dự đoán sai mà </a:t>
            </a:r>
            <a:r>
              <a:rPr b="1" i="0" lang="en-US" sz="2400" u="none" cap="none" strike="noStrike">
                <a:solidFill>
                  <a:srgbClr val="B98CFF"/>
                </a:solidFill>
                <a:latin typeface="Arial"/>
                <a:ea typeface="Arial"/>
                <a:cs typeface="Arial"/>
                <a:sym typeface="Arial"/>
              </a:rPr>
              <a:t>tự tin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8" name="Google Shape;1168;p80"/>
          <p:cNvSpPr/>
          <p:nvPr/>
        </p:nvSpPr>
        <p:spPr>
          <a:xfrm>
            <a:off x="1466784" y="6100465"/>
            <a:ext cx="7568651" cy="4456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Đi kèm </a:t>
            </a:r>
            <a:r>
              <a:rPr b="1" i="0" lang="en-US" sz="2400" u="none" cap="none" strike="noStrike">
                <a:solidFill>
                  <a:srgbClr val="B98CFF"/>
                </a:solidFill>
                <a:latin typeface="Arial"/>
                <a:ea typeface="Arial"/>
                <a:cs typeface="Arial"/>
                <a:sym typeface="Arial"/>
              </a:rPr>
              <a:t>softmax / sigmoid </a:t>
            </a: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ở output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69" name="Google Shape;1169;p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86884" y="3638848"/>
            <a:ext cx="7810583" cy="46374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18"/>
        </a:solidFill>
      </p:bgPr>
    </p:bg>
    <p:spTree>
      <p:nvGrpSpPr>
        <p:cNvPr id="1174" name="Shape 1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5" name="Google Shape;1175;p81"/>
          <p:cNvSpPr/>
          <p:nvPr/>
        </p:nvSpPr>
        <p:spPr>
          <a:xfrm>
            <a:off x="990534" y="800034"/>
            <a:ext cx="16796141" cy="334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8C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B98CFF"/>
                </a:solidFill>
                <a:latin typeface="Courier New"/>
                <a:ea typeface="Courier New"/>
                <a:cs typeface="Courier New"/>
                <a:sym typeface="Courier New"/>
              </a:rPr>
              <a:t>CUSTOM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6" name="Google Shape;1176;p81"/>
          <p:cNvSpPr/>
          <p:nvPr/>
        </p:nvSpPr>
        <p:spPr>
          <a:xfrm>
            <a:off x="990534" y="1286867"/>
            <a:ext cx="14716126" cy="6842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Custom loss — tự thiết kế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7" name="Google Shape;1177;p81"/>
          <p:cNvSpPr/>
          <p:nvPr/>
        </p:nvSpPr>
        <p:spPr>
          <a:xfrm>
            <a:off x="4000500" y="4244496"/>
            <a:ext cx="10287000" cy="2793835"/>
          </a:xfrm>
          <a:prstGeom prst="roundRect">
            <a:avLst>
              <a:gd fmla="val 5455" name="adj"/>
            </a:avLst>
          </a:prstGeom>
          <a:solidFill>
            <a:srgbClr val="131C2E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571500" rotWithShape="0" algn="bl" dir="5400000" dist="228600">
              <a:srgbClr val="000000">
                <a:alpha val="8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8" name="Google Shape;1178;p81"/>
          <p:cNvSpPr/>
          <p:nvPr/>
        </p:nvSpPr>
        <p:spPr>
          <a:xfrm>
            <a:off x="4005792" y="4249787"/>
            <a:ext cx="10276417" cy="607384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9" name="Google Shape;1179;p81"/>
          <p:cNvSpPr/>
          <p:nvPr/>
        </p:nvSpPr>
        <p:spPr>
          <a:xfrm>
            <a:off x="4005792" y="4851880"/>
            <a:ext cx="10276417" cy="9525"/>
          </a:xfrm>
          <a:prstGeom prst="rect">
            <a:avLst/>
          </a:prstGeom>
          <a:solidFill>
            <a:srgbClr val="FFFFFF">
              <a:alpha val="901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0" name="Google Shape;1180;p81"/>
          <p:cNvSpPr/>
          <p:nvPr/>
        </p:nvSpPr>
        <p:spPr>
          <a:xfrm>
            <a:off x="4253425" y="4488904"/>
            <a:ext cx="123775" cy="123775"/>
          </a:xfrm>
          <a:prstGeom prst="ellipse">
            <a:avLst/>
          </a:prstGeom>
          <a:solidFill>
            <a:srgbClr val="3949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1" name="Google Shape;1181;p81"/>
          <p:cNvSpPr/>
          <p:nvPr/>
        </p:nvSpPr>
        <p:spPr>
          <a:xfrm>
            <a:off x="4481959" y="4488904"/>
            <a:ext cx="123775" cy="123775"/>
          </a:xfrm>
          <a:prstGeom prst="ellipse">
            <a:avLst/>
          </a:prstGeom>
          <a:solidFill>
            <a:srgbClr val="3949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2" name="Google Shape;1182;p81"/>
          <p:cNvSpPr/>
          <p:nvPr/>
        </p:nvSpPr>
        <p:spPr>
          <a:xfrm>
            <a:off x="4710493" y="4488904"/>
            <a:ext cx="123775" cy="123775"/>
          </a:xfrm>
          <a:prstGeom prst="ellipse">
            <a:avLst/>
          </a:prstGeom>
          <a:solidFill>
            <a:srgbClr val="3949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3" name="Google Shape;1183;p81"/>
          <p:cNvSpPr/>
          <p:nvPr/>
        </p:nvSpPr>
        <p:spPr>
          <a:xfrm>
            <a:off x="5072311" y="4421188"/>
            <a:ext cx="2092325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93A3BC"/>
                </a:solidFill>
                <a:latin typeface="Courier New"/>
                <a:ea typeface="Courier New"/>
                <a:cs typeface="Courier New"/>
                <a:sym typeface="Courier New"/>
              </a:rPr>
              <a:t>custom_loss.py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4" name="Google Shape;1184;p81"/>
          <p:cNvSpPr/>
          <p:nvPr/>
        </p:nvSpPr>
        <p:spPr>
          <a:xfrm>
            <a:off x="4329642" y="5142922"/>
            <a:ext cx="9937009" cy="16424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B98CFF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B98CFF"/>
                </a:solidFill>
                <a:latin typeface="Courier New"/>
                <a:ea typeface="Courier New"/>
                <a:cs typeface="Courier New"/>
                <a:sym typeface="Courier New"/>
              </a:rPr>
              <a:t>def </a:t>
            </a: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 weighted_mse(y, yhat, w):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D6E2F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B98CFF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B98CFF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 np.mean(w * (y - yhat) ** </a:t>
            </a:r>
            <a:r>
              <a:rPr b="0" i="0" lang="en-US" sz="1950" u="none" cap="none" strike="noStrike">
                <a:solidFill>
                  <a:srgbClr val="F4B860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b="0" i="1" lang="en-US" sz="1950" u="none" cap="none" strike="noStrike">
                <a:solidFill>
                  <a:srgbClr val="5E7286"/>
                </a:solidFill>
                <a:latin typeface="Courier New"/>
                <a:ea typeface="Courier New"/>
                <a:cs typeface="Courier New"/>
                <a:sym typeface="Courier New"/>
              </a:rPr>
              <a:t># w: trong so cho tung mau / tung lop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5" name="Google Shape;1185;p81"/>
          <p:cNvSpPr/>
          <p:nvPr/>
        </p:nvSpPr>
        <p:spPr>
          <a:xfrm>
            <a:off x="6038456" y="7324080"/>
            <a:ext cx="6211005" cy="3847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3BC"/>
                </a:solidFill>
                <a:latin typeface="Arial"/>
                <a:ea typeface="Arial"/>
                <a:cs typeface="Arial"/>
                <a:sym typeface="Arial"/>
              </a:rPr>
              <a:t>Khi bài toán đặc thù cần một loss riêng theo nghiệp vụ.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18"/>
        </a:solidFill>
      </p:bgPr>
    </p:bg>
    <p:spTree>
      <p:nvGrpSpPr>
        <p:cNvPr id="1190" name="Shape 1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1" name="Google Shape;1191;p82"/>
          <p:cNvSpPr/>
          <p:nvPr/>
        </p:nvSpPr>
        <p:spPr>
          <a:xfrm>
            <a:off x="990534" y="800034"/>
            <a:ext cx="16796141" cy="334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8C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B98CFF"/>
                </a:solidFill>
                <a:latin typeface="Courier New"/>
                <a:ea typeface="Courier New"/>
                <a:cs typeface="Courier New"/>
                <a:sym typeface="Courier New"/>
              </a:rPr>
              <a:t>SECTION 7 · LECTURE 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2" name="Google Shape;1192;p82"/>
          <p:cNvSpPr/>
          <p:nvPr/>
        </p:nvSpPr>
        <p:spPr>
          <a:xfrm>
            <a:off x="990534" y="1286867"/>
            <a:ext cx="14716126" cy="6842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Tóm tắt &amp; chuyển bài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3" name="Google Shape;1193;p82"/>
          <p:cNvSpPr/>
          <p:nvPr/>
        </p:nvSpPr>
        <p:spPr>
          <a:xfrm>
            <a:off x="990534" y="4545873"/>
            <a:ext cx="16796141" cy="3185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86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5C6B86"/>
                </a:solidFill>
                <a:latin typeface="Courier New"/>
                <a:ea typeface="Courier New"/>
                <a:cs typeface="Courier New"/>
                <a:sym typeface="Courier New"/>
              </a:rPr>
              <a:t>ĐÃ HỌC TRONG BÀI NÀY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4" name="Google Shape;1194;p82"/>
          <p:cNvSpPr/>
          <p:nvPr/>
        </p:nvSpPr>
        <p:spPr>
          <a:xfrm>
            <a:off x="990534" y="5264465"/>
            <a:ext cx="1134566" cy="676176"/>
          </a:xfrm>
          <a:prstGeom prst="roundRect">
            <a:avLst>
              <a:gd fmla="val 50000" name="adj"/>
            </a:avLst>
          </a:prstGeom>
          <a:solidFill>
            <a:srgbClr val="131C2E"/>
          </a:solidFill>
          <a:ln cap="flat" cmpd="sng" w="9525">
            <a:solidFill>
              <a:srgbClr val="FFFFFF">
                <a:alpha val="1686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5" name="Google Shape;1195;p82"/>
          <p:cNvSpPr/>
          <p:nvPr/>
        </p:nvSpPr>
        <p:spPr>
          <a:xfrm>
            <a:off x="1300626" y="5441206"/>
            <a:ext cx="590583" cy="3607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E7EDF8"/>
                </a:solidFill>
                <a:latin typeface="Courier New"/>
                <a:ea typeface="Courier New"/>
                <a:cs typeface="Courier New"/>
                <a:sym typeface="Courier New"/>
              </a:rPr>
              <a:t>MSE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6" name="Google Shape;1196;p82"/>
          <p:cNvSpPr/>
          <p:nvPr/>
        </p:nvSpPr>
        <p:spPr>
          <a:xfrm>
            <a:off x="2315600" y="5264465"/>
            <a:ext cx="2849397" cy="676176"/>
          </a:xfrm>
          <a:prstGeom prst="roundRect">
            <a:avLst>
              <a:gd fmla="val 50000" name="adj"/>
            </a:avLst>
          </a:prstGeom>
          <a:solidFill>
            <a:srgbClr val="131C2E"/>
          </a:solidFill>
          <a:ln cap="flat" cmpd="sng" w="9525">
            <a:solidFill>
              <a:srgbClr val="FFFFFF">
                <a:alpha val="1686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7" name="Google Shape;1197;p82"/>
          <p:cNvSpPr/>
          <p:nvPr/>
        </p:nvSpPr>
        <p:spPr>
          <a:xfrm>
            <a:off x="2625692" y="5441206"/>
            <a:ext cx="2314696" cy="3607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E7EDF8"/>
                </a:solidFill>
                <a:latin typeface="Courier New"/>
                <a:ea typeface="Courier New"/>
                <a:cs typeface="Courier New"/>
                <a:sym typeface="Courier New"/>
              </a:rPr>
              <a:t>cross-entropy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8" name="Google Shape;1198;p82"/>
          <p:cNvSpPr/>
          <p:nvPr/>
        </p:nvSpPr>
        <p:spPr>
          <a:xfrm>
            <a:off x="5355498" y="5264465"/>
            <a:ext cx="2506431" cy="676176"/>
          </a:xfrm>
          <a:prstGeom prst="roundRect">
            <a:avLst>
              <a:gd fmla="val 50000" name="adj"/>
            </a:avLst>
          </a:prstGeom>
          <a:solidFill>
            <a:srgbClr val="131C2E"/>
          </a:solidFill>
          <a:ln cap="flat" cmpd="sng" w="9525">
            <a:solidFill>
              <a:srgbClr val="FFFFFF">
                <a:alpha val="1686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9" name="Google Shape;1199;p82"/>
          <p:cNvSpPr/>
          <p:nvPr/>
        </p:nvSpPr>
        <p:spPr>
          <a:xfrm>
            <a:off x="5665589" y="5441206"/>
            <a:ext cx="1962448" cy="3607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E7EDF8"/>
                </a:solidFill>
                <a:latin typeface="Courier New"/>
                <a:ea typeface="Courier New"/>
                <a:cs typeface="Courier New"/>
                <a:sym typeface="Courier New"/>
              </a:rPr>
              <a:t>custom loss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0" name="Google Shape;1200;p82"/>
          <p:cNvSpPr/>
          <p:nvPr/>
        </p:nvSpPr>
        <p:spPr>
          <a:xfrm>
            <a:off x="990534" y="6512058"/>
            <a:ext cx="16306933" cy="9525"/>
          </a:xfrm>
          <a:prstGeom prst="rect">
            <a:avLst/>
          </a:prstGeom>
          <a:solidFill>
            <a:srgbClr val="FFFFFF">
              <a:alpha val="901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1" name="Google Shape;1201;p82"/>
          <p:cNvSpPr/>
          <p:nvPr/>
        </p:nvSpPr>
        <p:spPr>
          <a:xfrm>
            <a:off x="990534" y="6993599"/>
            <a:ext cx="2394529" cy="3185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86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5C6B86"/>
                </a:solidFill>
                <a:latin typeface="Courier New"/>
                <a:ea typeface="Courier New"/>
                <a:cs typeface="Courier New"/>
                <a:sym typeface="Courier New"/>
              </a:rPr>
              <a:t>BÀI TIẾP THEO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2" name="Google Shape;1202;p82"/>
          <p:cNvSpPr/>
          <p:nvPr/>
        </p:nvSpPr>
        <p:spPr>
          <a:xfrm>
            <a:off x="3556496" y="6914720"/>
            <a:ext cx="514416" cy="4762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98CFF"/>
              </a:buClr>
              <a:buSzPts val="3450"/>
              <a:buFont typeface="Arial"/>
              <a:buNone/>
            </a:pPr>
            <a:r>
              <a:rPr b="0" i="0" lang="en-US" sz="3450" u="none" cap="none" strike="noStrike">
                <a:solidFill>
                  <a:srgbClr val="B98CF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3" name="Google Shape;1203;p82"/>
          <p:cNvSpPr/>
          <p:nvPr/>
        </p:nvSpPr>
        <p:spPr>
          <a:xfrm>
            <a:off x="4242346" y="6898349"/>
            <a:ext cx="2946121" cy="5090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Backpropagation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18"/>
        </a:solidFill>
      </p:bgPr>
    </p:bg>
    <p:spTree>
      <p:nvGrpSpPr>
        <p:cNvPr id="1208" name="Shape 1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9" name="Google Shape;1209;p83"/>
          <p:cNvSpPr/>
          <p:nvPr/>
        </p:nvSpPr>
        <p:spPr>
          <a:xfrm>
            <a:off x="12057807" y="3609992"/>
            <a:ext cx="5632239" cy="31051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500"/>
              <a:buFont typeface="Arial"/>
              <a:buNone/>
            </a:pPr>
            <a:r>
              <a:rPr b="1" i="0" lang="en-US" sz="34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3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0" name="Google Shape;1210;p83"/>
          <p:cNvSpPr/>
          <p:nvPr/>
        </p:nvSpPr>
        <p:spPr>
          <a:xfrm>
            <a:off x="990534" y="4152966"/>
            <a:ext cx="16796141" cy="334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8C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B98CFF"/>
                </a:solidFill>
                <a:latin typeface="Courier New"/>
                <a:ea typeface="Courier New"/>
                <a:cs typeface="Courier New"/>
                <a:sym typeface="Courier New"/>
              </a:rPr>
              <a:t>SECTION 7 · LECTURE 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1" name="Google Shape;1211;p83"/>
          <p:cNvSpPr/>
          <p:nvPr/>
        </p:nvSpPr>
        <p:spPr>
          <a:xfrm>
            <a:off x="990534" y="4773084"/>
            <a:ext cx="12753976" cy="8899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6450"/>
              <a:buFont typeface="Arial"/>
              <a:buNone/>
            </a:pPr>
            <a:r>
              <a:rPr b="1" i="0" lang="en-US" sz="645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Backpropagation — quy tắc chuỗi</a:t>
            </a:r>
            <a:endParaRPr b="0" i="0" sz="6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2" name="Google Shape;1212;p83"/>
          <p:cNvSpPr/>
          <p:nvPr/>
        </p:nvSpPr>
        <p:spPr>
          <a:xfrm>
            <a:off x="990534" y="5948743"/>
            <a:ext cx="16796141" cy="31855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93A3BC"/>
                </a:solidFill>
                <a:latin typeface="Courier New"/>
                <a:ea typeface="Courier New"/>
                <a:cs typeface="Courier New"/>
                <a:sym typeface="Courier New"/>
              </a:rPr>
              <a:t>~9 phút · 6 slides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18"/>
        </a:solidFill>
      </p:bgPr>
    </p:bg>
    <p:spTree>
      <p:nvGrpSpPr>
        <p:cNvPr id="1217" name="Shape 1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" name="Google Shape;1218;p84"/>
          <p:cNvSpPr/>
          <p:nvPr/>
        </p:nvSpPr>
        <p:spPr>
          <a:xfrm>
            <a:off x="990534" y="800034"/>
            <a:ext cx="16796141" cy="334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8C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B98CFF"/>
                </a:solidFill>
                <a:latin typeface="Courier New"/>
                <a:ea typeface="Courier New"/>
                <a:cs typeface="Courier New"/>
                <a:sym typeface="Courier New"/>
              </a:rPr>
              <a:t>Ý TƯỞNG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9" name="Google Shape;1219;p84"/>
          <p:cNvSpPr/>
          <p:nvPr/>
        </p:nvSpPr>
        <p:spPr>
          <a:xfrm>
            <a:off x="990534" y="1286867"/>
            <a:ext cx="14716126" cy="6842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Tính loss rồi truyền lỗi ngược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0" name="Google Shape;1220;p84"/>
          <p:cNvSpPr/>
          <p:nvPr/>
        </p:nvSpPr>
        <p:spPr>
          <a:xfrm>
            <a:off x="1466784" y="5197244"/>
            <a:ext cx="7568651" cy="4456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Tính loss → </a:t>
            </a:r>
            <a:r>
              <a:rPr b="1" i="0" lang="en-US" sz="2400" u="none" cap="none" strike="noStrike">
                <a:solidFill>
                  <a:srgbClr val="B98CFF"/>
                </a:solidFill>
                <a:latin typeface="Arial"/>
                <a:ea typeface="Arial"/>
                <a:cs typeface="Arial"/>
                <a:sym typeface="Arial"/>
              </a:rPr>
              <a:t>truyền lỗi ngược </a:t>
            </a: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về các lớp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1" name="Google Shape;1221;p84"/>
          <p:cNvSpPr/>
          <p:nvPr/>
        </p:nvSpPr>
        <p:spPr>
          <a:xfrm>
            <a:off x="1466784" y="5890535"/>
            <a:ext cx="2557413" cy="434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B98C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B98CFF"/>
                </a:solidFill>
                <a:latin typeface="Arial"/>
                <a:ea typeface="Arial"/>
                <a:cs typeface="Arial"/>
                <a:sym typeface="Arial"/>
              </a:rPr>
              <a:t>Cập nhật trọng số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2" name="Google Shape;1222;p84"/>
          <p:cNvSpPr/>
          <p:nvPr/>
        </p:nvSpPr>
        <p:spPr>
          <a:xfrm>
            <a:off x="4032664" y="5927577"/>
            <a:ext cx="1855605" cy="376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theo gradient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3" name="Google Shape;1223;p84"/>
          <p:cNvSpPr/>
          <p:nvPr/>
        </p:nvSpPr>
        <p:spPr>
          <a:xfrm>
            <a:off x="1466784" y="6383735"/>
            <a:ext cx="7554363" cy="3723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3BC"/>
                </a:solidFill>
                <a:latin typeface="Arial"/>
                <a:ea typeface="Arial"/>
                <a:cs typeface="Arial"/>
                <a:sym typeface="Arial"/>
              </a:rPr>
              <a:t>Mạng học bằng cách “đổ lỗi” ngược về nguồn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4" name="Google Shape;1224;p84"/>
          <p:cNvSpPr/>
          <p:nvPr/>
        </p:nvSpPr>
        <p:spPr>
          <a:xfrm>
            <a:off x="10738693" y="4890823"/>
            <a:ext cx="2240029" cy="952500"/>
          </a:xfrm>
          <a:prstGeom prst="roundRect">
            <a:avLst>
              <a:gd fmla="val 16000" name="adj"/>
            </a:avLst>
          </a:prstGeom>
          <a:solidFill>
            <a:srgbClr val="131C2E"/>
          </a:solidFill>
          <a:ln cap="flat" cmpd="sng" w="9525">
            <a:solidFill>
              <a:srgbClr val="FFFFFF">
                <a:alpha val="1686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5" name="Google Shape;1225;p84"/>
          <p:cNvSpPr/>
          <p:nvPr/>
        </p:nvSpPr>
        <p:spPr>
          <a:xfrm>
            <a:off x="11086869" y="5181865"/>
            <a:ext cx="1619878" cy="408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250"/>
              <a:buFont typeface="Courier New"/>
              <a:buNone/>
            </a:pPr>
            <a:r>
              <a:rPr b="1" i="0" lang="en-US" sz="2250" u="none" cap="none" strike="noStrike">
                <a:solidFill>
                  <a:srgbClr val="E7EDF8"/>
                </a:solidFill>
                <a:latin typeface="Courier New"/>
                <a:ea typeface="Courier New"/>
                <a:cs typeface="Courier New"/>
                <a:sym typeface="Courier New"/>
              </a:rPr>
              <a:t>forward 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6" name="Google Shape;1226;p84"/>
          <p:cNvSpPr/>
          <p:nvPr/>
        </p:nvSpPr>
        <p:spPr>
          <a:xfrm>
            <a:off x="13207257" y="5150115"/>
            <a:ext cx="457200" cy="4720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8CFF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B98CF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7" name="Google Shape;1227;p84"/>
          <p:cNvSpPr/>
          <p:nvPr/>
        </p:nvSpPr>
        <p:spPr>
          <a:xfrm>
            <a:off x="13816790" y="4890823"/>
            <a:ext cx="1619250" cy="952500"/>
          </a:xfrm>
          <a:prstGeom prst="roundRect">
            <a:avLst>
              <a:gd fmla="val 16000" name="adj"/>
            </a:avLst>
          </a:prstGeom>
          <a:noFill/>
          <a:ln cap="flat" cmpd="sng" w="9525">
            <a:solidFill>
              <a:srgbClr val="B98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8" name="Google Shape;1228;p84"/>
          <p:cNvSpPr/>
          <p:nvPr/>
        </p:nvSpPr>
        <p:spPr>
          <a:xfrm>
            <a:off x="14283449" y="5181865"/>
            <a:ext cx="762050" cy="408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250"/>
              <a:buFont typeface="Courier New"/>
              <a:buNone/>
            </a:pPr>
            <a:r>
              <a:rPr b="1" i="0" lang="en-US" sz="2250" u="none" cap="none" strike="noStrike">
                <a:solidFill>
                  <a:srgbClr val="E7EDF8"/>
                </a:solidFill>
                <a:latin typeface="Courier New"/>
                <a:ea typeface="Courier New"/>
                <a:cs typeface="Courier New"/>
                <a:sym typeface="Courier New"/>
              </a:rPr>
              <a:t>loss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9" name="Google Shape;1229;p84"/>
          <p:cNvSpPr/>
          <p:nvPr/>
        </p:nvSpPr>
        <p:spPr>
          <a:xfrm>
            <a:off x="15664574" y="5150115"/>
            <a:ext cx="457200" cy="4720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8CFF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B98CF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0" name="Google Shape;1230;p84"/>
          <p:cNvSpPr/>
          <p:nvPr/>
        </p:nvSpPr>
        <p:spPr>
          <a:xfrm>
            <a:off x="12186378" y="6071857"/>
            <a:ext cx="2411512" cy="952500"/>
          </a:xfrm>
          <a:prstGeom prst="roundRect">
            <a:avLst>
              <a:gd fmla="val 16000" name="adj"/>
            </a:avLst>
          </a:prstGeom>
          <a:solidFill>
            <a:srgbClr val="131C2E"/>
          </a:solidFill>
          <a:ln cap="flat" cmpd="sng" w="9525">
            <a:solidFill>
              <a:srgbClr val="FFFFFF">
                <a:alpha val="1686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1" name="Google Shape;1231;p84"/>
          <p:cNvSpPr/>
          <p:nvPr/>
        </p:nvSpPr>
        <p:spPr>
          <a:xfrm>
            <a:off x="12534554" y="6362899"/>
            <a:ext cx="1791362" cy="408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250"/>
              <a:buFont typeface="Courier New"/>
              <a:buNone/>
            </a:pPr>
            <a:r>
              <a:rPr b="1" i="0" lang="en-US" sz="2250" u="none" cap="none" strike="noStrike">
                <a:solidFill>
                  <a:srgbClr val="E7EDF8"/>
                </a:solidFill>
                <a:latin typeface="Courier New"/>
                <a:ea typeface="Courier New"/>
                <a:cs typeface="Courier New"/>
                <a:sym typeface="Courier New"/>
              </a:rPr>
              <a:t>← backward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18"/>
        </a:solidFill>
      </p:bgPr>
    </p:bg>
    <p:spTree>
      <p:nvGrpSpPr>
        <p:cNvPr id="1236" name="Shape 1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7" name="Google Shape;1237;p85"/>
          <p:cNvSpPr/>
          <p:nvPr/>
        </p:nvSpPr>
        <p:spPr>
          <a:xfrm>
            <a:off x="990534" y="800034"/>
            <a:ext cx="16796141" cy="334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8C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B98CFF"/>
                </a:solidFill>
                <a:latin typeface="Courier New"/>
                <a:ea typeface="Courier New"/>
                <a:cs typeface="Courier New"/>
                <a:sym typeface="Courier New"/>
              </a:rPr>
              <a:t>CHAIN RULE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8" name="Google Shape;1238;p85"/>
          <p:cNvSpPr/>
          <p:nvPr/>
        </p:nvSpPr>
        <p:spPr>
          <a:xfrm>
            <a:off x="990534" y="1286867"/>
            <a:ext cx="14716126" cy="6842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Quy tắc chuỗi (chain rule)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9" name="Google Shape;1239;p85"/>
          <p:cNvSpPr/>
          <p:nvPr/>
        </p:nvSpPr>
        <p:spPr>
          <a:xfrm>
            <a:off x="1466784" y="5063216"/>
            <a:ext cx="7568651" cy="4456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Đạo hàm của </a:t>
            </a:r>
            <a:r>
              <a:rPr b="1" i="0" lang="en-US" sz="2400" u="none" cap="none" strike="noStrike">
                <a:solidFill>
                  <a:srgbClr val="B98CFF"/>
                </a:solidFill>
                <a:latin typeface="Arial"/>
                <a:ea typeface="Arial"/>
                <a:cs typeface="Arial"/>
                <a:sym typeface="Arial"/>
              </a:rPr>
              <a:t>hàm hợp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0" name="Google Shape;1240;p85"/>
          <p:cNvSpPr/>
          <p:nvPr/>
        </p:nvSpPr>
        <p:spPr>
          <a:xfrm>
            <a:off x="1466784" y="5756507"/>
            <a:ext cx="7568651" cy="4456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B98C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B98CFF"/>
                </a:solidFill>
                <a:latin typeface="Arial"/>
                <a:ea typeface="Arial"/>
                <a:cs typeface="Arial"/>
                <a:sym typeface="Arial"/>
              </a:rPr>
              <a:t>Nhân gradient </a:t>
            </a: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qua từng lớp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1" name="Google Shape;1241;p85"/>
          <p:cNvSpPr/>
          <p:nvPr/>
        </p:nvSpPr>
        <p:spPr>
          <a:xfrm>
            <a:off x="1466784" y="6449798"/>
            <a:ext cx="7568651" cy="44034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Nối lại đạo hàm ở Section 4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2" name="Google Shape;1242;p85"/>
          <p:cNvSpPr/>
          <p:nvPr/>
        </p:nvSpPr>
        <p:spPr>
          <a:xfrm>
            <a:off x="10313541" y="5525327"/>
            <a:ext cx="6157185" cy="864526"/>
          </a:xfrm>
          <a:prstGeom prst="roundRect">
            <a:avLst>
              <a:gd fmla="val 15425" name="adj"/>
            </a:avLst>
          </a:prstGeom>
          <a:noFill/>
          <a:ln cap="flat" cmpd="sng" w="9525">
            <a:solidFill>
              <a:srgbClr val="B98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3" name="Google Shape;1243;p85"/>
          <p:cNvSpPr/>
          <p:nvPr/>
        </p:nvSpPr>
        <p:spPr>
          <a:xfrm>
            <a:off x="10645575" y="5759219"/>
            <a:ext cx="5493117" cy="43484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rgbClr val="E7EDF8"/>
                </a:solidFill>
                <a:latin typeface="Courier New"/>
                <a:ea typeface="Courier New"/>
                <a:cs typeface="Courier New"/>
                <a:sym typeface="Courier New"/>
              </a:rPr>
              <a:t>∂L/∂w = ∂L/∂a · ∂a/∂z · ∂z/∂w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18"/>
        </a:solidFill>
      </p:bgPr>
    </p:bg>
    <p:spTree>
      <p:nvGrpSpPr>
        <p:cNvPr id="1248" name="Shape 1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" name="Google Shape;1249;p86"/>
          <p:cNvSpPr/>
          <p:nvPr/>
        </p:nvSpPr>
        <p:spPr>
          <a:xfrm>
            <a:off x="990534" y="800034"/>
            <a:ext cx="16796141" cy="334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8C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B98CFF"/>
                </a:solidFill>
                <a:latin typeface="Courier New"/>
                <a:ea typeface="Courier New"/>
                <a:cs typeface="Courier New"/>
                <a:sym typeface="Courier New"/>
              </a:rPr>
              <a:t>COMPUTATIONAL GRAPH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0" name="Google Shape;1250;p86"/>
          <p:cNvSpPr/>
          <p:nvPr/>
        </p:nvSpPr>
        <p:spPr>
          <a:xfrm>
            <a:off x="990534" y="1286867"/>
            <a:ext cx="14716126" cy="6842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Biểu diễn phép tính thành đồ thị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1" name="Google Shape;1251;p86"/>
          <p:cNvSpPr/>
          <p:nvPr/>
        </p:nvSpPr>
        <p:spPr>
          <a:xfrm>
            <a:off x="3419740" y="5146146"/>
            <a:ext cx="1619250" cy="952500"/>
          </a:xfrm>
          <a:prstGeom prst="roundRect">
            <a:avLst>
              <a:gd fmla="val 16000" name="adj"/>
            </a:avLst>
          </a:prstGeom>
          <a:solidFill>
            <a:srgbClr val="131C2E"/>
          </a:solidFill>
          <a:ln cap="flat" cmpd="sng" w="9525">
            <a:solidFill>
              <a:srgbClr val="FFFFFF">
                <a:alpha val="1686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2" name="Google Shape;1252;p86"/>
          <p:cNvSpPr/>
          <p:nvPr/>
        </p:nvSpPr>
        <p:spPr>
          <a:xfrm>
            <a:off x="4143623" y="5437188"/>
            <a:ext cx="247683" cy="408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250"/>
              <a:buFont typeface="Courier New"/>
              <a:buNone/>
            </a:pPr>
            <a:r>
              <a:rPr b="1" i="0" lang="en-US" sz="2250" u="none" cap="none" strike="noStrike">
                <a:solidFill>
                  <a:srgbClr val="E7EDF8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3" name="Google Shape;1253;p86"/>
          <p:cNvSpPr/>
          <p:nvPr/>
        </p:nvSpPr>
        <p:spPr>
          <a:xfrm>
            <a:off x="5267524" y="5405438"/>
            <a:ext cx="457200" cy="4720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8CFF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B98CF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4" name="Google Shape;1254;p86"/>
          <p:cNvSpPr/>
          <p:nvPr/>
        </p:nvSpPr>
        <p:spPr>
          <a:xfrm>
            <a:off x="5877058" y="5146146"/>
            <a:ext cx="1619250" cy="952500"/>
          </a:xfrm>
          <a:prstGeom prst="roundRect">
            <a:avLst>
              <a:gd fmla="val 16000" name="adj"/>
            </a:avLst>
          </a:prstGeom>
          <a:solidFill>
            <a:srgbClr val="131C2E"/>
          </a:solidFill>
          <a:ln cap="flat" cmpd="sng" w="9525">
            <a:solidFill>
              <a:srgbClr val="FFFFFF">
                <a:alpha val="1686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5" name="Google Shape;1255;p86"/>
          <p:cNvSpPr/>
          <p:nvPr/>
        </p:nvSpPr>
        <p:spPr>
          <a:xfrm>
            <a:off x="6515199" y="5437188"/>
            <a:ext cx="419166" cy="408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250"/>
              <a:buFont typeface="Courier New"/>
              <a:buNone/>
            </a:pPr>
            <a:r>
              <a:rPr b="1" i="0" lang="en-US" sz="2250" u="none" cap="none" strike="noStrike">
                <a:solidFill>
                  <a:srgbClr val="E7EDF8"/>
                </a:solidFill>
                <a:latin typeface="Courier New"/>
                <a:ea typeface="Courier New"/>
                <a:cs typeface="Courier New"/>
                <a:sym typeface="Courier New"/>
              </a:rPr>
              <a:t>×W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6" name="Google Shape;1256;p86"/>
          <p:cNvSpPr/>
          <p:nvPr/>
        </p:nvSpPr>
        <p:spPr>
          <a:xfrm>
            <a:off x="7724841" y="5405438"/>
            <a:ext cx="457200" cy="4720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8CFF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B98CF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7" name="Google Shape;1257;p86"/>
          <p:cNvSpPr/>
          <p:nvPr/>
        </p:nvSpPr>
        <p:spPr>
          <a:xfrm>
            <a:off x="8334376" y="5146146"/>
            <a:ext cx="1619250" cy="952500"/>
          </a:xfrm>
          <a:prstGeom prst="roundRect">
            <a:avLst>
              <a:gd fmla="val 16000" name="adj"/>
            </a:avLst>
          </a:prstGeom>
          <a:solidFill>
            <a:srgbClr val="131C2E"/>
          </a:solidFill>
          <a:ln cap="flat" cmpd="sng" w="9525">
            <a:solidFill>
              <a:srgbClr val="FFFFFF">
                <a:alpha val="1686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8" name="Google Shape;1258;p86"/>
          <p:cNvSpPr/>
          <p:nvPr/>
        </p:nvSpPr>
        <p:spPr>
          <a:xfrm>
            <a:off x="8972517" y="5437188"/>
            <a:ext cx="419166" cy="408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250"/>
              <a:buFont typeface="Courier New"/>
              <a:buNone/>
            </a:pPr>
            <a:r>
              <a:rPr b="1" i="0" lang="en-US" sz="2250" u="none" cap="none" strike="noStrike">
                <a:solidFill>
                  <a:srgbClr val="E7EDF8"/>
                </a:solidFill>
                <a:latin typeface="Courier New"/>
                <a:ea typeface="Courier New"/>
                <a:cs typeface="Courier New"/>
                <a:sym typeface="Courier New"/>
              </a:rPr>
              <a:t>+b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9" name="Google Shape;1259;p86"/>
          <p:cNvSpPr/>
          <p:nvPr/>
        </p:nvSpPr>
        <p:spPr>
          <a:xfrm>
            <a:off x="10182160" y="5405438"/>
            <a:ext cx="457200" cy="4720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8CFF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B98CF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0" name="Google Shape;1260;p86"/>
          <p:cNvSpPr/>
          <p:nvPr/>
        </p:nvSpPr>
        <p:spPr>
          <a:xfrm>
            <a:off x="10791694" y="5146146"/>
            <a:ext cx="1619250" cy="952500"/>
          </a:xfrm>
          <a:prstGeom prst="roundRect">
            <a:avLst>
              <a:gd fmla="val 16000" name="adj"/>
            </a:avLst>
          </a:prstGeom>
          <a:solidFill>
            <a:srgbClr val="131C2E"/>
          </a:solidFill>
          <a:ln cap="flat" cmpd="sng" w="9525">
            <a:solidFill>
              <a:srgbClr val="FFFFFF">
                <a:alpha val="1686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1" name="Google Shape;1261;p86"/>
          <p:cNvSpPr/>
          <p:nvPr/>
        </p:nvSpPr>
        <p:spPr>
          <a:xfrm>
            <a:off x="11515576" y="5437188"/>
            <a:ext cx="247683" cy="408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250"/>
              <a:buFont typeface="Courier New"/>
              <a:buNone/>
            </a:pPr>
            <a:r>
              <a:rPr b="1" i="0" lang="en-US" sz="2250" u="none" cap="none" strike="noStrike">
                <a:solidFill>
                  <a:srgbClr val="E7EDF8"/>
                </a:solidFill>
                <a:latin typeface="Courier New"/>
                <a:ea typeface="Courier New"/>
                <a:cs typeface="Courier New"/>
                <a:sym typeface="Courier New"/>
              </a:rPr>
              <a:t>f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2" name="Google Shape;1262;p86"/>
          <p:cNvSpPr/>
          <p:nvPr/>
        </p:nvSpPr>
        <p:spPr>
          <a:xfrm>
            <a:off x="12639477" y="5405438"/>
            <a:ext cx="457200" cy="4720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8CFF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B98CF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3" name="Google Shape;1263;p86"/>
          <p:cNvSpPr/>
          <p:nvPr/>
        </p:nvSpPr>
        <p:spPr>
          <a:xfrm>
            <a:off x="13249011" y="5146146"/>
            <a:ext cx="1619250" cy="952500"/>
          </a:xfrm>
          <a:prstGeom prst="roundRect">
            <a:avLst>
              <a:gd fmla="val 16000" name="adj"/>
            </a:avLst>
          </a:prstGeom>
          <a:noFill/>
          <a:ln cap="flat" cmpd="sng" w="9525">
            <a:solidFill>
              <a:srgbClr val="B98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4" name="Google Shape;1264;p86"/>
          <p:cNvSpPr/>
          <p:nvPr/>
        </p:nvSpPr>
        <p:spPr>
          <a:xfrm>
            <a:off x="13972895" y="5437188"/>
            <a:ext cx="247683" cy="408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250"/>
              <a:buFont typeface="Courier New"/>
              <a:buNone/>
            </a:pPr>
            <a:r>
              <a:rPr b="1" i="0" lang="en-US" sz="2250" u="none" cap="none" strike="noStrike">
                <a:solidFill>
                  <a:srgbClr val="E7EDF8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5" name="Google Shape;1265;p86"/>
          <p:cNvSpPr/>
          <p:nvPr/>
        </p:nvSpPr>
        <p:spPr>
          <a:xfrm>
            <a:off x="4272692" y="6422430"/>
            <a:ext cx="9742535" cy="3847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3BC"/>
                </a:solidFill>
                <a:latin typeface="Arial"/>
                <a:ea typeface="Arial"/>
                <a:cs typeface="Arial"/>
                <a:sym typeface="Arial"/>
              </a:rPr>
              <a:t>Computational graph là nền tảng của autograd trong PyTorch — tự động tính gradient.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18"/>
        </a:solidFill>
      </p:bgPr>
    </p:bg>
    <p:spTree>
      <p:nvGrpSpPr>
        <p:cNvPr id="1270" name="Shape 1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1" name="Google Shape;1271;p87"/>
          <p:cNvSpPr/>
          <p:nvPr/>
        </p:nvSpPr>
        <p:spPr>
          <a:xfrm>
            <a:off x="990534" y="800034"/>
            <a:ext cx="16796141" cy="334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8C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B98CFF"/>
                </a:solidFill>
                <a:latin typeface="Courier New"/>
                <a:ea typeface="Courier New"/>
                <a:cs typeface="Courier New"/>
                <a:sym typeface="Courier New"/>
              </a:rPr>
              <a:t>NUMPY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2" name="Google Shape;1272;p87"/>
          <p:cNvSpPr/>
          <p:nvPr/>
        </p:nvSpPr>
        <p:spPr>
          <a:xfrm>
            <a:off x="990534" y="1286867"/>
            <a:ext cx="14716126" cy="6842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Backprop đơn giản bằng NumPy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3" name="Google Shape;1273;p87"/>
          <p:cNvSpPr/>
          <p:nvPr/>
        </p:nvSpPr>
        <p:spPr>
          <a:xfrm>
            <a:off x="4000500" y="4038617"/>
            <a:ext cx="10287000" cy="3194926"/>
          </a:xfrm>
          <a:prstGeom prst="roundRect">
            <a:avLst>
              <a:gd fmla="val 4770" name="adj"/>
            </a:avLst>
          </a:prstGeom>
          <a:solidFill>
            <a:srgbClr val="131C2E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571500" rotWithShape="0" algn="bl" dir="5400000" dist="228600">
              <a:srgbClr val="000000">
                <a:alpha val="8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4" name="Google Shape;1274;p87"/>
          <p:cNvSpPr/>
          <p:nvPr/>
        </p:nvSpPr>
        <p:spPr>
          <a:xfrm>
            <a:off x="4005792" y="4043908"/>
            <a:ext cx="10276417" cy="607384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5" name="Google Shape;1275;p87"/>
          <p:cNvSpPr/>
          <p:nvPr/>
        </p:nvSpPr>
        <p:spPr>
          <a:xfrm>
            <a:off x="4005792" y="4646001"/>
            <a:ext cx="10276417" cy="9525"/>
          </a:xfrm>
          <a:prstGeom prst="rect">
            <a:avLst/>
          </a:prstGeom>
          <a:solidFill>
            <a:srgbClr val="FFFFFF">
              <a:alpha val="901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6" name="Google Shape;1276;p87"/>
          <p:cNvSpPr/>
          <p:nvPr/>
        </p:nvSpPr>
        <p:spPr>
          <a:xfrm>
            <a:off x="4253425" y="4283025"/>
            <a:ext cx="123775" cy="123775"/>
          </a:xfrm>
          <a:prstGeom prst="ellipse">
            <a:avLst/>
          </a:prstGeom>
          <a:solidFill>
            <a:srgbClr val="3949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7" name="Google Shape;1277;p87"/>
          <p:cNvSpPr/>
          <p:nvPr/>
        </p:nvSpPr>
        <p:spPr>
          <a:xfrm>
            <a:off x="4481959" y="4283025"/>
            <a:ext cx="123775" cy="123775"/>
          </a:xfrm>
          <a:prstGeom prst="ellipse">
            <a:avLst/>
          </a:prstGeom>
          <a:solidFill>
            <a:srgbClr val="3949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8" name="Google Shape;1278;p87"/>
          <p:cNvSpPr/>
          <p:nvPr/>
        </p:nvSpPr>
        <p:spPr>
          <a:xfrm>
            <a:off x="4710493" y="4283025"/>
            <a:ext cx="123775" cy="123775"/>
          </a:xfrm>
          <a:prstGeom prst="ellipse">
            <a:avLst/>
          </a:prstGeom>
          <a:solidFill>
            <a:srgbClr val="3949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9" name="Google Shape;1279;p87"/>
          <p:cNvSpPr/>
          <p:nvPr/>
        </p:nvSpPr>
        <p:spPr>
          <a:xfrm>
            <a:off x="5072311" y="4215309"/>
            <a:ext cx="1660310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93A3BC"/>
                </a:solidFill>
                <a:latin typeface="Courier New"/>
                <a:ea typeface="Courier New"/>
                <a:cs typeface="Courier New"/>
                <a:sym typeface="Courier New"/>
              </a:rPr>
              <a:t>backprop.py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0" name="Google Shape;1280;p87"/>
          <p:cNvSpPr/>
          <p:nvPr/>
        </p:nvSpPr>
        <p:spPr>
          <a:xfrm>
            <a:off x="4329642" y="4937043"/>
            <a:ext cx="9937009" cy="20435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D6E2F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dz2 = (a2 - y) / m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D6E2F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dW2 = a1.T @ dz2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D6E2F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da1 = dz2 @ W2.T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D6E2F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dz1 = da1 * (z1 &gt; 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F4B86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F4B860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)              </a:t>
            </a:r>
            <a:r>
              <a:rPr b="0" i="1" lang="en-US" sz="1950" u="none" cap="none" strike="noStrike">
                <a:solidFill>
                  <a:srgbClr val="5E7286"/>
                </a:solidFill>
                <a:latin typeface="Courier New"/>
                <a:ea typeface="Courier New"/>
                <a:cs typeface="Courier New"/>
                <a:sym typeface="Courier New"/>
              </a:rPr>
              <a:t># dao ham ReLU </a:t>
            </a: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dW1 = x.T @ dz1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1" name="Google Shape;1281;p87"/>
          <p:cNvSpPr/>
          <p:nvPr/>
        </p:nvSpPr>
        <p:spPr>
          <a:xfrm>
            <a:off x="6394437" y="7519293"/>
            <a:ext cx="5499045" cy="39537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3BC"/>
                </a:solidFill>
                <a:latin typeface="Arial"/>
                <a:ea typeface="Arial"/>
                <a:cs typeface="Arial"/>
                <a:sym typeface="Arial"/>
              </a:rPr>
              <a:t>Tự cài một lần bằng tay để </a:t>
            </a:r>
            <a:r>
              <a:rPr b="1" i="0" lang="en-US" sz="1950" u="none" cap="none" strike="noStrike">
                <a:solidFill>
                  <a:srgbClr val="F4B860"/>
                </a:solidFill>
                <a:latin typeface="Arial"/>
                <a:ea typeface="Arial"/>
                <a:cs typeface="Arial"/>
                <a:sym typeface="Arial"/>
              </a:rPr>
              <a:t>hiểu sâu </a:t>
            </a:r>
            <a:r>
              <a:rPr b="0" i="0" lang="en-US" sz="1950" u="none" cap="none" strike="noStrike">
                <a:solidFill>
                  <a:srgbClr val="93A3BC"/>
                </a:solidFill>
                <a:latin typeface="Arial"/>
                <a:ea typeface="Arial"/>
                <a:cs typeface="Arial"/>
                <a:sym typeface="Arial"/>
              </a:rPr>
              <a:t>cơ chế học.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18"/>
        </a:solidFill>
      </p:bgPr>
    </p:bg>
    <p:spTree>
      <p:nvGrpSpPr>
        <p:cNvPr id="1286" name="Shape 1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7" name="Google Shape;1287;p88"/>
          <p:cNvSpPr/>
          <p:nvPr/>
        </p:nvSpPr>
        <p:spPr>
          <a:xfrm>
            <a:off x="990534" y="800034"/>
            <a:ext cx="16796141" cy="334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8C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B98CFF"/>
                </a:solidFill>
                <a:latin typeface="Courier New"/>
                <a:ea typeface="Courier New"/>
                <a:cs typeface="Courier New"/>
                <a:sym typeface="Courier New"/>
              </a:rPr>
              <a:t>SECTION 7 · LECTURE 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8" name="Google Shape;1288;p88"/>
          <p:cNvSpPr/>
          <p:nvPr/>
        </p:nvSpPr>
        <p:spPr>
          <a:xfrm>
            <a:off x="990534" y="1286867"/>
            <a:ext cx="14716126" cy="6842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Tóm tắt &amp; chuyển bài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9" name="Google Shape;1289;p88"/>
          <p:cNvSpPr/>
          <p:nvPr/>
        </p:nvSpPr>
        <p:spPr>
          <a:xfrm>
            <a:off x="990534" y="4545873"/>
            <a:ext cx="16796141" cy="3185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86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5C6B86"/>
                </a:solidFill>
                <a:latin typeface="Courier New"/>
                <a:ea typeface="Courier New"/>
                <a:cs typeface="Courier New"/>
                <a:sym typeface="Courier New"/>
              </a:rPr>
              <a:t>ĐÃ HỌC TRONG BÀI NÀY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0" name="Google Shape;1290;p88"/>
          <p:cNvSpPr/>
          <p:nvPr/>
        </p:nvSpPr>
        <p:spPr>
          <a:xfrm>
            <a:off x="990534" y="5264465"/>
            <a:ext cx="3363764" cy="676176"/>
          </a:xfrm>
          <a:prstGeom prst="roundRect">
            <a:avLst>
              <a:gd fmla="val 50000" name="adj"/>
            </a:avLst>
          </a:prstGeom>
          <a:solidFill>
            <a:srgbClr val="131C2E"/>
          </a:solidFill>
          <a:ln cap="flat" cmpd="sng" w="9525">
            <a:solidFill>
              <a:srgbClr val="FFFFFF">
                <a:alpha val="1686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1" name="Google Shape;1291;p88"/>
          <p:cNvSpPr/>
          <p:nvPr/>
        </p:nvSpPr>
        <p:spPr>
          <a:xfrm>
            <a:off x="1300626" y="5441206"/>
            <a:ext cx="2844493" cy="3607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E7EDF8"/>
                </a:solidFill>
                <a:latin typeface="Courier New"/>
                <a:ea typeface="Courier New"/>
                <a:cs typeface="Courier New"/>
                <a:sym typeface="Courier New"/>
              </a:rPr>
              <a:t>truyền lỗi ngược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2" name="Google Shape;1292;p88"/>
          <p:cNvSpPr/>
          <p:nvPr/>
        </p:nvSpPr>
        <p:spPr>
          <a:xfrm>
            <a:off x="4544798" y="5264465"/>
            <a:ext cx="2334948" cy="676176"/>
          </a:xfrm>
          <a:prstGeom prst="roundRect">
            <a:avLst>
              <a:gd fmla="val 50000" name="adj"/>
            </a:avLst>
          </a:prstGeom>
          <a:solidFill>
            <a:srgbClr val="131C2E"/>
          </a:solidFill>
          <a:ln cap="flat" cmpd="sng" w="9525">
            <a:solidFill>
              <a:srgbClr val="FFFFFF">
                <a:alpha val="1686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3" name="Google Shape;1293;p88"/>
          <p:cNvSpPr/>
          <p:nvPr/>
        </p:nvSpPr>
        <p:spPr>
          <a:xfrm>
            <a:off x="4854890" y="5441206"/>
            <a:ext cx="1790965" cy="3607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E7EDF8"/>
                </a:solidFill>
                <a:latin typeface="Courier New"/>
                <a:ea typeface="Courier New"/>
                <a:cs typeface="Courier New"/>
                <a:sym typeface="Courier New"/>
              </a:rPr>
              <a:t>chain rule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4" name="Google Shape;1294;p88"/>
          <p:cNvSpPr/>
          <p:nvPr/>
        </p:nvSpPr>
        <p:spPr>
          <a:xfrm>
            <a:off x="7070246" y="5264465"/>
            <a:ext cx="3878213" cy="676176"/>
          </a:xfrm>
          <a:prstGeom prst="roundRect">
            <a:avLst>
              <a:gd fmla="val 50000" name="adj"/>
            </a:avLst>
          </a:prstGeom>
          <a:solidFill>
            <a:srgbClr val="131C2E"/>
          </a:solidFill>
          <a:ln cap="flat" cmpd="sng" w="9525">
            <a:solidFill>
              <a:srgbClr val="FFFFFF">
                <a:alpha val="1686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5" name="Google Shape;1295;p88"/>
          <p:cNvSpPr/>
          <p:nvPr/>
        </p:nvSpPr>
        <p:spPr>
          <a:xfrm>
            <a:off x="7380337" y="5441206"/>
            <a:ext cx="3374376" cy="3607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E7EDF8"/>
                </a:solidFill>
                <a:latin typeface="Courier New"/>
                <a:ea typeface="Courier New"/>
                <a:cs typeface="Courier New"/>
                <a:sym typeface="Courier New"/>
              </a:rPr>
              <a:t>computational graph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6" name="Google Shape;1296;p88"/>
          <p:cNvSpPr/>
          <p:nvPr/>
        </p:nvSpPr>
        <p:spPr>
          <a:xfrm>
            <a:off x="990534" y="6512058"/>
            <a:ext cx="16306933" cy="9525"/>
          </a:xfrm>
          <a:prstGeom prst="rect">
            <a:avLst/>
          </a:prstGeom>
          <a:solidFill>
            <a:srgbClr val="FFFFFF">
              <a:alpha val="901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7" name="Google Shape;1297;p88"/>
          <p:cNvSpPr/>
          <p:nvPr/>
        </p:nvSpPr>
        <p:spPr>
          <a:xfrm>
            <a:off x="990534" y="6993599"/>
            <a:ext cx="2394529" cy="3185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86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5C6B86"/>
                </a:solidFill>
                <a:latin typeface="Courier New"/>
                <a:ea typeface="Courier New"/>
                <a:cs typeface="Courier New"/>
                <a:sym typeface="Courier New"/>
              </a:rPr>
              <a:t>BÀI TIẾP THEO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8" name="Google Shape;1298;p88"/>
          <p:cNvSpPr/>
          <p:nvPr/>
        </p:nvSpPr>
        <p:spPr>
          <a:xfrm>
            <a:off x="3556496" y="6914720"/>
            <a:ext cx="514416" cy="4762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98CFF"/>
              </a:buClr>
              <a:buSzPts val="3450"/>
              <a:buFont typeface="Arial"/>
              <a:buNone/>
            </a:pPr>
            <a:r>
              <a:rPr b="0" i="0" lang="en-US" sz="3450" u="none" cap="none" strike="noStrike">
                <a:solidFill>
                  <a:srgbClr val="B98CF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9" name="Google Shape;1299;p88"/>
          <p:cNvSpPr/>
          <p:nvPr/>
        </p:nvSpPr>
        <p:spPr>
          <a:xfrm>
            <a:off x="4242346" y="6898349"/>
            <a:ext cx="1726704" cy="5090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Optimizer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18"/>
        </a:solidFill>
      </p:bgPr>
    </p:bg>
    <p:spTree>
      <p:nvGrpSpPr>
        <p:cNvPr id="1304" name="Shape 1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5" name="Google Shape;1305;p89"/>
          <p:cNvSpPr/>
          <p:nvPr/>
        </p:nvSpPr>
        <p:spPr>
          <a:xfrm>
            <a:off x="11979011" y="3609992"/>
            <a:ext cx="5713400" cy="31051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500"/>
              <a:buFont typeface="Arial"/>
              <a:buNone/>
            </a:pPr>
            <a:r>
              <a:rPr b="1" i="0" lang="en-US" sz="34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i="0" sz="3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6" name="Google Shape;1306;p89"/>
          <p:cNvSpPr/>
          <p:nvPr/>
        </p:nvSpPr>
        <p:spPr>
          <a:xfrm>
            <a:off x="990534" y="3727070"/>
            <a:ext cx="16796141" cy="334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8C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B98CFF"/>
                </a:solidFill>
                <a:latin typeface="Courier New"/>
                <a:ea typeface="Courier New"/>
                <a:cs typeface="Courier New"/>
                <a:sym typeface="Courier New"/>
              </a:rPr>
              <a:t>SECTION 7 · LECTURE 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7" name="Google Shape;1307;p89"/>
          <p:cNvSpPr/>
          <p:nvPr/>
        </p:nvSpPr>
        <p:spPr>
          <a:xfrm>
            <a:off x="990534" y="4347187"/>
            <a:ext cx="12753976" cy="17418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6450"/>
              <a:buFont typeface="Arial"/>
              <a:buNone/>
            </a:pPr>
            <a:r>
              <a:rPr b="1" i="0" lang="en-US" sz="645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Optimizer — SGD, Momentum, Adam, AdamW</a:t>
            </a:r>
            <a:endParaRPr b="0" i="0" sz="6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8" name="Google Shape;1308;p89"/>
          <p:cNvSpPr/>
          <p:nvPr/>
        </p:nvSpPr>
        <p:spPr>
          <a:xfrm>
            <a:off x="990534" y="6374723"/>
            <a:ext cx="16796141" cy="31855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93A3BC"/>
                </a:solidFill>
                <a:latin typeface="Courier New"/>
                <a:ea typeface="Courier New"/>
                <a:cs typeface="Courier New"/>
                <a:sym typeface="Courier New"/>
              </a:rPr>
              <a:t>~8 phút · 6 slides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18"/>
        </a:solidFill>
      </p:bgPr>
    </p:bg>
    <p:spTree>
      <p:nvGrpSpPr>
        <p:cNvPr id="1313" name="Shape 1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4" name="Google Shape;1314;p90"/>
          <p:cNvSpPr/>
          <p:nvPr/>
        </p:nvSpPr>
        <p:spPr>
          <a:xfrm>
            <a:off x="990534" y="800034"/>
            <a:ext cx="16796141" cy="334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8C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B98CFF"/>
                </a:solidFill>
                <a:latin typeface="Courier New"/>
                <a:ea typeface="Courier New"/>
                <a:cs typeface="Courier New"/>
                <a:sym typeface="Courier New"/>
              </a:rPr>
              <a:t>SGD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5" name="Google Shape;1315;p90"/>
          <p:cNvSpPr/>
          <p:nvPr/>
        </p:nvSpPr>
        <p:spPr>
          <a:xfrm>
            <a:off x="990534" y="1286867"/>
            <a:ext cx="14716126" cy="6842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Stochastic Gradient Descent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6" name="Google Shape;1316;p90"/>
          <p:cNvSpPr/>
          <p:nvPr/>
        </p:nvSpPr>
        <p:spPr>
          <a:xfrm>
            <a:off x="1466784" y="5063216"/>
            <a:ext cx="7568651" cy="4456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Gradient descent trên </a:t>
            </a:r>
            <a:r>
              <a:rPr b="1" i="0" lang="en-US" sz="2400" u="none" cap="none" strike="noStrike">
                <a:solidFill>
                  <a:srgbClr val="B98CFF"/>
                </a:solidFill>
                <a:latin typeface="Arial"/>
                <a:ea typeface="Arial"/>
                <a:cs typeface="Arial"/>
                <a:sym typeface="Arial"/>
              </a:rPr>
              <a:t>từng batch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7" name="Google Shape;1317;p90"/>
          <p:cNvSpPr/>
          <p:nvPr/>
        </p:nvSpPr>
        <p:spPr>
          <a:xfrm>
            <a:off x="1466784" y="5756507"/>
            <a:ext cx="7568651" cy="4456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Đường đi tới đáy </a:t>
            </a:r>
            <a:r>
              <a:rPr b="1" i="0" lang="en-US" sz="2400" u="none" cap="none" strike="noStrike">
                <a:solidFill>
                  <a:srgbClr val="B98CFF"/>
                </a:solidFill>
                <a:latin typeface="Arial"/>
                <a:ea typeface="Arial"/>
                <a:cs typeface="Arial"/>
                <a:sym typeface="Arial"/>
              </a:rPr>
              <a:t>gập ghềnh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8" name="Google Shape;1318;p90"/>
          <p:cNvSpPr/>
          <p:nvPr/>
        </p:nvSpPr>
        <p:spPr>
          <a:xfrm>
            <a:off x="1466784" y="6449798"/>
            <a:ext cx="7568651" cy="44034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Nối lại gradient descent Section 4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19" name="Google Shape;1319;p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86884" y="3638848"/>
            <a:ext cx="7810583" cy="46374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18"/>
        </a:solidFill>
      </p:bgPr>
    </p:bg>
    <p:spTree>
      <p:nvGrpSpPr>
        <p:cNvPr id="1324" name="Shape 1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Google Shape;1325;p91"/>
          <p:cNvSpPr/>
          <p:nvPr/>
        </p:nvSpPr>
        <p:spPr>
          <a:xfrm>
            <a:off x="990534" y="800034"/>
            <a:ext cx="16796141" cy="334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8C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B98CFF"/>
                </a:solidFill>
                <a:latin typeface="Courier New"/>
                <a:ea typeface="Courier New"/>
                <a:cs typeface="Courier New"/>
                <a:sym typeface="Courier New"/>
              </a:rPr>
              <a:t>MOMENTUM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6" name="Google Shape;1326;p91"/>
          <p:cNvSpPr/>
          <p:nvPr/>
        </p:nvSpPr>
        <p:spPr>
          <a:xfrm>
            <a:off x="990534" y="1286867"/>
            <a:ext cx="14716126" cy="6842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Thêm “quán tính”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7" name="Google Shape;1327;p91"/>
          <p:cNvSpPr/>
          <p:nvPr/>
        </p:nvSpPr>
        <p:spPr>
          <a:xfrm>
            <a:off x="1466784" y="5063216"/>
            <a:ext cx="7568651" cy="4456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Tích luỹ </a:t>
            </a:r>
            <a:r>
              <a:rPr b="1" i="0" lang="en-US" sz="2400" u="none" cap="none" strike="noStrike">
                <a:solidFill>
                  <a:srgbClr val="B98CFF"/>
                </a:solidFill>
                <a:latin typeface="Arial"/>
                <a:ea typeface="Arial"/>
                <a:cs typeface="Arial"/>
                <a:sym typeface="Arial"/>
              </a:rPr>
              <a:t>quán tính </a:t>
            </a: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từ các bước trước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8" name="Google Shape;1328;p91"/>
          <p:cNvSpPr/>
          <p:nvPr/>
        </p:nvSpPr>
        <p:spPr>
          <a:xfrm>
            <a:off x="1466784" y="5756507"/>
            <a:ext cx="7568651" cy="4456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Vượt qua </a:t>
            </a:r>
            <a:r>
              <a:rPr b="1" i="0" lang="en-US" sz="2400" u="none" cap="none" strike="noStrike">
                <a:solidFill>
                  <a:srgbClr val="B98CFF"/>
                </a:solidFill>
                <a:latin typeface="Arial"/>
                <a:ea typeface="Arial"/>
                <a:cs typeface="Arial"/>
                <a:sym typeface="Arial"/>
              </a:rPr>
              <a:t>local minima </a:t>
            </a: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dễ hơn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9" name="Google Shape;1329;p91"/>
          <p:cNvSpPr/>
          <p:nvPr/>
        </p:nvSpPr>
        <p:spPr>
          <a:xfrm>
            <a:off x="1466784" y="6449798"/>
            <a:ext cx="7568651" cy="44034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Nhanh &amp; mượt hơn SGD thuần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30" name="Google Shape;1330;p9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86884" y="3638848"/>
            <a:ext cx="7810583" cy="46374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18"/>
        </a:solidFill>
      </p:bgPr>
    </p:bg>
    <p:spTree>
      <p:nvGrpSpPr>
        <p:cNvPr id="1335" name="Shape 1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6" name="Google Shape;1336;p92"/>
          <p:cNvSpPr/>
          <p:nvPr/>
        </p:nvSpPr>
        <p:spPr>
          <a:xfrm>
            <a:off x="990534" y="800034"/>
            <a:ext cx="16796141" cy="334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8C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B98CFF"/>
                </a:solidFill>
                <a:latin typeface="Courier New"/>
                <a:ea typeface="Courier New"/>
                <a:cs typeface="Courier New"/>
                <a:sym typeface="Courier New"/>
              </a:rPr>
              <a:t>ADAM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7" name="Google Shape;1337;p92"/>
          <p:cNvSpPr/>
          <p:nvPr/>
        </p:nvSpPr>
        <p:spPr>
          <a:xfrm>
            <a:off x="990534" y="1286867"/>
            <a:ext cx="14716126" cy="6842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Adaptive Moment Estimation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8" name="Google Shape;1338;p92"/>
          <p:cNvSpPr/>
          <p:nvPr/>
        </p:nvSpPr>
        <p:spPr>
          <a:xfrm>
            <a:off x="1466784" y="5407174"/>
            <a:ext cx="7568651" cy="4456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B98C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B98CFF"/>
                </a:solidFill>
                <a:latin typeface="Arial"/>
                <a:ea typeface="Arial"/>
                <a:cs typeface="Arial"/>
                <a:sym typeface="Arial"/>
              </a:rPr>
              <a:t>Tự điều chỉnh </a:t>
            </a: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learning rate cho từng tham số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9" name="Google Shape;1339;p92"/>
          <p:cNvSpPr/>
          <p:nvPr/>
        </p:nvSpPr>
        <p:spPr>
          <a:xfrm>
            <a:off x="1466784" y="6100465"/>
            <a:ext cx="7568651" cy="4456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Lựa chọn </a:t>
            </a:r>
            <a:r>
              <a:rPr b="1" i="0" lang="en-US" sz="2400" u="none" cap="none" strike="noStrike">
                <a:solidFill>
                  <a:srgbClr val="B98CFF"/>
                </a:solidFill>
                <a:latin typeface="Arial"/>
                <a:ea typeface="Arial"/>
                <a:cs typeface="Arial"/>
                <a:sym typeface="Arial"/>
              </a:rPr>
              <a:t>mặc định </a:t>
            </a: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an toàn nhất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40" name="Google Shape;1340;p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86884" y="3638848"/>
            <a:ext cx="7810583" cy="46374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18"/>
        </a:solidFill>
      </p:bgPr>
    </p:bg>
    <p:spTree>
      <p:nvGrpSpPr>
        <p:cNvPr id="1345" name="Shape 1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6" name="Google Shape;1346;p93"/>
          <p:cNvSpPr/>
          <p:nvPr/>
        </p:nvSpPr>
        <p:spPr>
          <a:xfrm>
            <a:off x="990534" y="800034"/>
            <a:ext cx="16796141" cy="334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8C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B98CFF"/>
                </a:solidFill>
                <a:latin typeface="Courier New"/>
                <a:ea typeface="Courier New"/>
                <a:cs typeface="Courier New"/>
                <a:sym typeface="Courier New"/>
              </a:rPr>
              <a:t>ADAMW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7" name="Google Shape;1347;p93"/>
          <p:cNvSpPr/>
          <p:nvPr/>
        </p:nvSpPr>
        <p:spPr>
          <a:xfrm>
            <a:off x="990534" y="1286867"/>
            <a:ext cx="14716126" cy="6842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Adam + weight decay đúng cách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8" name="Google Shape;1348;p93"/>
          <p:cNvSpPr/>
          <p:nvPr/>
        </p:nvSpPr>
        <p:spPr>
          <a:xfrm>
            <a:off x="990534" y="4826331"/>
            <a:ext cx="8010591" cy="1592130"/>
          </a:xfrm>
          <a:prstGeom prst="roundRect">
            <a:avLst>
              <a:gd fmla="val 10769" name="adj"/>
            </a:avLst>
          </a:prstGeom>
          <a:solidFill>
            <a:srgbClr val="131C2E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9" name="Google Shape;1349;p93"/>
          <p:cNvSpPr/>
          <p:nvPr/>
        </p:nvSpPr>
        <p:spPr>
          <a:xfrm>
            <a:off x="1319609" y="5174506"/>
            <a:ext cx="7573013" cy="4614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Adam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0" name="Google Shape;1350;p93"/>
          <p:cNvSpPr/>
          <p:nvPr/>
        </p:nvSpPr>
        <p:spPr>
          <a:xfrm>
            <a:off x="1319609" y="5731123"/>
            <a:ext cx="7573013" cy="36667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93A3BC"/>
                </a:solidFill>
                <a:latin typeface="Arial"/>
                <a:ea typeface="Arial"/>
                <a:cs typeface="Arial"/>
                <a:sym typeface="Arial"/>
              </a:rPr>
              <a:t>Adaptive learning rate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1" name="Google Shape;1351;p93"/>
          <p:cNvSpPr/>
          <p:nvPr/>
        </p:nvSpPr>
        <p:spPr>
          <a:xfrm>
            <a:off x="9286876" y="4826331"/>
            <a:ext cx="8010591" cy="1592130"/>
          </a:xfrm>
          <a:prstGeom prst="roundRect">
            <a:avLst>
              <a:gd fmla="val 10769" name="adj"/>
            </a:avLst>
          </a:prstGeom>
          <a:solidFill>
            <a:srgbClr val="131C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2" name="Google Shape;1352;p93"/>
          <p:cNvSpPr/>
          <p:nvPr/>
        </p:nvSpPr>
        <p:spPr>
          <a:xfrm>
            <a:off x="9615951" y="5174506"/>
            <a:ext cx="7573013" cy="4614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AdamW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3" name="Google Shape;1353;p93"/>
          <p:cNvSpPr/>
          <p:nvPr/>
        </p:nvSpPr>
        <p:spPr>
          <a:xfrm>
            <a:off x="9615951" y="5731123"/>
            <a:ext cx="7573013" cy="3772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93A3BC"/>
                </a:solidFill>
                <a:latin typeface="Arial"/>
                <a:ea typeface="Arial"/>
                <a:cs typeface="Arial"/>
                <a:sym typeface="Arial"/>
              </a:rPr>
              <a:t>+ weight decay </a:t>
            </a:r>
            <a:r>
              <a:rPr b="1" i="0" lang="en-US" sz="1875" u="none" cap="none" strike="noStrike">
                <a:solidFill>
                  <a:srgbClr val="B98CFF"/>
                </a:solidFill>
                <a:latin typeface="Arial"/>
                <a:ea typeface="Arial"/>
                <a:cs typeface="Arial"/>
                <a:sym typeface="Arial"/>
              </a:rPr>
              <a:t>tách biệt </a:t>
            </a:r>
            <a:r>
              <a:rPr b="0" i="0" lang="en-US" sz="1875" u="none" cap="none" strike="noStrike">
                <a:solidFill>
                  <a:srgbClr val="93A3BC"/>
                </a:solidFill>
                <a:latin typeface="Arial"/>
                <a:ea typeface="Arial"/>
                <a:cs typeface="Arial"/>
                <a:sym typeface="Arial"/>
              </a:rPr>
              <a:t>— chuẩn cho Transformer / LLM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4" name="Google Shape;1354;p93"/>
          <p:cNvSpPr/>
          <p:nvPr/>
        </p:nvSpPr>
        <p:spPr>
          <a:xfrm>
            <a:off x="5884225" y="6742245"/>
            <a:ext cx="6519551" cy="3847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3BC"/>
                </a:solidFill>
                <a:latin typeface="Arial"/>
                <a:ea typeface="Arial"/>
                <a:cs typeface="Arial"/>
                <a:sym typeface="Arial"/>
              </a:rPr>
              <a:t>Sẽ gặp lại AdamW khi huấn luyện LLM ở các section sau.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18"/>
        </a:solidFill>
      </p:bgPr>
    </p:bg>
    <p:spTree>
      <p:nvGrpSpPr>
        <p:cNvPr id="1359" name="Shape 1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0" name="Google Shape;1360;p94"/>
          <p:cNvSpPr/>
          <p:nvPr/>
        </p:nvSpPr>
        <p:spPr>
          <a:xfrm>
            <a:off x="990534" y="800034"/>
            <a:ext cx="16796141" cy="334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8C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B98CFF"/>
                </a:solidFill>
                <a:latin typeface="Courier New"/>
                <a:ea typeface="Courier New"/>
                <a:cs typeface="Courier New"/>
                <a:sym typeface="Courier New"/>
              </a:rPr>
              <a:t>SECTION 7 · LECTURE 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1" name="Google Shape;1361;p94"/>
          <p:cNvSpPr/>
          <p:nvPr/>
        </p:nvSpPr>
        <p:spPr>
          <a:xfrm>
            <a:off x="990534" y="1286867"/>
            <a:ext cx="14716126" cy="6842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Tóm tắt &amp; chuyển bài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2" name="Google Shape;1362;p94"/>
          <p:cNvSpPr/>
          <p:nvPr/>
        </p:nvSpPr>
        <p:spPr>
          <a:xfrm>
            <a:off x="990534" y="4545873"/>
            <a:ext cx="16796141" cy="3185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86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5C6B86"/>
                </a:solidFill>
                <a:latin typeface="Courier New"/>
                <a:ea typeface="Courier New"/>
                <a:cs typeface="Courier New"/>
                <a:sym typeface="Courier New"/>
              </a:rPr>
              <a:t>ĐÃ HỌC TRONG BÀI NÀY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3" name="Google Shape;1363;p94"/>
          <p:cNvSpPr/>
          <p:nvPr/>
        </p:nvSpPr>
        <p:spPr>
          <a:xfrm>
            <a:off x="990534" y="5264465"/>
            <a:ext cx="1134566" cy="676176"/>
          </a:xfrm>
          <a:prstGeom prst="roundRect">
            <a:avLst>
              <a:gd fmla="val 50000" name="adj"/>
            </a:avLst>
          </a:prstGeom>
          <a:solidFill>
            <a:srgbClr val="131C2E"/>
          </a:solidFill>
          <a:ln cap="flat" cmpd="sng" w="9525">
            <a:solidFill>
              <a:srgbClr val="FFFFFF">
                <a:alpha val="1686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4" name="Google Shape;1364;p94"/>
          <p:cNvSpPr/>
          <p:nvPr/>
        </p:nvSpPr>
        <p:spPr>
          <a:xfrm>
            <a:off x="1300626" y="5441206"/>
            <a:ext cx="590583" cy="3607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E7EDF8"/>
                </a:solidFill>
                <a:latin typeface="Courier New"/>
                <a:ea typeface="Courier New"/>
                <a:cs typeface="Courier New"/>
                <a:sym typeface="Courier New"/>
              </a:rPr>
              <a:t>SGD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5" name="Google Shape;1365;p94"/>
          <p:cNvSpPr/>
          <p:nvPr/>
        </p:nvSpPr>
        <p:spPr>
          <a:xfrm>
            <a:off x="2315600" y="5264465"/>
            <a:ext cx="1991982" cy="676176"/>
          </a:xfrm>
          <a:prstGeom prst="roundRect">
            <a:avLst>
              <a:gd fmla="val 50000" name="adj"/>
            </a:avLst>
          </a:prstGeom>
          <a:solidFill>
            <a:srgbClr val="131C2E"/>
          </a:solidFill>
          <a:ln cap="flat" cmpd="sng" w="9525">
            <a:solidFill>
              <a:srgbClr val="FFFFFF">
                <a:alpha val="1686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6" name="Google Shape;1366;p94"/>
          <p:cNvSpPr/>
          <p:nvPr/>
        </p:nvSpPr>
        <p:spPr>
          <a:xfrm>
            <a:off x="2625692" y="5441206"/>
            <a:ext cx="1447999" cy="3607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E7EDF8"/>
                </a:solidFill>
                <a:latin typeface="Courier New"/>
                <a:ea typeface="Courier New"/>
                <a:cs typeface="Courier New"/>
                <a:sym typeface="Courier New"/>
              </a:rPr>
              <a:t>Momentum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7" name="Google Shape;1367;p94"/>
          <p:cNvSpPr/>
          <p:nvPr/>
        </p:nvSpPr>
        <p:spPr>
          <a:xfrm>
            <a:off x="4498082" y="5264465"/>
            <a:ext cx="1306049" cy="676176"/>
          </a:xfrm>
          <a:prstGeom prst="roundRect">
            <a:avLst>
              <a:gd fmla="val 50000" name="adj"/>
            </a:avLst>
          </a:prstGeom>
          <a:solidFill>
            <a:srgbClr val="131C2E"/>
          </a:solidFill>
          <a:ln cap="flat" cmpd="sng" w="9525">
            <a:solidFill>
              <a:srgbClr val="FFFFFF">
                <a:alpha val="1686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8" name="Google Shape;1368;p94"/>
          <p:cNvSpPr/>
          <p:nvPr/>
        </p:nvSpPr>
        <p:spPr>
          <a:xfrm>
            <a:off x="4808174" y="5441206"/>
            <a:ext cx="762066" cy="3607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E7EDF8"/>
                </a:solidFill>
                <a:latin typeface="Courier New"/>
                <a:ea typeface="Courier New"/>
                <a:cs typeface="Courier New"/>
                <a:sym typeface="Courier New"/>
              </a:rPr>
              <a:t>Adam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9" name="Google Shape;1369;p94"/>
          <p:cNvSpPr/>
          <p:nvPr/>
        </p:nvSpPr>
        <p:spPr>
          <a:xfrm>
            <a:off x="5994632" y="5264465"/>
            <a:ext cx="1477533" cy="676176"/>
          </a:xfrm>
          <a:prstGeom prst="roundRect">
            <a:avLst>
              <a:gd fmla="val 50000" name="adj"/>
            </a:avLst>
          </a:prstGeom>
          <a:solidFill>
            <a:srgbClr val="131C2E"/>
          </a:solidFill>
          <a:ln cap="flat" cmpd="sng" w="9525">
            <a:solidFill>
              <a:srgbClr val="FFFFFF">
                <a:alpha val="1686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0" name="Google Shape;1370;p94"/>
          <p:cNvSpPr/>
          <p:nvPr/>
        </p:nvSpPr>
        <p:spPr>
          <a:xfrm>
            <a:off x="6304723" y="5441206"/>
            <a:ext cx="933549" cy="3607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E7EDF8"/>
                </a:solidFill>
                <a:latin typeface="Courier New"/>
                <a:ea typeface="Courier New"/>
                <a:cs typeface="Courier New"/>
                <a:sym typeface="Courier New"/>
              </a:rPr>
              <a:t>AdamW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1" name="Google Shape;1371;p94"/>
          <p:cNvSpPr/>
          <p:nvPr/>
        </p:nvSpPr>
        <p:spPr>
          <a:xfrm>
            <a:off x="990534" y="6512058"/>
            <a:ext cx="16306933" cy="9525"/>
          </a:xfrm>
          <a:prstGeom prst="rect">
            <a:avLst/>
          </a:prstGeom>
          <a:solidFill>
            <a:srgbClr val="FFFFFF">
              <a:alpha val="901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2" name="Google Shape;1372;p94"/>
          <p:cNvSpPr/>
          <p:nvPr/>
        </p:nvSpPr>
        <p:spPr>
          <a:xfrm>
            <a:off x="990534" y="6993599"/>
            <a:ext cx="2394529" cy="3185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86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5C6B86"/>
                </a:solidFill>
                <a:latin typeface="Courier New"/>
                <a:ea typeface="Courier New"/>
                <a:cs typeface="Courier New"/>
                <a:sym typeface="Courier New"/>
              </a:rPr>
              <a:t>BÀI TIẾP THEO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3" name="Google Shape;1373;p94"/>
          <p:cNvSpPr/>
          <p:nvPr/>
        </p:nvSpPr>
        <p:spPr>
          <a:xfrm>
            <a:off x="3556496" y="6914720"/>
            <a:ext cx="514416" cy="4762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98CFF"/>
              </a:buClr>
              <a:buSzPts val="3450"/>
              <a:buFont typeface="Arial"/>
              <a:buNone/>
            </a:pPr>
            <a:r>
              <a:rPr b="0" i="0" lang="en-US" sz="3450" u="none" cap="none" strike="noStrike">
                <a:solidFill>
                  <a:srgbClr val="B98CF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4" name="Google Shape;1374;p94"/>
          <p:cNvSpPr/>
          <p:nvPr/>
        </p:nvSpPr>
        <p:spPr>
          <a:xfrm>
            <a:off x="4242346" y="6898349"/>
            <a:ext cx="2505985" cy="5090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Regularization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18"/>
        </a:solidFill>
      </p:bgPr>
    </p:bg>
    <p:spTree>
      <p:nvGrpSpPr>
        <p:cNvPr id="1379" name="Shape 1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0" name="Google Shape;1380;p95"/>
          <p:cNvSpPr/>
          <p:nvPr/>
        </p:nvSpPr>
        <p:spPr>
          <a:xfrm>
            <a:off x="12347030" y="3609992"/>
            <a:ext cx="5334340" cy="31051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500"/>
              <a:buFont typeface="Arial"/>
              <a:buNone/>
            </a:pPr>
            <a:r>
              <a:rPr b="1" i="0" lang="en-US" sz="34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b="0" i="0" sz="3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1" name="Google Shape;1381;p95"/>
          <p:cNvSpPr/>
          <p:nvPr/>
        </p:nvSpPr>
        <p:spPr>
          <a:xfrm>
            <a:off x="990534" y="3727070"/>
            <a:ext cx="16796141" cy="334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8C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B98CFF"/>
                </a:solidFill>
                <a:latin typeface="Courier New"/>
                <a:ea typeface="Courier New"/>
                <a:cs typeface="Courier New"/>
                <a:sym typeface="Courier New"/>
              </a:rPr>
              <a:t>SECTION 7 · LECTURE 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2" name="Google Shape;1382;p95"/>
          <p:cNvSpPr/>
          <p:nvPr/>
        </p:nvSpPr>
        <p:spPr>
          <a:xfrm>
            <a:off x="990534" y="4347187"/>
            <a:ext cx="12753976" cy="17418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6450"/>
              <a:buFont typeface="Arial"/>
              <a:buNone/>
            </a:pPr>
            <a:r>
              <a:rPr b="1" i="0" lang="en-US" sz="645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Regularization — chống overfitting</a:t>
            </a:r>
            <a:endParaRPr b="0" i="0" sz="6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3" name="Google Shape;1383;p95"/>
          <p:cNvSpPr/>
          <p:nvPr/>
        </p:nvSpPr>
        <p:spPr>
          <a:xfrm>
            <a:off x="990534" y="6374723"/>
            <a:ext cx="16796141" cy="31855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93A3BC"/>
                </a:solidFill>
                <a:latin typeface="Courier New"/>
                <a:ea typeface="Courier New"/>
                <a:cs typeface="Courier New"/>
                <a:sym typeface="Courier New"/>
              </a:rPr>
              <a:t>~8 phút · 6 slides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18"/>
        </a:solidFill>
      </p:bgPr>
    </p:bg>
    <p:spTree>
      <p:nvGrpSpPr>
        <p:cNvPr id="1388" name="Shape 1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9" name="Google Shape;1389;p96"/>
          <p:cNvSpPr/>
          <p:nvPr/>
        </p:nvSpPr>
        <p:spPr>
          <a:xfrm>
            <a:off x="990534" y="800034"/>
            <a:ext cx="16796141" cy="334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8C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B98CFF"/>
                </a:solidFill>
                <a:latin typeface="Courier New"/>
                <a:ea typeface="Courier New"/>
                <a:cs typeface="Courier New"/>
                <a:sym typeface="Courier New"/>
              </a:rPr>
              <a:t>DROPOUT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0" name="Google Shape;1390;p96"/>
          <p:cNvSpPr/>
          <p:nvPr/>
        </p:nvSpPr>
        <p:spPr>
          <a:xfrm>
            <a:off x="990534" y="1286867"/>
            <a:ext cx="14716126" cy="6842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Tắt ngẫu nhiên nơ-ron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1" name="Google Shape;1391;p96"/>
          <p:cNvSpPr/>
          <p:nvPr/>
        </p:nvSpPr>
        <p:spPr>
          <a:xfrm>
            <a:off x="1466784" y="5063216"/>
            <a:ext cx="7568651" cy="4456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B98C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B98CFF"/>
                </a:solidFill>
                <a:latin typeface="Arial"/>
                <a:ea typeface="Arial"/>
                <a:cs typeface="Arial"/>
                <a:sym typeface="Arial"/>
              </a:rPr>
              <a:t>Tắt ngẫu nhiên </a:t>
            </a: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nơ-ron khi train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2" name="Google Shape;1392;p96"/>
          <p:cNvSpPr/>
          <p:nvPr/>
        </p:nvSpPr>
        <p:spPr>
          <a:xfrm>
            <a:off x="1466784" y="5756507"/>
            <a:ext cx="7568651" cy="4456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Mạng </a:t>
            </a:r>
            <a:r>
              <a:rPr b="1" i="0" lang="en-US" sz="2400" u="none" cap="none" strike="noStrike">
                <a:solidFill>
                  <a:srgbClr val="B98CFF"/>
                </a:solidFill>
                <a:latin typeface="Arial"/>
                <a:ea typeface="Arial"/>
                <a:cs typeface="Arial"/>
                <a:sym typeface="Arial"/>
              </a:rPr>
              <a:t>không phụ thuộc </a:t>
            </a: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một đường duy nhất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3" name="Google Shape;1393;p96"/>
          <p:cNvSpPr/>
          <p:nvPr/>
        </p:nvSpPr>
        <p:spPr>
          <a:xfrm>
            <a:off x="1466784" y="6449798"/>
            <a:ext cx="7568651" cy="44034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Đơn giản mà rất hiệu quả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94" name="Google Shape;1394;p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86884" y="3481090"/>
            <a:ext cx="7810583" cy="495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18"/>
        </a:solidFill>
      </p:bgPr>
    </p:bg>
    <p:spTree>
      <p:nvGrpSpPr>
        <p:cNvPr id="1399" name="Shape 1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0" name="Google Shape;1400;p97"/>
          <p:cNvSpPr/>
          <p:nvPr/>
        </p:nvSpPr>
        <p:spPr>
          <a:xfrm>
            <a:off x="990534" y="800034"/>
            <a:ext cx="16796141" cy="334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8C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B98CFF"/>
                </a:solidFill>
                <a:latin typeface="Courier New"/>
                <a:ea typeface="Courier New"/>
                <a:cs typeface="Courier New"/>
                <a:sym typeface="Courier New"/>
              </a:rPr>
              <a:t>BATCHNORM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1" name="Google Shape;1401;p97"/>
          <p:cNvSpPr/>
          <p:nvPr/>
        </p:nvSpPr>
        <p:spPr>
          <a:xfrm>
            <a:off x="990534" y="1286867"/>
            <a:ext cx="14716126" cy="6842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Chuẩn hoá giữa các lớp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2" name="Google Shape;1402;p97"/>
          <p:cNvSpPr/>
          <p:nvPr/>
        </p:nvSpPr>
        <p:spPr>
          <a:xfrm>
            <a:off x="3942457" y="5146146"/>
            <a:ext cx="1619250" cy="952500"/>
          </a:xfrm>
          <a:prstGeom prst="roundRect">
            <a:avLst>
              <a:gd fmla="val 16000" name="adj"/>
            </a:avLst>
          </a:prstGeom>
          <a:solidFill>
            <a:srgbClr val="131C2E"/>
          </a:solidFill>
          <a:ln cap="flat" cmpd="sng" w="9525">
            <a:solidFill>
              <a:srgbClr val="FFFFFF">
                <a:alpha val="1686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3" name="Google Shape;1403;p97"/>
          <p:cNvSpPr/>
          <p:nvPr/>
        </p:nvSpPr>
        <p:spPr>
          <a:xfrm>
            <a:off x="4323457" y="5437188"/>
            <a:ext cx="933450" cy="408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250"/>
              <a:buFont typeface="Courier New"/>
              <a:buNone/>
            </a:pPr>
            <a:r>
              <a:rPr b="1" i="0" lang="en-US" sz="2250" u="none" cap="none" strike="noStrike">
                <a:solidFill>
                  <a:srgbClr val="E7EDF8"/>
                </a:solidFill>
                <a:latin typeface="Courier New"/>
                <a:ea typeface="Courier New"/>
                <a:cs typeface="Courier New"/>
                <a:sym typeface="Courier New"/>
              </a:rPr>
              <a:t>Layer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4" name="Google Shape;1404;p97"/>
          <p:cNvSpPr/>
          <p:nvPr/>
        </p:nvSpPr>
        <p:spPr>
          <a:xfrm>
            <a:off x="5790241" y="5405438"/>
            <a:ext cx="457200" cy="4720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8CFF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B98CF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5" name="Google Shape;1405;p97"/>
          <p:cNvSpPr/>
          <p:nvPr/>
        </p:nvSpPr>
        <p:spPr>
          <a:xfrm>
            <a:off x="6399775" y="5146146"/>
            <a:ext cx="2239450" cy="952500"/>
          </a:xfrm>
          <a:prstGeom prst="roundRect">
            <a:avLst>
              <a:gd fmla="val 16000" name="adj"/>
            </a:avLst>
          </a:prstGeom>
          <a:noFill/>
          <a:ln cap="flat" cmpd="sng" w="9525">
            <a:solidFill>
              <a:srgbClr val="B98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6" name="Google Shape;1406;p97"/>
          <p:cNvSpPr/>
          <p:nvPr/>
        </p:nvSpPr>
        <p:spPr>
          <a:xfrm>
            <a:off x="6747950" y="5437188"/>
            <a:ext cx="1619300" cy="408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250"/>
              <a:buFont typeface="Courier New"/>
              <a:buNone/>
            </a:pPr>
            <a:r>
              <a:rPr b="1" i="0" lang="en-US" sz="2250" u="none" cap="none" strike="noStrike">
                <a:solidFill>
                  <a:srgbClr val="E7EDF8"/>
                </a:solidFill>
                <a:latin typeface="Courier New"/>
                <a:ea typeface="Courier New"/>
                <a:cs typeface="Courier New"/>
                <a:sym typeface="Courier New"/>
              </a:rPr>
              <a:t>BatchNorm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7" name="Google Shape;1407;p97"/>
          <p:cNvSpPr/>
          <p:nvPr/>
        </p:nvSpPr>
        <p:spPr>
          <a:xfrm>
            <a:off x="8867759" y="5405438"/>
            <a:ext cx="457200" cy="4720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8CFF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B98CF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8" name="Google Shape;1408;p97"/>
          <p:cNvSpPr/>
          <p:nvPr/>
        </p:nvSpPr>
        <p:spPr>
          <a:xfrm>
            <a:off x="9477293" y="5146146"/>
            <a:ext cx="2410850" cy="952500"/>
          </a:xfrm>
          <a:prstGeom prst="roundRect">
            <a:avLst>
              <a:gd fmla="val 16000" name="adj"/>
            </a:avLst>
          </a:prstGeom>
          <a:solidFill>
            <a:srgbClr val="131C2E"/>
          </a:solidFill>
          <a:ln cap="flat" cmpd="sng" w="9525">
            <a:solidFill>
              <a:srgbClr val="FFFFFF">
                <a:alpha val="1686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9" name="Google Shape;1409;p97"/>
          <p:cNvSpPr/>
          <p:nvPr/>
        </p:nvSpPr>
        <p:spPr>
          <a:xfrm>
            <a:off x="9825468" y="5437188"/>
            <a:ext cx="1790700" cy="408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250"/>
              <a:buFont typeface="Courier New"/>
              <a:buNone/>
            </a:pPr>
            <a:r>
              <a:rPr b="1" i="0" lang="en-US" sz="2250" u="none" cap="none" strike="noStrike">
                <a:solidFill>
                  <a:srgbClr val="E7EDF8"/>
                </a:solidFill>
                <a:latin typeface="Courier New"/>
                <a:ea typeface="Courier New"/>
                <a:cs typeface="Courier New"/>
                <a:sym typeface="Courier New"/>
              </a:rPr>
              <a:t>Activation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0" name="Google Shape;1410;p97"/>
          <p:cNvSpPr/>
          <p:nvPr/>
        </p:nvSpPr>
        <p:spPr>
          <a:xfrm>
            <a:off x="12116677" y="5405438"/>
            <a:ext cx="457200" cy="4720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8CFF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B98CF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1" name="Google Shape;1411;p97"/>
          <p:cNvSpPr/>
          <p:nvPr/>
        </p:nvSpPr>
        <p:spPr>
          <a:xfrm>
            <a:off x="12726210" y="5146146"/>
            <a:ext cx="1619250" cy="952500"/>
          </a:xfrm>
          <a:prstGeom prst="roundRect">
            <a:avLst>
              <a:gd fmla="val 16000" name="adj"/>
            </a:avLst>
          </a:prstGeom>
          <a:solidFill>
            <a:srgbClr val="131C2E"/>
          </a:solidFill>
          <a:ln cap="flat" cmpd="sng" w="9525">
            <a:solidFill>
              <a:srgbClr val="FFFFFF">
                <a:alpha val="1686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2" name="Google Shape;1412;p97"/>
          <p:cNvSpPr/>
          <p:nvPr/>
        </p:nvSpPr>
        <p:spPr>
          <a:xfrm>
            <a:off x="13107210" y="5437188"/>
            <a:ext cx="933450" cy="408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250"/>
              <a:buFont typeface="Courier New"/>
              <a:buNone/>
            </a:pPr>
            <a:r>
              <a:rPr b="1" i="0" lang="en-US" sz="2250" u="none" cap="none" strike="noStrike">
                <a:solidFill>
                  <a:srgbClr val="E7EDF8"/>
                </a:solidFill>
                <a:latin typeface="Courier New"/>
                <a:ea typeface="Courier New"/>
                <a:cs typeface="Courier New"/>
                <a:sym typeface="Courier New"/>
              </a:rPr>
              <a:t>Layer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3" name="Google Shape;1413;p97"/>
          <p:cNvSpPr/>
          <p:nvPr/>
        </p:nvSpPr>
        <p:spPr>
          <a:xfrm>
            <a:off x="3857181" y="6422430"/>
            <a:ext cx="10573639" cy="3847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3BC"/>
                </a:solidFill>
                <a:latin typeface="Arial"/>
                <a:ea typeface="Arial"/>
                <a:cs typeface="Arial"/>
                <a:sym typeface="Arial"/>
              </a:rPr>
              <a:t>Chuẩn hoá đầu ra giữa các lớp → train ổn định và nhanh hơn. Gần như mặc định trong CNN.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18"/>
        </a:solidFill>
      </p:bgPr>
    </p:bg>
    <p:spTree>
      <p:nvGrpSpPr>
        <p:cNvPr id="1418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9" name="Google Shape;1419;p98"/>
          <p:cNvSpPr/>
          <p:nvPr/>
        </p:nvSpPr>
        <p:spPr>
          <a:xfrm>
            <a:off x="990534" y="800034"/>
            <a:ext cx="16796141" cy="334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8C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B98CFF"/>
                </a:solidFill>
                <a:latin typeface="Courier New"/>
                <a:ea typeface="Courier New"/>
                <a:cs typeface="Courier New"/>
                <a:sym typeface="Courier New"/>
              </a:rPr>
              <a:t>WEIGHT DECAY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0" name="Google Shape;1420;p98"/>
          <p:cNvSpPr/>
          <p:nvPr/>
        </p:nvSpPr>
        <p:spPr>
          <a:xfrm>
            <a:off x="990534" y="1286867"/>
            <a:ext cx="14716126" cy="6842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Weight decay (L2)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1" name="Google Shape;1421;p98"/>
          <p:cNvSpPr/>
          <p:nvPr/>
        </p:nvSpPr>
        <p:spPr>
          <a:xfrm>
            <a:off x="1466784" y="5060570"/>
            <a:ext cx="7568651" cy="4456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B98C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B98CFF"/>
                </a:solidFill>
                <a:latin typeface="Arial"/>
                <a:ea typeface="Arial"/>
                <a:cs typeface="Arial"/>
                <a:sym typeface="Arial"/>
              </a:rPr>
              <a:t>Phạt </a:t>
            </a: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các trọng số lớn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2" name="Google Shape;1422;p98"/>
          <p:cNvSpPr/>
          <p:nvPr/>
        </p:nvSpPr>
        <p:spPr>
          <a:xfrm>
            <a:off x="1466784" y="5753861"/>
            <a:ext cx="7568651" cy="4456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Giữ mô hình </a:t>
            </a:r>
            <a:r>
              <a:rPr b="1" i="0" lang="en-US" sz="2400" u="none" cap="none" strike="noStrike">
                <a:solidFill>
                  <a:srgbClr val="B98CFF"/>
                </a:solidFill>
                <a:latin typeface="Arial"/>
                <a:ea typeface="Arial"/>
                <a:cs typeface="Arial"/>
                <a:sym typeface="Arial"/>
              </a:rPr>
              <a:t>đơn giản </a:t>
            </a: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hơn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3" name="Google Shape;1423;p98"/>
          <p:cNvSpPr/>
          <p:nvPr/>
        </p:nvSpPr>
        <p:spPr>
          <a:xfrm>
            <a:off x="1466784" y="6447152"/>
            <a:ext cx="7568651" cy="4456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Nối lại norm </a:t>
            </a:r>
            <a:r>
              <a:rPr b="1" i="0" lang="en-US" sz="2400" u="none" cap="none" strike="noStrike">
                <a:solidFill>
                  <a:srgbClr val="B98CFF"/>
                </a:solidFill>
                <a:latin typeface="Arial"/>
                <a:ea typeface="Arial"/>
                <a:cs typeface="Arial"/>
                <a:sym typeface="Arial"/>
              </a:rPr>
              <a:t>L2 </a:t>
            </a: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ở Section 4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24" name="Google Shape;1424;p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86884" y="3638848"/>
            <a:ext cx="7810583" cy="46374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18"/>
        </a:solidFill>
      </p:bgPr>
    </p:bg>
    <p:spTree>
      <p:nvGrpSpPr>
        <p:cNvPr id="1429" name="Shape 1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0" name="Google Shape;1430;p99"/>
          <p:cNvSpPr/>
          <p:nvPr/>
        </p:nvSpPr>
        <p:spPr>
          <a:xfrm>
            <a:off x="990534" y="800034"/>
            <a:ext cx="16796141" cy="334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8C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B98CFF"/>
                </a:solidFill>
                <a:latin typeface="Courier New"/>
                <a:ea typeface="Courier New"/>
                <a:cs typeface="Courier New"/>
                <a:sym typeface="Courier New"/>
              </a:rPr>
              <a:t>EARLY STOPPING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1" name="Google Shape;1431;p99"/>
          <p:cNvSpPr/>
          <p:nvPr/>
        </p:nvSpPr>
        <p:spPr>
          <a:xfrm>
            <a:off x="990534" y="1286867"/>
            <a:ext cx="14716126" cy="6842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Dừng đúng lúc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2" name="Google Shape;1432;p99"/>
          <p:cNvSpPr/>
          <p:nvPr/>
        </p:nvSpPr>
        <p:spPr>
          <a:xfrm>
            <a:off x="1466784" y="5407174"/>
            <a:ext cx="7568651" cy="4456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Dừng khi </a:t>
            </a:r>
            <a:r>
              <a:rPr b="1" i="0" lang="en-US" sz="2400" u="none" cap="none" strike="noStrike">
                <a:solidFill>
                  <a:srgbClr val="B98CFF"/>
                </a:solidFill>
                <a:latin typeface="Arial"/>
                <a:ea typeface="Arial"/>
                <a:cs typeface="Arial"/>
                <a:sym typeface="Arial"/>
              </a:rPr>
              <a:t>validation loss bắt đầu tăng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3" name="Google Shape;1433;p99"/>
          <p:cNvSpPr/>
          <p:nvPr/>
        </p:nvSpPr>
        <p:spPr>
          <a:xfrm>
            <a:off x="1466784" y="6100465"/>
            <a:ext cx="7568651" cy="4456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Đơn giản, hiệu quả và </a:t>
            </a:r>
            <a:r>
              <a:rPr b="1" i="0" lang="en-US" sz="2400" u="none" cap="none" strike="noStrike">
                <a:solidFill>
                  <a:srgbClr val="B98CFF"/>
                </a:solidFill>
                <a:latin typeface="Arial"/>
                <a:ea typeface="Arial"/>
                <a:cs typeface="Arial"/>
                <a:sym typeface="Arial"/>
              </a:rPr>
              <a:t>miễn phí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34" name="Google Shape;1434;p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86884" y="3638848"/>
            <a:ext cx="7810583" cy="46374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18"/>
        </a:solidFill>
      </p:bgPr>
    </p:bg>
    <p:spTree>
      <p:nvGrpSpPr>
        <p:cNvPr id="1439" name="Shape 1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0" name="Google Shape;1440;p100"/>
          <p:cNvSpPr/>
          <p:nvPr/>
        </p:nvSpPr>
        <p:spPr>
          <a:xfrm>
            <a:off x="990534" y="800034"/>
            <a:ext cx="16796141" cy="334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8C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B98CFF"/>
                </a:solidFill>
                <a:latin typeface="Courier New"/>
                <a:ea typeface="Courier New"/>
                <a:cs typeface="Courier New"/>
                <a:sym typeface="Courier New"/>
              </a:rPr>
              <a:t>SECTION 7 · LECTURE 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1" name="Google Shape;1441;p100"/>
          <p:cNvSpPr/>
          <p:nvPr/>
        </p:nvSpPr>
        <p:spPr>
          <a:xfrm>
            <a:off x="990534" y="1286867"/>
            <a:ext cx="14716126" cy="6842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Tóm tắt &amp; chuyển bài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2" name="Google Shape;1442;p100"/>
          <p:cNvSpPr/>
          <p:nvPr/>
        </p:nvSpPr>
        <p:spPr>
          <a:xfrm>
            <a:off x="990534" y="4545873"/>
            <a:ext cx="16796141" cy="3185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86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5C6B86"/>
                </a:solidFill>
                <a:latin typeface="Courier New"/>
                <a:ea typeface="Courier New"/>
                <a:cs typeface="Courier New"/>
                <a:sym typeface="Courier New"/>
              </a:rPr>
              <a:t>ĐÃ HỌC TRONG BÀI NÀY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3" name="Google Shape;1443;p100"/>
          <p:cNvSpPr/>
          <p:nvPr/>
        </p:nvSpPr>
        <p:spPr>
          <a:xfrm>
            <a:off x="990534" y="5264465"/>
            <a:ext cx="1820499" cy="676176"/>
          </a:xfrm>
          <a:prstGeom prst="roundRect">
            <a:avLst>
              <a:gd fmla="val 50000" name="adj"/>
            </a:avLst>
          </a:prstGeom>
          <a:solidFill>
            <a:srgbClr val="131C2E"/>
          </a:solidFill>
          <a:ln cap="flat" cmpd="sng" w="9525">
            <a:solidFill>
              <a:srgbClr val="FFFFFF">
                <a:alpha val="1686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4" name="Google Shape;1444;p100"/>
          <p:cNvSpPr/>
          <p:nvPr/>
        </p:nvSpPr>
        <p:spPr>
          <a:xfrm>
            <a:off x="1300626" y="5441206"/>
            <a:ext cx="1276515" cy="3607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E7EDF8"/>
                </a:solidFill>
                <a:latin typeface="Courier New"/>
                <a:ea typeface="Courier New"/>
                <a:cs typeface="Courier New"/>
                <a:sym typeface="Courier New"/>
              </a:rPr>
              <a:t>dropout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5" name="Google Shape;1445;p100"/>
          <p:cNvSpPr/>
          <p:nvPr/>
        </p:nvSpPr>
        <p:spPr>
          <a:xfrm>
            <a:off x="3001533" y="5264465"/>
            <a:ext cx="2163465" cy="676176"/>
          </a:xfrm>
          <a:prstGeom prst="roundRect">
            <a:avLst>
              <a:gd fmla="val 50000" name="adj"/>
            </a:avLst>
          </a:prstGeom>
          <a:solidFill>
            <a:srgbClr val="131C2E"/>
          </a:solidFill>
          <a:ln cap="flat" cmpd="sng" w="9525">
            <a:solidFill>
              <a:srgbClr val="FFFFFF">
                <a:alpha val="1686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6" name="Google Shape;1446;p100"/>
          <p:cNvSpPr/>
          <p:nvPr/>
        </p:nvSpPr>
        <p:spPr>
          <a:xfrm>
            <a:off x="3311624" y="5441206"/>
            <a:ext cx="1619482" cy="3607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E7EDF8"/>
                </a:solidFill>
                <a:latin typeface="Courier New"/>
                <a:ea typeface="Courier New"/>
                <a:cs typeface="Courier New"/>
                <a:sym typeface="Courier New"/>
              </a:rPr>
              <a:t>batchnorm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7" name="Google Shape;1447;p100"/>
          <p:cNvSpPr/>
          <p:nvPr/>
        </p:nvSpPr>
        <p:spPr>
          <a:xfrm>
            <a:off x="5355498" y="5264465"/>
            <a:ext cx="2677914" cy="676176"/>
          </a:xfrm>
          <a:prstGeom prst="roundRect">
            <a:avLst>
              <a:gd fmla="val 50000" name="adj"/>
            </a:avLst>
          </a:prstGeom>
          <a:solidFill>
            <a:srgbClr val="131C2E"/>
          </a:solidFill>
          <a:ln cap="flat" cmpd="sng" w="9525">
            <a:solidFill>
              <a:srgbClr val="FFFFFF">
                <a:alpha val="1686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8" name="Google Shape;1448;p100"/>
          <p:cNvSpPr/>
          <p:nvPr/>
        </p:nvSpPr>
        <p:spPr>
          <a:xfrm>
            <a:off x="5665589" y="5441206"/>
            <a:ext cx="2138068" cy="3607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E7EDF8"/>
                </a:solidFill>
                <a:latin typeface="Courier New"/>
                <a:ea typeface="Courier New"/>
                <a:cs typeface="Courier New"/>
                <a:sym typeface="Courier New"/>
              </a:rPr>
              <a:t>weight decay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9" name="Google Shape;1449;p100"/>
          <p:cNvSpPr/>
          <p:nvPr/>
        </p:nvSpPr>
        <p:spPr>
          <a:xfrm>
            <a:off x="8223912" y="5264465"/>
            <a:ext cx="3020880" cy="676176"/>
          </a:xfrm>
          <a:prstGeom prst="roundRect">
            <a:avLst>
              <a:gd fmla="val 50000" name="adj"/>
            </a:avLst>
          </a:prstGeom>
          <a:solidFill>
            <a:srgbClr val="131C2E"/>
          </a:solidFill>
          <a:ln cap="flat" cmpd="sng" w="9525">
            <a:solidFill>
              <a:srgbClr val="FFFFFF">
                <a:alpha val="1686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0" name="Google Shape;1450;p100"/>
          <p:cNvSpPr/>
          <p:nvPr/>
        </p:nvSpPr>
        <p:spPr>
          <a:xfrm>
            <a:off x="8534004" y="5441206"/>
            <a:ext cx="2491324" cy="3607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E7EDF8"/>
                </a:solidFill>
                <a:latin typeface="Courier New"/>
                <a:ea typeface="Courier New"/>
                <a:cs typeface="Courier New"/>
                <a:sym typeface="Courier New"/>
              </a:rPr>
              <a:t>early stopping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1" name="Google Shape;1451;p100"/>
          <p:cNvSpPr/>
          <p:nvPr/>
        </p:nvSpPr>
        <p:spPr>
          <a:xfrm>
            <a:off x="990534" y="6512058"/>
            <a:ext cx="16306933" cy="9525"/>
          </a:xfrm>
          <a:prstGeom prst="rect">
            <a:avLst/>
          </a:prstGeom>
          <a:solidFill>
            <a:srgbClr val="FFFFFF">
              <a:alpha val="901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2" name="Google Shape;1452;p100"/>
          <p:cNvSpPr/>
          <p:nvPr/>
        </p:nvSpPr>
        <p:spPr>
          <a:xfrm>
            <a:off x="990534" y="6993599"/>
            <a:ext cx="2394529" cy="3185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86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5C6B86"/>
                </a:solidFill>
                <a:latin typeface="Courier New"/>
                <a:ea typeface="Courier New"/>
                <a:cs typeface="Courier New"/>
                <a:sym typeface="Courier New"/>
              </a:rPr>
              <a:t>BÀI TIẾP THEO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3" name="Google Shape;1453;p100"/>
          <p:cNvSpPr/>
          <p:nvPr/>
        </p:nvSpPr>
        <p:spPr>
          <a:xfrm>
            <a:off x="3556496" y="6914720"/>
            <a:ext cx="514416" cy="4762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98CFF"/>
              </a:buClr>
              <a:buSzPts val="3450"/>
              <a:buFont typeface="Arial"/>
              <a:buNone/>
            </a:pPr>
            <a:r>
              <a:rPr b="0" i="0" lang="en-US" sz="3450" u="none" cap="none" strike="noStrike">
                <a:solidFill>
                  <a:srgbClr val="B98CF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4" name="Google Shape;1454;p100"/>
          <p:cNvSpPr/>
          <p:nvPr/>
        </p:nvSpPr>
        <p:spPr>
          <a:xfrm>
            <a:off x="4242346" y="6898349"/>
            <a:ext cx="2718395" cy="5090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PyTorch cấp tốc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18"/>
        </a:solidFill>
      </p:bgPr>
    </p:bg>
    <p:spTree>
      <p:nvGrpSpPr>
        <p:cNvPr id="1459" name="Shape 1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0" name="Google Shape;1460;p101"/>
          <p:cNvSpPr/>
          <p:nvPr/>
        </p:nvSpPr>
        <p:spPr>
          <a:xfrm>
            <a:off x="12057807" y="3609992"/>
            <a:ext cx="5632239" cy="31051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500"/>
              <a:buFont typeface="Arial"/>
              <a:buNone/>
            </a:pPr>
            <a:r>
              <a:rPr b="1" i="0" lang="en-US" sz="34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 b="0" i="0" sz="3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1" name="Google Shape;1461;p101"/>
          <p:cNvSpPr/>
          <p:nvPr/>
        </p:nvSpPr>
        <p:spPr>
          <a:xfrm>
            <a:off x="990534" y="4152966"/>
            <a:ext cx="16796141" cy="334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8C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B98CFF"/>
                </a:solidFill>
                <a:latin typeface="Courier New"/>
                <a:ea typeface="Courier New"/>
                <a:cs typeface="Courier New"/>
                <a:sym typeface="Courier New"/>
              </a:rPr>
              <a:t>SECTION 7 · LECTURE 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2" name="Google Shape;1462;p101"/>
          <p:cNvSpPr/>
          <p:nvPr/>
        </p:nvSpPr>
        <p:spPr>
          <a:xfrm>
            <a:off x="990534" y="4773084"/>
            <a:ext cx="12753976" cy="8899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6450"/>
              <a:buFont typeface="Arial"/>
              <a:buNone/>
            </a:pPr>
            <a:r>
              <a:rPr b="1" i="0" lang="en-US" sz="645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PyTorch cấp tốc</a:t>
            </a:r>
            <a:endParaRPr b="0" i="0" sz="6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3" name="Google Shape;1463;p101"/>
          <p:cNvSpPr/>
          <p:nvPr/>
        </p:nvSpPr>
        <p:spPr>
          <a:xfrm>
            <a:off x="990534" y="5948743"/>
            <a:ext cx="16796141" cy="31855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93A3BC"/>
                </a:solidFill>
                <a:latin typeface="Courier New"/>
                <a:ea typeface="Courier New"/>
                <a:cs typeface="Courier New"/>
                <a:sym typeface="Courier New"/>
              </a:rPr>
              <a:t>~10 phút · 7 slides · screen recording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18"/>
        </a:solidFill>
      </p:bgPr>
    </p:bg>
    <p:spTree>
      <p:nvGrpSpPr>
        <p:cNvPr id="1468" name="Shape 1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9" name="Google Shape;1469;p102"/>
          <p:cNvSpPr/>
          <p:nvPr/>
        </p:nvSpPr>
        <p:spPr>
          <a:xfrm>
            <a:off x="990534" y="800034"/>
            <a:ext cx="16796141" cy="334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8C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B98CFF"/>
                </a:solidFill>
                <a:latin typeface="Courier New"/>
                <a:ea typeface="Courier New"/>
                <a:cs typeface="Courier New"/>
                <a:sym typeface="Courier New"/>
              </a:rPr>
              <a:t>TENSOR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0" name="Google Shape;1470;p102"/>
          <p:cNvSpPr/>
          <p:nvPr/>
        </p:nvSpPr>
        <p:spPr>
          <a:xfrm>
            <a:off x="990534" y="1286867"/>
            <a:ext cx="14716126" cy="6842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Tensor — khối dữ liệu cơ bản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1" name="Google Shape;1471;p102"/>
          <p:cNvSpPr/>
          <p:nvPr/>
        </p:nvSpPr>
        <p:spPr>
          <a:xfrm>
            <a:off x="990534" y="4360168"/>
            <a:ext cx="9216430" cy="3194926"/>
          </a:xfrm>
          <a:prstGeom prst="roundRect">
            <a:avLst>
              <a:gd fmla="val 4770" name="adj"/>
            </a:avLst>
          </a:prstGeom>
          <a:solidFill>
            <a:srgbClr val="131C2E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571500" rotWithShape="0" algn="bl" dir="5400000" dist="228600">
              <a:srgbClr val="000000">
                <a:alpha val="8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2" name="Google Shape;1472;p102"/>
          <p:cNvSpPr/>
          <p:nvPr/>
        </p:nvSpPr>
        <p:spPr>
          <a:xfrm>
            <a:off x="995826" y="4365460"/>
            <a:ext cx="9205847" cy="607384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3" name="Google Shape;1473;p102"/>
          <p:cNvSpPr/>
          <p:nvPr/>
        </p:nvSpPr>
        <p:spPr>
          <a:xfrm>
            <a:off x="995826" y="4967552"/>
            <a:ext cx="9205847" cy="9525"/>
          </a:xfrm>
          <a:prstGeom prst="rect">
            <a:avLst/>
          </a:prstGeom>
          <a:solidFill>
            <a:srgbClr val="FFFFFF">
              <a:alpha val="901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4" name="Google Shape;1474;p102"/>
          <p:cNvSpPr/>
          <p:nvPr/>
        </p:nvSpPr>
        <p:spPr>
          <a:xfrm>
            <a:off x="1243459" y="4604577"/>
            <a:ext cx="123775" cy="123775"/>
          </a:xfrm>
          <a:prstGeom prst="ellipse">
            <a:avLst/>
          </a:prstGeom>
          <a:solidFill>
            <a:srgbClr val="3949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5" name="Google Shape;1475;p102"/>
          <p:cNvSpPr/>
          <p:nvPr/>
        </p:nvSpPr>
        <p:spPr>
          <a:xfrm>
            <a:off x="1471993" y="4604577"/>
            <a:ext cx="123775" cy="123775"/>
          </a:xfrm>
          <a:prstGeom prst="ellipse">
            <a:avLst/>
          </a:prstGeom>
          <a:solidFill>
            <a:srgbClr val="3949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6" name="Google Shape;1476;p102"/>
          <p:cNvSpPr/>
          <p:nvPr/>
        </p:nvSpPr>
        <p:spPr>
          <a:xfrm>
            <a:off x="1700527" y="4604577"/>
            <a:ext cx="123775" cy="123775"/>
          </a:xfrm>
          <a:prstGeom prst="ellipse">
            <a:avLst/>
          </a:prstGeom>
          <a:solidFill>
            <a:srgbClr val="3949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7" name="Google Shape;1477;p102"/>
          <p:cNvSpPr/>
          <p:nvPr/>
        </p:nvSpPr>
        <p:spPr>
          <a:xfrm>
            <a:off x="2062344" y="4536860"/>
            <a:ext cx="1372328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93A3BC"/>
                </a:solidFill>
                <a:latin typeface="Courier New"/>
                <a:ea typeface="Courier New"/>
                <a:cs typeface="Courier New"/>
                <a:sym typeface="Courier New"/>
              </a:rPr>
              <a:t>tensor.py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8" name="Google Shape;1478;p102"/>
          <p:cNvSpPr/>
          <p:nvPr/>
        </p:nvSpPr>
        <p:spPr>
          <a:xfrm>
            <a:off x="1319676" y="5258594"/>
            <a:ext cx="8834322" cy="20435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B98CFF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B98CFF"/>
                </a:solidFill>
                <a:latin typeface="Courier New"/>
                <a:ea typeface="Courier New"/>
                <a:cs typeface="Courier New"/>
                <a:sym typeface="Courier New"/>
              </a:rPr>
              <a:t>import </a:t>
            </a: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 torch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50"/>
              <a:buFont typeface="Calibri"/>
              <a:buNone/>
            </a:pPr>
            <a:r>
              <a:t/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D6E2F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x = torch.tensor([[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F4B86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F4B860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., </a:t>
            </a:r>
            <a:r>
              <a:rPr b="0" i="0" lang="en-US" sz="1950" u="none" cap="none" strike="noStrike">
                <a:solidFill>
                  <a:srgbClr val="F4B860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.], [</a:t>
            </a:r>
            <a:r>
              <a:rPr b="0" i="0" lang="en-US" sz="1950" u="none" cap="none" strike="noStrike">
                <a:solidFill>
                  <a:srgbClr val="F4B860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., </a:t>
            </a:r>
            <a:r>
              <a:rPr b="0" i="0" lang="en-US" sz="1950" u="none" cap="none" strike="noStrike">
                <a:solidFill>
                  <a:srgbClr val="F4B860"/>
                </a:solidFill>
                <a:latin typeface="Courier New"/>
                <a:ea typeface="Courier New"/>
                <a:cs typeface="Courier New"/>
                <a:sym typeface="Courier New"/>
              </a:rPr>
              <a:t>4 </a:t>
            </a: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.]])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D6E2F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x = x.to( 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86E3A8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86E3A8"/>
                </a:solidFill>
                <a:latin typeface="Courier New"/>
                <a:ea typeface="Courier New"/>
                <a:cs typeface="Courier New"/>
                <a:sym typeface="Courier New"/>
              </a:rPr>
              <a:t>"cuda"</a:t>
            </a: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)          </a:t>
            </a:r>
            <a:r>
              <a:rPr b="0" i="1" lang="en-US" sz="1950" u="none" cap="none" strike="noStrike">
                <a:solidFill>
                  <a:srgbClr val="5E7286"/>
                </a:solidFill>
                <a:latin typeface="Courier New"/>
                <a:ea typeface="Courier New"/>
                <a:cs typeface="Courier New"/>
                <a:sym typeface="Courier New"/>
              </a:rPr>
              <a:t># chuyen len GPU </a:t>
            </a:r>
            <a:r>
              <a:rPr b="0" i="0" lang="en-US" sz="1950" u="none" cap="none" strike="noStrike">
                <a:solidFill>
                  <a:srgbClr val="B98CFF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(x.shape, x.device)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9" name="Google Shape;1479;p102"/>
          <p:cNvSpPr/>
          <p:nvPr/>
        </p:nvSpPr>
        <p:spPr>
          <a:xfrm>
            <a:off x="11714593" y="5409820"/>
            <a:ext cx="5408497" cy="4456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Giống </a:t>
            </a:r>
            <a:r>
              <a:rPr b="1" i="0" lang="en-US" sz="2400" u="none" cap="none" strike="noStrike">
                <a:solidFill>
                  <a:srgbClr val="B98CFF"/>
                </a:solidFill>
                <a:latin typeface="Arial"/>
                <a:ea typeface="Arial"/>
                <a:cs typeface="Arial"/>
                <a:sym typeface="Arial"/>
              </a:rPr>
              <a:t>NumPy array </a:t>
            </a: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+ chạy được </a:t>
            </a:r>
            <a:r>
              <a:rPr b="1" i="0" lang="en-US" sz="2400" u="none" cap="none" strike="noStrike">
                <a:solidFill>
                  <a:srgbClr val="B98CFF"/>
                </a:solidFill>
                <a:latin typeface="Arial"/>
                <a:ea typeface="Arial"/>
                <a:cs typeface="Arial"/>
                <a:sym typeface="Arial"/>
              </a:rPr>
              <a:t>GPU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0" name="Google Shape;1480;p102"/>
          <p:cNvSpPr/>
          <p:nvPr/>
        </p:nvSpPr>
        <p:spPr>
          <a:xfrm>
            <a:off x="11714593" y="6103111"/>
            <a:ext cx="5408497" cy="44034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Nối lại tensor ở Section 4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18"/>
        </a:solidFill>
      </p:bgPr>
    </p:bg>
    <p:spTree>
      <p:nvGrpSpPr>
        <p:cNvPr id="1485" name="Shape 1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6" name="Google Shape;1486;p103"/>
          <p:cNvSpPr/>
          <p:nvPr/>
        </p:nvSpPr>
        <p:spPr>
          <a:xfrm>
            <a:off x="990534" y="800034"/>
            <a:ext cx="16796141" cy="334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8C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B98CFF"/>
                </a:solidFill>
                <a:latin typeface="Courier New"/>
                <a:ea typeface="Courier New"/>
                <a:cs typeface="Courier New"/>
                <a:sym typeface="Courier New"/>
              </a:rPr>
              <a:t>AUTOGRAD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7" name="Google Shape;1487;p103"/>
          <p:cNvSpPr/>
          <p:nvPr/>
        </p:nvSpPr>
        <p:spPr>
          <a:xfrm>
            <a:off x="990534" y="1286867"/>
            <a:ext cx="14716126" cy="6842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Autograd — tự tính gradient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8" name="Google Shape;1488;p103"/>
          <p:cNvSpPr/>
          <p:nvPr/>
        </p:nvSpPr>
        <p:spPr>
          <a:xfrm>
            <a:off x="990534" y="4560673"/>
            <a:ext cx="9216430" cy="2793835"/>
          </a:xfrm>
          <a:prstGeom prst="roundRect">
            <a:avLst>
              <a:gd fmla="val 5455" name="adj"/>
            </a:avLst>
          </a:prstGeom>
          <a:solidFill>
            <a:srgbClr val="131C2E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571500" rotWithShape="0" algn="bl" dir="5400000" dist="228600">
              <a:srgbClr val="000000">
                <a:alpha val="8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9" name="Google Shape;1489;p103"/>
          <p:cNvSpPr/>
          <p:nvPr/>
        </p:nvSpPr>
        <p:spPr>
          <a:xfrm>
            <a:off x="995826" y="4565964"/>
            <a:ext cx="9205847" cy="607384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0" name="Google Shape;1490;p103"/>
          <p:cNvSpPr/>
          <p:nvPr/>
        </p:nvSpPr>
        <p:spPr>
          <a:xfrm>
            <a:off x="995826" y="5168057"/>
            <a:ext cx="9205847" cy="9525"/>
          </a:xfrm>
          <a:prstGeom prst="rect">
            <a:avLst/>
          </a:prstGeom>
          <a:solidFill>
            <a:srgbClr val="FFFFFF">
              <a:alpha val="901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1" name="Google Shape;1491;p103"/>
          <p:cNvSpPr/>
          <p:nvPr/>
        </p:nvSpPr>
        <p:spPr>
          <a:xfrm>
            <a:off x="1243459" y="4805082"/>
            <a:ext cx="123775" cy="123775"/>
          </a:xfrm>
          <a:prstGeom prst="ellipse">
            <a:avLst/>
          </a:prstGeom>
          <a:solidFill>
            <a:srgbClr val="3949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2" name="Google Shape;1492;p103"/>
          <p:cNvSpPr/>
          <p:nvPr/>
        </p:nvSpPr>
        <p:spPr>
          <a:xfrm>
            <a:off x="1471993" y="4805082"/>
            <a:ext cx="123775" cy="123775"/>
          </a:xfrm>
          <a:prstGeom prst="ellipse">
            <a:avLst/>
          </a:prstGeom>
          <a:solidFill>
            <a:srgbClr val="3949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3" name="Google Shape;1493;p103"/>
          <p:cNvSpPr/>
          <p:nvPr/>
        </p:nvSpPr>
        <p:spPr>
          <a:xfrm>
            <a:off x="1700527" y="4805082"/>
            <a:ext cx="123775" cy="123775"/>
          </a:xfrm>
          <a:prstGeom prst="ellipse">
            <a:avLst/>
          </a:prstGeom>
          <a:solidFill>
            <a:srgbClr val="3949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4" name="Google Shape;1494;p103"/>
          <p:cNvSpPr/>
          <p:nvPr/>
        </p:nvSpPr>
        <p:spPr>
          <a:xfrm>
            <a:off x="2062344" y="4737365"/>
            <a:ext cx="1660310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93A3BC"/>
                </a:solidFill>
                <a:latin typeface="Courier New"/>
                <a:ea typeface="Courier New"/>
                <a:cs typeface="Courier New"/>
                <a:sym typeface="Courier New"/>
              </a:rPr>
              <a:t>autograd.py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5" name="Google Shape;1495;p103"/>
          <p:cNvSpPr/>
          <p:nvPr/>
        </p:nvSpPr>
        <p:spPr>
          <a:xfrm>
            <a:off x="1319676" y="5459099"/>
            <a:ext cx="8834322" cy="16424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D6E2F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w = torch.tensor(</a:t>
            </a:r>
            <a:r>
              <a:rPr b="0" i="0" lang="en-US" sz="1950" u="none" cap="none" strike="noStrike">
                <a:solidFill>
                  <a:srgbClr val="F4B860"/>
                </a:solidFill>
                <a:latin typeface="Courier New"/>
                <a:ea typeface="Courier New"/>
                <a:cs typeface="Courier New"/>
                <a:sym typeface="Courier New"/>
              </a:rPr>
              <a:t>2.0</a:t>
            </a: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, requires_grad=</a:t>
            </a:r>
            <a:r>
              <a:rPr b="0" i="0" lang="en-US" sz="1950" u="none" cap="none" strike="noStrike">
                <a:solidFill>
                  <a:srgbClr val="B98CFF"/>
                </a:solidFill>
                <a:latin typeface="Courier New"/>
                <a:ea typeface="Courier New"/>
                <a:cs typeface="Courier New"/>
                <a:sym typeface="Courier New"/>
              </a:rPr>
              <a:t>True </a:t>
            </a: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D6E2F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loss = (w *  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F4B86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F4B860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 - </a:t>
            </a:r>
            <a:r>
              <a:rPr b="0" i="0" lang="en-US" sz="1950" u="none" cap="none" strike="noStrike">
                <a:solidFill>
                  <a:srgbClr val="F4B860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) ** </a:t>
            </a:r>
            <a:r>
              <a:rPr b="0" i="0" lang="en-US" sz="1950" u="none" cap="none" strike="noStrike">
                <a:solidFill>
                  <a:srgbClr val="F4B860"/>
                </a:solidFill>
                <a:latin typeface="Courier New"/>
                <a:ea typeface="Courier New"/>
                <a:cs typeface="Courier New"/>
                <a:sym typeface="Courier New"/>
              </a:rPr>
              <a:t>2 </a:t>
            </a: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loss.backward() </a:t>
            </a:r>
            <a:r>
              <a:rPr b="0" i="0" lang="en-US" sz="1950" u="none" cap="none" strike="noStrike">
                <a:solidFill>
                  <a:srgbClr val="B98CFF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(w.grad)             </a:t>
            </a:r>
            <a:r>
              <a:rPr b="0" i="1" lang="en-US" sz="1950" u="none" cap="none" strike="noStrike">
                <a:solidFill>
                  <a:srgbClr val="5E7286"/>
                </a:solidFill>
                <a:latin typeface="Courier New"/>
                <a:ea typeface="Courier New"/>
                <a:cs typeface="Courier New"/>
                <a:sym typeface="Courier New"/>
              </a:rPr>
              <a:t># dloss/dw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6" name="Google Shape;1496;p103"/>
          <p:cNvSpPr/>
          <p:nvPr/>
        </p:nvSpPr>
        <p:spPr>
          <a:xfrm>
            <a:off x="11368980" y="5199724"/>
            <a:ext cx="6120543" cy="4456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B98C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B98CFF"/>
                </a:solidFill>
                <a:latin typeface="Arial"/>
                <a:ea typeface="Arial"/>
                <a:cs typeface="Arial"/>
                <a:sym typeface="Arial"/>
              </a:rPr>
              <a:t>Tự tính gradient </a:t>
            </a: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qua computational graph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7" name="Google Shape;1497;p103"/>
          <p:cNvSpPr/>
          <p:nvPr/>
        </p:nvSpPr>
        <p:spPr>
          <a:xfrm>
            <a:off x="11368980" y="5893015"/>
            <a:ext cx="6120543" cy="86062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Gọi </a:t>
            </a:r>
            <a:r>
              <a:rPr b="0" i="0" lang="en-US" sz="2160" u="none" cap="none" strike="noStrike">
                <a:solidFill>
                  <a:srgbClr val="CFE8FF"/>
                </a:solidFill>
                <a:highlight>
                  <a:srgbClr val="1A2740"/>
                </a:highlight>
                <a:latin typeface="Courier New"/>
                <a:ea typeface="Courier New"/>
                <a:cs typeface="Courier New"/>
                <a:sym typeface="Courier New"/>
              </a:rPr>
              <a:t>.backward() </a:t>
            </a: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— khỏi tự code backprop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18"/>
        </a:solidFill>
      </p:bgPr>
    </p:bg>
    <p:spTree>
      <p:nvGrpSpPr>
        <p:cNvPr id="1502" name="Shape 1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3" name="Google Shape;1503;p104"/>
          <p:cNvSpPr/>
          <p:nvPr/>
        </p:nvSpPr>
        <p:spPr>
          <a:xfrm>
            <a:off x="990534" y="800034"/>
            <a:ext cx="16796141" cy="334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8C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B98CFF"/>
                </a:solidFill>
                <a:latin typeface="Courier New"/>
                <a:ea typeface="Courier New"/>
                <a:cs typeface="Courier New"/>
                <a:sym typeface="Courier New"/>
              </a:rPr>
              <a:t>NN.MODULE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4" name="Google Shape;1504;p104"/>
          <p:cNvSpPr/>
          <p:nvPr/>
        </p:nvSpPr>
        <p:spPr>
          <a:xfrm>
            <a:off x="990534" y="1286867"/>
            <a:ext cx="14716126" cy="6842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Định nghĩa model bằng class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5" name="Google Shape;1505;p104"/>
          <p:cNvSpPr/>
          <p:nvPr/>
        </p:nvSpPr>
        <p:spPr>
          <a:xfrm>
            <a:off x="990534" y="3357397"/>
            <a:ext cx="9216430" cy="5200385"/>
          </a:xfrm>
          <a:prstGeom prst="roundRect">
            <a:avLst>
              <a:gd fmla="val 2931" name="adj"/>
            </a:avLst>
          </a:prstGeom>
          <a:solidFill>
            <a:srgbClr val="131C2E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571500" rotWithShape="0" algn="bl" dir="5400000" dist="228600">
              <a:srgbClr val="000000">
                <a:alpha val="8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6" name="Google Shape;1506;p104"/>
          <p:cNvSpPr/>
          <p:nvPr/>
        </p:nvSpPr>
        <p:spPr>
          <a:xfrm>
            <a:off x="995826" y="3362689"/>
            <a:ext cx="9205847" cy="607384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7" name="Google Shape;1507;p104"/>
          <p:cNvSpPr/>
          <p:nvPr/>
        </p:nvSpPr>
        <p:spPr>
          <a:xfrm>
            <a:off x="995826" y="3964781"/>
            <a:ext cx="9205847" cy="9525"/>
          </a:xfrm>
          <a:prstGeom prst="rect">
            <a:avLst/>
          </a:prstGeom>
          <a:solidFill>
            <a:srgbClr val="FFFFFF">
              <a:alpha val="901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8" name="Google Shape;1508;p104"/>
          <p:cNvSpPr/>
          <p:nvPr/>
        </p:nvSpPr>
        <p:spPr>
          <a:xfrm>
            <a:off x="1243459" y="3601806"/>
            <a:ext cx="123775" cy="123775"/>
          </a:xfrm>
          <a:prstGeom prst="ellipse">
            <a:avLst/>
          </a:prstGeom>
          <a:solidFill>
            <a:srgbClr val="3949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9" name="Google Shape;1509;p104"/>
          <p:cNvSpPr/>
          <p:nvPr/>
        </p:nvSpPr>
        <p:spPr>
          <a:xfrm>
            <a:off x="1471993" y="3601806"/>
            <a:ext cx="123775" cy="123775"/>
          </a:xfrm>
          <a:prstGeom prst="ellipse">
            <a:avLst/>
          </a:prstGeom>
          <a:solidFill>
            <a:srgbClr val="3949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0" name="Google Shape;1510;p104"/>
          <p:cNvSpPr/>
          <p:nvPr/>
        </p:nvSpPr>
        <p:spPr>
          <a:xfrm>
            <a:off x="1700527" y="3601806"/>
            <a:ext cx="123775" cy="123775"/>
          </a:xfrm>
          <a:prstGeom prst="ellipse">
            <a:avLst/>
          </a:prstGeom>
          <a:solidFill>
            <a:srgbClr val="3949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1" name="Google Shape;1511;p104"/>
          <p:cNvSpPr/>
          <p:nvPr/>
        </p:nvSpPr>
        <p:spPr>
          <a:xfrm>
            <a:off x="2062344" y="3534089"/>
            <a:ext cx="1228295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93A3BC"/>
                </a:solidFill>
                <a:latin typeface="Courier New"/>
                <a:ea typeface="Courier New"/>
                <a:cs typeface="Courier New"/>
                <a:sym typeface="Courier New"/>
              </a:rPr>
              <a:t>model.py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2" name="Google Shape;1512;p104"/>
          <p:cNvSpPr/>
          <p:nvPr/>
        </p:nvSpPr>
        <p:spPr>
          <a:xfrm>
            <a:off x="1319676" y="4255823"/>
            <a:ext cx="8834322" cy="404901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B98CFF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B98CFF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 torch.nn </a:t>
            </a:r>
            <a:r>
              <a:rPr b="0" i="0" lang="en-US" sz="1950" u="none" cap="none" strike="noStrike">
                <a:solidFill>
                  <a:srgbClr val="B98CFF"/>
                </a:solidFill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 nn </a:t>
            </a:r>
            <a:r>
              <a:rPr b="0" i="0" lang="en-US" sz="1950" u="none" cap="none" strike="noStrike">
                <a:solidFill>
                  <a:srgbClr val="B98CFF"/>
                </a:solidFill>
                <a:latin typeface="Courier New"/>
                <a:ea typeface="Courier New"/>
                <a:cs typeface="Courier New"/>
                <a:sym typeface="Courier New"/>
              </a:rPr>
              <a:t>class </a:t>
            </a: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 MLP(nn.Module):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D6E2F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B98CFF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B98CFF"/>
                </a:solidFill>
                <a:latin typeface="Courier New"/>
                <a:ea typeface="Courier New"/>
                <a:cs typeface="Courier New"/>
                <a:sym typeface="Courier New"/>
              </a:rPr>
              <a:t>def </a:t>
            </a: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 __init__(self):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D6E2F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         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B98CFF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B98CFF"/>
                </a:solidFill>
                <a:latin typeface="Courier New"/>
                <a:ea typeface="Courier New"/>
                <a:cs typeface="Courier New"/>
                <a:sym typeface="Courier New"/>
              </a:rPr>
              <a:t>super </a:t>
            </a: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().__init__()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D6E2F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        self.net = nn.Sequential(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D6E2F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nn.Linear( 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F4B86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F4B860"/>
                </a:solidFill>
                <a:latin typeface="Courier New"/>
                <a:ea typeface="Courier New"/>
                <a:cs typeface="Courier New"/>
                <a:sym typeface="Courier New"/>
              </a:rPr>
              <a:t>784</a:t>
            </a: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950" u="none" cap="none" strike="noStrike">
                <a:solidFill>
                  <a:srgbClr val="F4B860"/>
                </a:solidFill>
                <a:latin typeface="Courier New"/>
                <a:ea typeface="Courier New"/>
                <a:cs typeface="Courier New"/>
                <a:sym typeface="Courier New"/>
              </a:rPr>
              <a:t>128 </a:t>
            </a: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), nn.ReLU(),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D6E2F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nn.Linear( 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F4B86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F4B860"/>
                </a:solidFill>
                <a:latin typeface="Courier New"/>
                <a:ea typeface="Courier New"/>
                <a:cs typeface="Courier New"/>
                <a:sym typeface="Courier New"/>
              </a:rPr>
              <a:t>128</a:t>
            </a: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0" i="0" lang="en-US" sz="1950" u="none" cap="none" strike="noStrike">
                <a:solidFill>
                  <a:srgbClr val="F4B860"/>
                </a:solidFill>
                <a:latin typeface="Courier New"/>
                <a:ea typeface="Courier New"/>
                <a:cs typeface="Courier New"/>
                <a:sym typeface="Courier New"/>
              </a:rPr>
              <a:t>10 </a:t>
            </a: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))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D6E2F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B98CFF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B98CFF"/>
                </a:solidFill>
                <a:latin typeface="Courier New"/>
                <a:ea typeface="Courier New"/>
                <a:cs typeface="Courier New"/>
                <a:sym typeface="Courier New"/>
              </a:rPr>
              <a:t>def </a:t>
            </a: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 forward(self, x):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D6E2F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         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B98CFF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B98CFF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 self.net(x)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3" name="Google Shape;1513;p104"/>
          <p:cNvSpPr/>
          <p:nvPr/>
        </p:nvSpPr>
        <p:spPr>
          <a:xfrm>
            <a:off x="11857716" y="5407174"/>
            <a:ext cx="5113664" cy="4456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Định nghĩa model bằng </a:t>
            </a:r>
            <a:r>
              <a:rPr b="1" i="0" lang="en-US" sz="2400" u="none" cap="none" strike="noStrike">
                <a:solidFill>
                  <a:srgbClr val="B98CFF"/>
                </a:solidFill>
                <a:latin typeface="Arial"/>
                <a:ea typeface="Arial"/>
                <a:cs typeface="Arial"/>
                <a:sym typeface="Arial"/>
              </a:rPr>
              <a:t>class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4" name="Google Shape;1514;p104"/>
          <p:cNvSpPr/>
          <p:nvPr/>
        </p:nvSpPr>
        <p:spPr>
          <a:xfrm>
            <a:off x="11857716" y="6100465"/>
            <a:ext cx="5113664" cy="4456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Đây là lý do ta học </a:t>
            </a:r>
            <a:r>
              <a:rPr b="1" i="0" lang="en-US" sz="2400" u="none" cap="none" strike="noStrike">
                <a:solidFill>
                  <a:srgbClr val="B98CFF"/>
                </a:solidFill>
                <a:latin typeface="Arial"/>
                <a:ea typeface="Arial"/>
                <a:cs typeface="Arial"/>
                <a:sym typeface="Arial"/>
              </a:rPr>
              <a:t>OOP </a:t>
            </a: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từ Section 2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18"/>
        </a:solidFill>
      </p:bgPr>
    </p:bg>
    <p:spTree>
      <p:nvGrpSpPr>
        <p:cNvPr id="1519" name="Shape 1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0" name="Google Shape;1520;p105"/>
          <p:cNvSpPr/>
          <p:nvPr/>
        </p:nvSpPr>
        <p:spPr>
          <a:xfrm>
            <a:off x="990534" y="800034"/>
            <a:ext cx="16796141" cy="334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8C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B98CFF"/>
                </a:solidFill>
                <a:latin typeface="Courier New"/>
                <a:ea typeface="Courier New"/>
                <a:cs typeface="Courier New"/>
                <a:sym typeface="Courier New"/>
              </a:rPr>
              <a:t>TRAINING LOOP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1" name="Google Shape;1521;p105"/>
          <p:cNvSpPr/>
          <p:nvPr/>
        </p:nvSpPr>
        <p:spPr>
          <a:xfrm>
            <a:off x="990534" y="1286867"/>
            <a:ext cx="14716126" cy="6842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Vòng lặp huấn luyện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2" name="Google Shape;1522;p105"/>
          <p:cNvSpPr/>
          <p:nvPr/>
        </p:nvSpPr>
        <p:spPr>
          <a:xfrm>
            <a:off x="4000500" y="3838112"/>
            <a:ext cx="10287000" cy="3596018"/>
          </a:xfrm>
          <a:prstGeom prst="roundRect">
            <a:avLst>
              <a:gd fmla="val 4238" name="adj"/>
            </a:avLst>
          </a:prstGeom>
          <a:solidFill>
            <a:srgbClr val="131C2E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571500" rotWithShape="0" algn="bl" dir="5400000" dist="228600">
              <a:srgbClr val="000000">
                <a:alpha val="8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3" name="Google Shape;1523;p105"/>
          <p:cNvSpPr/>
          <p:nvPr/>
        </p:nvSpPr>
        <p:spPr>
          <a:xfrm>
            <a:off x="4005792" y="3843404"/>
            <a:ext cx="10276417" cy="607384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4" name="Google Shape;1524;p105"/>
          <p:cNvSpPr/>
          <p:nvPr/>
        </p:nvSpPr>
        <p:spPr>
          <a:xfrm>
            <a:off x="4005792" y="4445496"/>
            <a:ext cx="10276417" cy="9525"/>
          </a:xfrm>
          <a:prstGeom prst="rect">
            <a:avLst/>
          </a:prstGeom>
          <a:solidFill>
            <a:srgbClr val="FFFFFF">
              <a:alpha val="901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5" name="Google Shape;1525;p105"/>
          <p:cNvSpPr/>
          <p:nvPr/>
        </p:nvSpPr>
        <p:spPr>
          <a:xfrm>
            <a:off x="4253425" y="4082521"/>
            <a:ext cx="123775" cy="123775"/>
          </a:xfrm>
          <a:prstGeom prst="ellipse">
            <a:avLst/>
          </a:prstGeom>
          <a:solidFill>
            <a:srgbClr val="3949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6" name="Google Shape;1526;p105"/>
          <p:cNvSpPr/>
          <p:nvPr/>
        </p:nvSpPr>
        <p:spPr>
          <a:xfrm>
            <a:off x="4481959" y="4082521"/>
            <a:ext cx="123775" cy="123775"/>
          </a:xfrm>
          <a:prstGeom prst="ellipse">
            <a:avLst/>
          </a:prstGeom>
          <a:solidFill>
            <a:srgbClr val="3949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7" name="Google Shape;1527;p105"/>
          <p:cNvSpPr/>
          <p:nvPr/>
        </p:nvSpPr>
        <p:spPr>
          <a:xfrm>
            <a:off x="4710493" y="4082521"/>
            <a:ext cx="123775" cy="123775"/>
          </a:xfrm>
          <a:prstGeom prst="ellipse">
            <a:avLst/>
          </a:prstGeom>
          <a:solidFill>
            <a:srgbClr val="3949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8" name="Google Shape;1528;p105"/>
          <p:cNvSpPr/>
          <p:nvPr/>
        </p:nvSpPr>
        <p:spPr>
          <a:xfrm>
            <a:off x="5072311" y="4014804"/>
            <a:ext cx="1948375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93A3BC"/>
                </a:solidFill>
                <a:latin typeface="Courier New"/>
                <a:ea typeface="Courier New"/>
                <a:cs typeface="Courier New"/>
                <a:sym typeface="Courier New"/>
              </a:rPr>
              <a:t>train_loop.py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9" name="Google Shape;1529;p105"/>
          <p:cNvSpPr/>
          <p:nvPr/>
        </p:nvSpPr>
        <p:spPr>
          <a:xfrm>
            <a:off x="4329642" y="4736538"/>
            <a:ext cx="9937009" cy="24446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B98CFF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B98CFF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 epoch </a:t>
            </a:r>
            <a:r>
              <a:rPr b="0" i="0" lang="en-US" sz="1950" u="none" cap="none" strike="noStrike">
                <a:solidFill>
                  <a:srgbClr val="B98CFF"/>
                </a:solidFill>
                <a:latin typeface="Courier New"/>
                <a:ea typeface="Courier New"/>
                <a:cs typeface="Courier New"/>
                <a:sym typeface="Courier New"/>
              </a:rPr>
              <a:t>in </a:t>
            </a: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 range(epochs):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D6E2F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B98CFF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B98CFF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 xb, yb </a:t>
            </a:r>
            <a:r>
              <a:rPr b="0" i="0" lang="en-US" sz="1950" u="none" cap="none" strike="noStrike">
                <a:solidFill>
                  <a:srgbClr val="B98CFF"/>
                </a:solidFill>
                <a:latin typeface="Courier New"/>
                <a:ea typeface="Courier New"/>
                <a:cs typeface="Courier New"/>
                <a:sym typeface="Courier New"/>
              </a:rPr>
              <a:t>in </a:t>
            </a: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 loader: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D6E2F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        optimizer.zero_grad()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D6E2F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        loss = criterion(model(xb), yb)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D6E2F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        loss.backward()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D6E2F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        optimizer.step()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0" name="Google Shape;1530;p105"/>
          <p:cNvSpPr/>
          <p:nvPr/>
        </p:nvSpPr>
        <p:spPr>
          <a:xfrm>
            <a:off x="4758630" y="7719881"/>
            <a:ext cx="8770658" cy="39537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3BC"/>
                </a:solidFill>
                <a:latin typeface="Arial"/>
                <a:ea typeface="Arial"/>
                <a:cs typeface="Arial"/>
                <a:sym typeface="Arial"/>
              </a:rPr>
              <a:t>forward → loss → backward → step. Mẫu này </a:t>
            </a:r>
            <a:r>
              <a:rPr b="1" i="0" lang="en-US" sz="1950" u="none" cap="none" strike="noStrike">
                <a:solidFill>
                  <a:srgbClr val="F4B860"/>
                </a:solidFill>
                <a:latin typeface="Arial"/>
                <a:ea typeface="Arial"/>
                <a:cs typeface="Arial"/>
                <a:sym typeface="Arial"/>
              </a:rPr>
              <a:t>lặp lại </a:t>
            </a:r>
            <a:r>
              <a:rPr b="0" i="0" lang="en-US" sz="1950" u="none" cap="none" strike="noStrike">
                <a:solidFill>
                  <a:srgbClr val="93A3BC"/>
                </a:solidFill>
                <a:latin typeface="Arial"/>
                <a:ea typeface="Arial"/>
                <a:cs typeface="Arial"/>
                <a:sym typeface="Arial"/>
              </a:rPr>
              <a:t>cho mọi model PyTorch.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18"/>
        </a:solidFill>
      </p:bgPr>
    </p:bg>
    <p:spTree>
      <p:nvGrpSpPr>
        <p:cNvPr id="1535" name="Shape 1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" name="Google Shape;1536;p106"/>
          <p:cNvSpPr/>
          <p:nvPr/>
        </p:nvSpPr>
        <p:spPr>
          <a:xfrm>
            <a:off x="990534" y="800034"/>
            <a:ext cx="16796141" cy="334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8C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B98CFF"/>
                </a:solidFill>
                <a:latin typeface="Courier New"/>
                <a:ea typeface="Courier New"/>
                <a:cs typeface="Courier New"/>
                <a:sym typeface="Courier New"/>
              </a:rPr>
              <a:t>THƯ VIỆN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7" name="Google Shape;1537;p106"/>
          <p:cNvSpPr/>
          <p:nvPr/>
        </p:nvSpPr>
        <p:spPr>
          <a:xfrm>
            <a:off x="990534" y="1286867"/>
            <a:ext cx="14716126" cy="6842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Optimizer &amp; loss có sẵn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8" name="Google Shape;1538;p106"/>
          <p:cNvSpPr/>
          <p:nvPr/>
        </p:nvSpPr>
        <p:spPr>
          <a:xfrm>
            <a:off x="990534" y="4761260"/>
            <a:ext cx="9216430" cy="2392743"/>
          </a:xfrm>
          <a:prstGeom prst="roundRect">
            <a:avLst>
              <a:gd fmla="val 6369" name="adj"/>
            </a:avLst>
          </a:prstGeom>
          <a:solidFill>
            <a:srgbClr val="131C2E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571500" rotWithShape="0" algn="bl" dir="5400000" dist="228600">
              <a:srgbClr val="000000">
                <a:alpha val="8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9" name="Google Shape;1539;p106"/>
          <p:cNvSpPr/>
          <p:nvPr/>
        </p:nvSpPr>
        <p:spPr>
          <a:xfrm>
            <a:off x="995826" y="4766552"/>
            <a:ext cx="9205847" cy="607384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0" name="Google Shape;1540;p106"/>
          <p:cNvSpPr/>
          <p:nvPr/>
        </p:nvSpPr>
        <p:spPr>
          <a:xfrm>
            <a:off x="995826" y="5368644"/>
            <a:ext cx="9205847" cy="9525"/>
          </a:xfrm>
          <a:prstGeom prst="rect">
            <a:avLst/>
          </a:prstGeom>
          <a:solidFill>
            <a:srgbClr val="FFFFFF">
              <a:alpha val="901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1" name="Google Shape;1541;p106"/>
          <p:cNvSpPr/>
          <p:nvPr/>
        </p:nvSpPr>
        <p:spPr>
          <a:xfrm>
            <a:off x="1243459" y="5005669"/>
            <a:ext cx="123775" cy="123775"/>
          </a:xfrm>
          <a:prstGeom prst="ellipse">
            <a:avLst/>
          </a:prstGeom>
          <a:solidFill>
            <a:srgbClr val="3949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2" name="Google Shape;1542;p106"/>
          <p:cNvSpPr/>
          <p:nvPr/>
        </p:nvSpPr>
        <p:spPr>
          <a:xfrm>
            <a:off x="1471993" y="5005669"/>
            <a:ext cx="123775" cy="123775"/>
          </a:xfrm>
          <a:prstGeom prst="ellipse">
            <a:avLst/>
          </a:prstGeom>
          <a:solidFill>
            <a:srgbClr val="3949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3" name="Google Shape;1543;p106"/>
          <p:cNvSpPr/>
          <p:nvPr/>
        </p:nvSpPr>
        <p:spPr>
          <a:xfrm>
            <a:off x="1700527" y="5005669"/>
            <a:ext cx="123775" cy="123775"/>
          </a:xfrm>
          <a:prstGeom prst="ellipse">
            <a:avLst/>
          </a:prstGeom>
          <a:solidFill>
            <a:srgbClr val="3949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4" name="Google Shape;1544;p106"/>
          <p:cNvSpPr/>
          <p:nvPr/>
        </p:nvSpPr>
        <p:spPr>
          <a:xfrm>
            <a:off x="2062344" y="4937952"/>
            <a:ext cx="1228295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93A3BC"/>
                </a:solidFill>
                <a:latin typeface="Courier New"/>
                <a:ea typeface="Courier New"/>
                <a:cs typeface="Courier New"/>
                <a:sym typeface="Courier New"/>
              </a:rPr>
              <a:t>optim.py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5" name="Google Shape;1545;p106"/>
          <p:cNvSpPr/>
          <p:nvPr/>
        </p:nvSpPr>
        <p:spPr>
          <a:xfrm>
            <a:off x="1319676" y="5659686"/>
            <a:ext cx="8834322" cy="12413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D6E2F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optimizer = torch.optim.Adam(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D6E2F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    model.parameters(), lr= 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F4B86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F4B860"/>
                </a:solidFill>
                <a:latin typeface="Courier New"/>
                <a:ea typeface="Courier New"/>
                <a:cs typeface="Courier New"/>
                <a:sym typeface="Courier New"/>
              </a:rPr>
              <a:t>1e-3 </a:t>
            </a: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D6E2F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criterion = nn.CrossEntropyLoss()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6" name="Google Shape;1546;p106"/>
          <p:cNvSpPr/>
          <p:nvPr/>
        </p:nvSpPr>
        <p:spPr>
          <a:xfrm>
            <a:off x="11544267" y="5400808"/>
            <a:ext cx="5759368" cy="45837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CFE8FF"/>
              </a:buClr>
              <a:buSzPts val="2160"/>
              <a:buFont typeface="Courier New"/>
              <a:buNone/>
            </a:pPr>
            <a:r>
              <a:rPr b="0" i="0" lang="en-US" sz="2160" u="none" cap="none" strike="noStrike">
                <a:solidFill>
                  <a:srgbClr val="CFE8FF"/>
                </a:solidFill>
                <a:highlight>
                  <a:srgbClr val="1A2740"/>
                </a:highlight>
                <a:latin typeface="Courier New"/>
                <a:ea typeface="Courier New"/>
                <a:cs typeface="Courier New"/>
                <a:sym typeface="Courier New"/>
              </a:rPr>
              <a:t>torch.optim </a:t>
            </a: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và </a:t>
            </a:r>
            <a:r>
              <a:rPr b="0" i="0" lang="en-US" sz="2160" u="none" cap="none" strike="noStrike">
                <a:solidFill>
                  <a:srgbClr val="CFE8FF"/>
                </a:solidFill>
                <a:highlight>
                  <a:srgbClr val="1A2740"/>
                </a:highlight>
                <a:latin typeface="Courier New"/>
                <a:ea typeface="Courier New"/>
                <a:cs typeface="Courier New"/>
                <a:sym typeface="Courier New"/>
              </a:rPr>
              <a:t>torch.nn </a:t>
            </a: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loss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7" name="Google Shape;1547;p106"/>
          <p:cNvSpPr/>
          <p:nvPr/>
        </p:nvSpPr>
        <p:spPr>
          <a:xfrm>
            <a:off x="11544267" y="6106832"/>
            <a:ext cx="5759368" cy="4456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Mọi thứ đã học đều </a:t>
            </a:r>
            <a:r>
              <a:rPr b="1" i="0" lang="en-US" sz="2400" u="none" cap="none" strike="noStrike">
                <a:solidFill>
                  <a:srgbClr val="B98CFF"/>
                </a:solidFill>
                <a:latin typeface="Arial"/>
                <a:ea typeface="Arial"/>
                <a:cs typeface="Arial"/>
                <a:sym typeface="Arial"/>
              </a:rPr>
              <a:t>có sẵn </a:t>
            </a: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trong thư viện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18"/>
        </a:solidFill>
      </p:bgPr>
    </p:bg>
    <p:spTree>
      <p:nvGrpSpPr>
        <p:cNvPr id="1552" name="Shape 1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3" name="Google Shape;1553;p107"/>
          <p:cNvSpPr/>
          <p:nvPr/>
        </p:nvSpPr>
        <p:spPr>
          <a:xfrm>
            <a:off x="990534" y="800034"/>
            <a:ext cx="16796141" cy="334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8C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B98CFF"/>
                </a:solidFill>
                <a:latin typeface="Courier New"/>
                <a:ea typeface="Courier New"/>
                <a:cs typeface="Courier New"/>
                <a:sym typeface="Courier New"/>
              </a:rPr>
              <a:t>SECTION 7 · LECTURE 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4" name="Google Shape;1554;p107"/>
          <p:cNvSpPr/>
          <p:nvPr/>
        </p:nvSpPr>
        <p:spPr>
          <a:xfrm>
            <a:off x="990534" y="1286867"/>
            <a:ext cx="14716126" cy="6842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Tóm tắt &amp; chuyển bài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5" name="Google Shape;1555;p107"/>
          <p:cNvSpPr/>
          <p:nvPr/>
        </p:nvSpPr>
        <p:spPr>
          <a:xfrm>
            <a:off x="990534" y="4545873"/>
            <a:ext cx="16796141" cy="3185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86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5C6B86"/>
                </a:solidFill>
                <a:latin typeface="Courier New"/>
                <a:ea typeface="Courier New"/>
                <a:cs typeface="Courier New"/>
                <a:sym typeface="Courier New"/>
              </a:rPr>
              <a:t>ĐÃ HỌC TRONG BÀI NÀY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6" name="Google Shape;1556;p107"/>
          <p:cNvSpPr/>
          <p:nvPr/>
        </p:nvSpPr>
        <p:spPr>
          <a:xfrm>
            <a:off x="990534" y="5264465"/>
            <a:ext cx="1649016" cy="676176"/>
          </a:xfrm>
          <a:prstGeom prst="roundRect">
            <a:avLst>
              <a:gd fmla="val 50000" name="adj"/>
            </a:avLst>
          </a:prstGeom>
          <a:solidFill>
            <a:srgbClr val="131C2E"/>
          </a:solidFill>
          <a:ln cap="flat" cmpd="sng" w="9525">
            <a:solidFill>
              <a:srgbClr val="FFFFFF">
                <a:alpha val="1686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7" name="Google Shape;1557;p107"/>
          <p:cNvSpPr/>
          <p:nvPr/>
        </p:nvSpPr>
        <p:spPr>
          <a:xfrm>
            <a:off x="1300626" y="5441206"/>
            <a:ext cx="1105032" cy="3607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E7EDF8"/>
                </a:solidFill>
                <a:latin typeface="Courier New"/>
                <a:ea typeface="Courier New"/>
                <a:cs typeface="Courier New"/>
                <a:sym typeface="Courier New"/>
              </a:rPr>
              <a:t>tensor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8" name="Google Shape;1558;p107"/>
          <p:cNvSpPr/>
          <p:nvPr/>
        </p:nvSpPr>
        <p:spPr>
          <a:xfrm>
            <a:off x="2830050" y="5264465"/>
            <a:ext cx="1991982" cy="676176"/>
          </a:xfrm>
          <a:prstGeom prst="roundRect">
            <a:avLst>
              <a:gd fmla="val 50000" name="adj"/>
            </a:avLst>
          </a:prstGeom>
          <a:solidFill>
            <a:srgbClr val="131C2E"/>
          </a:solidFill>
          <a:ln cap="flat" cmpd="sng" w="9525">
            <a:solidFill>
              <a:srgbClr val="FFFFFF">
                <a:alpha val="1686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9" name="Google Shape;1559;p107"/>
          <p:cNvSpPr/>
          <p:nvPr/>
        </p:nvSpPr>
        <p:spPr>
          <a:xfrm>
            <a:off x="3140141" y="5441206"/>
            <a:ext cx="1447999" cy="3607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E7EDF8"/>
                </a:solidFill>
                <a:latin typeface="Courier New"/>
                <a:ea typeface="Courier New"/>
                <a:cs typeface="Courier New"/>
                <a:sym typeface="Courier New"/>
              </a:rPr>
              <a:t>autograd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0" name="Google Shape;1560;p107"/>
          <p:cNvSpPr/>
          <p:nvPr/>
        </p:nvSpPr>
        <p:spPr>
          <a:xfrm>
            <a:off x="5012531" y="5264465"/>
            <a:ext cx="2163465" cy="676176"/>
          </a:xfrm>
          <a:prstGeom prst="roundRect">
            <a:avLst>
              <a:gd fmla="val 50000" name="adj"/>
            </a:avLst>
          </a:prstGeom>
          <a:solidFill>
            <a:srgbClr val="131C2E"/>
          </a:solidFill>
          <a:ln cap="flat" cmpd="sng" w="9525">
            <a:solidFill>
              <a:srgbClr val="FFFFFF">
                <a:alpha val="1686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1" name="Google Shape;1561;p107"/>
          <p:cNvSpPr/>
          <p:nvPr/>
        </p:nvSpPr>
        <p:spPr>
          <a:xfrm>
            <a:off x="5322623" y="5441206"/>
            <a:ext cx="1619482" cy="3607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E7EDF8"/>
                </a:solidFill>
                <a:latin typeface="Courier New"/>
                <a:ea typeface="Courier New"/>
                <a:cs typeface="Courier New"/>
                <a:sym typeface="Courier New"/>
              </a:rPr>
              <a:t>nn.Module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2" name="Google Shape;1562;p107"/>
          <p:cNvSpPr/>
          <p:nvPr/>
        </p:nvSpPr>
        <p:spPr>
          <a:xfrm>
            <a:off x="7366496" y="5264465"/>
            <a:ext cx="2849397" cy="676176"/>
          </a:xfrm>
          <a:prstGeom prst="roundRect">
            <a:avLst>
              <a:gd fmla="val 50000" name="adj"/>
            </a:avLst>
          </a:prstGeom>
          <a:solidFill>
            <a:srgbClr val="131C2E"/>
          </a:solidFill>
          <a:ln cap="flat" cmpd="sng" w="9525">
            <a:solidFill>
              <a:srgbClr val="FFFFFF">
                <a:alpha val="1686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3" name="Google Shape;1563;p107"/>
          <p:cNvSpPr/>
          <p:nvPr/>
        </p:nvSpPr>
        <p:spPr>
          <a:xfrm>
            <a:off x="7676588" y="5441206"/>
            <a:ext cx="2314696" cy="3607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E7EDF8"/>
                </a:solidFill>
                <a:latin typeface="Courier New"/>
                <a:ea typeface="Courier New"/>
                <a:cs typeface="Courier New"/>
                <a:sym typeface="Courier New"/>
              </a:rPr>
              <a:t>training loop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4" name="Google Shape;1564;p107"/>
          <p:cNvSpPr/>
          <p:nvPr/>
        </p:nvSpPr>
        <p:spPr>
          <a:xfrm>
            <a:off x="990534" y="6512058"/>
            <a:ext cx="16306933" cy="9525"/>
          </a:xfrm>
          <a:prstGeom prst="rect">
            <a:avLst/>
          </a:prstGeom>
          <a:solidFill>
            <a:srgbClr val="FFFFFF">
              <a:alpha val="901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5" name="Google Shape;1565;p107"/>
          <p:cNvSpPr/>
          <p:nvPr/>
        </p:nvSpPr>
        <p:spPr>
          <a:xfrm>
            <a:off x="990534" y="6993599"/>
            <a:ext cx="2394529" cy="3185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86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5C6B86"/>
                </a:solidFill>
                <a:latin typeface="Courier New"/>
                <a:ea typeface="Courier New"/>
                <a:cs typeface="Courier New"/>
                <a:sym typeface="Courier New"/>
              </a:rPr>
              <a:t>BÀI TIẾP THEO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6" name="Google Shape;1566;p107"/>
          <p:cNvSpPr/>
          <p:nvPr/>
        </p:nvSpPr>
        <p:spPr>
          <a:xfrm>
            <a:off x="3556496" y="6914720"/>
            <a:ext cx="514416" cy="4762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98CFF"/>
              </a:buClr>
              <a:buSzPts val="3450"/>
              <a:buFont typeface="Arial"/>
              <a:buNone/>
            </a:pPr>
            <a:r>
              <a:rPr b="0" i="0" lang="en-US" sz="3450" u="none" cap="none" strike="noStrike">
                <a:solidFill>
                  <a:srgbClr val="B98CF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7" name="Google Shape;1567;p107"/>
          <p:cNvSpPr/>
          <p:nvPr/>
        </p:nvSpPr>
        <p:spPr>
          <a:xfrm>
            <a:off x="4242346" y="6898349"/>
            <a:ext cx="3325861" cy="5090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TensorFlow / Keras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18"/>
        </a:solidFill>
      </p:bgPr>
    </p:bg>
    <p:spTree>
      <p:nvGrpSpPr>
        <p:cNvPr id="1572" name="Shape 1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3" name="Google Shape;1573;p108"/>
          <p:cNvSpPr/>
          <p:nvPr/>
        </p:nvSpPr>
        <p:spPr>
          <a:xfrm>
            <a:off x="11979011" y="3609992"/>
            <a:ext cx="5713400" cy="31051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500"/>
              <a:buFont typeface="Arial"/>
              <a:buNone/>
            </a:pPr>
            <a:r>
              <a:rPr b="1" i="0" lang="en-US" sz="34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 b="0" i="0" sz="3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4" name="Google Shape;1574;p108"/>
          <p:cNvSpPr/>
          <p:nvPr/>
        </p:nvSpPr>
        <p:spPr>
          <a:xfrm>
            <a:off x="990534" y="4152966"/>
            <a:ext cx="16796141" cy="334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8C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B98CFF"/>
                </a:solidFill>
                <a:latin typeface="Courier New"/>
                <a:ea typeface="Courier New"/>
                <a:cs typeface="Courier New"/>
                <a:sym typeface="Courier New"/>
              </a:rPr>
              <a:t>SECTION 7 · LECTURE 9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5" name="Google Shape;1575;p108"/>
          <p:cNvSpPr/>
          <p:nvPr/>
        </p:nvSpPr>
        <p:spPr>
          <a:xfrm>
            <a:off x="990534" y="4773084"/>
            <a:ext cx="12753976" cy="8899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6450"/>
              <a:buFont typeface="Arial"/>
              <a:buNone/>
            </a:pPr>
            <a:r>
              <a:rPr b="1" i="0" lang="en-US" sz="645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TensorFlow / Keras cấp tốc</a:t>
            </a:r>
            <a:endParaRPr b="0" i="0" sz="6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6" name="Google Shape;1576;p108"/>
          <p:cNvSpPr/>
          <p:nvPr/>
        </p:nvSpPr>
        <p:spPr>
          <a:xfrm>
            <a:off x="990534" y="5948743"/>
            <a:ext cx="16796141" cy="31855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93A3BC"/>
                </a:solidFill>
                <a:latin typeface="Courier New"/>
                <a:ea typeface="Courier New"/>
                <a:cs typeface="Courier New"/>
                <a:sym typeface="Courier New"/>
              </a:rPr>
              <a:t>~7 phút · 5 slides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18"/>
        </a:solidFill>
      </p:bgPr>
    </p:bg>
    <p:spTree>
      <p:nvGrpSpPr>
        <p:cNvPr id="1581" name="Shape 1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2" name="Google Shape;1582;p109"/>
          <p:cNvSpPr/>
          <p:nvPr/>
        </p:nvSpPr>
        <p:spPr>
          <a:xfrm>
            <a:off x="990534" y="800034"/>
            <a:ext cx="16796141" cy="334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8C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B98CFF"/>
                </a:solidFill>
                <a:latin typeface="Courier New"/>
                <a:ea typeface="Courier New"/>
                <a:cs typeface="Courier New"/>
                <a:sym typeface="Courier New"/>
              </a:rPr>
              <a:t>SEQUENTIAL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3" name="Google Shape;1583;p109"/>
          <p:cNvSpPr/>
          <p:nvPr/>
        </p:nvSpPr>
        <p:spPr>
          <a:xfrm>
            <a:off x="990534" y="1286867"/>
            <a:ext cx="14716126" cy="6842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Sequential API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4" name="Google Shape;1584;p109"/>
          <p:cNvSpPr/>
          <p:nvPr/>
        </p:nvSpPr>
        <p:spPr>
          <a:xfrm>
            <a:off x="990534" y="4159581"/>
            <a:ext cx="9216430" cy="3596018"/>
          </a:xfrm>
          <a:prstGeom prst="roundRect">
            <a:avLst>
              <a:gd fmla="val 4238" name="adj"/>
            </a:avLst>
          </a:prstGeom>
          <a:solidFill>
            <a:srgbClr val="131C2E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571500" rotWithShape="0" algn="bl" dir="5400000" dist="228600">
              <a:srgbClr val="000000">
                <a:alpha val="8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5" name="Google Shape;1585;p109"/>
          <p:cNvSpPr/>
          <p:nvPr/>
        </p:nvSpPr>
        <p:spPr>
          <a:xfrm>
            <a:off x="995826" y="4164873"/>
            <a:ext cx="9205847" cy="607384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6" name="Google Shape;1586;p109"/>
          <p:cNvSpPr/>
          <p:nvPr/>
        </p:nvSpPr>
        <p:spPr>
          <a:xfrm>
            <a:off x="995826" y="4766965"/>
            <a:ext cx="9205847" cy="9525"/>
          </a:xfrm>
          <a:prstGeom prst="rect">
            <a:avLst/>
          </a:prstGeom>
          <a:solidFill>
            <a:srgbClr val="FFFFFF">
              <a:alpha val="901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7" name="Google Shape;1587;p109"/>
          <p:cNvSpPr/>
          <p:nvPr/>
        </p:nvSpPr>
        <p:spPr>
          <a:xfrm>
            <a:off x="1243459" y="4403990"/>
            <a:ext cx="123775" cy="123775"/>
          </a:xfrm>
          <a:prstGeom prst="ellipse">
            <a:avLst/>
          </a:prstGeom>
          <a:solidFill>
            <a:srgbClr val="3949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8" name="Google Shape;1588;p109"/>
          <p:cNvSpPr/>
          <p:nvPr/>
        </p:nvSpPr>
        <p:spPr>
          <a:xfrm>
            <a:off x="1471993" y="4403990"/>
            <a:ext cx="123775" cy="123775"/>
          </a:xfrm>
          <a:prstGeom prst="ellipse">
            <a:avLst/>
          </a:prstGeom>
          <a:solidFill>
            <a:srgbClr val="3949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9" name="Google Shape;1589;p109"/>
          <p:cNvSpPr/>
          <p:nvPr/>
        </p:nvSpPr>
        <p:spPr>
          <a:xfrm>
            <a:off x="1700527" y="4403990"/>
            <a:ext cx="123775" cy="123775"/>
          </a:xfrm>
          <a:prstGeom prst="ellipse">
            <a:avLst/>
          </a:prstGeom>
          <a:solidFill>
            <a:srgbClr val="3949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0" name="Google Shape;1590;p109"/>
          <p:cNvSpPr/>
          <p:nvPr/>
        </p:nvSpPr>
        <p:spPr>
          <a:xfrm>
            <a:off x="2062344" y="4336273"/>
            <a:ext cx="1948375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93A3BC"/>
                </a:solidFill>
                <a:latin typeface="Courier New"/>
                <a:ea typeface="Courier New"/>
                <a:cs typeface="Courier New"/>
                <a:sym typeface="Courier New"/>
              </a:rPr>
              <a:t>sequential.py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1" name="Google Shape;1591;p109"/>
          <p:cNvSpPr/>
          <p:nvPr/>
        </p:nvSpPr>
        <p:spPr>
          <a:xfrm>
            <a:off x="1319676" y="5058007"/>
            <a:ext cx="8834322" cy="24446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B98CFF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B98CFF"/>
                </a:solidFill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 tensorflow </a:t>
            </a:r>
            <a:r>
              <a:rPr b="0" i="0" lang="en-US" sz="1950" u="none" cap="none" strike="noStrike">
                <a:solidFill>
                  <a:srgbClr val="B98CFF"/>
                </a:solidFill>
                <a:latin typeface="Courier New"/>
                <a:ea typeface="Courier New"/>
                <a:cs typeface="Courier New"/>
                <a:sym typeface="Courier New"/>
              </a:rPr>
              <a:t>import </a:t>
            </a: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 keras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50"/>
              <a:buFont typeface="Calibri"/>
              <a:buNone/>
            </a:pPr>
            <a:r>
              <a:t/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D6E2F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model = keras.Sequential([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D6E2F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    keras.layers.Dense( 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F4B86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F4B860"/>
                </a:solidFill>
                <a:latin typeface="Courier New"/>
                <a:ea typeface="Courier New"/>
                <a:cs typeface="Courier New"/>
                <a:sym typeface="Courier New"/>
              </a:rPr>
              <a:t>128</a:t>
            </a: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, activation=</a:t>
            </a:r>
            <a:r>
              <a:rPr b="0" i="0" lang="en-US" sz="1950" u="none" cap="none" strike="noStrike">
                <a:solidFill>
                  <a:srgbClr val="86E3A8"/>
                </a:solidFill>
                <a:latin typeface="Courier New"/>
                <a:ea typeface="Courier New"/>
                <a:cs typeface="Courier New"/>
                <a:sym typeface="Courier New"/>
              </a:rPr>
              <a:t>"relu" </a:t>
            </a: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),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D6E2F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    keras.layers.Dense( 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F4B86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F4B860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,  activation=</a:t>
            </a:r>
            <a:r>
              <a:rPr b="0" i="0" lang="en-US" sz="1950" u="none" cap="none" strike="noStrike">
                <a:solidFill>
                  <a:srgbClr val="86E3A8"/>
                </a:solidFill>
                <a:latin typeface="Courier New"/>
                <a:ea typeface="Courier New"/>
                <a:cs typeface="Courier New"/>
                <a:sym typeface="Courier New"/>
              </a:rPr>
              <a:t>"softmax" </a:t>
            </a: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),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D6E2F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])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2" name="Google Shape;1592;p109"/>
          <p:cNvSpPr/>
          <p:nvPr/>
        </p:nvSpPr>
        <p:spPr>
          <a:xfrm>
            <a:off x="12250705" y="5409820"/>
            <a:ext cx="4304192" cy="4456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Xếp lớp </a:t>
            </a:r>
            <a:r>
              <a:rPr b="1" i="0" lang="en-US" sz="2400" u="none" cap="none" strike="noStrike">
                <a:solidFill>
                  <a:srgbClr val="B98CFF"/>
                </a:solidFill>
                <a:latin typeface="Arial"/>
                <a:ea typeface="Arial"/>
                <a:cs typeface="Arial"/>
                <a:sym typeface="Arial"/>
              </a:rPr>
              <a:t>tuần tự</a:t>
            </a: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, đơn giản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3" name="Google Shape;1593;p109"/>
          <p:cNvSpPr/>
          <p:nvPr/>
        </p:nvSpPr>
        <p:spPr>
          <a:xfrm>
            <a:off x="12250705" y="6103111"/>
            <a:ext cx="4304192" cy="44034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Nhanh cho các mạng đơn giản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18"/>
        </a:solidFill>
      </p:bgPr>
    </p:bg>
    <p:spTree>
      <p:nvGrpSpPr>
        <p:cNvPr id="1598" name="Shape 1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9" name="Google Shape;1599;p110"/>
          <p:cNvSpPr/>
          <p:nvPr/>
        </p:nvSpPr>
        <p:spPr>
          <a:xfrm>
            <a:off x="990534" y="800034"/>
            <a:ext cx="16796141" cy="334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8C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B98CFF"/>
                </a:solidFill>
                <a:latin typeface="Courier New"/>
                <a:ea typeface="Courier New"/>
                <a:cs typeface="Courier New"/>
                <a:sym typeface="Courier New"/>
              </a:rPr>
              <a:t>FUNCTIONAL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0" name="Google Shape;1600;p110"/>
          <p:cNvSpPr/>
          <p:nvPr/>
        </p:nvSpPr>
        <p:spPr>
          <a:xfrm>
            <a:off x="990534" y="1286867"/>
            <a:ext cx="14716126" cy="6842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Functional API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1" name="Google Shape;1601;p110"/>
          <p:cNvSpPr/>
          <p:nvPr/>
        </p:nvSpPr>
        <p:spPr>
          <a:xfrm>
            <a:off x="990534" y="4560673"/>
            <a:ext cx="9216430" cy="2793835"/>
          </a:xfrm>
          <a:prstGeom prst="roundRect">
            <a:avLst>
              <a:gd fmla="val 5455" name="adj"/>
            </a:avLst>
          </a:prstGeom>
          <a:solidFill>
            <a:srgbClr val="131C2E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571500" rotWithShape="0" algn="bl" dir="5400000" dist="228600">
              <a:srgbClr val="000000">
                <a:alpha val="8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2" name="Google Shape;1602;p110"/>
          <p:cNvSpPr/>
          <p:nvPr/>
        </p:nvSpPr>
        <p:spPr>
          <a:xfrm>
            <a:off x="995826" y="4565964"/>
            <a:ext cx="9205847" cy="607384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3" name="Google Shape;1603;p110"/>
          <p:cNvSpPr/>
          <p:nvPr/>
        </p:nvSpPr>
        <p:spPr>
          <a:xfrm>
            <a:off x="995826" y="5168057"/>
            <a:ext cx="9205847" cy="9525"/>
          </a:xfrm>
          <a:prstGeom prst="rect">
            <a:avLst/>
          </a:prstGeom>
          <a:solidFill>
            <a:srgbClr val="FFFFFF">
              <a:alpha val="901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4" name="Google Shape;1604;p110"/>
          <p:cNvSpPr/>
          <p:nvPr/>
        </p:nvSpPr>
        <p:spPr>
          <a:xfrm>
            <a:off x="1243459" y="4805082"/>
            <a:ext cx="123775" cy="123775"/>
          </a:xfrm>
          <a:prstGeom prst="ellipse">
            <a:avLst/>
          </a:prstGeom>
          <a:solidFill>
            <a:srgbClr val="3949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5" name="Google Shape;1605;p110"/>
          <p:cNvSpPr/>
          <p:nvPr/>
        </p:nvSpPr>
        <p:spPr>
          <a:xfrm>
            <a:off x="1471993" y="4805082"/>
            <a:ext cx="123775" cy="123775"/>
          </a:xfrm>
          <a:prstGeom prst="ellipse">
            <a:avLst/>
          </a:prstGeom>
          <a:solidFill>
            <a:srgbClr val="3949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6" name="Google Shape;1606;p110"/>
          <p:cNvSpPr/>
          <p:nvPr/>
        </p:nvSpPr>
        <p:spPr>
          <a:xfrm>
            <a:off x="1700527" y="4805082"/>
            <a:ext cx="123775" cy="123775"/>
          </a:xfrm>
          <a:prstGeom prst="ellipse">
            <a:avLst/>
          </a:prstGeom>
          <a:solidFill>
            <a:srgbClr val="3949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7" name="Google Shape;1607;p110"/>
          <p:cNvSpPr/>
          <p:nvPr/>
        </p:nvSpPr>
        <p:spPr>
          <a:xfrm>
            <a:off x="2062344" y="4737365"/>
            <a:ext cx="1948375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93A3BC"/>
                </a:solidFill>
                <a:latin typeface="Courier New"/>
                <a:ea typeface="Courier New"/>
                <a:cs typeface="Courier New"/>
                <a:sym typeface="Courier New"/>
              </a:rPr>
              <a:t>functional.py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8" name="Google Shape;1608;p110"/>
          <p:cNvSpPr/>
          <p:nvPr/>
        </p:nvSpPr>
        <p:spPr>
          <a:xfrm>
            <a:off x="1319676" y="5459099"/>
            <a:ext cx="8834322" cy="16424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D6E2F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inp = keras.Input(shape=(</a:t>
            </a:r>
            <a:r>
              <a:rPr b="0" i="0" lang="en-US" sz="1950" u="none" cap="none" strike="noStrike">
                <a:solidFill>
                  <a:srgbClr val="F4B860"/>
                </a:solidFill>
                <a:latin typeface="Courier New"/>
                <a:ea typeface="Courier New"/>
                <a:cs typeface="Courier New"/>
                <a:sym typeface="Courier New"/>
              </a:rPr>
              <a:t>784 </a:t>
            </a: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,))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D6E2F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x   = keras.layers.Dense( 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F4B86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F4B860"/>
                </a:solidFill>
                <a:latin typeface="Courier New"/>
                <a:ea typeface="Courier New"/>
                <a:cs typeface="Courier New"/>
                <a:sym typeface="Courier New"/>
              </a:rPr>
              <a:t>128</a:t>
            </a: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, activation=</a:t>
            </a:r>
            <a:r>
              <a:rPr b="0" i="0" lang="en-US" sz="1950" u="none" cap="none" strike="noStrike">
                <a:solidFill>
                  <a:srgbClr val="86E3A8"/>
                </a:solidFill>
                <a:latin typeface="Courier New"/>
                <a:ea typeface="Courier New"/>
                <a:cs typeface="Courier New"/>
                <a:sym typeface="Courier New"/>
              </a:rPr>
              <a:t>"relu" </a:t>
            </a: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)(inp)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D6E2F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out = keras.layers.Dense( 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F4B86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F4B860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, activation=</a:t>
            </a:r>
            <a:r>
              <a:rPr b="0" i="0" lang="en-US" sz="1950" u="none" cap="none" strike="noStrike">
                <a:solidFill>
                  <a:srgbClr val="86E3A8"/>
                </a:solidFill>
                <a:latin typeface="Courier New"/>
                <a:ea typeface="Courier New"/>
                <a:cs typeface="Courier New"/>
                <a:sym typeface="Courier New"/>
              </a:rPr>
              <a:t>"softmax" </a:t>
            </a: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)(x)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D6E2F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model = keras.Model(inp, out)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9" name="Google Shape;1609;p110"/>
          <p:cNvSpPr/>
          <p:nvPr/>
        </p:nvSpPr>
        <p:spPr>
          <a:xfrm>
            <a:off x="11843660" y="5409820"/>
            <a:ext cx="5142704" cy="4456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Mạng </a:t>
            </a:r>
            <a:r>
              <a:rPr b="1" i="0" lang="en-US" sz="2400" u="none" cap="none" strike="noStrike">
                <a:solidFill>
                  <a:srgbClr val="B98CFF"/>
                </a:solidFill>
                <a:latin typeface="Arial"/>
                <a:ea typeface="Arial"/>
                <a:cs typeface="Arial"/>
                <a:sym typeface="Arial"/>
              </a:rPr>
              <a:t>phức tạp, nhiều nhánh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0" name="Google Shape;1610;p110"/>
          <p:cNvSpPr/>
          <p:nvPr/>
        </p:nvSpPr>
        <p:spPr>
          <a:xfrm>
            <a:off x="11843660" y="6103111"/>
            <a:ext cx="5142704" cy="44034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Linh hoạt hơn cho kiến trúc phức tạp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18"/>
        </a:solidFill>
      </p:bgPr>
    </p:bg>
    <p:spTree>
      <p:nvGrpSpPr>
        <p:cNvPr id="1615" name="Shape 1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6" name="Google Shape;1616;p111"/>
          <p:cNvSpPr/>
          <p:nvPr/>
        </p:nvSpPr>
        <p:spPr>
          <a:xfrm>
            <a:off x="990534" y="800034"/>
            <a:ext cx="16796141" cy="334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8C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B98CFF"/>
                </a:solidFill>
                <a:latin typeface="Courier New"/>
                <a:ea typeface="Courier New"/>
                <a:cs typeface="Courier New"/>
                <a:sym typeface="Courier New"/>
              </a:rPr>
              <a:t>TRAIN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7" name="Google Shape;1617;p111"/>
          <p:cNvSpPr/>
          <p:nvPr/>
        </p:nvSpPr>
        <p:spPr>
          <a:xfrm>
            <a:off x="990534" y="1286867"/>
            <a:ext cx="14716126" cy="6842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compile · fit · evaluate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8" name="Google Shape;1618;p111"/>
          <p:cNvSpPr/>
          <p:nvPr/>
        </p:nvSpPr>
        <p:spPr>
          <a:xfrm>
            <a:off x="4000500" y="4239204"/>
            <a:ext cx="10287000" cy="2793835"/>
          </a:xfrm>
          <a:prstGeom prst="roundRect">
            <a:avLst>
              <a:gd fmla="val 5455" name="adj"/>
            </a:avLst>
          </a:prstGeom>
          <a:solidFill>
            <a:srgbClr val="131C2E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571500" rotWithShape="0" algn="bl" dir="5400000" dist="228600">
              <a:srgbClr val="000000">
                <a:alpha val="8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9" name="Google Shape;1619;p111"/>
          <p:cNvSpPr/>
          <p:nvPr/>
        </p:nvSpPr>
        <p:spPr>
          <a:xfrm>
            <a:off x="4005792" y="4244496"/>
            <a:ext cx="10276417" cy="607384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0" name="Google Shape;1620;p111"/>
          <p:cNvSpPr/>
          <p:nvPr/>
        </p:nvSpPr>
        <p:spPr>
          <a:xfrm>
            <a:off x="4005792" y="4846588"/>
            <a:ext cx="10276417" cy="9525"/>
          </a:xfrm>
          <a:prstGeom prst="rect">
            <a:avLst/>
          </a:prstGeom>
          <a:solidFill>
            <a:srgbClr val="FFFFFF">
              <a:alpha val="901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1" name="Google Shape;1621;p111"/>
          <p:cNvSpPr/>
          <p:nvPr/>
        </p:nvSpPr>
        <p:spPr>
          <a:xfrm>
            <a:off x="4253425" y="4483613"/>
            <a:ext cx="123775" cy="123775"/>
          </a:xfrm>
          <a:prstGeom prst="ellipse">
            <a:avLst/>
          </a:prstGeom>
          <a:solidFill>
            <a:srgbClr val="3949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2" name="Google Shape;1622;p111"/>
          <p:cNvSpPr/>
          <p:nvPr/>
        </p:nvSpPr>
        <p:spPr>
          <a:xfrm>
            <a:off x="4481959" y="4483613"/>
            <a:ext cx="123775" cy="123775"/>
          </a:xfrm>
          <a:prstGeom prst="ellipse">
            <a:avLst/>
          </a:prstGeom>
          <a:solidFill>
            <a:srgbClr val="3949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3" name="Google Shape;1623;p111"/>
          <p:cNvSpPr/>
          <p:nvPr/>
        </p:nvSpPr>
        <p:spPr>
          <a:xfrm>
            <a:off x="4710493" y="4483613"/>
            <a:ext cx="123775" cy="123775"/>
          </a:xfrm>
          <a:prstGeom prst="ellipse">
            <a:avLst/>
          </a:prstGeom>
          <a:solidFill>
            <a:srgbClr val="3949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4" name="Google Shape;1624;p111"/>
          <p:cNvSpPr/>
          <p:nvPr/>
        </p:nvSpPr>
        <p:spPr>
          <a:xfrm>
            <a:off x="5072311" y="4415896"/>
            <a:ext cx="2092325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93A3BC"/>
                </a:solidFill>
                <a:latin typeface="Courier New"/>
                <a:ea typeface="Courier New"/>
                <a:cs typeface="Courier New"/>
                <a:sym typeface="Courier New"/>
              </a:rPr>
              <a:t>keras_train.py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5" name="Google Shape;1625;p111"/>
          <p:cNvSpPr/>
          <p:nvPr/>
        </p:nvSpPr>
        <p:spPr>
          <a:xfrm>
            <a:off x="4329642" y="5137630"/>
            <a:ext cx="9937009" cy="16424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D6E2F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model.compile(optimizer=</a:t>
            </a:r>
            <a:r>
              <a:rPr b="0" i="0" lang="en-US" sz="1950" u="none" cap="none" strike="noStrike">
                <a:solidFill>
                  <a:srgbClr val="86E3A8"/>
                </a:solidFill>
                <a:latin typeface="Courier New"/>
                <a:ea typeface="Courier New"/>
                <a:cs typeface="Courier New"/>
                <a:sym typeface="Courier New"/>
              </a:rPr>
              <a:t>"adam" </a:t>
            </a: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D6E2F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loss= 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86E3A8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86E3A8"/>
                </a:solidFill>
                <a:latin typeface="Courier New"/>
                <a:ea typeface="Courier New"/>
                <a:cs typeface="Courier New"/>
                <a:sym typeface="Courier New"/>
              </a:rPr>
              <a:t>"sparse_categorical_crossentropy" </a:t>
            </a: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D6E2F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metrics=[ 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86E3A8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86E3A8"/>
                </a:solidFill>
                <a:latin typeface="Courier New"/>
                <a:ea typeface="Courier New"/>
                <a:cs typeface="Courier New"/>
                <a:sym typeface="Courier New"/>
              </a:rPr>
              <a:t>"accuracy" </a:t>
            </a: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])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D6E2F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model.fit(X, y, epochs= 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F4B86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F4B860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, batch_size=</a:t>
            </a:r>
            <a:r>
              <a:rPr b="0" i="0" lang="en-US" sz="1950" u="none" cap="none" strike="noStrike">
                <a:solidFill>
                  <a:srgbClr val="F4B860"/>
                </a:solidFill>
                <a:latin typeface="Courier New"/>
                <a:ea typeface="Courier New"/>
                <a:cs typeface="Courier New"/>
                <a:sym typeface="Courier New"/>
              </a:rPr>
              <a:t>32</a:t>
            </a: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6" name="Google Shape;1626;p111"/>
          <p:cNvSpPr/>
          <p:nvPr/>
        </p:nvSpPr>
        <p:spPr>
          <a:xfrm>
            <a:off x="5971602" y="7318789"/>
            <a:ext cx="6344797" cy="39537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3BC"/>
                </a:solidFill>
                <a:latin typeface="Arial"/>
                <a:ea typeface="Arial"/>
                <a:cs typeface="Arial"/>
                <a:sym typeface="Arial"/>
              </a:rPr>
              <a:t>Quy trình train gọn của Keras — viết </a:t>
            </a:r>
            <a:r>
              <a:rPr b="1" i="0" lang="en-US" sz="1950" u="none" cap="none" strike="noStrike">
                <a:solidFill>
                  <a:srgbClr val="F4B860"/>
                </a:solidFill>
                <a:latin typeface="Arial"/>
                <a:ea typeface="Arial"/>
                <a:cs typeface="Arial"/>
                <a:sym typeface="Arial"/>
              </a:rPr>
              <a:t>ngắn hơn </a:t>
            </a:r>
            <a:r>
              <a:rPr b="0" i="0" lang="en-US" sz="1950" u="none" cap="none" strike="noStrike">
                <a:solidFill>
                  <a:srgbClr val="93A3BC"/>
                </a:solidFill>
                <a:latin typeface="Arial"/>
                <a:ea typeface="Arial"/>
                <a:cs typeface="Arial"/>
                <a:sym typeface="Arial"/>
              </a:rPr>
              <a:t>PyTorch.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18"/>
        </a:solidFill>
      </p:bgPr>
    </p:bg>
    <p:spTree>
      <p:nvGrpSpPr>
        <p:cNvPr id="1631" name="Shape 1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2" name="Google Shape;1632;p112"/>
          <p:cNvSpPr/>
          <p:nvPr/>
        </p:nvSpPr>
        <p:spPr>
          <a:xfrm>
            <a:off x="990534" y="800034"/>
            <a:ext cx="16796141" cy="334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8C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B98CFF"/>
                </a:solidFill>
                <a:latin typeface="Courier New"/>
                <a:ea typeface="Courier New"/>
                <a:cs typeface="Courier New"/>
                <a:sym typeface="Courier New"/>
              </a:rPr>
              <a:t>SO SÁNH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3" name="Google Shape;1633;p112"/>
          <p:cNvSpPr/>
          <p:nvPr/>
        </p:nvSpPr>
        <p:spPr>
          <a:xfrm>
            <a:off x="990534" y="1286867"/>
            <a:ext cx="14716126" cy="6842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PyTorch vs Keras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4" name="Google Shape;1634;p112"/>
          <p:cNvSpPr/>
          <p:nvPr/>
        </p:nvSpPr>
        <p:spPr>
          <a:xfrm>
            <a:off x="990534" y="4788958"/>
            <a:ext cx="3378316" cy="15875"/>
          </a:xfrm>
          <a:prstGeom prst="rect">
            <a:avLst/>
          </a:prstGeom>
          <a:solidFill>
            <a:srgbClr val="FFFFFF">
              <a:alpha val="1686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5" name="Google Shape;1635;p112"/>
          <p:cNvSpPr/>
          <p:nvPr/>
        </p:nvSpPr>
        <p:spPr>
          <a:xfrm>
            <a:off x="4368850" y="4788958"/>
            <a:ext cx="5947668" cy="15875"/>
          </a:xfrm>
          <a:prstGeom prst="rect">
            <a:avLst/>
          </a:prstGeom>
          <a:solidFill>
            <a:srgbClr val="FFFFFF">
              <a:alpha val="1686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6" name="Google Shape;1636;p112"/>
          <p:cNvSpPr/>
          <p:nvPr/>
        </p:nvSpPr>
        <p:spPr>
          <a:xfrm>
            <a:off x="4635550" y="4291046"/>
            <a:ext cx="5592698" cy="326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8C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B98CFF"/>
                </a:solidFill>
                <a:latin typeface="Courier New"/>
                <a:ea typeface="Courier New"/>
                <a:cs typeface="Courier New"/>
                <a:sym typeface="Courier New"/>
              </a:rPr>
              <a:t>PYTORCH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7" name="Google Shape;1637;p112"/>
          <p:cNvSpPr/>
          <p:nvPr/>
        </p:nvSpPr>
        <p:spPr>
          <a:xfrm>
            <a:off x="10316518" y="4788958"/>
            <a:ext cx="6980949" cy="15875"/>
          </a:xfrm>
          <a:prstGeom prst="rect">
            <a:avLst/>
          </a:prstGeom>
          <a:solidFill>
            <a:srgbClr val="FFFFFF">
              <a:alpha val="1686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8" name="Google Shape;1638;p112"/>
          <p:cNvSpPr/>
          <p:nvPr/>
        </p:nvSpPr>
        <p:spPr>
          <a:xfrm>
            <a:off x="10583218" y="4291046"/>
            <a:ext cx="6656977" cy="326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8C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B98CFF"/>
                </a:solidFill>
                <a:latin typeface="Courier New"/>
                <a:ea typeface="Courier New"/>
                <a:cs typeface="Courier New"/>
                <a:sym typeface="Courier New"/>
              </a:rPr>
              <a:t>KERAS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9" name="Google Shape;1639;p112"/>
          <p:cNvSpPr/>
          <p:nvPr/>
        </p:nvSpPr>
        <p:spPr>
          <a:xfrm>
            <a:off x="990534" y="5741955"/>
            <a:ext cx="3378316" cy="9525"/>
          </a:xfrm>
          <a:prstGeom prst="rect">
            <a:avLst/>
          </a:prstGeom>
          <a:solidFill>
            <a:srgbClr val="FFFFFF">
              <a:alpha val="901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0" name="Google Shape;1640;p112"/>
          <p:cNvSpPr/>
          <p:nvPr/>
        </p:nvSpPr>
        <p:spPr>
          <a:xfrm>
            <a:off x="1257234" y="5071533"/>
            <a:ext cx="2946265" cy="4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325"/>
              <a:buFont typeface="Arial"/>
              <a:buNone/>
            </a:pPr>
            <a:r>
              <a:rPr b="1" i="0" lang="en-US" sz="2325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Phong cách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1" name="Google Shape;1641;p112"/>
          <p:cNvSpPr/>
          <p:nvPr/>
        </p:nvSpPr>
        <p:spPr>
          <a:xfrm>
            <a:off x="4368850" y="5741955"/>
            <a:ext cx="5947668" cy="9525"/>
          </a:xfrm>
          <a:prstGeom prst="rect">
            <a:avLst/>
          </a:prstGeom>
          <a:solidFill>
            <a:srgbClr val="FFFFFF">
              <a:alpha val="901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2" name="Google Shape;1642;p112"/>
          <p:cNvSpPr/>
          <p:nvPr/>
        </p:nvSpPr>
        <p:spPr>
          <a:xfrm>
            <a:off x="4635550" y="5071533"/>
            <a:ext cx="5592698" cy="4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93A3BC"/>
                </a:solidFill>
                <a:latin typeface="Arial"/>
                <a:ea typeface="Arial"/>
                <a:cs typeface="Arial"/>
                <a:sym typeface="Arial"/>
              </a:rPr>
              <a:t>Linh hoạt, tường minh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3" name="Google Shape;1643;p112"/>
          <p:cNvSpPr/>
          <p:nvPr/>
        </p:nvSpPr>
        <p:spPr>
          <a:xfrm>
            <a:off x="10316518" y="5741955"/>
            <a:ext cx="6980949" cy="9525"/>
          </a:xfrm>
          <a:prstGeom prst="rect">
            <a:avLst/>
          </a:prstGeom>
          <a:solidFill>
            <a:srgbClr val="FFFFFF">
              <a:alpha val="901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4" name="Google Shape;1644;p112"/>
          <p:cNvSpPr/>
          <p:nvPr/>
        </p:nvSpPr>
        <p:spPr>
          <a:xfrm>
            <a:off x="10583218" y="5071533"/>
            <a:ext cx="6656977" cy="4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93A3BC"/>
                </a:solidFill>
                <a:latin typeface="Arial"/>
                <a:ea typeface="Arial"/>
                <a:cs typeface="Arial"/>
                <a:sym typeface="Arial"/>
              </a:rPr>
              <a:t>Ngắn gọn, cấp cao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5" name="Google Shape;1645;p112"/>
          <p:cNvSpPr/>
          <p:nvPr/>
        </p:nvSpPr>
        <p:spPr>
          <a:xfrm>
            <a:off x="990534" y="6679076"/>
            <a:ext cx="3378316" cy="9525"/>
          </a:xfrm>
          <a:prstGeom prst="rect">
            <a:avLst/>
          </a:prstGeom>
          <a:solidFill>
            <a:srgbClr val="FFFFFF">
              <a:alpha val="901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6" name="Google Shape;1646;p112"/>
          <p:cNvSpPr/>
          <p:nvPr/>
        </p:nvSpPr>
        <p:spPr>
          <a:xfrm>
            <a:off x="1257234" y="6013946"/>
            <a:ext cx="2946265" cy="4365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325"/>
              <a:buFont typeface="Arial"/>
              <a:buNone/>
            </a:pPr>
            <a:r>
              <a:rPr b="1" i="0" lang="en-US" sz="2325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Hợp với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7" name="Google Shape;1647;p112"/>
          <p:cNvSpPr/>
          <p:nvPr/>
        </p:nvSpPr>
        <p:spPr>
          <a:xfrm>
            <a:off x="4368850" y="6679076"/>
            <a:ext cx="5947668" cy="9525"/>
          </a:xfrm>
          <a:prstGeom prst="rect">
            <a:avLst/>
          </a:prstGeom>
          <a:solidFill>
            <a:srgbClr val="FFFFFF">
              <a:alpha val="901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8" name="Google Shape;1648;p112"/>
          <p:cNvSpPr/>
          <p:nvPr/>
        </p:nvSpPr>
        <p:spPr>
          <a:xfrm>
            <a:off x="4635550" y="6013946"/>
            <a:ext cx="5592698" cy="4365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93A3BC"/>
                </a:solidFill>
                <a:latin typeface="Arial"/>
                <a:ea typeface="Arial"/>
                <a:cs typeface="Arial"/>
                <a:sym typeface="Arial"/>
              </a:rPr>
              <a:t>Nghiên cứu, tuỳ biến sâu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9" name="Google Shape;1649;p112"/>
          <p:cNvSpPr/>
          <p:nvPr/>
        </p:nvSpPr>
        <p:spPr>
          <a:xfrm>
            <a:off x="10316518" y="6679076"/>
            <a:ext cx="6980949" cy="9525"/>
          </a:xfrm>
          <a:prstGeom prst="rect">
            <a:avLst/>
          </a:prstGeom>
          <a:solidFill>
            <a:srgbClr val="FFFFFF">
              <a:alpha val="901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0" name="Google Shape;1650;p112"/>
          <p:cNvSpPr/>
          <p:nvPr/>
        </p:nvSpPr>
        <p:spPr>
          <a:xfrm>
            <a:off x="10583218" y="6013946"/>
            <a:ext cx="6656977" cy="4365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93A3BC"/>
                </a:solidFill>
                <a:latin typeface="Arial"/>
                <a:ea typeface="Arial"/>
                <a:cs typeface="Arial"/>
                <a:sym typeface="Arial"/>
              </a:rPr>
              <a:t>Người mới, prototyping nhanh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1" name="Google Shape;1651;p112"/>
          <p:cNvSpPr/>
          <p:nvPr/>
        </p:nvSpPr>
        <p:spPr>
          <a:xfrm>
            <a:off x="990534" y="7616197"/>
            <a:ext cx="3378316" cy="9525"/>
          </a:xfrm>
          <a:prstGeom prst="rect">
            <a:avLst/>
          </a:prstGeom>
          <a:solidFill>
            <a:srgbClr val="FFFFFF">
              <a:alpha val="901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2" name="Google Shape;1652;p112"/>
          <p:cNvSpPr/>
          <p:nvPr/>
        </p:nvSpPr>
        <p:spPr>
          <a:xfrm>
            <a:off x="1257234" y="6951068"/>
            <a:ext cx="2946265" cy="4365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325"/>
              <a:buFont typeface="Arial"/>
              <a:buNone/>
            </a:pPr>
            <a:r>
              <a:rPr b="1" i="0" lang="en-US" sz="2325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Trong khoá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3" name="Google Shape;1653;p112"/>
          <p:cNvSpPr/>
          <p:nvPr/>
        </p:nvSpPr>
        <p:spPr>
          <a:xfrm>
            <a:off x="4368850" y="7616197"/>
            <a:ext cx="5947668" cy="9525"/>
          </a:xfrm>
          <a:prstGeom prst="rect">
            <a:avLst/>
          </a:prstGeom>
          <a:solidFill>
            <a:srgbClr val="FFFFFF">
              <a:alpha val="901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4" name="Google Shape;1654;p112"/>
          <p:cNvSpPr/>
          <p:nvPr/>
        </p:nvSpPr>
        <p:spPr>
          <a:xfrm>
            <a:off x="4635550" y="6951068"/>
            <a:ext cx="5592698" cy="4365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93A3BC"/>
                </a:solidFill>
                <a:latin typeface="Arial"/>
                <a:ea typeface="Arial"/>
                <a:cs typeface="Arial"/>
                <a:sym typeface="Arial"/>
              </a:rPr>
              <a:t>Dùng chính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5" name="Google Shape;1655;p112"/>
          <p:cNvSpPr/>
          <p:nvPr/>
        </p:nvSpPr>
        <p:spPr>
          <a:xfrm>
            <a:off x="10316518" y="7616197"/>
            <a:ext cx="6980949" cy="9525"/>
          </a:xfrm>
          <a:prstGeom prst="rect">
            <a:avLst/>
          </a:prstGeom>
          <a:solidFill>
            <a:srgbClr val="FFFFFF">
              <a:alpha val="901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6" name="Google Shape;1656;p112"/>
          <p:cNvSpPr/>
          <p:nvPr/>
        </p:nvSpPr>
        <p:spPr>
          <a:xfrm>
            <a:off x="10583218" y="6951068"/>
            <a:ext cx="6656977" cy="4365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93A3BC"/>
                </a:solidFill>
                <a:latin typeface="Arial"/>
                <a:ea typeface="Arial"/>
                <a:cs typeface="Arial"/>
                <a:sym typeface="Arial"/>
              </a:rPr>
              <a:t>Biết để đọc code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18"/>
        </a:solidFill>
      </p:bgPr>
    </p:bg>
    <p:spTree>
      <p:nvGrpSpPr>
        <p:cNvPr id="1661" name="Shape 1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2" name="Google Shape;1662;p113"/>
          <p:cNvSpPr/>
          <p:nvPr/>
        </p:nvSpPr>
        <p:spPr>
          <a:xfrm>
            <a:off x="12706285" y="3609992"/>
            <a:ext cx="4964308" cy="31051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500"/>
              <a:buFont typeface="Arial"/>
              <a:buNone/>
            </a:pPr>
            <a:r>
              <a:rPr b="1" i="0" lang="en-US" sz="34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3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3" name="Google Shape;1663;p113"/>
          <p:cNvSpPr/>
          <p:nvPr/>
        </p:nvSpPr>
        <p:spPr>
          <a:xfrm>
            <a:off x="990534" y="4152966"/>
            <a:ext cx="16796141" cy="334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8C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B98CFF"/>
                </a:solidFill>
                <a:latin typeface="Courier New"/>
                <a:ea typeface="Courier New"/>
                <a:cs typeface="Courier New"/>
                <a:sym typeface="Courier New"/>
              </a:rPr>
              <a:t>SECTION 7 · LECTURE 10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4" name="Google Shape;1664;p113"/>
          <p:cNvSpPr/>
          <p:nvPr/>
        </p:nvSpPr>
        <p:spPr>
          <a:xfrm>
            <a:off x="990534" y="4773084"/>
            <a:ext cx="12753976" cy="8899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6450"/>
              <a:buFont typeface="Arial"/>
              <a:buNone/>
            </a:pPr>
            <a:r>
              <a:rPr b="1" i="0" lang="en-US" sz="645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Vòng lặp huấn luyện thực tế</a:t>
            </a:r>
            <a:endParaRPr b="0" i="0" sz="6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5" name="Google Shape;1665;p113"/>
          <p:cNvSpPr/>
          <p:nvPr/>
        </p:nvSpPr>
        <p:spPr>
          <a:xfrm>
            <a:off x="990534" y="5948743"/>
            <a:ext cx="16796141" cy="31855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93A3BC"/>
                </a:solidFill>
                <a:latin typeface="Courier New"/>
                <a:ea typeface="Courier New"/>
                <a:cs typeface="Courier New"/>
                <a:sym typeface="Courier New"/>
              </a:rPr>
              <a:t>~7 phút · 5 slides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18"/>
        </a:solidFill>
      </p:bgPr>
    </p:bg>
    <p:spTree>
      <p:nvGrpSpPr>
        <p:cNvPr id="1670" name="Shape 1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1" name="Google Shape;1671;p114"/>
          <p:cNvSpPr/>
          <p:nvPr/>
        </p:nvSpPr>
        <p:spPr>
          <a:xfrm>
            <a:off x="990534" y="800034"/>
            <a:ext cx="16796141" cy="334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8C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B98CFF"/>
                </a:solidFill>
                <a:latin typeface="Courier New"/>
                <a:ea typeface="Courier New"/>
                <a:cs typeface="Courier New"/>
                <a:sym typeface="Courier New"/>
              </a:rPr>
              <a:t>EPOCH / BATCH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2" name="Google Shape;1672;p114"/>
          <p:cNvSpPr/>
          <p:nvPr/>
        </p:nvSpPr>
        <p:spPr>
          <a:xfrm>
            <a:off x="990534" y="1286867"/>
            <a:ext cx="14716126" cy="6842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Epoch vs Batch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3" name="Google Shape;1673;p114"/>
          <p:cNvSpPr/>
          <p:nvPr/>
        </p:nvSpPr>
        <p:spPr>
          <a:xfrm>
            <a:off x="990534" y="4611522"/>
            <a:ext cx="8010591" cy="2021748"/>
          </a:xfrm>
          <a:prstGeom prst="roundRect">
            <a:avLst>
              <a:gd fmla="val 8480" name="adj"/>
            </a:avLst>
          </a:prstGeom>
          <a:solidFill>
            <a:srgbClr val="131C2E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4" name="Google Shape;1674;p114"/>
          <p:cNvSpPr/>
          <p:nvPr/>
        </p:nvSpPr>
        <p:spPr>
          <a:xfrm>
            <a:off x="1319609" y="4959697"/>
            <a:ext cx="7573013" cy="3344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8CFF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B98CFF"/>
                </a:solidFill>
                <a:latin typeface="Courier New"/>
                <a:ea typeface="Courier New"/>
                <a:cs typeface="Courier New"/>
                <a:sym typeface="Courier New"/>
              </a:rPr>
              <a:t>EPOCH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5" name="Google Shape;1675;p114"/>
          <p:cNvSpPr/>
          <p:nvPr/>
        </p:nvSpPr>
        <p:spPr>
          <a:xfrm>
            <a:off x="1319609" y="5389315"/>
            <a:ext cx="7573013" cy="4614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Một lượt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6" name="Google Shape;1676;p114"/>
          <p:cNvSpPr/>
          <p:nvPr/>
        </p:nvSpPr>
        <p:spPr>
          <a:xfrm>
            <a:off x="1319609" y="5945932"/>
            <a:ext cx="7573013" cy="3772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93A3BC"/>
                </a:solidFill>
                <a:latin typeface="Arial"/>
                <a:ea typeface="Arial"/>
                <a:cs typeface="Arial"/>
                <a:sym typeface="Arial"/>
              </a:rPr>
              <a:t>Đi qua </a:t>
            </a:r>
            <a:r>
              <a:rPr b="1" i="0" lang="en-US" sz="1875" u="none" cap="none" strike="noStrike">
                <a:solidFill>
                  <a:srgbClr val="B98CFF"/>
                </a:solidFill>
                <a:latin typeface="Arial"/>
                <a:ea typeface="Arial"/>
                <a:cs typeface="Arial"/>
                <a:sym typeface="Arial"/>
              </a:rPr>
              <a:t>toàn bộ </a:t>
            </a:r>
            <a:r>
              <a:rPr b="0" i="0" lang="en-US" sz="1875" u="none" cap="none" strike="noStrike">
                <a:solidFill>
                  <a:srgbClr val="93A3BC"/>
                </a:solidFill>
                <a:latin typeface="Arial"/>
                <a:ea typeface="Arial"/>
                <a:cs typeface="Arial"/>
                <a:sym typeface="Arial"/>
              </a:rPr>
              <a:t>tập dữ liệu một lần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7" name="Google Shape;1677;p114"/>
          <p:cNvSpPr/>
          <p:nvPr/>
        </p:nvSpPr>
        <p:spPr>
          <a:xfrm>
            <a:off x="9286876" y="4611522"/>
            <a:ext cx="8010591" cy="2021748"/>
          </a:xfrm>
          <a:prstGeom prst="roundRect">
            <a:avLst>
              <a:gd fmla="val 8480" name="adj"/>
            </a:avLst>
          </a:prstGeom>
          <a:solidFill>
            <a:srgbClr val="131C2E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8" name="Google Shape;1678;p114"/>
          <p:cNvSpPr/>
          <p:nvPr/>
        </p:nvSpPr>
        <p:spPr>
          <a:xfrm>
            <a:off x="9615951" y="4959697"/>
            <a:ext cx="7573013" cy="3344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8CFF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B98CFF"/>
                </a:solidFill>
                <a:latin typeface="Courier New"/>
                <a:ea typeface="Courier New"/>
                <a:cs typeface="Courier New"/>
                <a:sym typeface="Courier New"/>
              </a:rPr>
              <a:t>BATCH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9" name="Google Shape;1679;p114"/>
          <p:cNvSpPr/>
          <p:nvPr/>
        </p:nvSpPr>
        <p:spPr>
          <a:xfrm>
            <a:off x="9615951" y="5389315"/>
            <a:ext cx="7573013" cy="4614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Một phần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0" name="Google Shape;1680;p114"/>
          <p:cNvSpPr/>
          <p:nvPr/>
        </p:nvSpPr>
        <p:spPr>
          <a:xfrm>
            <a:off x="9615951" y="5945932"/>
            <a:ext cx="7573013" cy="36667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93A3BC"/>
                </a:solidFill>
                <a:latin typeface="Arial"/>
                <a:ea typeface="Arial"/>
                <a:cs typeface="Arial"/>
                <a:sym typeface="Arial"/>
              </a:rPr>
              <a:t>Chia nhỏ dữ liệu để train từng bước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1" name="Google Shape;1681;p114"/>
          <p:cNvSpPr/>
          <p:nvPr/>
        </p:nvSpPr>
        <p:spPr>
          <a:xfrm>
            <a:off x="4915245" y="6957054"/>
            <a:ext cx="8457429" cy="3847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3BC"/>
                </a:solidFill>
                <a:latin typeface="Arial"/>
                <a:ea typeface="Arial"/>
                <a:cs typeface="Arial"/>
                <a:sym typeface="Arial"/>
              </a:rPr>
              <a:t>Batch size ảnh hưởng tới tốc độ và bộ nhớ — mỗi epoch gồm nhiều batch.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18"/>
        </a:solidFill>
      </p:bgPr>
    </p:bg>
    <p:spTree>
      <p:nvGrpSpPr>
        <p:cNvPr id="1686" name="Shape 1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7" name="Google Shape;1687;p115"/>
          <p:cNvSpPr/>
          <p:nvPr/>
        </p:nvSpPr>
        <p:spPr>
          <a:xfrm>
            <a:off x="990534" y="800034"/>
            <a:ext cx="16796141" cy="334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8C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B98CFF"/>
                </a:solidFill>
                <a:latin typeface="Courier New"/>
                <a:ea typeface="Courier New"/>
                <a:cs typeface="Courier New"/>
                <a:sym typeface="Courier New"/>
              </a:rPr>
              <a:t>PHẦN CỨNG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8" name="Google Shape;1688;p115"/>
          <p:cNvSpPr/>
          <p:nvPr/>
        </p:nvSpPr>
        <p:spPr>
          <a:xfrm>
            <a:off x="990534" y="1286867"/>
            <a:ext cx="14716126" cy="6842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CPU vs GPU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9" name="Google Shape;1689;p115"/>
          <p:cNvSpPr/>
          <p:nvPr/>
        </p:nvSpPr>
        <p:spPr>
          <a:xfrm>
            <a:off x="3337554" y="4538183"/>
            <a:ext cx="5334000" cy="2168343"/>
          </a:xfrm>
          <a:prstGeom prst="roundRect">
            <a:avLst>
              <a:gd fmla="val 7907" name="adj"/>
            </a:avLst>
          </a:prstGeom>
          <a:solidFill>
            <a:srgbClr val="131C2E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0" name="Google Shape;1690;p115"/>
          <p:cNvSpPr/>
          <p:nvPr/>
        </p:nvSpPr>
        <p:spPr>
          <a:xfrm>
            <a:off x="3704746" y="4905375"/>
            <a:ext cx="4737605" cy="408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250"/>
              <a:buFont typeface="Courier New"/>
              <a:buNone/>
            </a:pPr>
            <a:r>
              <a:rPr b="1" i="0" lang="en-US" sz="2250" u="none" cap="none" strike="noStrike">
                <a:solidFill>
                  <a:srgbClr val="E7EDF8"/>
                </a:solidFill>
                <a:latin typeface="Courier New"/>
                <a:ea typeface="Courier New"/>
                <a:cs typeface="Courier New"/>
                <a:sym typeface="Courier New"/>
              </a:rPr>
              <a:t>CPU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1" name="Google Shape;1691;p115"/>
          <p:cNvSpPr/>
          <p:nvPr/>
        </p:nvSpPr>
        <p:spPr>
          <a:xfrm>
            <a:off x="3531391" y="5504326"/>
            <a:ext cx="4849171" cy="8731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3BC"/>
                </a:solidFill>
                <a:latin typeface="Arial"/>
                <a:ea typeface="Arial"/>
                <a:cs typeface="Arial"/>
                <a:sym typeface="Arial"/>
              </a:rPr>
              <a:t>Ít lõi, mạnh tuần tự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3BC"/>
                </a:solidFill>
                <a:latin typeface="Arial"/>
                <a:ea typeface="Arial"/>
                <a:cs typeface="Arial"/>
                <a:sym typeface="Arial"/>
              </a:rPr>
              <a:t>Chậm với ma trận lớn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2" name="Google Shape;1692;p115"/>
          <p:cNvSpPr/>
          <p:nvPr/>
        </p:nvSpPr>
        <p:spPr>
          <a:xfrm>
            <a:off x="8995338" y="5482084"/>
            <a:ext cx="373443" cy="3185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86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5C6B86"/>
                </a:solidFill>
                <a:latin typeface="Courier New"/>
                <a:ea typeface="Courier New"/>
                <a:cs typeface="Courier New"/>
                <a:sym typeface="Courier New"/>
              </a:rPr>
              <a:t>vs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3" name="Google Shape;1693;p115"/>
          <p:cNvSpPr/>
          <p:nvPr/>
        </p:nvSpPr>
        <p:spPr>
          <a:xfrm>
            <a:off x="9616364" y="4538183"/>
            <a:ext cx="5334000" cy="2168343"/>
          </a:xfrm>
          <a:prstGeom prst="roundRect">
            <a:avLst>
              <a:gd fmla="val 7907" name="adj"/>
            </a:avLst>
          </a:prstGeom>
          <a:solidFill>
            <a:srgbClr val="131C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4" name="Google Shape;1694;p115"/>
          <p:cNvSpPr/>
          <p:nvPr/>
        </p:nvSpPr>
        <p:spPr>
          <a:xfrm>
            <a:off x="9983557" y="4905375"/>
            <a:ext cx="4737605" cy="408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8CFF"/>
              </a:buClr>
              <a:buSzPts val="2250"/>
              <a:buFont typeface="Courier New"/>
              <a:buNone/>
            </a:pPr>
            <a:r>
              <a:rPr b="1" i="0" lang="en-US" sz="2250" u="none" cap="none" strike="noStrike">
                <a:solidFill>
                  <a:srgbClr val="B98CFF"/>
                </a:solidFill>
                <a:latin typeface="Courier New"/>
                <a:ea typeface="Courier New"/>
                <a:cs typeface="Courier New"/>
                <a:sym typeface="Courier New"/>
              </a:rPr>
              <a:t>GPU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5" name="Google Shape;1695;p115"/>
          <p:cNvSpPr/>
          <p:nvPr/>
        </p:nvSpPr>
        <p:spPr>
          <a:xfrm>
            <a:off x="9810202" y="5504326"/>
            <a:ext cx="4849171" cy="8731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3BC"/>
                </a:solidFill>
                <a:latin typeface="Arial"/>
                <a:ea typeface="Arial"/>
                <a:cs typeface="Arial"/>
                <a:sym typeface="Arial"/>
              </a:rPr>
              <a:t>Hàng nghìn lõi song song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3BC"/>
                </a:solidFill>
                <a:latin typeface="Arial"/>
                <a:ea typeface="Arial"/>
                <a:cs typeface="Arial"/>
                <a:sym typeface="Arial"/>
              </a:rPr>
              <a:t>Nhanh gấp nhiều lần với ma trận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6" name="Google Shape;1696;p115"/>
          <p:cNvSpPr/>
          <p:nvPr/>
        </p:nvSpPr>
        <p:spPr>
          <a:xfrm>
            <a:off x="6662613" y="7030310"/>
            <a:ext cx="4962775" cy="3847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3BC"/>
                </a:solidFill>
                <a:latin typeface="Arial"/>
                <a:ea typeface="Arial"/>
                <a:cs typeface="Arial"/>
                <a:sym typeface="Arial"/>
              </a:rPr>
              <a:t>Tận dụng GPU miễn phí trên Google Colab.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18"/>
        </a:solidFill>
      </p:bgPr>
    </p:bg>
    <p:spTree>
      <p:nvGrpSpPr>
        <p:cNvPr id="1701" name="Shape 1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2" name="Google Shape;1702;p116"/>
          <p:cNvSpPr/>
          <p:nvPr/>
        </p:nvSpPr>
        <p:spPr>
          <a:xfrm>
            <a:off x="990534" y="800034"/>
            <a:ext cx="16796141" cy="334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8C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B98CFF"/>
                </a:solidFill>
                <a:latin typeface="Courier New"/>
                <a:ea typeface="Courier New"/>
                <a:cs typeface="Courier New"/>
                <a:sym typeface="Courier New"/>
              </a:rPr>
              <a:t>MIXED PRECISION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3" name="Google Shape;1703;p116"/>
          <p:cNvSpPr/>
          <p:nvPr/>
        </p:nvSpPr>
        <p:spPr>
          <a:xfrm>
            <a:off x="990534" y="1286867"/>
            <a:ext cx="14716126" cy="6842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float16 để tăng tốc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4" name="Google Shape;1704;p116"/>
          <p:cNvSpPr/>
          <p:nvPr/>
        </p:nvSpPr>
        <p:spPr>
          <a:xfrm>
            <a:off x="4000500" y="4038617"/>
            <a:ext cx="10287000" cy="3194926"/>
          </a:xfrm>
          <a:prstGeom prst="roundRect">
            <a:avLst>
              <a:gd fmla="val 4770" name="adj"/>
            </a:avLst>
          </a:prstGeom>
          <a:solidFill>
            <a:srgbClr val="131C2E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571500" rotWithShape="0" algn="bl" dir="5400000" dist="228600">
              <a:srgbClr val="000000">
                <a:alpha val="8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5" name="Google Shape;1705;p116"/>
          <p:cNvSpPr/>
          <p:nvPr/>
        </p:nvSpPr>
        <p:spPr>
          <a:xfrm>
            <a:off x="4005792" y="4043908"/>
            <a:ext cx="10276417" cy="607384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6" name="Google Shape;1706;p116"/>
          <p:cNvSpPr/>
          <p:nvPr/>
        </p:nvSpPr>
        <p:spPr>
          <a:xfrm>
            <a:off x="4005792" y="4646001"/>
            <a:ext cx="10276417" cy="9525"/>
          </a:xfrm>
          <a:prstGeom prst="rect">
            <a:avLst/>
          </a:prstGeom>
          <a:solidFill>
            <a:srgbClr val="FFFFFF">
              <a:alpha val="901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7" name="Google Shape;1707;p116"/>
          <p:cNvSpPr/>
          <p:nvPr/>
        </p:nvSpPr>
        <p:spPr>
          <a:xfrm>
            <a:off x="4253425" y="4283025"/>
            <a:ext cx="123775" cy="123775"/>
          </a:xfrm>
          <a:prstGeom prst="ellipse">
            <a:avLst/>
          </a:prstGeom>
          <a:solidFill>
            <a:srgbClr val="3949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8" name="Google Shape;1708;p116"/>
          <p:cNvSpPr/>
          <p:nvPr/>
        </p:nvSpPr>
        <p:spPr>
          <a:xfrm>
            <a:off x="4481959" y="4283025"/>
            <a:ext cx="123775" cy="123775"/>
          </a:xfrm>
          <a:prstGeom prst="ellipse">
            <a:avLst/>
          </a:prstGeom>
          <a:solidFill>
            <a:srgbClr val="3949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9" name="Google Shape;1709;p116"/>
          <p:cNvSpPr/>
          <p:nvPr/>
        </p:nvSpPr>
        <p:spPr>
          <a:xfrm>
            <a:off x="4710493" y="4283025"/>
            <a:ext cx="123775" cy="123775"/>
          </a:xfrm>
          <a:prstGeom prst="ellipse">
            <a:avLst/>
          </a:prstGeom>
          <a:solidFill>
            <a:srgbClr val="3949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0" name="Google Shape;1710;p116"/>
          <p:cNvSpPr/>
          <p:nvPr/>
        </p:nvSpPr>
        <p:spPr>
          <a:xfrm>
            <a:off x="5072311" y="4215309"/>
            <a:ext cx="940313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93A3BC"/>
                </a:solidFill>
                <a:latin typeface="Courier New"/>
                <a:ea typeface="Courier New"/>
                <a:cs typeface="Courier New"/>
                <a:sym typeface="Courier New"/>
              </a:rPr>
              <a:t>amp.py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1" name="Google Shape;1711;p116"/>
          <p:cNvSpPr/>
          <p:nvPr/>
        </p:nvSpPr>
        <p:spPr>
          <a:xfrm>
            <a:off x="4329642" y="4937043"/>
            <a:ext cx="9937009" cy="20435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D6E2F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scaler = torch.cuda.amp.GradScaler() </a:t>
            </a:r>
            <a:r>
              <a:rPr b="0" i="0" lang="en-US" sz="1950" u="none" cap="none" strike="noStrike">
                <a:solidFill>
                  <a:srgbClr val="B98CFF"/>
                </a:solidFill>
                <a:latin typeface="Courier New"/>
                <a:ea typeface="Courier New"/>
                <a:cs typeface="Courier New"/>
                <a:sym typeface="Courier New"/>
              </a:rPr>
              <a:t>with</a:t>
            </a: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 torch.autocast(</a:t>
            </a:r>
            <a:r>
              <a:rPr b="0" i="0" lang="en-US" sz="1950" u="none" cap="none" strike="noStrike">
                <a:solidFill>
                  <a:srgbClr val="86E3A8"/>
                </a:solidFill>
                <a:latin typeface="Courier New"/>
                <a:ea typeface="Courier New"/>
                <a:cs typeface="Courier New"/>
                <a:sym typeface="Courier New"/>
              </a:rPr>
              <a:t>"cuda" </a:t>
            </a: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D6E2F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    loss = criterion(model(xb), yb)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D6E2F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scaler.scale(loss).backward()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D6E2F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scaler.step(optimizer); scaler.update()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2" name="Google Shape;1712;p116"/>
          <p:cNvSpPr/>
          <p:nvPr/>
        </p:nvSpPr>
        <p:spPr>
          <a:xfrm>
            <a:off x="5508403" y="7519293"/>
            <a:ext cx="7271112" cy="39537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3BC"/>
                </a:solidFill>
                <a:latin typeface="Arial"/>
                <a:ea typeface="Arial"/>
                <a:cs typeface="Arial"/>
                <a:sym typeface="Arial"/>
              </a:rPr>
              <a:t>Dùng </a:t>
            </a:r>
            <a:r>
              <a:rPr b="1" i="0" lang="en-US" sz="1950" u="none" cap="none" strike="noStrike">
                <a:solidFill>
                  <a:srgbClr val="F4B860"/>
                </a:solidFill>
                <a:latin typeface="Arial"/>
                <a:ea typeface="Arial"/>
                <a:cs typeface="Arial"/>
                <a:sym typeface="Arial"/>
              </a:rPr>
              <a:t>float16 </a:t>
            </a:r>
            <a:r>
              <a:rPr b="0" i="0" lang="en-US" sz="1950" u="none" cap="none" strike="noStrike">
                <a:solidFill>
                  <a:srgbClr val="93A3BC"/>
                </a:solidFill>
                <a:latin typeface="Arial"/>
                <a:ea typeface="Arial"/>
                <a:cs typeface="Arial"/>
                <a:sym typeface="Arial"/>
              </a:rPr>
              <a:t>để tăng tốc và tiết kiệm bộ nhớ trên GPU hiện đại.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18"/>
        </a:solidFill>
      </p:bgPr>
    </p:bg>
    <p:spTree>
      <p:nvGrpSpPr>
        <p:cNvPr id="1717" name="Shape 1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8" name="Google Shape;1718;p117"/>
          <p:cNvSpPr/>
          <p:nvPr/>
        </p:nvSpPr>
        <p:spPr>
          <a:xfrm>
            <a:off x="990534" y="800034"/>
            <a:ext cx="16796141" cy="334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8C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B98CFF"/>
                </a:solidFill>
                <a:latin typeface="Courier New"/>
                <a:ea typeface="Courier New"/>
                <a:cs typeface="Courier New"/>
                <a:sym typeface="Courier New"/>
              </a:rPr>
              <a:t>SECTION 7 · LECTURE 10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9" name="Google Shape;1719;p117"/>
          <p:cNvSpPr/>
          <p:nvPr/>
        </p:nvSpPr>
        <p:spPr>
          <a:xfrm>
            <a:off x="990534" y="1286867"/>
            <a:ext cx="14716126" cy="6842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Tóm tắt &amp; chuyển bài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0" name="Google Shape;1720;p117"/>
          <p:cNvSpPr/>
          <p:nvPr/>
        </p:nvSpPr>
        <p:spPr>
          <a:xfrm>
            <a:off x="990534" y="4545873"/>
            <a:ext cx="16796141" cy="3185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86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5C6B86"/>
                </a:solidFill>
                <a:latin typeface="Courier New"/>
                <a:ea typeface="Courier New"/>
                <a:cs typeface="Courier New"/>
                <a:sym typeface="Courier New"/>
              </a:rPr>
              <a:t>ĐÃ HỌC TRONG BÀI NÀY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1" name="Google Shape;1721;p117"/>
          <p:cNvSpPr/>
          <p:nvPr/>
        </p:nvSpPr>
        <p:spPr>
          <a:xfrm>
            <a:off x="990534" y="5264465"/>
            <a:ext cx="2849397" cy="676176"/>
          </a:xfrm>
          <a:prstGeom prst="roundRect">
            <a:avLst>
              <a:gd fmla="val 50000" name="adj"/>
            </a:avLst>
          </a:prstGeom>
          <a:solidFill>
            <a:srgbClr val="131C2E"/>
          </a:solidFill>
          <a:ln cap="flat" cmpd="sng" w="9525">
            <a:solidFill>
              <a:srgbClr val="FFFFFF">
                <a:alpha val="1686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2" name="Google Shape;1722;p117"/>
          <p:cNvSpPr/>
          <p:nvPr/>
        </p:nvSpPr>
        <p:spPr>
          <a:xfrm>
            <a:off x="1300626" y="5441206"/>
            <a:ext cx="2314696" cy="3607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E7EDF8"/>
                </a:solidFill>
                <a:latin typeface="Courier New"/>
                <a:ea typeface="Courier New"/>
                <a:cs typeface="Courier New"/>
                <a:sym typeface="Courier New"/>
              </a:rPr>
              <a:t>epoch / batch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3" name="Google Shape;1723;p117"/>
          <p:cNvSpPr/>
          <p:nvPr/>
        </p:nvSpPr>
        <p:spPr>
          <a:xfrm>
            <a:off x="4030431" y="5264465"/>
            <a:ext cx="1134566" cy="676176"/>
          </a:xfrm>
          <a:prstGeom prst="roundRect">
            <a:avLst>
              <a:gd fmla="val 50000" name="adj"/>
            </a:avLst>
          </a:prstGeom>
          <a:solidFill>
            <a:srgbClr val="131C2E"/>
          </a:solidFill>
          <a:ln cap="flat" cmpd="sng" w="9525">
            <a:solidFill>
              <a:srgbClr val="FFFFFF">
                <a:alpha val="1686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4" name="Google Shape;1724;p117"/>
          <p:cNvSpPr/>
          <p:nvPr/>
        </p:nvSpPr>
        <p:spPr>
          <a:xfrm>
            <a:off x="4340523" y="5441206"/>
            <a:ext cx="590583" cy="3607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E7EDF8"/>
                </a:solidFill>
                <a:latin typeface="Courier New"/>
                <a:ea typeface="Courier New"/>
                <a:cs typeface="Courier New"/>
                <a:sym typeface="Courier New"/>
              </a:rPr>
              <a:t>GPU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5" name="Google Shape;1725;p117"/>
          <p:cNvSpPr/>
          <p:nvPr/>
        </p:nvSpPr>
        <p:spPr>
          <a:xfrm>
            <a:off x="5355498" y="5264465"/>
            <a:ext cx="3192364" cy="676176"/>
          </a:xfrm>
          <a:prstGeom prst="roundRect">
            <a:avLst>
              <a:gd fmla="val 50000" name="adj"/>
            </a:avLst>
          </a:prstGeom>
          <a:solidFill>
            <a:srgbClr val="131C2E"/>
          </a:solidFill>
          <a:ln cap="flat" cmpd="sng" w="9525">
            <a:solidFill>
              <a:srgbClr val="FFFFFF">
                <a:alpha val="1686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6" name="Google Shape;1726;p117"/>
          <p:cNvSpPr/>
          <p:nvPr/>
        </p:nvSpPr>
        <p:spPr>
          <a:xfrm>
            <a:off x="5665589" y="5441206"/>
            <a:ext cx="2667951" cy="3607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E7EDF8"/>
                </a:solidFill>
                <a:latin typeface="Courier New"/>
                <a:ea typeface="Courier New"/>
                <a:cs typeface="Courier New"/>
                <a:sym typeface="Courier New"/>
              </a:rPr>
              <a:t>mixed precision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7" name="Google Shape;1727;p117"/>
          <p:cNvSpPr/>
          <p:nvPr/>
        </p:nvSpPr>
        <p:spPr>
          <a:xfrm>
            <a:off x="990534" y="6512058"/>
            <a:ext cx="16306933" cy="9525"/>
          </a:xfrm>
          <a:prstGeom prst="rect">
            <a:avLst/>
          </a:prstGeom>
          <a:solidFill>
            <a:srgbClr val="FFFFFF">
              <a:alpha val="901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8" name="Google Shape;1728;p117"/>
          <p:cNvSpPr/>
          <p:nvPr/>
        </p:nvSpPr>
        <p:spPr>
          <a:xfrm>
            <a:off x="990534" y="6993599"/>
            <a:ext cx="2394529" cy="3185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86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5C6B86"/>
                </a:solidFill>
                <a:latin typeface="Courier New"/>
                <a:ea typeface="Courier New"/>
                <a:cs typeface="Courier New"/>
                <a:sym typeface="Courier New"/>
              </a:rPr>
              <a:t>BÀI TIẾP THEO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9" name="Google Shape;1729;p117"/>
          <p:cNvSpPr/>
          <p:nvPr/>
        </p:nvSpPr>
        <p:spPr>
          <a:xfrm>
            <a:off x="3556496" y="6914720"/>
            <a:ext cx="514416" cy="4762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98CFF"/>
              </a:buClr>
              <a:buSzPts val="3450"/>
              <a:buFont typeface="Arial"/>
              <a:buNone/>
            </a:pPr>
            <a:r>
              <a:rPr b="0" i="0" lang="en-US" sz="3450" u="none" cap="none" strike="noStrike">
                <a:solidFill>
                  <a:srgbClr val="B98CF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0" name="Google Shape;1730;p117"/>
          <p:cNvSpPr/>
          <p:nvPr/>
        </p:nvSpPr>
        <p:spPr>
          <a:xfrm>
            <a:off x="4242346" y="6898349"/>
            <a:ext cx="3828322" cy="5090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Debug neural network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18"/>
        </a:solidFill>
      </p:bgPr>
    </p:bg>
    <p:spTree>
      <p:nvGrpSpPr>
        <p:cNvPr id="1735" name="Shape 1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6" name="Google Shape;1736;p118"/>
          <p:cNvSpPr/>
          <p:nvPr/>
        </p:nvSpPr>
        <p:spPr>
          <a:xfrm>
            <a:off x="13565106" y="3609992"/>
            <a:ext cx="4079722" cy="31051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500"/>
              <a:buFont typeface="Arial"/>
              <a:buNone/>
            </a:pPr>
            <a:r>
              <a:rPr b="1" i="0" lang="en-US" sz="34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3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7" name="Google Shape;1737;p118"/>
          <p:cNvSpPr/>
          <p:nvPr/>
        </p:nvSpPr>
        <p:spPr>
          <a:xfrm>
            <a:off x="990534" y="4152966"/>
            <a:ext cx="16796141" cy="334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8C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B98CFF"/>
                </a:solidFill>
                <a:latin typeface="Courier New"/>
                <a:ea typeface="Courier New"/>
                <a:cs typeface="Courier New"/>
                <a:sym typeface="Courier New"/>
              </a:rPr>
              <a:t>SECTION 7 · LECTURE 11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8" name="Google Shape;1738;p118"/>
          <p:cNvSpPr/>
          <p:nvPr/>
        </p:nvSpPr>
        <p:spPr>
          <a:xfrm>
            <a:off x="990534" y="4773084"/>
            <a:ext cx="12753976" cy="8899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6450"/>
              <a:buFont typeface="Arial"/>
              <a:buNone/>
            </a:pPr>
            <a:r>
              <a:rPr b="1" i="0" lang="en-US" sz="645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Debug neural network</a:t>
            </a:r>
            <a:endParaRPr b="0" i="0" sz="6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9" name="Google Shape;1739;p118"/>
          <p:cNvSpPr/>
          <p:nvPr/>
        </p:nvSpPr>
        <p:spPr>
          <a:xfrm>
            <a:off x="990534" y="5948743"/>
            <a:ext cx="16796141" cy="31855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93A3BC"/>
                </a:solidFill>
                <a:latin typeface="Courier New"/>
                <a:ea typeface="Courier New"/>
                <a:cs typeface="Courier New"/>
                <a:sym typeface="Courier New"/>
              </a:rPr>
              <a:t>~8 phút · 6 slides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18"/>
        </a:solidFill>
      </p:bgPr>
    </p:bg>
    <p:spTree>
      <p:nvGrpSpPr>
        <p:cNvPr id="1744" name="Shape 1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5" name="Google Shape;1745;p119"/>
          <p:cNvSpPr/>
          <p:nvPr/>
        </p:nvSpPr>
        <p:spPr>
          <a:xfrm>
            <a:off x="990534" y="800034"/>
            <a:ext cx="16796141" cy="334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8C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B98CFF"/>
                </a:solidFill>
                <a:latin typeface="Courier New"/>
                <a:ea typeface="Courier New"/>
                <a:cs typeface="Courier New"/>
                <a:sym typeface="Courier New"/>
              </a:rPr>
              <a:t>LOSS PHẲNG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6" name="Google Shape;1746;p119"/>
          <p:cNvSpPr/>
          <p:nvPr/>
        </p:nvSpPr>
        <p:spPr>
          <a:xfrm>
            <a:off x="990534" y="1286867"/>
            <a:ext cx="14716126" cy="6842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Khi loss không giảm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7" name="Google Shape;1747;p119"/>
          <p:cNvSpPr/>
          <p:nvPr/>
        </p:nvSpPr>
        <p:spPr>
          <a:xfrm>
            <a:off x="1466784" y="5063216"/>
            <a:ext cx="7568651" cy="4456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B98C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B98CFF"/>
                </a:solidFill>
                <a:latin typeface="Arial"/>
                <a:ea typeface="Arial"/>
                <a:cs typeface="Arial"/>
                <a:sym typeface="Arial"/>
              </a:rPr>
              <a:t>Learning rate </a:t>
            </a: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đặt sai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8" name="Google Shape;1748;p119"/>
          <p:cNvSpPr/>
          <p:nvPr/>
        </p:nvSpPr>
        <p:spPr>
          <a:xfrm>
            <a:off x="1466784" y="5756507"/>
            <a:ext cx="7568651" cy="4456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B98C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B98CFF"/>
                </a:solidFill>
                <a:latin typeface="Arial"/>
                <a:ea typeface="Arial"/>
                <a:cs typeface="Arial"/>
                <a:sym typeface="Arial"/>
              </a:rPr>
              <a:t>Quên scale </a:t>
            </a: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dữ liệu đầu vào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9" name="Google Shape;1749;p119"/>
          <p:cNvSpPr/>
          <p:nvPr/>
        </p:nvSpPr>
        <p:spPr>
          <a:xfrm>
            <a:off x="1466784" y="6449798"/>
            <a:ext cx="7568651" cy="44034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Kiểm tra lr &amp; dữ liệu trước tiên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50" name="Google Shape;1750;p1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86884" y="3638848"/>
            <a:ext cx="7810583" cy="46374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18"/>
        </a:solidFill>
      </p:bgPr>
    </p:bg>
    <p:spTree>
      <p:nvGrpSpPr>
        <p:cNvPr id="1755" name="Shape 1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6" name="Google Shape;1756;p120"/>
          <p:cNvSpPr/>
          <p:nvPr/>
        </p:nvSpPr>
        <p:spPr>
          <a:xfrm>
            <a:off x="990534" y="800034"/>
            <a:ext cx="16796141" cy="334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8C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B98CFF"/>
                </a:solidFill>
                <a:latin typeface="Courier New"/>
                <a:ea typeface="Courier New"/>
                <a:cs typeface="Courier New"/>
                <a:sym typeface="Courier New"/>
              </a:rPr>
              <a:t>NAN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7" name="Google Shape;1757;p120"/>
          <p:cNvSpPr/>
          <p:nvPr/>
        </p:nvSpPr>
        <p:spPr>
          <a:xfrm>
            <a:off x="990534" y="1286867"/>
            <a:ext cx="14716126" cy="6842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Khi loss = NaN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8" name="Google Shape;1758;p120"/>
          <p:cNvSpPr/>
          <p:nvPr/>
        </p:nvSpPr>
        <p:spPr>
          <a:xfrm>
            <a:off x="4000500" y="4239204"/>
            <a:ext cx="10287000" cy="2793835"/>
          </a:xfrm>
          <a:prstGeom prst="roundRect">
            <a:avLst>
              <a:gd fmla="val 5455" name="adj"/>
            </a:avLst>
          </a:prstGeom>
          <a:solidFill>
            <a:srgbClr val="131C2E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571500" rotWithShape="0" algn="bl" dir="5400000" dist="228600">
              <a:srgbClr val="000000">
                <a:alpha val="8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9" name="Google Shape;1759;p120"/>
          <p:cNvSpPr/>
          <p:nvPr/>
        </p:nvSpPr>
        <p:spPr>
          <a:xfrm>
            <a:off x="4005792" y="4244496"/>
            <a:ext cx="10276417" cy="607384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0" name="Google Shape;1760;p120"/>
          <p:cNvSpPr/>
          <p:nvPr/>
        </p:nvSpPr>
        <p:spPr>
          <a:xfrm>
            <a:off x="4005792" y="4846588"/>
            <a:ext cx="10276417" cy="9525"/>
          </a:xfrm>
          <a:prstGeom prst="rect">
            <a:avLst/>
          </a:prstGeom>
          <a:solidFill>
            <a:srgbClr val="FFFFFF">
              <a:alpha val="901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1" name="Google Shape;1761;p120"/>
          <p:cNvSpPr/>
          <p:nvPr/>
        </p:nvSpPr>
        <p:spPr>
          <a:xfrm>
            <a:off x="4253425" y="4483613"/>
            <a:ext cx="123775" cy="123775"/>
          </a:xfrm>
          <a:prstGeom prst="ellipse">
            <a:avLst/>
          </a:prstGeom>
          <a:solidFill>
            <a:srgbClr val="3949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2" name="Google Shape;1762;p120"/>
          <p:cNvSpPr/>
          <p:nvPr/>
        </p:nvSpPr>
        <p:spPr>
          <a:xfrm>
            <a:off x="4481959" y="4483613"/>
            <a:ext cx="123775" cy="123775"/>
          </a:xfrm>
          <a:prstGeom prst="ellipse">
            <a:avLst/>
          </a:prstGeom>
          <a:solidFill>
            <a:srgbClr val="3949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3" name="Google Shape;1763;p120"/>
          <p:cNvSpPr/>
          <p:nvPr/>
        </p:nvSpPr>
        <p:spPr>
          <a:xfrm>
            <a:off x="4710493" y="4483613"/>
            <a:ext cx="123775" cy="123775"/>
          </a:xfrm>
          <a:prstGeom prst="ellipse">
            <a:avLst/>
          </a:prstGeom>
          <a:solidFill>
            <a:srgbClr val="3949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4" name="Google Shape;1764;p120"/>
          <p:cNvSpPr/>
          <p:nvPr/>
        </p:nvSpPr>
        <p:spPr>
          <a:xfrm>
            <a:off x="5072311" y="4415896"/>
            <a:ext cx="1084263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93A3BC"/>
                </a:solidFill>
                <a:latin typeface="Courier New"/>
                <a:ea typeface="Courier New"/>
                <a:cs typeface="Courier New"/>
                <a:sym typeface="Courier New"/>
              </a:rPr>
              <a:t>clip.py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5" name="Google Shape;1765;p120"/>
          <p:cNvSpPr/>
          <p:nvPr/>
        </p:nvSpPr>
        <p:spPr>
          <a:xfrm>
            <a:off x="4329642" y="5137630"/>
            <a:ext cx="9937009" cy="16424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D6E2F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loss.backward()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D6E2F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torch.nn.utils.clip_grad_norm_(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D6E2F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    model.parameters(), max_norm=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F4B86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F4B860"/>
                </a:solidFill>
                <a:latin typeface="Courier New"/>
                <a:ea typeface="Courier New"/>
                <a:cs typeface="Courier New"/>
                <a:sym typeface="Courier New"/>
              </a:rPr>
              <a:t>1.0 </a:t>
            </a: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D6E2F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optimizer.step()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6" name="Google Shape;1766;p120"/>
          <p:cNvSpPr/>
          <p:nvPr/>
        </p:nvSpPr>
        <p:spPr>
          <a:xfrm>
            <a:off x="4630460" y="7318789"/>
            <a:ext cx="9026998" cy="39537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3BC"/>
                </a:solidFill>
                <a:latin typeface="Arial"/>
                <a:ea typeface="Arial"/>
                <a:cs typeface="Arial"/>
                <a:sym typeface="Arial"/>
              </a:rPr>
              <a:t>NaN gần như luôn do </a:t>
            </a:r>
            <a:r>
              <a:rPr b="1" i="0" lang="en-US" sz="1950" u="none" cap="none" strike="noStrike">
                <a:solidFill>
                  <a:srgbClr val="F4B860"/>
                </a:solidFill>
                <a:latin typeface="Arial"/>
                <a:ea typeface="Arial"/>
                <a:cs typeface="Arial"/>
                <a:sym typeface="Arial"/>
              </a:rPr>
              <a:t>lr quá lớn / exploding gradient </a:t>
            </a:r>
            <a:r>
              <a:rPr b="0" i="0" lang="en-US" sz="1950" u="none" cap="none" strike="noStrike">
                <a:solidFill>
                  <a:srgbClr val="93A3BC"/>
                </a:solidFill>
                <a:latin typeface="Arial"/>
                <a:ea typeface="Arial"/>
                <a:cs typeface="Arial"/>
                <a:sym typeface="Arial"/>
              </a:rPr>
              <a:t>→ dùng gradient clipping.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18"/>
        </a:solidFill>
      </p:bgPr>
    </p:bg>
    <p:spTree>
      <p:nvGrpSpPr>
        <p:cNvPr id="1771" name="Shape 1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2" name="Google Shape;1772;p121"/>
          <p:cNvSpPr/>
          <p:nvPr/>
        </p:nvSpPr>
        <p:spPr>
          <a:xfrm>
            <a:off x="990534" y="800034"/>
            <a:ext cx="16796141" cy="334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8C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B98CFF"/>
                </a:solidFill>
                <a:latin typeface="Courier New"/>
                <a:ea typeface="Courier New"/>
                <a:cs typeface="Courier New"/>
                <a:sym typeface="Courier New"/>
              </a:rPr>
              <a:t>OVERFIT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3" name="Google Shape;1773;p121"/>
          <p:cNvSpPr/>
          <p:nvPr/>
        </p:nvSpPr>
        <p:spPr>
          <a:xfrm>
            <a:off x="990534" y="1286867"/>
            <a:ext cx="14716126" cy="6842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Overfit train, dở test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4" name="Google Shape;1774;p121"/>
          <p:cNvSpPr/>
          <p:nvPr/>
        </p:nvSpPr>
        <p:spPr>
          <a:xfrm>
            <a:off x="1466784" y="5407174"/>
            <a:ext cx="7568651" cy="4456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Thêm </a:t>
            </a:r>
            <a:r>
              <a:rPr b="1" i="0" lang="en-US" sz="2400" u="none" cap="none" strike="noStrike">
                <a:solidFill>
                  <a:srgbClr val="B98CFF"/>
                </a:solidFill>
                <a:latin typeface="Arial"/>
                <a:ea typeface="Arial"/>
                <a:cs typeface="Arial"/>
                <a:sym typeface="Arial"/>
              </a:rPr>
              <a:t>regularization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5" name="Google Shape;1775;p121"/>
          <p:cNvSpPr/>
          <p:nvPr/>
        </p:nvSpPr>
        <p:spPr>
          <a:xfrm>
            <a:off x="1466784" y="6100465"/>
            <a:ext cx="7568651" cy="4456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Thêm </a:t>
            </a:r>
            <a:r>
              <a:rPr b="1" i="0" lang="en-US" sz="2400" u="none" cap="none" strike="noStrike">
                <a:solidFill>
                  <a:srgbClr val="B98CFF"/>
                </a:solidFill>
                <a:latin typeface="Arial"/>
                <a:ea typeface="Arial"/>
                <a:cs typeface="Arial"/>
                <a:sym typeface="Arial"/>
              </a:rPr>
              <a:t>dữ liệu / augmentation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76" name="Google Shape;1776;p1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86884" y="3638848"/>
            <a:ext cx="7810583" cy="46374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18"/>
        </a:solidFill>
      </p:bgPr>
    </p:bg>
    <p:spTree>
      <p:nvGrpSpPr>
        <p:cNvPr id="1781" name="Shape 1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2" name="Google Shape;1782;p122"/>
          <p:cNvSpPr/>
          <p:nvPr/>
        </p:nvSpPr>
        <p:spPr>
          <a:xfrm>
            <a:off x="990534" y="800034"/>
            <a:ext cx="16796141" cy="334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8C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B98CFF"/>
                </a:solidFill>
                <a:latin typeface="Courier New"/>
                <a:ea typeface="Courier New"/>
                <a:cs typeface="Courier New"/>
                <a:sym typeface="Courier New"/>
              </a:rPr>
              <a:t>QUY TRÌNH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3" name="Google Shape;1783;p122"/>
          <p:cNvSpPr/>
          <p:nvPr/>
        </p:nvSpPr>
        <p:spPr>
          <a:xfrm>
            <a:off x="990534" y="1286867"/>
            <a:ext cx="14716126" cy="6842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Checklist debug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4" name="Google Shape;1784;p122"/>
          <p:cNvSpPr/>
          <p:nvPr/>
        </p:nvSpPr>
        <p:spPr>
          <a:xfrm>
            <a:off x="5524500" y="3286704"/>
            <a:ext cx="7239001" cy="822193"/>
          </a:xfrm>
          <a:prstGeom prst="roundRect">
            <a:avLst>
              <a:gd fmla="val 16219" name="adj"/>
            </a:avLst>
          </a:prstGeom>
          <a:solidFill>
            <a:srgbClr val="131C2E"/>
          </a:solidFill>
          <a:ln cap="flat" cmpd="sng" w="9525">
            <a:solidFill>
              <a:srgbClr val="FFFFFF">
                <a:alpha val="1686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5" name="Google Shape;1785;p122"/>
          <p:cNvSpPr/>
          <p:nvPr/>
        </p:nvSpPr>
        <p:spPr>
          <a:xfrm>
            <a:off x="5840307" y="3520596"/>
            <a:ext cx="6607387" cy="3925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Overfit một batch nhỏ trước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6" name="Google Shape;1786;p122"/>
          <p:cNvSpPr/>
          <p:nvPr/>
        </p:nvSpPr>
        <p:spPr>
          <a:xfrm>
            <a:off x="9062972" y="4242181"/>
            <a:ext cx="238175" cy="2324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rgbClr val="B98CFF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B98CFF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7" name="Google Shape;1787;p122"/>
          <p:cNvSpPr/>
          <p:nvPr/>
        </p:nvSpPr>
        <p:spPr>
          <a:xfrm>
            <a:off x="5524500" y="4569768"/>
            <a:ext cx="7239001" cy="822193"/>
          </a:xfrm>
          <a:prstGeom prst="roundRect">
            <a:avLst>
              <a:gd fmla="val 16219" name="adj"/>
            </a:avLst>
          </a:prstGeom>
          <a:solidFill>
            <a:srgbClr val="131C2E"/>
          </a:solidFill>
          <a:ln cap="flat" cmpd="sng" w="9525">
            <a:solidFill>
              <a:srgbClr val="FFFFFF">
                <a:alpha val="1686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8" name="Google Shape;1788;p122"/>
          <p:cNvSpPr/>
          <p:nvPr/>
        </p:nvSpPr>
        <p:spPr>
          <a:xfrm>
            <a:off x="5840307" y="4803660"/>
            <a:ext cx="6607387" cy="3925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Kiểm tra shape &amp; dữ liệu đầu vào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9" name="Google Shape;1789;p122"/>
          <p:cNvSpPr/>
          <p:nvPr/>
        </p:nvSpPr>
        <p:spPr>
          <a:xfrm>
            <a:off x="9062972" y="5525244"/>
            <a:ext cx="238175" cy="2324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rgbClr val="B98CFF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B98CFF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0" name="Google Shape;1790;p122"/>
          <p:cNvSpPr/>
          <p:nvPr/>
        </p:nvSpPr>
        <p:spPr>
          <a:xfrm>
            <a:off x="5524500" y="5852832"/>
            <a:ext cx="7239001" cy="822193"/>
          </a:xfrm>
          <a:prstGeom prst="roundRect">
            <a:avLst>
              <a:gd fmla="val 16219" name="adj"/>
            </a:avLst>
          </a:prstGeom>
          <a:solidFill>
            <a:srgbClr val="131C2E"/>
          </a:solidFill>
          <a:ln cap="flat" cmpd="sng" w="9525">
            <a:solidFill>
              <a:srgbClr val="FFFFFF">
                <a:alpha val="1686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1" name="Google Shape;1791;p122"/>
          <p:cNvSpPr/>
          <p:nvPr/>
        </p:nvSpPr>
        <p:spPr>
          <a:xfrm>
            <a:off x="5840307" y="6086723"/>
            <a:ext cx="6607387" cy="3925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Điều chỉnh learning rate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2" name="Google Shape;1792;p122"/>
          <p:cNvSpPr/>
          <p:nvPr/>
        </p:nvSpPr>
        <p:spPr>
          <a:xfrm>
            <a:off x="9062972" y="6808308"/>
            <a:ext cx="238175" cy="23240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rgbClr val="B98CFF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B98CFF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3" name="Google Shape;1793;p122"/>
          <p:cNvSpPr/>
          <p:nvPr/>
        </p:nvSpPr>
        <p:spPr>
          <a:xfrm>
            <a:off x="5524500" y="7135895"/>
            <a:ext cx="7239001" cy="822193"/>
          </a:xfrm>
          <a:prstGeom prst="roundRect">
            <a:avLst>
              <a:gd fmla="val 16219" name="adj"/>
            </a:avLst>
          </a:prstGeom>
          <a:noFill/>
          <a:ln cap="flat" cmpd="sng" w="9525">
            <a:solidFill>
              <a:srgbClr val="B98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4" name="Google Shape;1794;p122"/>
          <p:cNvSpPr/>
          <p:nvPr/>
        </p:nvSpPr>
        <p:spPr>
          <a:xfrm>
            <a:off x="5840307" y="7369787"/>
            <a:ext cx="6607387" cy="3925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Thêm regularization nếu overfit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5" name="Google Shape;1795;p122"/>
          <p:cNvSpPr/>
          <p:nvPr/>
        </p:nvSpPr>
        <p:spPr>
          <a:xfrm>
            <a:off x="4740661" y="8281872"/>
            <a:ext cx="8806596" cy="3847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3BC"/>
                </a:solidFill>
                <a:latin typeface="Arial"/>
                <a:ea typeface="Arial"/>
                <a:cs typeface="Arial"/>
                <a:sym typeface="Arial"/>
              </a:rPr>
              <a:t>Mẹo: nếu không overfit nổi một batch nhỏ → gần như chắc chắn code có bug.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18"/>
        </a:solidFill>
      </p:bgPr>
    </p:bg>
    <p:spTree>
      <p:nvGrpSpPr>
        <p:cNvPr id="1800" name="Shape 1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1" name="Google Shape;1801;p123"/>
          <p:cNvSpPr/>
          <p:nvPr/>
        </p:nvSpPr>
        <p:spPr>
          <a:xfrm>
            <a:off x="990534" y="800034"/>
            <a:ext cx="16796141" cy="334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8C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B98CFF"/>
                </a:solidFill>
                <a:latin typeface="Courier New"/>
                <a:ea typeface="Courier New"/>
                <a:cs typeface="Courier New"/>
                <a:sym typeface="Courier New"/>
              </a:rPr>
              <a:t>SECTION 7 · LECTURE 11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2" name="Google Shape;1802;p123"/>
          <p:cNvSpPr/>
          <p:nvPr/>
        </p:nvSpPr>
        <p:spPr>
          <a:xfrm>
            <a:off x="990534" y="1286867"/>
            <a:ext cx="14716126" cy="6842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Tóm tắt &amp; chuyển bài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3" name="Google Shape;1803;p123"/>
          <p:cNvSpPr/>
          <p:nvPr/>
        </p:nvSpPr>
        <p:spPr>
          <a:xfrm>
            <a:off x="990534" y="4540581"/>
            <a:ext cx="16796141" cy="3185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86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5C6B86"/>
                </a:solidFill>
                <a:latin typeface="Courier New"/>
                <a:ea typeface="Courier New"/>
                <a:cs typeface="Courier New"/>
                <a:sym typeface="Courier New"/>
              </a:rPr>
              <a:t>ĐÃ HỌC TRONG BÀI NÀY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4" name="Google Shape;1804;p123"/>
          <p:cNvSpPr/>
          <p:nvPr/>
        </p:nvSpPr>
        <p:spPr>
          <a:xfrm>
            <a:off x="990534" y="5259173"/>
            <a:ext cx="3363764" cy="676176"/>
          </a:xfrm>
          <a:prstGeom prst="roundRect">
            <a:avLst>
              <a:gd fmla="val 50000" name="adj"/>
            </a:avLst>
          </a:prstGeom>
          <a:solidFill>
            <a:srgbClr val="131C2E"/>
          </a:solidFill>
          <a:ln cap="flat" cmpd="sng" w="9525">
            <a:solidFill>
              <a:srgbClr val="FFFFFF">
                <a:alpha val="1686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5" name="Google Shape;1805;p123"/>
          <p:cNvSpPr/>
          <p:nvPr/>
        </p:nvSpPr>
        <p:spPr>
          <a:xfrm>
            <a:off x="1300626" y="5435914"/>
            <a:ext cx="2844493" cy="3607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E7EDF8"/>
                </a:solidFill>
                <a:latin typeface="Courier New"/>
                <a:ea typeface="Courier New"/>
                <a:cs typeface="Courier New"/>
                <a:sym typeface="Courier New"/>
              </a:rPr>
              <a:t>loss phẳng / NaN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6" name="Google Shape;1806;p123"/>
          <p:cNvSpPr/>
          <p:nvPr/>
        </p:nvSpPr>
        <p:spPr>
          <a:xfrm>
            <a:off x="4544798" y="5259173"/>
            <a:ext cx="2506431" cy="676176"/>
          </a:xfrm>
          <a:prstGeom prst="roundRect">
            <a:avLst>
              <a:gd fmla="val 50000" name="adj"/>
            </a:avLst>
          </a:prstGeom>
          <a:solidFill>
            <a:srgbClr val="131C2E"/>
          </a:solidFill>
          <a:ln cap="flat" cmpd="sng" w="9525">
            <a:solidFill>
              <a:srgbClr val="FFFFFF">
                <a:alpha val="1686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7" name="Google Shape;1807;p123"/>
          <p:cNvSpPr/>
          <p:nvPr/>
        </p:nvSpPr>
        <p:spPr>
          <a:xfrm>
            <a:off x="4854890" y="5435914"/>
            <a:ext cx="1962448" cy="3607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E7EDF8"/>
                </a:solidFill>
                <a:latin typeface="Courier New"/>
                <a:ea typeface="Courier New"/>
                <a:cs typeface="Courier New"/>
                <a:sym typeface="Courier New"/>
              </a:rPr>
              <a:t>overfitting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8" name="Google Shape;1808;p123"/>
          <p:cNvSpPr/>
          <p:nvPr/>
        </p:nvSpPr>
        <p:spPr>
          <a:xfrm>
            <a:off x="7241729" y="5259173"/>
            <a:ext cx="3192364" cy="676176"/>
          </a:xfrm>
          <a:prstGeom prst="roundRect">
            <a:avLst>
              <a:gd fmla="val 50000" name="adj"/>
            </a:avLst>
          </a:prstGeom>
          <a:solidFill>
            <a:srgbClr val="131C2E"/>
          </a:solidFill>
          <a:ln cap="flat" cmpd="sng" w="9525">
            <a:solidFill>
              <a:srgbClr val="FFFFFF">
                <a:alpha val="16862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9" name="Google Shape;1809;p123"/>
          <p:cNvSpPr/>
          <p:nvPr/>
        </p:nvSpPr>
        <p:spPr>
          <a:xfrm>
            <a:off x="7551821" y="5435914"/>
            <a:ext cx="2667951" cy="3607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E7EDF8"/>
                </a:solidFill>
                <a:latin typeface="Courier New"/>
                <a:ea typeface="Courier New"/>
                <a:cs typeface="Courier New"/>
                <a:sym typeface="Courier New"/>
              </a:rPr>
              <a:t>checklist debug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0" name="Google Shape;1810;p123"/>
          <p:cNvSpPr/>
          <p:nvPr/>
        </p:nvSpPr>
        <p:spPr>
          <a:xfrm>
            <a:off x="990534" y="6506766"/>
            <a:ext cx="16306933" cy="9525"/>
          </a:xfrm>
          <a:prstGeom prst="rect">
            <a:avLst/>
          </a:prstGeom>
          <a:solidFill>
            <a:srgbClr val="FFFFFF">
              <a:alpha val="901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1" name="Google Shape;1811;p123"/>
          <p:cNvSpPr/>
          <p:nvPr/>
        </p:nvSpPr>
        <p:spPr>
          <a:xfrm>
            <a:off x="990534" y="6993599"/>
            <a:ext cx="2394529" cy="3185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86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5C6B86"/>
                </a:solidFill>
                <a:latin typeface="Courier New"/>
                <a:ea typeface="Courier New"/>
                <a:cs typeface="Courier New"/>
                <a:sym typeface="Courier New"/>
              </a:rPr>
              <a:t>BÀI TIẾP THEO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2" name="Google Shape;1812;p123"/>
          <p:cNvSpPr/>
          <p:nvPr/>
        </p:nvSpPr>
        <p:spPr>
          <a:xfrm>
            <a:off x="3556496" y="6914720"/>
            <a:ext cx="514416" cy="4762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98CFF"/>
              </a:buClr>
              <a:buSzPts val="3450"/>
              <a:buFont typeface="Arial"/>
              <a:buNone/>
            </a:pPr>
            <a:r>
              <a:rPr b="0" i="0" lang="en-US" sz="3450" u="none" cap="none" strike="noStrike">
                <a:solidFill>
                  <a:srgbClr val="B98CF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3" name="Google Shape;1813;p123"/>
          <p:cNvSpPr/>
          <p:nvPr/>
        </p:nvSpPr>
        <p:spPr>
          <a:xfrm>
            <a:off x="4242346" y="6893058"/>
            <a:ext cx="5779826" cy="5196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🏆 Mini-Project: MLP from scratch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18"/>
        </a:solidFill>
      </p:bgPr>
    </p:bg>
    <p:spTree>
      <p:nvGrpSpPr>
        <p:cNvPr id="1818" name="Shape 1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9" name="Google Shape;1819;p124"/>
          <p:cNvSpPr/>
          <p:nvPr/>
        </p:nvSpPr>
        <p:spPr>
          <a:xfrm>
            <a:off x="13144501" y="3609992"/>
            <a:ext cx="4512945" cy="31051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500"/>
              <a:buFont typeface="Arial"/>
              <a:buNone/>
            </a:pPr>
            <a:r>
              <a:rPr b="1" i="0" lang="en-US" sz="34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🏆</a:t>
            </a:r>
            <a:endParaRPr b="0" i="0" sz="3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0" name="Google Shape;1820;p124"/>
          <p:cNvSpPr/>
          <p:nvPr/>
        </p:nvSpPr>
        <p:spPr>
          <a:xfrm>
            <a:off x="990534" y="3724424"/>
            <a:ext cx="16796141" cy="339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8C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B98CFF"/>
                </a:solidFill>
                <a:latin typeface="Courier New"/>
                <a:ea typeface="Courier New"/>
                <a:cs typeface="Courier New"/>
                <a:sym typeface="Courier New"/>
              </a:rPr>
              <a:t>SECTION 7 · MINI-PROJECT 🏆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1" name="Google Shape;1821;p124"/>
          <p:cNvSpPr/>
          <p:nvPr/>
        </p:nvSpPr>
        <p:spPr>
          <a:xfrm>
            <a:off x="990534" y="4349833"/>
            <a:ext cx="12753976" cy="17418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6450"/>
              <a:buFont typeface="Arial"/>
              <a:buNone/>
            </a:pPr>
            <a:r>
              <a:rPr b="1" i="0" lang="en-US" sz="645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MLP from scratch + tái hiện bằng PyTorch</a:t>
            </a:r>
            <a:endParaRPr b="0" i="0" sz="6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2" name="Google Shape;1822;p124"/>
          <p:cNvSpPr/>
          <p:nvPr/>
        </p:nvSpPr>
        <p:spPr>
          <a:xfrm>
            <a:off x="990534" y="6377368"/>
            <a:ext cx="16796141" cy="31855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93A3BC"/>
                </a:solidFill>
                <a:latin typeface="Courier New"/>
                <a:ea typeface="Courier New"/>
                <a:cs typeface="Courier New"/>
                <a:sym typeface="Courier New"/>
              </a:rPr>
              <a:t>~13 phút · 7 slides · screen recording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18"/>
        </a:solidFill>
      </p:bgPr>
    </p:bg>
    <p:spTree>
      <p:nvGrpSpPr>
        <p:cNvPr id="1827" name="Shape 1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8" name="Google Shape;1828;p125"/>
          <p:cNvSpPr/>
          <p:nvPr/>
        </p:nvSpPr>
        <p:spPr>
          <a:xfrm>
            <a:off x="990534" y="800034"/>
            <a:ext cx="16796141" cy="334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8C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B98CFF"/>
                </a:solidFill>
                <a:latin typeface="Courier New"/>
                <a:ea typeface="Courier New"/>
                <a:cs typeface="Courier New"/>
                <a:sym typeface="Courier New"/>
              </a:rPr>
              <a:t>MỤC TIÊU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9" name="Google Shape;1829;p125"/>
          <p:cNvSpPr/>
          <p:nvPr/>
        </p:nvSpPr>
        <p:spPr>
          <a:xfrm>
            <a:off x="990534" y="1286867"/>
            <a:ext cx="14716126" cy="6842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Hai phần của dự án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0" name="Google Shape;1830;p125"/>
          <p:cNvSpPr/>
          <p:nvPr/>
        </p:nvSpPr>
        <p:spPr>
          <a:xfrm>
            <a:off x="990534" y="4611522"/>
            <a:ext cx="8010591" cy="2021748"/>
          </a:xfrm>
          <a:prstGeom prst="roundRect">
            <a:avLst>
              <a:gd fmla="val 8480" name="adj"/>
            </a:avLst>
          </a:prstGeom>
          <a:solidFill>
            <a:srgbClr val="131C2E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1" name="Google Shape;1831;p125"/>
          <p:cNvSpPr/>
          <p:nvPr/>
        </p:nvSpPr>
        <p:spPr>
          <a:xfrm>
            <a:off x="1319609" y="4959697"/>
            <a:ext cx="7573013" cy="3344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8CFF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B98CFF"/>
                </a:solidFill>
                <a:latin typeface="Courier New"/>
                <a:ea typeface="Courier New"/>
                <a:cs typeface="Courier New"/>
                <a:sym typeface="Courier New"/>
              </a:rPr>
              <a:t>PHẦN 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2" name="Google Shape;1832;p125"/>
          <p:cNvSpPr/>
          <p:nvPr/>
        </p:nvSpPr>
        <p:spPr>
          <a:xfrm>
            <a:off x="1319609" y="5389315"/>
            <a:ext cx="7573013" cy="4614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NumPy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3" name="Google Shape;1833;p125"/>
          <p:cNvSpPr/>
          <p:nvPr/>
        </p:nvSpPr>
        <p:spPr>
          <a:xfrm>
            <a:off x="1319609" y="5945932"/>
            <a:ext cx="7573013" cy="3772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93A3BC"/>
                </a:solidFill>
                <a:latin typeface="Arial"/>
                <a:ea typeface="Arial"/>
                <a:cs typeface="Arial"/>
                <a:sym typeface="Arial"/>
              </a:rPr>
              <a:t>Cài forward + backward </a:t>
            </a:r>
            <a:r>
              <a:rPr b="1" i="0" lang="en-US" sz="1875" u="none" cap="none" strike="noStrike">
                <a:solidFill>
                  <a:srgbClr val="B98CFF"/>
                </a:solidFill>
                <a:latin typeface="Arial"/>
                <a:ea typeface="Arial"/>
                <a:cs typeface="Arial"/>
                <a:sym typeface="Arial"/>
              </a:rPr>
              <a:t>bằng tay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4" name="Google Shape;1834;p125"/>
          <p:cNvSpPr/>
          <p:nvPr/>
        </p:nvSpPr>
        <p:spPr>
          <a:xfrm>
            <a:off x="9286876" y="4611522"/>
            <a:ext cx="8010591" cy="2021748"/>
          </a:xfrm>
          <a:prstGeom prst="roundRect">
            <a:avLst>
              <a:gd fmla="val 8480" name="adj"/>
            </a:avLst>
          </a:prstGeom>
          <a:solidFill>
            <a:srgbClr val="131C2E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5" name="Google Shape;1835;p125"/>
          <p:cNvSpPr/>
          <p:nvPr/>
        </p:nvSpPr>
        <p:spPr>
          <a:xfrm>
            <a:off x="9615951" y="4959697"/>
            <a:ext cx="7573013" cy="3344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8CFF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B98CFF"/>
                </a:solidFill>
                <a:latin typeface="Courier New"/>
                <a:ea typeface="Courier New"/>
                <a:cs typeface="Courier New"/>
                <a:sym typeface="Courier New"/>
              </a:rPr>
              <a:t>PHẦN 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6" name="Google Shape;1836;p125"/>
          <p:cNvSpPr/>
          <p:nvPr/>
        </p:nvSpPr>
        <p:spPr>
          <a:xfrm>
            <a:off x="9615951" y="5389315"/>
            <a:ext cx="7573013" cy="4614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PyTorch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7" name="Google Shape;1837;p125"/>
          <p:cNvSpPr/>
          <p:nvPr/>
        </p:nvSpPr>
        <p:spPr>
          <a:xfrm>
            <a:off x="9615951" y="5945932"/>
            <a:ext cx="7573013" cy="3772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B98CFF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B98CFF"/>
                </a:solidFill>
                <a:latin typeface="Arial"/>
                <a:ea typeface="Arial"/>
                <a:cs typeface="Arial"/>
                <a:sym typeface="Arial"/>
              </a:rPr>
              <a:t>Tái hiện </a:t>
            </a:r>
            <a:r>
              <a:rPr b="0" i="0" lang="en-US" sz="1875" u="none" cap="none" strike="noStrike">
                <a:solidFill>
                  <a:srgbClr val="93A3BC"/>
                </a:solidFill>
                <a:latin typeface="Arial"/>
                <a:ea typeface="Arial"/>
                <a:cs typeface="Arial"/>
                <a:sym typeface="Arial"/>
              </a:rPr>
              <a:t>bằng nn.Module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8" name="Google Shape;1838;p125"/>
          <p:cNvSpPr/>
          <p:nvPr/>
        </p:nvSpPr>
        <p:spPr>
          <a:xfrm>
            <a:off x="6308336" y="6957054"/>
            <a:ext cx="5671329" cy="3847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3BC"/>
                </a:solidFill>
                <a:latin typeface="Arial"/>
                <a:ea typeface="Arial"/>
                <a:cs typeface="Arial"/>
                <a:sym typeface="Arial"/>
              </a:rPr>
              <a:t>So sánh hai cách để thấy rõ giá trị của framework.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18"/>
        </a:solidFill>
      </p:bgPr>
    </p:bg>
    <p:spTree>
      <p:nvGrpSpPr>
        <p:cNvPr id="1843" name="Shape 1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4" name="Google Shape;1844;p126"/>
          <p:cNvSpPr/>
          <p:nvPr/>
        </p:nvSpPr>
        <p:spPr>
          <a:xfrm>
            <a:off x="990534" y="800034"/>
            <a:ext cx="16796141" cy="334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8C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B98CFF"/>
                </a:solidFill>
                <a:latin typeface="Courier New"/>
                <a:ea typeface="Courier New"/>
                <a:cs typeface="Courier New"/>
                <a:sym typeface="Courier New"/>
              </a:rPr>
              <a:t>PHẦN 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5" name="Google Shape;1845;p126"/>
          <p:cNvSpPr/>
          <p:nvPr/>
        </p:nvSpPr>
        <p:spPr>
          <a:xfrm>
            <a:off x="990534" y="1286867"/>
            <a:ext cx="14716126" cy="6842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MLP from scratch — NumPy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6" name="Google Shape;1846;p126"/>
          <p:cNvSpPr/>
          <p:nvPr/>
        </p:nvSpPr>
        <p:spPr>
          <a:xfrm>
            <a:off x="4000500" y="4244496"/>
            <a:ext cx="10287000" cy="2793835"/>
          </a:xfrm>
          <a:prstGeom prst="roundRect">
            <a:avLst>
              <a:gd fmla="val 5455" name="adj"/>
            </a:avLst>
          </a:prstGeom>
          <a:solidFill>
            <a:srgbClr val="131C2E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571500" rotWithShape="0" algn="bl" dir="5400000" dist="228600">
              <a:srgbClr val="000000">
                <a:alpha val="8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7" name="Google Shape;1847;p126"/>
          <p:cNvSpPr/>
          <p:nvPr/>
        </p:nvSpPr>
        <p:spPr>
          <a:xfrm>
            <a:off x="4005792" y="4249787"/>
            <a:ext cx="10276417" cy="607384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8" name="Google Shape;1848;p126"/>
          <p:cNvSpPr/>
          <p:nvPr/>
        </p:nvSpPr>
        <p:spPr>
          <a:xfrm>
            <a:off x="4005792" y="4851880"/>
            <a:ext cx="10276417" cy="9525"/>
          </a:xfrm>
          <a:prstGeom prst="rect">
            <a:avLst/>
          </a:prstGeom>
          <a:solidFill>
            <a:srgbClr val="FFFFFF">
              <a:alpha val="901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9" name="Google Shape;1849;p126"/>
          <p:cNvSpPr/>
          <p:nvPr/>
        </p:nvSpPr>
        <p:spPr>
          <a:xfrm>
            <a:off x="4253425" y="4488904"/>
            <a:ext cx="123775" cy="123775"/>
          </a:xfrm>
          <a:prstGeom prst="ellipse">
            <a:avLst/>
          </a:prstGeom>
          <a:solidFill>
            <a:srgbClr val="3949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0" name="Google Shape;1850;p126"/>
          <p:cNvSpPr/>
          <p:nvPr/>
        </p:nvSpPr>
        <p:spPr>
          <a:xfrm>
            <a:off x="4481959" y="4488904"/>
            <a:ext cx="123775" cy="123775"/>
          </a:xfrm>
          <a:prstGeom prst="ellipse">
            <a:avLst/>
          </a:prstGeom>
          <a:solidFill>
            <a:srgbClr val="3949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1" name="Google Shape;1851;p126"/>
          <p:cNvSpPr/>
          <p:nvPr/>
        </p:nvSpPr>
        <p:spPr>
          <a:xfrm>
            <a:off x="4710493" y="4488904"/>
            <a:ext cx="123775" cy="123775"/>
          </a:xfrm>
          <a:prstGeom prst="ellipse">
            <a:avLst/>
          </a:prstGeom>
          <a:solidFill>
            <a:srgbClr val="3949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2" name="Google Shape;1852;p126"/>
          <p:cNvSpPr/>
          <p:nvPr/>
        </p:nvSpPr>
        <p:spPr>
          <a:xfrm>
            <a:off x="5072311" y="4421188"/>
            <a:ext cx="1804343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93A3BC"/>
                </a:solidFill>
                <a:latin typeface="Courier New"/>
                <a:ea typeface="Courier New"/>
                <a:cs typeface="Courier New"/>
                <a:sym typeface="Courier New"/>
              </a:rPr>
              <a:t>mlp_numpy.py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3" name="Google Shape;1853;p126"/>
          <p:cNvSpPr/>
          <p:nvPr/>
        </p:nvSpPr>
        <p:spPr>
          <a:xfrm>
            <a:off x="4329642" y="5142922"/>
            <a:ext cx="9937009" cy="16424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D6E2F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z1 = x @ W1 + b1;  a1 = np.maximum(</a:t>
            </a:r>
            <a:r>
              <a:rPr b="0" i="0" lang="en-US" sz="1950" u="none" cap="none" strike="noStrike">
                <a:solidFill>
                  <a:srgbClr val="F4B860"/>
                </a:solidFill>
                <a:latin typeface="Courier New"/>
                <a:ea typeface="Courier New"/>
                <a:cs typeface="Courier New"/>
                <a:sym typeface="Courier New"/>
              </a:rPr>
              <a:t>0 </a:t>
            </a: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, z1)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D6E2F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z2 = a1 @ W2 + b2; out = softmax(z2)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D6E2F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loss = cross_entropy(out, y) 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5E7286"/>
              </a:buClr>
              <a:buSzPts val="1950"/>
              <a:buFont typeface="Courier New"/>
              <a:buNone/>
            </a:pPr>
            <a:r>
              <a:rPr b="0" i="1" lang="en-US" sz="1950" u="none" cap="none" strike="noStrike">
                <a:solidFill>
                  <a:srgbClr val="5E7286"/>
                </a:solidFill>
                <a:latin typeface="Courier New"/>
                <a:ea typeface="Courier New"/>
                <a:cs typeface="Courier New"/>
                <a:sym typeface="Courier New"/>
              </a:rPr>
              <a:t># ... backprop thu cong + cap nhat W, b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4" name="Google Shape;1854;p126"/>
          <p:cNvSpPr/>
          <p:nvPr/>
        </p:nvSpPr>
        <p:spPr>
          <a:xfrm>
            <a:off x="6521414" y="7324080"/>
            <a:ext cx="5245090" cy="3847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3BC"/>
                </a:solidFill>
                <a:latin typeface="Arial"/>
                <a:ea typeface="Arial"/>
                <a:cs typeface="Arial"/>
                <a:sym typeface="Arial"/>
              </a:rPr>
              <a:t>Áp dụng toàn bộ những gì đã học ở Section 7.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18"/>
        </a:solidFill>
      </p:bgPr>
    </p:bg>
    <p:spTree>
      <p:nvGrpSpPr>
        <p:cNvPr id="1859" name="Shape 1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0" name="Google Shape;1860;p127"/>
          <p:cNvSpPr/>
          <p:nvPr/>
        </p:nvSpPr>
        <p:spPr>
          <a:xfrm>
            <a:off x="990534" y="800034"/>
            <a:ext cx="16796141" cy="334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8C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B98CFF"/>
                </a:solidFill>
                <a:latin typeface="Courier New"/>
                <a:ea typeface="Courier New"/>
                <a:cs typeface="Courier New"/>
                <a:sym typeface="Courier New"/>
              </a:rPr>
              <a:t>PHẦN 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1" name="Google Shape;1861;p127"/>
          <p:cNvSpPr/>
          <p:nvPr/>
        </p:nvSpPr>
        <p:spPr>
          <a:xfrm>
            <a:off x="990534" y="1286867"/>
            <a:ext cx="14716126" cy="6842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Tái hiện bằng PyTorch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2" name="Google Shape;1862;p127"/>
          <p:cNvSpPr/>
          <p:nvPr/>
        </p:nvSpPr>
        <p:spPr>
          <a:xfrm>
            <a:off x="4000500" y="3843404"/>
            <a:ext cx="10287000" cy="3596018"/>
          </a:xfrm>
          <a:prstGeom prst="roundRect">
            <a:avLst>
              <a:gd fmla="val 4238" name="adj"/>
            </a:avLst>
          </a:prstGeom>
          <a:solidFill>
            <a:srgbClr val="131C2E"/>
          </a:solidFill>
          <a:ln cap="flat" cmpd="sng" w="9525">
            <a:solidFill>
              <a:srgbClr val="FFFFFF">
                <a:alpha val="9019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571500" rotWithShape="0" algn="bl" dir="5400000" dist="228600">
              <a:srgbClr val="000000">
                <a:alpha val="8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3" name="Google Shape;1863;p127"/>
          <p:cNvSpPr/>
          <p:nvPr/>
        </p:nvSpPr>
        <p:spPr>
          <a:xfrm>
            <a:off x="4005792" y="3848696"/>
            <a:ext cx="10276417" cy="607384"/>
          </a:xfrm>
          <a:prstGeom prst="rect">
            <a:avLst/>
          </a:prstGeom>
          <a:solidFill>
            <a:srgbClr val="1A27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4" name="Google Shape;1864;p127"/>
          <p:cNvSpPr/>
          <p:nvPr/>
        </p:nvSpPr>
        <p:spPr>
          <a:xfrm>
            <a:off x="4005792" y="4450788"/>
            <a:ext cx="10276417" cy="9525"/>
          </a:xfrm>
          <a:prstGeom prst="rect">
            <a:avLst/>
          </a:prstGeom>
          <a:solidFill>
            <a:srgbClr val="FFFFFF">
              <a:alpha val="901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5" name="Google Shape;1865;p127"/>
          <p:cNvSpPr/>
          <p:nvPr/>
        </p:nvSpPr>
        <p:spPr>
          <a:xfrm>
            <a:off x="4253425" y="4087813"/>
            <a:ext cx="123775" cy="123775"/>
          </a:xfrm>
          <a:prstGeom prst="ellipse">
            <a:avLst/>
          </a:prstGeom>
          <a:solidFill>
            <a:srgbClr val="3949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6" name="Google Shape;1866;p127"/>
          <p:cNvSpPr/>
          <p:nvPr/>
        </p:nvSpPr>
        <p:spPr>
          <a:xfrm>
            <a:off x="4481959" y="4087813"/>
            <a:ext cx="123775" cy="123775"/>
          </a:xfrm>
          <a:prstGeom prst="ellipse">
            <a:avLst/>
          </a:prstGeom>
          <a:solidFill>
            <a:srgbClr val="3949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7" name="Google Shape;1867;p127"/>
          <p:cNvSpPr/>
          <p:nvPr/>
        </p:nvSpPr>
        <p:spPr>
          <a:xfrm>
            <a:off x="4710493" y="4087813"/>
            <a:ext cx="123775" cy="123775"/>
          </a:xfrm>
          <a:prstGeom prst="ellipse">
            <a:avLst/>
          </a:prstGeom>
          <a:solidFill>
            <a:srgbClr val="3949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8" name="Google Shape;1868;p127"/>
          <p:cNvSpPr/>
          <p:nvPr/>
        </p:nvSpPr>
        <p:spPr>
          <a:xfrm>
            <a:off x="5072311" y="4020096"/>
            <a:ext cx="1804343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93A3BC"/>
                </a:solidFill>
                <a:latin typeface="Courier New"/>
                <a:ea typeface="Courier New"/>
                <a:cs typeface="Courier New"/>
                <a:sym typeface="Courier New"/>
              </a:rPr>
              <a:t>mlp_torch.py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9" name="Google Shape;1869;p127"/>
          <p:cNvSpPr/>
          <p:nvPr/>
        </p:nvSpPr>
        <p:spPr>
          <a:xfrm>
            <a:off x="4329642" y="4741830"/>
            <a:ext cx="9937009" cy="24446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D6E2F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model = MLP()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D6E2F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opt   = torch.optim.Adam(model.parameters()) 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B98CFF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B98CFF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 xb, yb </a:t>
            </a:r>
            <a:r>
              <a:rPr b="0" i="0" lang="en-US" sz="1950" u="none" cap="none" strike="noStrike">
                <a:solidFill>
                  <a:srgbClr val="B98CFF"/>
                </a:solidFill>
                <a:latin typeface="Courier New"/>
                <a:ea typeface="Courier New"/>
                <a:cs typeface="Courier New"/>
                <a:sym typeface="Courier New"/>
              </a:rPr>
              <a:t>in </a:t>
            </a: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 loader: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D6E2F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    opt.zero_grad()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D6E2F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    loss = F.cross_entropy(model(xb), yb)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D6E2F2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D6E2F2"/>
                </a:solidFill>
                <a:latin typeface="Courier New"/>
                <a:ea typeface="Courier New"/>
                <a:cs typeface="Courier New"/>
                <a:sym typeface="Courier New"/>
              </a:rPr>
              <a:t>    loss.backward(); opt.step()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0" name="Google Shape;1870;p127"/>
          <p:cNvSpPr/>
          <p:nvPr/>
        </p:nvSpPr>
        <p:spPr>
          <a:xfrm>
            <a:off x="5940433" y="7725172"/>
            <a:ext cx="6407135" cy="3847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3A3BC"/>
                </a:solidFill>
                <a:latin typeface="Arial"/>
                <a:ea typeface="Arial"/>
                <a:cs typeface="Arial"/>
                <a:sym typeface="Arial"/>
              </a:rPr>
              <a:t>Ít code hơn nhiều — autograd lo toàn bộ phần backprop.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18"/>
        </a:solidFill>
      </p:bgPr>
    </p:bg>
    <p:spTree>
      <p:nvGrpSpPr>
        <p:cNvPr id="1875" name="Shape 1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6" name="Google Shape;1876;p128"/>
          <p:cNvSpPr/>
          <p:nvPr/>
        </p:nvSpPr>
        <p:spPr>
          <a:xfrm>
            <a:off x="990534" y="800034"/>
            <a:ext cx="16796141" cy="334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8C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B98CFF"/>
                </a:solidFill>
                <a:latin typeface="Courier New"/>
                <a:ea typeface="Courier New"/>
                <a:cs typeface="Courier New"/>
                <a:sym typeface="Courier New"/>
              </a:rPr>
              <a:t>THEO DÕI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7" name="Google Shape;1877;p128"/>
          <p:cNvSpPr/>
          <p:nvPr/>
        </p:nvSpPr>
        <p:spPr>
          <a:xfrm>
            <a:off x="990534" y="1286867"/>
            <a:ext cx="14716126" cy="6842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Huấn luyện &amp; theo dõi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8" name="Google Shape;1878;p128"/>
          <p:cNvSpPr/>
          <p:nvPr/>
        </p:nvSpPr>
        <p:spPr>
          <a:xfrm>
            <a:off x="1466784" y="5407174"/>
            <a:ext cx="7568651" cy="4456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Vẽ </a:t>
            </a:r>
            <a:r>
              <a:rPr b="1" i="0" lang="en-US" sz="2400" u="none" cap="none" strike="noStrike">
                <a:solidFill>
                  <a:srgbClr val="B98CFF"/>
                </a:solidFill>
                <a:latin typeface="Arial"/>
                <a:ea typeface="Arial"/>
                <a:cs typeface="Arial"/>
                <a:sym typeface="Arial"/>
              </a:rPr>
              <a:t>loss / accuracy curve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9" name="Google Shape;1879;p128"/>
          <p:cNvSpPr/>
          <p:nvPr/>
        </p:nvSpPr>
        <p:spPr>
          <a:xfrm>
            <a:off x="1466784" y="6100465"/>
            <a:ext cx="7568651" cy="4456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Đọc curve để </a:t>
            </a:r>
            <a:r>
              <a:rPr b="1" i="0" lang="en-US" sz="2400" u="none" cap="none" strike="noStrike">
                <a:solidFill>
                  <a:srgbClr val="B98CFF"/>
                </a:solidFill>
                <a:latin typeface="Arial"/>
                <a:ea typeface="Arial"/>
                <a:cs typeface="Arial"/>
                <a:sym typeface="Arial"/>
              </a:rPr>
              <a:t>đánh giá </a:t>
            </a:r>
            <a:r>
              <a:rPr b="0" i="0" lang="en-US" sz="24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quá trình học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80" name="Google Shape;1880;p1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86884" y="3638848"/>
            <a:ext cx="7810583" cy="46374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18"/>
        </a:solidFill>
      </p:bgPr>
    </p:bg>
    <p:spTree>
      <p:nvGrpSpPr>
        <p:cNvPr id="1885" name="Shape 1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6" name="Google Shape;1886;p129"/>
          <p:cNvSpPr/>
          <p:nvPr/>
        </p:nvSpPr>
        <p:spPr>
          <a:xfrm>
            <a:off x="990534" y="800034"/>
            <a:ext cx="16796141" cy="334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8C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B98CFF"/>
                </a:solidFill>
                <a:latin typeface="Courier New"/>
                <a:ea typeface="Courier New"/>
                <a:cs typeface="Courier New"/>
                <a:sym typeface="Courier New"/>
              </a:rPr>
              <a:t>BÀI HỌC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7" name="Google Shape;1887;p129"/>
          <p:cNvSpPr/>
          <p:nvPr/>
        </p:nvSpPr>
        <p:spPr>
          <a:xfrm>
            <a:off x="990534" y="1286867"/>
            <a:ext cx="14716126" cy="6842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So sánh &amp; bài học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8" name="Google Shape;1888;p129"/>
          <p:cNvSpPr/>
          <p:nvPr/>
        </p:nvSpPr>
        <p:spPr>
          <a:xfrm>
            <a:off x="990534" y="4788958"/>
            <a:ext cx="3872591" cy="15875"/>
          </a:xfrm>
          <a:prstGeom prst="rect">
            <a:avLst/>
          </a:prstGeom>
          <a:solidFill>
            <a:srgbClr val="FFFFFF">
              <a:alpha val="1686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9" name="Google Shape;1889;p129"/>
          <p:cNvSpPr/>
          <p:nvPr/>
        </p:nvSpPr>
        <p:spPr>
          <a:xfrm>
            <a:off x="4863125" y="4788958"/>
            <a:ext cx="6725957" cy="15875"/>
          </a:xfrm>
          <a:prstGeom prst="rect">
            <a:avLst/>
          </a:prstGeom>
          <a:solidFill>
            <a:srgbClr val="FFFFFF">
              <a:alpha val="1686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0" name="Google Shape;1890;p129"/>
          <p:cNvSpPr/>
          <p:nvPr/>
        </p:nvSpPr>
        <p:spPr>
          <a:xfrm>
            <a:off x="5129825" y="4291046"/>
            <a:ext cx="6394336" cy="326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8C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B98CFF"/>
                </a:solidFill>
                <a:latin typeface="Courier New"/>
                <a:ea typeface="Courier New"/>
                <a:cs typeface="Courier New"/>
                <a:sym typeface="Courier New"/>
              </a:rPr>
              <a:t>NUMPY FROM SCRATCH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1" name="Google Shape;1891;p129"/>
          <p:cNvSpPr/>
          <p:nvPr/>
        </p:nvSpPr>
        <p:spPr>
          <a:xfrm>
            <a:off x="11589081" y="4788958"/>
            <a:ext cx="5708386" cy="15875"/>
          </a:xfrm>
          <a:prstGeom prst="rect">
            <a:avLst/>
          </a:prstGeom>
          <a:solidFill>
            <a:srgbClr val="FFFFFF">
              <a:alpha val="1686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2" name="Google Shape;1892;p129"/>
          <p:cNvSpPr/>
          <p:nvPr/>
        </p:nvSpPr>
        <p:spPr>
          <a:xfrm>
            <a:off x="11855781" y="4291046"/>
            <a:ext cx="5346237" cy="326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8C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B98CFF"/>
                </a:solidFill>
                <a:latin typeface="Courier New"/>
                <a:ea typeface="Courier New"/>
                <a:cs typeface="Courier New"/>
                <a:sym typeface="Courier New"/>
              </a:rPr>
              <a:t>PYTORCH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3" name="Google Shape;1893;p129"/>
          <p:cNvSpPr/>
          <p:nvPr/>
        </p:nvSpPr>
        <p:spPr>
          <a:xfrm>
            <a:off x="990534" y="5741955"/>
            <a:ext cx="3872591" cy="9525"/>
          </a:xfrm>
          <a:prstGeom prst="rect">
            <a:avLst/>
          </a:prstGeom>
          <a:solidFill>
            <a:srgbClr val="FFFFFF">
              <a:alpha val="901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4" name="Google Shape;1894;p129"/>
          <p:cNvSpPr/>
          <p:nvPr/>
        </p:nvSpPr>
        <p:spPr>
          <a:xfrm>
            <a:off x="1257234" y="5071533"/>
            <a:ext cx="3455368" cy="4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325"/>
              <a:buFont typeface="Arial"/>
              <a:buNone/>
            </a:pPr>
            <a:r>
              <a:rPr b="1" i="0" lang="en-US" sz="2325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Dòng code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5" name="Google Shape;1895;p129"/>
          <p:cNvSpPr/>
          <p:nvPr/>
        </p:nvSpPr>
        <p:spPr>
          <a:xfrm>
            <a:off x="4863125" y="5741955"/>
            <a:ext cx="6725957" cy="9525"/>
          </a:xfrm>
          <a:prstGeom prst="rect">
            <a:avLst/>
          </a:prstGeom>
          <a:solidFill>
            <a:srgbClr val="FFFFFF">
              <a:alpha val="901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6" name="Google Shape;1896;p129"/>
          <p:cNvSpPr/>
          <p:nvPr/>
        </p:nvSpPr>
        <p:spPr>
          <a:xfrm>
            <a:off x="5129825" y="5071533"/>
            <a:ext cx="6394336" cy="4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93A3BC"/>
                </a:solidFill>
                <a:latin typeface="Arial"/>
                <a:ea typeface="Arial"/>
                <a:cs typeface="Arial"/>
                <a:sym typeface="Arial"/>
              </a:rPr>
              <a:t>Nhiều, thủ công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7" name="Google Shape;1897;p129"/>
          <p:cNvSpPr/>
          <p:nvPr/>
        </p:nvSpPr>
        <p:spPr>
          <a:xfrm>
            <a:off x="11589081" y="5741955"/>
            <a:ext cx="5708386" cy="9525"/>
          </a:xfrm>
          <a:prstGeom prst="rect">
            <a:avLst/>
          </a:prstGeom>
          <a:solidFill>
            <a:srgbClr val="FFFFFF">
              <a:alpha val="901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8" name="Google Shape;1898;p129"/>
          <p:cNvSpPr/>
          <p:nvPr/>
        </p:nvSpPr>
        <p:spPr>
          <a:xfrm>
            <a:off x="11855781" y="5071533"/>
            <a:ext cx="5346237" cy="4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93A3BC"/>
                </a:solidFill>
                <a:latin typeface="Arial"/>
                <a:ea typeface="Arial"/>
                <a:cs typeface="Arial"/>
                <a:sym typeface="Arial"/>
              </a:rPr>
              <a:t>Ngắn gọn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9" name="Google Shape;1899;p129"/>
          <p:cNvSpPr/>
          <p:nvPr/>
        </p:nvSpPr>
        <p:spPr>
          <a:xfrm>
            <a:off x="990534" y="6679076"/>
            <a:ext cx="3872591" cy="9525"/>
          </a:xfrm>
          <a:prstGeom prst="rect">
            <a:avLst/>
          </a:prstGeom>
          <a:solidFill>
            <a:srgbClr val="FFFFFF">
              <a:alpha val="901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0" name="Google Shape;1900;p129"/>
          <p:cNvSpPr/>
          <p:nvPr/>
        </p:nvSpPr>
        <p:spPr>
          <a:xfrm>
            <a:off x="1257234" y="6013946"/>
            <a:ext cx="3455368" cy="4365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325"/>
              <a:buFont typeface="Arial"/>
              <a:buNone/>
            </a:pPr>
            <a:r>
              <a:rPr b="1" i="0" lang="en-US" sz="2325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Backprop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1" name="Google Shape;1901;p129"/>
          <p:cNvSpPr/>
          <p:nvPr/>
        </p:nvSpPr>
        <p:spPr>
          <a:xfrm>
            <a:off x="4863125" y="6679076"/>
            <a:ext cx="6725957" cy="9525"/>
          </a:xfrm>
          <a:prstGeom prst="rect">
            <a:avLst/>
          </a:prstGeom>
          <a:solidFill>
            <a:srgbClr val="FFFFFF">
              <a:alpha val="901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2" name="Google Shape;1902;p129"/>
          <p:cNvSpPr/>
          <p:nvPr/>
        </p:nvSpPr>
        <p:spPr>
          <a:xfrm>
            <a:off x="5129825" y="6013946"/>
            <a:ext cx="6394336" cy="4365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93A3BC"/>
                </a:solidFill>
                <a:latin typeface="Arial"/>
                <a:ea typeface="Arial"/>
                <a:cs typeface="Arial"/>
                <a:sym typeface="Arial"/>
              </a:rPr>
              <a:t>Tự cài chain rule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3" name="Google Shape;1903;p129"/>
          <p:cNvSpPr/>
          <p:nvPr/>
        </p:nvSpPr>
        <p:spPr>
          <a:xfrm>
            <a:off x="11589081" y="6679076"/>
            <a:ext cx="5708386" cy="9525"/>
          </a:xfrm>
          <a:prstGeom prst="rect">
            <a:avLst/>
          </a:prstGeom>
          <a:solidFill>
            <a:srgbClr val="FFFFFF">
              <a:alpha val="901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4" name="Google Shape;1904;p129"/>
          <p:cNvSpPr/>
          <p:nvPr/>
        </p:nvSpPr>
        <p:spPr>
          <a:xfrm>
            <a:off x="11855781" y="6013946"/>
            <a:ext cx="5346237" cy="4365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93A3BC"/>
                </a:solidFill>
                <a:latin typeface="Arial"/>
                <a:ea typeface="Arial"/>
                <a:cs typeface="Arial"/>
                <a:sym typeface="Arial"/>
              </a:rPr>
              <a:t>autograd tự động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5" name="Google Shape;1905;p129"/>
          <p:cNvSpPr/>
          <p:nvPr/>
        </p:nvSpPr>
        <p:spPr>
          <a:xfrm>
            <a:off x="990534" y="7616197"/>
            <a:ext cx="3872591" cy="9525"/>
          </a:xfrm>
          <a:prstGeom prst="rect">
            <a:avLst/>
          </a:prstGeom>
          <a:solidFill>
            <a:srgbClr val="FFFFFF">
              <a:alpha val="901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6" name="Google Shape;1906;p129"/>
          <p:cNvSpPr/>
          <p:nvPr/>
        </p:nvSpPr>
        <p:spPr>
          <a:xfrm>
            <a:off x="1257234" y="6951068"/>
            <a:ext cx="3455368" cy="4365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325"/>
              <a:buFont typeface="Arial"/>
              <a:buNone/>
            </a:pPr>
            <a:r>
              <a:rPr b="1" i="0" lang="en-US" sz="2325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Giá trị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7" name="Google Shape;1907;p129"/>
          <p:cNvSpPr/>
          <p:nvPr/>
        </p:nvSpPr>
        <p:spPr>
          <a:xfrm>
            <a:off x="4863125" y="7616197"/>
            <a:ext cx="6725957" cy="9525"/>
          </a:xfrm>
          <a:prstGeom prst="rect">
            <a:avLst/>
          </a:prstGeom>
          <a:solidFill>
            <a:srgbClr val="FFFFFF">
              <a:alpha val="901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8" name="Google Shape;1908;p129"/>
          <p:cNvSpPr/>
          <p:nvPr/>
        </p:nvSpPr>
        <p:spPr>
          <a:xfrm>
            <a:off x="5129825" y="6951068"/>
            <a:ext cx="6394336" cy="4365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93A3BC"/>
                </a:solidFill>
                <a:latin typeface="Arial"/>
                <a:ea typeface="Arial"/>
                <a:cs typeface="Arial"/>
                <a:sym typeface="Arial"/>
              </a:rPr>
              <a:t>Hiểu </a:t>
            </a:r>
            <a:r>
              <a:rPr b="1" i="0" lang="en-US" sz="2250" u="none" cap="none" strike="noStrike">
                <a:solidFill>
                  <a:srgbClr val="B98CFF"/>
                </a:solidFill>
                <a:latin typeface="Arial"/>
                <a:ea typeface="Arial"/>
                <a:cs typeface="Arial"/>
                <a:sym typeface="Arial"/>
              </a:rPr>
              <a:t>bản chất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9" name="Google Shape;1909;p129"/>
          <p:cNvSpPr/>
          <p:nvPr/>
        </p:nvSpPr>
        <p:spPr>
          <a:xfrm>
            <a:off x="11589081" y="7616197"/>
            <a:ext cx="5708386" cy="9525"/>
          </a:xfrm>
          <a:prstGeom prst="rect">
            <a:avLst/>
          </a:prstGeom>
          <a:solidFill>
            <a:srgbClr val="FFFFFF">
              <a:alpha val="901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0" name="Google Shape;1910;p129"/>
          <p:cNvSpPr/>
          <p:nvPr/>
        </p:nvSpPr>
        <p:spPr>
          <a:xfrm>
            <a:off x="11855781" y="6951068"/>
            <a:ext cx="5346237" cy="4365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93A3BC"/>
                </a:solidFill>
                <a:latin typeface="Arial"/>
                <a:ea typeface="Arial"/>
                <a:cs typeface="Arial"/>
                <a:sym typeface="Arial"/>
              </a:rPr>
              <a:t>Làm việc </a:t>
            </a:r>
            <a:r>
              <a:rPr b="1" i="0" lang="en-US" sz="2250" u="none" cap="none" strike="noStrike">
                <a:solidFill>
                  <a:srgbClr val="B98CFF"/>
                </a:solidFill>
                <a:latin typeface="Arial"/>
                <a:ea typeface="Arial"/>
                <a:cs typeface="Arial"/>
                <a:sym typeface="Arial"/>
              </a:rPr>
              <a:t>hiệu quả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11E"/>
        </a:solidFill>
      </p:bgPr>
    </p:bg>
    <p:spTree>
      <p:nvGrpSpPr>
        <p:cNvPr id="1915" name="Shape 1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6" name="Google Shape;1916;p130"/>
          <p:cNvSpPr/>
          <p:nvPr/>
        </p:nvSpPr>
        <p:spPr>
          <a:xfrm>
            <a:off x="990534" y="3175579"/>
            <a:ext cx="3218822" cy="538592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B98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7" name="Google Shape;1917;p130"/>
          <p:cNvSpPr/>
          <p:nvPr/>
        </p:nvSpPr>
        <p:spPr>
          <a:xfrm>
            <a:off x="1262526" y="3304696"/>
            <a:ext cx="2771403" cy="3184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8C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B98CFF"/>
                </a:solidFill>
                <a:latin typeface="Courier New"/>
                <a:ea typeface="Courier New"/>
                <a:cs typeface="Courier New"/>
                <a:sym typeface="Courier New"/>
              </a:rPr>
              <a:t>DEEP LEARNING ✓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8" name="Google Shape;1918;p130"/>
          <p:cNvSpPr/>
          <p:nvPr/>
        </p:nvSpPr>
        <p:spPr>
          <a:xfrm>
            <a:off x="990534" y="3999922"/>
            <a:ext cx="16796141" cy="11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6900"/>
              <a:buFont typeface="Arial"/>
              <a:buNone/>
            </a:pPr>
            <a:r>
              <a:rPr b="1" i="0" lang="en-US" sz="69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Section 7 hoàn thành</a:t>
            </a:r>
            <a:endParaRPr b="0" i="0" sz="6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9" name="Google Shape;1919;p130"/>
          <p:cNvSpPr/>
          <p:nvPr/>
        </p:nvSpPr>
        <p:spPr>
          <a:xfrm>
            <a:off x="990534" y="5428672"/>
            <a:ext cx="16796141" cy="387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93A3BC"/>
                </a:solidFill>
                <a:latin typeface="Arial"/>
                <a:ea typeface="Arial"/>
                <a:cs typeface="Arial"/>
                <a:sym typeface="Arial"/>
              </a:rPr>
              <a:t>Neural network từ nền tảng đến PyTorch · Mini-Project MLP from scratch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0" name="Google Shape;1920;p130"/>
          <p:cNvSpPr/>
          <p:nvPr/>
        </p:nvSpPr>
        <p:spPr>
          <a:xfrm>
            <a:off x="990534" y="6349422"/>
            <a:ext cx="16306933" cy="9525"/>
          </a:xfrm>
          <a:prstGeom prst="rect">
            <a:avLst/>
          </a:prstGeom>
          <a:solidFill>
            <a:srgbClr val="FFFFFF">
              <a:alpha val="901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1" name="Google Shape;1921;p130"/>
          <p:cNvSpPr/>
          <p:nvPr/>
        </p:nvSpPr>
        <p:spPr>
          <a:xfrm>
            <a:off x="990534" y="6830963"/>
            <a:ext cx="3122663" cy="3185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86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5C6B86"/>
                </a:solidFill>
                <a:latin typeface="Courier New"/>
                <a:ea typeface="Courier New"/>
                <a:cs typeface="Courier New"/>
                <a:sym typeface="Courier New"/>
              </a:rPr>
              <a:t>SECTION TIẾP THEO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2" name="Google Shape;1922;p130"/>
          <p:cNvSpPr/>
          <p:nvPr/>
        </p:nvSpPr>
        <p:spPr>
          <a:xfrm>
            <a:off x="4269879" y="6752084"/>
            <a:ext cx="514416" cy="4762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98CFF"/>
              </a:buClr>
              <a:buSzPts val="3450"/>
              <a:buFont typeface="Arial"/>
              <a:buNone/>
            </a:pPr>
            <a:r>
              <a:rPr b="0" i="0" lang="en-US" sz="3450" u="none" cap="none" strike="noStrike">
                <a:solidFill>
                  <a:srgbClr val="B98CFF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3" name="Google Shape;1923;p130"/>
          <p:cNvSpPr/>
          <p:nvPr/>
        </p:nvSpPr>
        <p:spPr>
          <a:xfrm>
            <a:off x="4955729" y="6735713"/>
            <a:ext cx="4777120" cy="5090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Section 8 · Computer Vision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018"/>
        </a:solidFill>
      </p:bgPr>
    </p:bg>
    <p:spTree>
      <p:nvGrpSpPr>
        <p:cNvPr id="1928" name="Shape 1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9" name="Google Shape;1929;p131"/>
          <p:cNvSpPr/>
          <p:nvPr/>
        </p:nvSpPr>
        <p:spPr>
          <a:xfrm>
            <a:off x="990534" y="800034"/>
            <a:ext cx="16796141" cy="334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8C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B98CFF"/>
                </a:solidFill>
                <a:latin typeface="Courier New"/>
                <a:ea typeface="Courier New"/>
                <a:cs typeface="Courier New"/>
                <a:sym typeface="Courier New"/>
              </a:rPr>
              <a:t>TIẾN ĐỘ KHOÁ HỌC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0" name="Google Shape;1930;p131"/>
          <p:cNvSpPr/>
          <p:nvPr/>
        </p:nvSpPr>
        <p:spPr>
          <a:xfrm>
            <a:off x="990534" y="1286867"/>
            <a:ext cx="14716126" cy="6842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91 / 198 lectures hoàn thành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1" name="Google Shape;1931;p131"/>
          <p:cNvSpPr/>
          <p:nvPr/>
        </p:nvSpPr>
        <p:spPr>
          <a:xfrm>
            <a:off x="990534" y="4320398"/>
            <a:ext cx="2053332" cy="15875"/>
          </a:xfrm>
          <a:prstGeom prst="rect">
            <a:avLst/>
          </a:prstGeom>
          <a:solidFill>
            <a:srgbClr val="FFFFFF">
              <a:alpha val="1686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2" name="Google Shape;1932;p131"/>
          <p:cNvSpPr/>
          <p:nvPr/>
        </p:nvSpPr>
        <p:spPr>
          <a:xfrm>
            <a:off x="1257234" y="3822485"/>
            <a:ext cx="1596132" cy="326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1800"/>
              <a:buFont typeface="Courier New"/>
              <a:buNone/>
            </a:pPr>
            <a:r>
              <a:rPr b="1" i="0" lang="en-US" sz="1800" u="none" cap="none" strike="noStrike">
                <a:solidFill>
                  <a:srgbClr val="E7EDF8"/>
                </a:solidFill>
                <a:latin typeface="Courier New"/>
                <a:ea typeface="Courier New"/>
                <a:cs typeface="Courier New"/>
                <a:sym typeface="Courier New"/>
              </a:rPr>
              <a:t>BATCH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3" name="Google Shape;1933;p131"/>
          <p:cNvSpPr/>
          <p:nvPr/>
        </p:nvSpPr>
        <p:spPr>
          <a:xfrm>
            <a:off x="3043866" y="4320398"/>
            <a:ext cx="7854653" cy="15875"/>
          </a:xfrm>
          <a:prstGeom prst="rect">
            <a:avLst/>
          </a:prstGeom>
          <a:solidFill>
            <a:srgbClr val="FFFFFF">
              <a:alpha val="1686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4" name="Google Shape;1934;p131"/>
          <p:cNvSpPr/>
          <p:nvPr/>
        </p:nvSpPr>
        <p:spPr>
          <a:xfrm>
            <a:off x="3310566" y="3822485"/>
            <a:ext cx="7556892" cy="326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8C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B98CFF"/>
                </a:solidFill>
                <a:latin typeface="Courier New"/>
                <a:ea typeface="Courier New"/>
                <a:cs typeface="Courier New"/>
                <a:sym typeface="Courier New"/>
              </a:rPr>
              <a:t>SECTION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5" name="Google Shape;1935;p131"/>
          <p:cNvSpPr/>
          <p:nvPr/>
        </p:nvSpPr>
        <p:spPr>
          <a:xfrm>
            <a:off x="10898518" y="4320398"/>
            <a:ext cx="2792512" cy="15875"/>
          </a:xfrm>
          <a:prstGeom prst="rect">
            <a:avLst/>
          </a:prstGeom>
          <a:solidFill>
            <a:srgbClr val="FFFFFF">
              <a:alpha val="1686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6" name="Google Shape;1936;p131"/>
          <p:cNvSpPr/>
          <p:nvPr/>
        </p:nvSpPr>
        <p:spPr>
          <a:xfrm>
            <a:off x="11165218" y="3822485"/>
            <a:ext cx="2342887" cy="326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8C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B98CFF"/>
                </a:solidFill>
                <a:latin typeface="Courier New"/>
                <a:ea typeface="Courier New"/>
                <a:cs typeface="Courier New"/>
                <a:sym typeface="Courier New"/>
              </a:rPr>
              <a:t>LECTURES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7" name="Google Shape;1937;p131"/>
          <p:cNvSpPr/>
          <p:nvPr/>
        </p:nvSpPr>
        <p:spPr>
          <a:xfrm>
            <a:off x="13691031" y="4320398"/>
            <a:ext cx="3606436" cy="15875"/>
          </a:xfrm>
          <a:prstGeom prst="rect">
            <a:avLst/>
          </a:prstGeom>
          <a:solidFill>
            <a:srgbClr val="FFFFFF">
              <a:alpha val="1686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8" name="Google Shape;1938;p131"/>
          <p:cNvSpPr/>
          <p:nvPr/>
        </p:nvSpPr>
        <p:spPr>
          <a:xfrm>
            <a:off x="13957731" y="3822485"/>
            <a:ext cx="3181229" cy="326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8CFF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B98CFF"/>
                </a:solidFill>
                <a:latin typeface="Courier New"/>
                <a:ea typeface="Courier New"/>
                <a:cs typeface="Courier New"/>
                <a:sym typeface="Courier New"/>
              </a:rPr>
              <a:t>TRẠNG THÁI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9" name="Google Shape;1939;p131"/>
          <p:cNvSpPr/>
          <p:nvPr/>
        </p:nvSpPr>
        <p:spPr>
          <a:xfrm>
            <a:off x="990534" y="5273394"/>
            <a:ext cx="2053332" cy="9525"/>
          </a:xfrm>
          <a:prstGeom prst="rect">
            <a:avLst/>
          </a:prstGeom>
          <a:solidFill>
            <a:srgbClr val="FFFFFF">
              <a:alpha val="901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0" name="Google Shape;1940;p131"/>
          <p:cNvSpPr/>
          <p:nvPr/>
        </p:nvSpPr>
        <p:spPr>
          <a:xfrm>
            <a:off x="1257234" y="4602973"/>
            <a:ext cx="1596132" cy="4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325"/>
              <a:buFont typeface="Arial"/>
              <a:buNone/>
            </a:pPr>
            <a:r>
              <a:rPr b="1" i="0" lang="en-US" sz="2325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1–4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1" name="Google Shape;1941;p131"/>
          <p:cNvSpPr/>
          <p:nvPr/>
        </p:nvSpPr>
        <p:spPr>
          <a:xfrm>
            <a:off x="3043866" y="5273394"/>
            <a:ext cx="7854653" cy="9525"/>
          </a:xfrm>
          <a:prstGeom prst="rect">
            <a:avLst/>
          </a:prstGeom>
          <a:solidFill>
            <a:srgbClr val="FFFFFF">
              <a:alpha val="901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2" name="Google Shape;1942;p131"/>
          <p:cNvSpPr/>
          <p:nvPr/>
        </p:nvSpPr>
        <p:spPr>
          <a:xfrm>
            <a:off x="3310566" y="4602973"/>
            <a:ext cx="7556892" cy="4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93A3BC"/>
                </a:solidFill>
                <a:latin typeface="Arial"/>
                <a:ea typeface="Arial"/>
                <a:cs typeface="Arial"/>
                <a:sym typeface="Arial"/>
              </a:rPr>
              <a:t>S1 → S5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3" name="Google Shape;1943;p131"/>
          <p:cNvSpPr/>
          <p:nvPr/>
        </p:nvSpPr>
        <p:spPr>
          <a:xfrm>
            <a:off x="10898518" y="5273394"/>
            <a:ext cx="2792512" cy="9525"/>
          </a:xfrm>
          <a:prstGeom prst="rect">
            <a:avLst/>
          </a:prstGeom>
          <a:solidFill>
            <a:srgbClr val="FFFFFF">
              <a:alpha val="901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4" name="Google Shape;1944;p131"/>
          <p:cNvSpPr/>
          <p:nvPr/>
        </p:nvSpPr>
        <p:spPr>
          <a:xfrm>
            <a:off x="11165218" y="4602973"/>
            <a:ext cx="2342887" cy="4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93A3BC"/>
                </a:solidFill>
                <a:latin typeface="Arial"/>
                <a:ea typeface="Arial"/>
                <a:cs typeface="Arial"/>
                <a:sym typeface="Arial"/>
              </a:rPr>
              <a:t>70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5" name="Google Shape;1945;p131"/>
          <p:cNvSpPr/>
          <p:nvPr/>
        </p:nvSpPr>
        <p:spPr>
          <a:xfrm>
            <a:off x="13691031" y="5273394"/>
            <a:ext cx="3606436" cy="9525"/>
          </a:xfrm>
          <a:prstGeom prst="rect">
            <a:avLst/>
          </a:prstGeom>
          <a:solidFill>
            <a:srgbClr val="FFFFFF">
              <a:alpha val="901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6" name="Google Shape;1946;p131"/>
          <p:cNvSpPr/>
          <p:nvPr/>
        </p:nvSpPr>
        <p:spPr>
          <a:xfrm>
            <a:off x="13957731" y="4602973"/>
            <a:ext cx="3181229" cy="4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93A3BC"/>
                </a:solidFill>
                <a:latin typeface="Arial"/>
                <a:ea typeface="Arial"/>
                <a:cs typeface="Arial"/>
                <a:sym typeface="Arial"/>
              </a:rPr>
              <a:t>✓ Hoàn thành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7" name="Google Shape;1947;p131"/>
          <p:cNvSpPr/>
          <p:nvPr/>
        </p:nvSpPr>
        <p:spPr>
          <a:xfrm>
            <a:off x="990534" y="6210515"/>
            <a:ext cx="2053332" cy="9525"/>
          </a:xfrm>
          <a:prstGeom prst="rect">
            <a:avLst/>
          </a:prstGeom>
          <a:solidFill>
            <a:srgbClr val="FFFFFF">
              <a:alpha val="901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8" name="Google Shape;1948;p131"/>
          <p:cNvSpPr/>
          <p:nvPr/>
        </p:nvSpPr>
        <p:spPr>
          <a:xfrm>
            <a:off x="1257234" y="5545386"/>
            <a:ext cx="1596132" cy="4365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325"/>
              <a:buFont typeface="Arial"/>
              <a:buNone/>
            </a:pPr>
            <a:r>
              <a:rPr b="1" i="0" lang="en-US" sz="2325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9" name="Google Shape;1949;p131"/>
          <p:cNvSpPr/>
          <p:nvPr/>
        </p:nvSpPr>
        <p:spPr>
          <a:xfrm>
            <a:off x="3043866" y="6210515"/>
            <a:ext cx="7854653" cy="9525"/>
          </a:xfrm>
          <a:prstGeom prst="rect">
            <a:avLst/>
          </a:prstGeom>
          <a:solidFill>
            <a:srgbClr val="FFFFFF">
              <a:alpha val="901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0" name="Google Shape;1950;p131"/>
          <p:cNvSpPr/>
          <p:nvPr/>
        </p:nvSpPr>
        <p:spPr>
          <a:xfrm>
            <a:off x="3310566" y="5545386"/>
            <a:ext cx="7556892" cy="4365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93A3BC"/>
                </a:solidFill>
                <a:latin typeface="Arial"/>
                <a:ea typeface="Arial"/>
                <a:cs typeface="Arial"/>
                <a:sym typeface="Arial"/>
              </a:rPr>
              <a:t>S6 Time Series + S7 Deep Learning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1" name="Google Shape;1951;p131"/>
          <p:cNvSpPr/>
          <p:nvPr/>
        </p:nvSpPr>
        <p:spPr>
          <a:xfrm>
            <a:off x="10898518" y="6210515"/>
            <a:ext cx="2792512" cy="9525"/>
          </a:xfrm>
          <a:prstGeom prst="rect">
            <a:avLst/>
          </a:prstGeom>
          <a:solidFill>
            <a:srgbClr val="FFFFFF">
              <a:alpha val="901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2" name="Google Shape;1952;p131"/>
          <p:cNvSpPr/>
          <p:nvPr/>
        </p:nvSpPr>
        <p:spPr>
          <a:xfrm>
            <a:off x="11165218" y="5545386"/>
            <a:ext cx="2342887" cy="4365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93A3BC"/>
                </a:solidFill>
                <a:latin typeface="Arial"/>
                <a:ea typeface="Arial"/>
                <a:cs typeface="Arial"/>
                <a:sym typeface="Arial"/>
              </a:rPr>
              <a:t>21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3" name="Google Shape;1953;p131"/>
          <p:cNvSpPr/>
          <p:nvPr/>
        </p:nvSpPr>
        <p:spPr>
          <a:xfrm>
            <a:off x="13691031" y="6210515"/>
            <a:ext cx="3606436" cy="9525"/>
          </a:xfrm>
          <a:prstGeom prst="rect">
            <a:avLst/>
          </a:prstGeom>
          <a:solidFill>
            <a:srgbClr val="FFFFFF">
              <a:alpha val="901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4" name="Google Shape;1954;p131"/>
          <p:cNvSpPr/>
          <p:nvPr/>
        </p:nvSpPr>
        <p:spPr>
          <a:xfrm>
            <a:off x="13957731" y="5545386"/>
            <a:ext cx="3181229" cy="4365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93A3BC"/>
                </a:solidFill>
                <a:latin typeface="Arial"/>
                <a:ea typeface="Arial"/>
                <a:cs typeface="Arial"/>
                <a:sym typeface="Arial"/>
              </a:rPr>
              <a:t>✓ Hoàn thành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5" name="Google Shape;1955;p131"/>
          <p:cNvSpPr/>
          <p:nvPr/>
        </p:nvSpPr>
        <p:spPr>
          <a:xfrm>
            <a:off x="990534" y="7147637"/>
            <a:ext cx="2053332" cy="9525"/>
          </a:xfrm>
          <a:prstGeom prst="rect">
            <a:avLst/>
          </a:prstGeom>
          <a:solidFill>
            <a:srgbClr val="FFFFFF">
              <a:alpha val="901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6" name="Google Shape;1956;p131"/>
          <p:cNvSpPr/>
          <p:nvPr/>
        </p:nvSpPr>
        <p:spPr>
          <a:xfrm>
            <a:off x="1257234" y="6482507"/>
            <a:ext cx="1596132" cy="4365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325"/>
              <a:buFont typeface="Arial"/>
              <a:buNone/>
            </a:pPr>
            <a:r>
              <a:rPr b="1" i="0" lang="en-US" sz="2325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7" name="Google Shape;1957;p131"/>
          <p:cNvSpPr/>
          <p:nvPr/>
        </p:nvSpPr>
        <p:spPr>
          <a:xfrm>
            <a:off x="3043866" y="7147637"/>
            <a:ext cx="7854653" cy="9525"/>
          </a:xfrm>
          <a:prstGeom prst="rect">
            <a:avLst/>
          </a:prstGeom>
          <a:solidFill>
            <a:srgbClr val="FFFFFF">
              <a:alpha val="901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8" name="Google Shape;1958;p131"/>
          <p:cNvSpPr/>
          <p:nvPr/>
        </p:nvSpPr>
        <p:spPr>
          <a:xfrm>
            <a:off x="3310566" y="6482507"/>
            <a:ext cx="7556892" cy="4365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93A3BC"/>
                </a:solidFill>
                <a:latin typeface="Arial"/>
                <a:ea typeface="Arial"/>
                <a:cs typeface="Arial"/>
                <a:sym typeface="Arial"/>
              </a:rPr>
              <a:t>S8 Computer Vision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9" name="Google Shape;1959;p131"/>
          <p:cNvSpPr/>
          <p:nvPr/>
        </p:nvSpPr>
        <p:spPr>
          <a:xfrm>
            <a:off x="10898518" y="7147637"/>
            <a:ext cx="2792512" cy="9525"/>
          </a:xfrm>
          <a:prstGeom prst="rect">
            <a:avLst/>
          </a:prstGeom>
          <a:solidFill>
            <a:srgbClr val="FFFFFF">
              <a:alpha val="901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0" name="Google Shape;1960;p131"/>
          <p:cNvSpPr/>
          <p:nvPr/>
        </p:nvSpPr>
        <p:spPr>
          <a:xfrm>
            <a:off x="11165218" y="6482507"/>
            <a:ext cx="2342887" cy="4365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93A3BC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1" name="Google Shape;1961;p131"/>
          <p:cNvSpPr/>
          <p:nvPr/>
        </p:nvSpPr>
        <p:spPr>
          <a:xfrm>
            <a:off x="13691031" y="7147637"/>
            <a:ext cx="3606436" cy="9525"/>
          </a:xfrm>
          <a:prstGeom prst="rect">
            <a:avLst/>
          </a:prstGeom>
          <a:solidFill>
            <a:srgbClr val="FFFFFF">
              <a:alpha val="901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2" name="Google Shape;1962;p131"/>
          <p:cNvSpPr/>
          <p:nvPr/>
        </p:nvSpPr>
        <p:spPr>
          <a:xfrm>
            <a:off x="13957731" y="6482507"/>
            <a:ext cx="3181229" cy="4365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93A3BC"/>
                </a:solidFill>
                <a:latin typeface="Arial"/>
                <a:ea typeface="Arial"/>
                <a:cs typeface="Arial"/>
                <a:sym typeface="Arial"/>
              </a:rPr>
              <a:t>Tiếp theo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3" name="Google Shape;1963;p131"/>
          <p:cNvSpPr/>
          <p:nvPr/>
        </p:nvSpPr>
        <p:spPr>
          <a:xfrm>
            <a:off x="990534" y="8084757"/>
            <a:ext cx="2053332" cy="9525"/>
          </a:xfrm>
          <a:prstGeom prst="rect">
            <a:avLst/>
          </a:prstGeom>
          <a:solidFill>
            <a:srgbClr val="FFFFFF">
              <a:alpha val="901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4" name="Google Shape;1964;p131"/>
          <p:cNvSpPr/>
          <p:nvPr/>
        </p:nvSpPr>
        <p:spPr>
          <a:xfrm>
            <a:off x="1257234" y="7419628"/>
            <a:ext cx="1596132" cy="4365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E7EDF8"/>
              </a:buClr>
              <a:buSzPts val="2325"/>
              <a:buFont typeface="Arial"/>
              <a:buNone/>
            </a:pPr>
            <a:r>
              <a:rPr b="1" i="0" lang="en-US" sz="2325" u="none" cap="none" strike="noStrike">
                <a:solidFill>
                  <a:srgbClr val="E7EDF8"/>
                </a:solidFill>
                <a:latin typeface="Arial"/>
                <a:ea typeface="Arial"/>
                <a:cs typeface="Arial"/>
                <a:sym typeface="Arial"/>
              </a:rPr>
              <a:t>7–10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5" name="Google Shape;1965;p131"/>
          <p:cNvSpPr/>
          <p:nvPr/>
        </p:nvSpPr>
        <p:spPr>
          <a:xfrm>
            <a:off x="3043866" y="8084757"/>
            <a:ext cx="7854653" cy="9525"/>
          </a:xfrm>
          <a:prstGeom prst="rect">
            <a:avLst/>
          </a:prstGeom>
          <a:solidFill>
            <a:srgbClr val="FFFFFF">
              <a:alpha val="901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6" name="Google Shape;1966;p131"/>
          <p:cNvSpPr/>
          <p:nvPr/>
        </p:nvSpPr>
        <p:spPr>
          <a:xfrm>
            <a:off x="3310566" y="7419628"/>
            <a:ext cx="7556892" cy="4365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93A3BC"/>
                </a:solidFill>
                <a:latin typeface="Arial"/>
                <a:ea typeface="Arial"/>
                <a:cs typeface="Arial"/>
                <a:sym typeface="Arial"/>
              </a:rPr>
              <a:t>S9 → S16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7" name="Google Shape;1967;p131"/>
          <p:cNvSpPr/>
          <p:nvPr/>
        </p:nvSpPr>
        <p:spPr>
          <a:xfrm>
            <a:off x="10898518" y="8084757"/>
            <a:ext cx="2792512" cy="9525"/>
          </a:xfrm>
          <a:prstGeom prst="rect">
            <a:avLst/>
          </a:prstGeom>
          <a:solidFill>
            <a:srgbClr val="FFFFFF">
              <a:alpha val="901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8" name="Google Shape;1968;p131"/>
          <p:cNvSpPr/>
          <p:nvPr/>
        </p:nvSpPr>
        <p:spPr>
          <a:xfrm>
            <a:off x="11165218" y="7419628"/>
            <a:ext cx="2342887" cy="4365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93A3BC"/>
                </a:solidFill>
                <a:latin typeface="Arial"/>
                <a:ea typeface="Arial"/>
                <a:cs typeface="Arial"/>
                <a:sym typeface="Arial"/>
              </a:rPr>
              <a:t>91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9" name="Google Shape;1969;p131"/>
          <p:cNvSpPr/>
          <p:nvPr/>
        </p:nvSpPr>
        <p:spPr>
          <a:xfrm>
            <a:off x="13691031" y="8084757"/>
            <a:ext cx="3606436" cy="9525"/>
          </a:xfrm>
          <a:prstGeom prst="rect">
            <a:avLst/>
          </a:prstGeom>
          <a:solidFill>
            <a:srgbClr val="FFFFFF">
              <a:alpha val="901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0" name="Google Shape;1970;p131"/>
          <p:cNvSpPr/>
          <p:nvPr/>
        </p:nvSpPr>
        <p:spPr>
          <a:xfrm>
            <a:off x="13957731" y="7419628"/>
            <a:ext cx="3181229" cy="4365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3A3BC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93A3BC"/>
                </a:solidFill>
                <a:latin typeface="Arial"/>
                <a:ea typeface="Arial"/>
                <a:cs typeface="Arial"/>
                <a:sym typeface="Arial"/>
              </a:rPr>
              <a:t>Sắp tới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