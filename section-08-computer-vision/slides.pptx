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84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79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83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88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9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100" Type="http://schemas.openxmlformats.org/officeDocument/2006/relationships/slide" Target="slides/slide96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11" Type="http://schemas.openxmlformats.org/officeDocument/2006/relationships/slide" Target="slides/slide7.xml"/><Relationship Id="rId99" Type="http://schemas.openxmlformats.org/officeDocument/2006/relationships/slide" Target="slides/slide95.xml"/><Relationship Id="rId10" Type="http://schemas.openxmlformats.org/officeDocument/2006/relationships/slide" Target="slides/slide6.xml"/><Relationship Id="rId98" Type="http://schemas.openxmlformats.org/officeDocument/2006/relationships/slide" Target="slides/slide94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9" Type="http://schemas.openxmlformats.org/officeDocument/2006/relationships/slide" Target="slides/slide85.xml"/><Relationship Id="rId80" Type="http://schemas.openxmlformats.org/officeDocument/2006/relationships/slide" Target="slides/slide76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69" Type="http://schemas.openxmlformats.org/officeDocument/2006/relationships/slide" Target="slides/slide6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9" Type="http://schemas.openxmlformats.org/officeDocument/2006/relationships/slide" Target="slides/slide55.xml"/><Relationship Id="rId58" Type="http://schemas.openxmlformats.org/officeDocument/2006/relationships/slide" Target="slides/slide5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" name="Google Shape;4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" name="Google Shape;14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5" name="Google Shape;30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7" name="Google Shape;32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8" name="Google Shape;35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5" name="Google Shape;37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6" name="Google Shape;41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" name="Google Shape;43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2" name="Google Shape;442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7" name="Google Shape;477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4" name="Google Shape;51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8" name="Google Shape;528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4" name="Google Shape;544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2" name="Google Shape;572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2" name="Google Shape;582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8" name="Google Shape;598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2" name="Google Shape;612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6" name="Google Shape;626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0" name="Google Shape;640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4" name="Google Shape;654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4" name="Google Shape;664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0" name="Google Shape;680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1" name="Google Shape;681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3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5" name="Google Shape;695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9" name="Google Shape;709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3" name="Google Shape;723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4" name="Google Shape;724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3" name="Google Shape;733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7" name="Google Shape;747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8" name="Google Shape;758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0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2" name="Google Shape;772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4" name="Google Shape;784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0" name="Google Shape;800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5" name="Google Shape;815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6" name="Google Shape;816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5" name="Google Shape;825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9" name="Google Shape;839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5" name="Google Shape;855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1" name="Google Shape;871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5" name="Google Shape;885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6" name="Google Shape;886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0" name="Google Shape;900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10" name="Google Shape;910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Google Shape;925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6" name="Google Shape;926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0" name="Google Shape;940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8" name="Google Shape;958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3" name="Shape 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Google Shape;974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5" name="Google Shape;975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0" name="Google Shape;990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0" name="Google Shape;1000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4" name="Google Shape;1014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9" name="Google Shape;1029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1" name="Google Shape;1041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3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5" name="Google Shape;1055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3" name="Shape 10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Google Shape;1064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5" name="Google Shape;1065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0" name="Google Shape;1080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1" name="Google Shape;1081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6" name="Google Shape;1096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1" name="Google Shape;1111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2" name="Google Shape;1112;p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5" name="Google Shape;1125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5" name="Google Shape;1135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6" name="Google Shape;1136;p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9" name="Google Shape;1149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5" name="Google Shape;1165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8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7" name="Shape 1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8" name="Google Shape;1178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9" name="Google Shape;1179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4" name="Google Shape;1194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2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4" name="Google Shape;1204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8" name="Google Shape;1218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8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9" name="Google Shape;1229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0" name="Google Shape;1230;p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3" name="Google Shape;1243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8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7" name="Google Shape;1257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8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7" name="Google Shape;1267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8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9" name="Shape 1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" name="Google Shape;1280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1" name="Google Shape;1281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9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6" name="Google Shape;1296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9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0" name="Google Shape;1310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9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4" name="Google Shape;1324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9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p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9" name="Google Shape;1339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0" name="Google Shape;1340;p9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5" name="Google Shape;1355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9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7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9" name="Google Shape;1369;p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9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047750" y="2342968"/>
            <a:ext cx="104758" cy="104758"/>
          </a:xfrm>
          <a:prstGeom prst="ellipse">
            <a:avLst/>
          </a:prstGeom>
          <a:noFill/>
          <a:ln>
            <a:noFill/>
          </a:ln>
          <a:effectLst>
            <a:outerShdw blurRad="1524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323909" y="2233993"/>
            <a:ext cx="4474282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SECTION 8 · BATCH 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047750" y="2880568"/>
            <a:ext cx="13986195" cy="245192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900"/>
              <a:buFont typeface="Arial"/>
              <a:buNone/>
            </a:pPr>
            <a:r>
              <a:rPr b="1" i="0" lang="en-US" sz="9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Computer Vision</a:t>
            </a:r>
            <a:endParaRPr b="0" i="0" sz="9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047750" y="5675395"/>
            <a:ext cx="8641380" cy="147801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Từ pixel đến deploy: CNN, ResNet, ViT, transfer learning, detection, segmentation, OCR, edge — và Capstone 3 thực chiến.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047750" y="7724841"/>
            <a:ext cx="1710994" cy="366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16 </a:t>
            </a: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lectures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3044445" y="7724841"/>
            <a:ext cx="1562332" cy="366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~94 </a:t>
            </a: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slides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4892477" y="7724841"/>
            <a:ext cx="1413751" cy="366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~130 </a:t>
            </a: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phút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6591928" y="7724841"/>
            <a:ext cx="4133034" cy="3661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Mastering AI &amp; Data Science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1285792" y="876267"/>
            <a:ext cx="3397739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LỘ TRÌNH SECTION 8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047750" y="1408576"/>
            <a:ext cx="8476420" cy="183817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Sáu chặng, một mục tiêu: nhìn được ảnh, rồi đưa model ra đời thực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357809" y="3956844"/>
            <a:ext cx="475063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01 — 02 · NỀN TẢNG ẢNH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1357809" y="4349419"/>
            <a:ext cx="4750634" cy="7580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Pixel · channel · tensor Tiền xử lý &amp; augmentation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6837826" y="3956844"/>
            <a:ext cx="475063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03 — 06 · MẠNG CNN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6837826" y="4349419"/>
            <a:ext cx="4750634" cy="7580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Convolution · kiến trúc CNN kinh điển &amp; hiện đại · ViT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2317843" y="3956844"/>
            <a:ext cx="475063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07 — 08 · TÁI SỬ DỤNG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2317843" y="4349419"/>
            <a:ext cx="4750634" cy="7580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Transfer learning &amp; fine-tune Pipeline augmentation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357809" y="6953085"/>
            <a:ext cx="475063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09 — 11 · BÀI TOÁN LÕI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357809" y="7345660"/>
            <a:ext cx="4750634" cy="7580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 detection · segmentation OCR &amp; Document AI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6837826" y="6953085"/>
            <a:ext cx="475063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12 — 13 · NÂNG CAO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6837826" y="7345660"/>
            <a:ext cx="4750634" cy="7580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Nhận diện khuôn mặt Vision đa phương thức · CLIP/BLIP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2317843" y="6953085"/>
            <a:ext cx="475063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14 — 16 · RA ĐỜI THỰC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2317843" y="7345660"/>
            <a:ext cx="4750634" cy="7580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Edge deploy · quantization/pruning 🏆 Capstone 3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/>
          <p:nvPr/>
        </p:nvSpPr>
        <p:spPr>
          <a:xfrm>
            <a:off x="12771108" y="3390925"/>
            <a:ext cx="4603218" cy="35432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0"/>
              <a:buFont typeface="Arial"/>
              <a:buNone/>
            </a:pPr>
            <a:r>
              <a:rPr b="1" i="0" lang="en-US" sz="3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3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1047750" y="4240196"/>
            <a:ext cx="95250" cy="95250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1295384" y="4137009"/>
            <a:ext cx="647279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LECTURE 01 · ~7 PHÚT · 5 SLIDES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1047750" y="4724384"/>
            <a:ext cx="9889185" cy="8382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Ảnh đối với máy tính là gì?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1047750" y="5848284"/>
            <a:ext cx="1667827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Pixel · channel · tensor — máy "nhìn" ảnh thế nào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6"/>
          <p:cNvSpPr/>
          <p:nvPr/>
        </p:nvSpPr>
        <p:spPr>
          <a:xfrm>
            <a:off x="1285792" y="876267"/>
            <a:ext cx="4907759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L01 · PIXEL &amp; ĐỘ PHÂN GIẢI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Với máy, ảnh chỉ là một lưới các con số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485884" y="5359136"/>
            <a:ext cx="382491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Ảnh = lưới điểm ảnh (pixel)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1485884" y="5830673"/>
            <a:ext cx="7534690" cy="3599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Độ phân giải = số pixel theo chiều rộng × cao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6"/>
          <p:cNvSpPr/>
          <p:nvPr/>
        </p:nvSpPr>
        <p:spPr>
          <a:xfrm>
            <a:off x="1485884" y="6394897"/>
            <a:ext cx="3049594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Mỗi pixel mang giá trị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/>
          <p:nvPr/>
        </p:nvSpPr>
        <p:spPr>
          <a:xfrm>
            <a:off x="4518588" y="6394897"/>
            <a:ext cx="1356370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ourier New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 – 255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1485884" y="6866434"/>
            <a:ext cx="7534690" cy="3599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 = đen tuyệt đối, 255 = trắng tuyệt đối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11039426" y="3745177"/>
            <a:ext cx="960239" cy="922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76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11961499" y="3745177"/>
            <a:ext cx="960239" cy="922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122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12883572" y="3745177"/>
            <a:ext cx="960239" cy="922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180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13805645" y="3745177"/>
            <a:ext cx="960239" cy="922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228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14727717" y="3745177"/>
            <a:ext cx="960239" cy="922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250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/>
          <p:nvPr/>
        </p:nvSpPr>
        <p:spPr>
          <a:xfrm>
            <a:off x="11039426" y="4667250"/>
            <a:ext cx="960239" cy="922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/>
          <p:nvPr/>
        </p:nvSpPr>
        <p:spPr>
          <a:xfrm>
            <a:off x="11961499" y="4667250"/>
            <a:ext cx="960239" cy="922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96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12883572" y="4667250"/>
            <a:ext cx="960239" cy="922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150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13805645" y="4667250"/>
            <a:ext cx="960239" cy="922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14727717" y="4667250"/>
            <a:ext cx="960239" cy="922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242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11039426" y="5589323"/>
            <a:ext cx="960239" cy="922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11961499" y="5589323"/>
            <a:ext cx="960239" cy="922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72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6"/>
          <p:cNvSpPr/>
          <p:nvPr/>
        </p:nvSpPr>
        <p:spPr>
          <a:xfrm>
            <a:off x="12883572" y="5589323"/>
            <a:ext cx="960239" cy="922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128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13805645" y="5589323"/>
            <a:ext cx="960239" cy="922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190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/>
          <p:nvPr/>
        </p:nvSpPr>
        <p:spPr>
          <a:xfrm>
            <a:off x="14727717" y="5589323"/>
            <a:ext cx="960239" cy="922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232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1039426" y="6511396"/>
            <a:ext cx="960239" cy="922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11961499" y="6511396"/>
            <a:ext cx="960239" cy="922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12883572" y="6511396"/>
            <a:ext cx="960239" cy="922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110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13805645" y="6511396"/>
            <a:ext cx="960239" cy="922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172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14727717" y="6511396"/>
            <a:ext cx="960239" cy="922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222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11039426" y="7433469"/>
            <a:ext cx="960239" cy="922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11961499" y="7433469"/>
            <a:ext cx="960239" cy="922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84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12883572" y="7433469"/>
            <a:ext cx="960239" cy="922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140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13805645" y="7433469"/>
            <a:ext cx="960239" cy="922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200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14727717" y="7433469"/>
            <a:ext cx="960239" cy="922139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255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9370583" y="8527025"/>
            <a:ext cx="7985968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Vùng zoom 5×5 px — mỗi ô là một con số cường độ sáng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1285792" y="876267"/>
            <a:ext cx="3208933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L01 · CHANNEL MÀU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Ảnh xám có 1 channel , ảnh màu có 3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2776554" y="5630003"/>
            <a:ext cx="21337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1279379" y="5962303"/>
            <a:ext cx="3131520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đỏ · 0-255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4813978" y="5764610"/>
            <a:ext cx="287519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6925552" y="5630003"/>
            <a:ext cx="21337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5428376" y="5962303"/>
            <a:ext cx="3131605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lục · 0-255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8963059" y="5764610"/>
            <a:ext cx="287519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11074632" y="5630003"/>
            <a:ext cx="21337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9577457" y="5962303"/>
            <a:ext cx="3131520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lam · 0-255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13112057" y="5764610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15237025" y="5630003"/>
            <a:ext cx="48771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RGB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13877018" y="5962303"/>
            <a:ext cx="3131605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ảnh màu hoàn chỉnh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804863" y="6872883"/>
            <a:ext cx="16678276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Ba channel chồng lên nhau tạo ra mọi màu — ảnh xám chỉ giữ lại độ sáng.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8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8"/>
          <p:cNvSpPr/>
          <p:nvPr/>
        </p:nvSpPr>
        <p:spPr>
          <a:xfrm>
            <a:off x="1285792" y="876267"/>
            <a:ext cx="3397739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L01 · ẢNH = TENSOR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Gộp tất cả lại: ảnh là một tensor 3 chiều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1753129" y="5176722"/>
            <a:ext cx="2208742" cy="1665817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 × W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9911275" y="5019493"/>
            <a:ext cx="7137185" cy="11810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shape = </a:t>
            </a:r>
            <a:r>
              <a:rPr b="0" i="0" lang="en-US" sz="3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 Height × Width × Channel 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9925034" y="6853536"/>
            <a:ext cx="5423092" cy="4281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Nối lại khái niệm tensor — Section 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9925034" y="7491264"/>
            <a:ext cx="5423092" cy="4281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PyTorch quy ước thứ tự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(C × H × W)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"/>
          <p:cNvSpPr/>
          <p:nvPr/>
        </p:nvSpPr>
        <p:spPr>
          <a:xfrm>
            <a:off x="1285792" y="876267"/>
            <a:ext cx="2458607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L01 · TÓM TẮT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Ảnh = số. Ba khái niệm cần nhớ: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1305983" y="3285943"/>
            <a:ext cx="761934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pixel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2679584" y="3285943"/>
            <a:ext cx="1036274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channel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4327525" y="3285943"/>
            <a:ext cx="899104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tensor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1047750" y="4219195"/>
            <a:ext cx="1423425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2604492" y="4108070"/>
            <a:ext cx="469685" cy="583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3207494" y="4131882"/>
            <a:ext cx="14453739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Tiền xử lý ảnh — chuẩn bị ảnh trước khi đưa vào model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"/>
          <p:cNvSpPr/>
          <p:nvPr/>
        </p:nvSpPr>
        <p:spPr>
          <a:xfrm>
            <a:off x="12148924" y="3390925"/>
            <a:ext cx="5244067" cy="35432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0"/>
              <a:buFont typeface="Arial"/>
              <a:buNone/>
            </a:pPr>
            <a:r>
              <a:rPr b="1" i="0" lang="en-US" sz="3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3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0"/>
          <p:cNvSpPr/>
          <p:nvPr/>
        </p:nvSpPr>
        <p:spPr>
          <a:xfrm>
            <a:off x="1047750" y="4240196"/>
            <a:ext cx="95250" cy="95250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"/>
          <p:cNvSpPr/>
          <p:nvPr/>
        </p:nvSpPr>
        <p:spPr>
          <a:xfrm>
            <a:off x="1295384" y="4137009"/>
            <a:ext cx="647279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LECTURE 02 · ~8 PHÚT · 6 SLIDES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0"/>
          <p:cNvSpPr/>
          <p:nvPr/>
        </p:nvSpPr>
        <p:spPr>
          <a:xfrm>
            <a:off x="1047750" y="4724384"/>
            <a:ext cx="9889185" cy="8382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Tiền xử lý ảnh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0"/>
          <p:cNvSpPr/>
          <p:nvPr/>
        </p:nvSpPr>
        <p:spPr>
          <a:xfrm>
            <a:off x="1047750" y="5848284"/>
            <a:ext cx="1667827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resize · normalize · augment — ảnh thô không dùng được ngay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1"/>
          <p:cNvSpPr/>
          <p:nvPr/>
        </p:nvSpPr>
        <p:spPr>
          <a:xfrm>
            <a:off x="1285792" y="876267"/>
            <a:ext cx="3586459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L02 · RESIZE &amp; CROP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1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cần input cố định kích thước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1"/>
          <p:cNvSpPr/>
          <p:nvPr/>
        </p:nvSpPr>
        <p:spPr>
          <a:xfrm>
            <a:off x="1485884" y="5558152"/>
            <a:ext cx="5168954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Đưa mọi ảnh về cùng một kích thước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1"/>
          <p:cNvSpPr/>
          <p:nvPr/>
        </p:nvSpPr>
        <p:spPr>
          <a:xfrm>
            <a:off x="1485884" y="6029689"/>
            <a:ext cx="7534690" cy="3599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Hầu hết CNN yêu cầu input cố định, ví dụ 224×224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1"/>
          <p:cNvSpPr/>
          <p:nvPr/>
        </p:nvSpPr>
        <p:spPr>
          <a:xfrm>
            <a:off x="1485900" y="6599205"/>
            <a:ext cx="7547818" cy="4281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Resize co giãn, hoặc crop cắt vùng cần thiết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1"/>
          <p:cNvSpPr/>
          <p:nvPr/>
        </p:nvSpPr>
        <p:spPr>
          <a:xfrm>
            <a:off x="11218004" y="5750884"/>
            <a:ext cx="1185879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ảnh gốc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1"/>
          <p:cNvSpPr/>
          <p:nvPr/>
        </p:nvSpPr>
        <p:spPr>
          <a:xfrm>
            <a:off x="10980209" y="6031343"/>
            <a:ext cx="1661467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1024 × 768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13658834" y="5850351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14736151" y="5375176"/>
            <a:ext cx="1388533" cy="1350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224 × 224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10072495" y="7288610"/>
            <a:ext cx="6582145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Kích thước khác nhau → một kích thước chuẩn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2"/>
          <p:cNvSpPr/>
          <p:nvPr/>
        </p:nvSpPr>
        <p:spPr>
          <a:xfrm>
            <a:off x="1285792" y="876267"/>
            <a:ext cx="2831406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L02 · NORMALIZE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2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Đưa pixel về thang nhỏ giúp train ổn định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2"/>
          <p:cNvSpPr/>
          <p:nvPr/>
        </p:nvSpPr>
        <p:spPr>
          <a:xfrm>
            <a:off x="4028116" y="5630003"/>
            <a:ext cx="761967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pixel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2"/>
          <p:cNvSpPr/>
          <p:nvPr/>
        </p:nvSpPr>
        <p:spPr>
          <a:xfrm>
            <a:off x="4812953" y="5630003"/>
            <a:ext cx="1036307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 – 255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2"/>
          <p:cNvSpPr/>
          <p:nvPr/>
        </p:nvSpPr>
        <p:spPr>
          <a:xfrm>
            <a:off x="1217143" y="5962303"/>
            <a:ext cx="7405073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giá trị thô, thang rộng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2"/>
          <p:cNvSpPr/>
          <p:nvPr/>
        </p:nvSpPr>
        <p:spPr>
          <a:xfrm>
            <a:off x="8963059" y="5764610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2"/>
          <p:cNvSpPr/>
          <p:nvPr/>
        </p:nvSpPr>
        <p:spPr>
          <a:xfrm>
            <a:off x="12476841" y="5630003"/>
            <a:ext cx="1859161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[ 0.0 – 1.0 ]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2"/>
          <p:cNvSpPr/>
          <p:nvPr/>
        </p:nvSpPr>
        <p:spPr>
          <a:xfrm>
            <a:off x="9665786" y="5962303"/>
            <a:ext cx="7405073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chia 255, hoặc chuẩn hoá mean/std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2"/>
          <p:cNvSpPr/>
          <p:nvPr/>
        </p:nvSpPr>
        <p:spPr>
          <a:xfrm>
            <a:off x="804863" y="6872883"/>
            <a:ext cx="16678276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Nối lại feature scaling ở Section 5 — gradient mượt hơn, hội tụ nhanh hơn.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3"/>
          <p:cNvSpPr/>
          <p:nvPr/>
        </p:nvSpPr>
        <p:spPr>
          <a:xfrm>
            <a:off x="1285792" y="876267"/>
            <a:ext cx="4341513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L02 · DATA AUGMENTATION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3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Một ảnh → nhiều biến thể , tăng đa dạng dữ liệu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3"/>
          <p:cNvSpPr/>
          <p:nvPr/>
        </p:nvSpPr>
        <p:spPr>
          <a:xfrm>
            <a:off x="1485900" y="5563444"/>
            <a:ext cx="7547818" cy="4281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Lật · xoay · đổi sáng · crop ngẫu nhiên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3"/>
          <p:cNvSpPr/>
          <p:nvPr/>
        </p:nvSpPr>
        <p:spPr>
          <a:xfrm>
            <a:off x="1485884" y="6195881"/>
            <a:ext cx="4753871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Chống overfitting cực kỳ hiệu quả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1485884" y="6667417"/>
            <a:ext cx="7534690" cy="3599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thấy nhiều "phiên bản" của cùng một vật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3"/>
          <p:cNvSpPr/>
          <p:nvPr/>
        </p:nvSpPr>
        <p:spPr>
          <a:xfrm>
            <a:off x="9745117" y="5858289"/>
            <a:ext cx="1307587" cy="874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gốc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3"/>
          <p:cNvSpPr/>
          <p:nvPr/>
        </p:nvSpPr>
        <p:spPr>
          <a:xfrm rot="10800000">
            <a:off x="11719182" y="5858289"/>
            <a:ext cx="1312333" cy="874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lật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3"/>
          <p:cNvSpPr/>
          <p:nvPr/>
        </p:nvSpPr>
        <p:spPr>
          <a:xfrm rot="-480000">
            <a:off x="13695620" y="5858289"/>
            <a:ext cx="1312333" cy="874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xoay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3"/>
          <p:cNvSpPr/>
          <p:nvPr/>
        </p:nvSpPr>
        <p:spPr>
          <a:xfrm>
            <a:off x="15674430" y="5858289"/>
            <a:ext cx="1307587" cy="874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sáng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4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4"/>
          <p:cNvSpPr/>
          <p:nvPr/>
        </p:nvSpPr>
        <p:spPr>
          <a:xfrm>
            <a:off x="1285792" y="876267"/>
            <a:ext cx="3963986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L02 · KHI NÀO AUGMENT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4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Chỉ augment trên train — không bao giờ trên test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4"/>
          <p:cNvSpPr/>
          <p:nvPr/>
        </p:nvSpPr>
        <p:spPr>
          <a:xfrm>
            <a:off x="1491175" y="3566336"/>
            <a:ext cx="7229467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TẬP TRAIN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4"/>
          <p:cNvSpPr/>
          <p:nvPr/>
        </p:nvSpPr>
        <p:spPr>
          <a:xfrm>
            <a:off x="1491175" y="3980078"/>
            <a:ext cx="7229467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 augment ✓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4"/>
          <p:cNvSpPr/>
          <p:nvPr/>
        </p:nvSpPr>
        <p:spPr>
          <a:xfrm>
            <a:off x="1277815" y="4679570"/>
            <a:ext cx="7308460" cy="9827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Lật, xoay, đổi màu thoải mái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Tạo đa dạng, chống overfit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4"/>
          <p:cNvSpPr/>
          <p:nvPr/>
        </p:nvSpPr>
        <p:spPr>
          <a:xfrm>
            <a:off x="9777925" y="3566336"/>
            <a:ext cx="7229467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TẬP TEST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4"/>
          <p:cNvSpPr/>
          <p:nvPr/>
        </p:nvSpPr>
        <p:spPr>
          <a:xfrm>
            <a:off x="9777925" y="3980078"/>
            <a:ext cx="7229467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Không augment ✗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4"/>
          <p:cNvSpPr/>
          <p:nvPr/>
        </p:nvSpPr>
        <p:spPr>
          <a:xfrm>
            <a:off x="9564565" y="4679570"/>
            <a:ext cx="7308460" cy="9827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Giữ nguyên ảnh thật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Augment test = đánh giá sai lệch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5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5"/>
          <p:cNvSpPr/>
          <p:nvPr/>
        </p:nvSpPr>
        <p:spPr>
          <a:xfrm>
            <a:off x="1285792" y="876267"/>
            <a:ext cx="2458607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L02 · TÓM TẮT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5"/>
          <p:cNvSpPr/>
          <p:nvPr/>
        </p:nvSpPr>
        <p:spPr>
          <a:xfrm>
            <a:off x="1047750" y="1408576"/>
            <a:ext cx="8476420" cy="6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 bước chuẩn bị ảnh: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5"/>
          <p:cNvSpPr/>
          <p:nvPr/>
        </p:nvSpPr>
        <p:spPr>
          <a:xfrm>
            <a:off x="1305983" y="2685918"/>
            <a:ext cx="899104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resize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5"/>
          <p:cNvSpPr/>
          <p:nvPr/>
        </p:nvSpPr>
        <p:spPr>
          <a:xfrm>
            <a:off x="2816754" y="2685918"/>
            <a:ext cx="1310531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normalize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5"/>
          <p:cNvSpPr/>
          <p:nvPr/>
        </p:nvSpPr>
        <p:spPr>
          <a:xfrm>
            <a:off x="4738952" y="2685918"/>
            <a:ext cx="1036274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augment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5"/>
          <p:cNvSpPr/>
          <p:nvPr/>
        </p:nvSpPr>
        <p:spPr>
          <a:xfrm>
            <a:off x="1047750" y="3619169"/>
            <a:ext cx="1423425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5"/>
          <p:cNvSpPr/>
          <p:nvPr/>
        </p:nvSpPr>
        <p:spPr>
          <a:xfrm>
            <a:off x="2604492" y="3508044"/>
            <a:ext cx="469685" cy="583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5"/>
          <p:cNvSpPr/>
          <p:nvPr/>
        </p:nvSpPr>
        <p:spPr>
          <a:xfrm>
            <a:off x="3207494" y="3531857"/>
            <a:ext cx="14453739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Convolution — trái tim của Computer Vision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6"/>
          <p:cNvSpPr/>
          <p:nvPr/>
        </p:nvSpPr>
        <p:spPr>
          <a:xfrm>
            <a:off x="12087573" y="3390925"/>
            <a:ext cx="5307258" cy="35432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0"/>
              <a:buFont typeface="Arial"/>
              <a:buNone/>
            </a:pPr>
            <a:r>
              <a:rPr b="1" i="0" lang="en-US" sz="3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3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6"/>
          <p:cNvSpPr/>
          <p:nvPr/>
        </p:nvSpPr>
        <p:spPr>
          <a:xfrm>
            <a:off x="1047750" y="3840179"/>
            <a:ext cx="95250" cy="95250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6"/>
          <p:cNvSpPr/>
          <p:nvPr/>
        </p:nvSpPr>
        <p:spPr>
          <a:xfrm>
            <a:off x="1295384" y="3736992"/>
            <a:ext cx="647279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LECTURE 03 · ~9 PHÚT · 6 SLIDES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6"/>
          <p:cNvSpPr/>
          <p:nvPr/>
        </p:nvSpPr>
        <p:spPr>
          <a:xfrm>
            <a:off x="1047750" y="4324367"/>
            <a:ext cx="9889185" cy="16383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Phép tích chập (convolution)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6"/>
          <p:cNvSpPr/>
          <p:nvPr/>
        </p:nvSpPr>
        <p:spPr>
          <a:xfrm>
            <a:off x="1047750" y="6248384"/>
            <a:ext cx="1667827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kernel · stride · padding · receptive field — phép toán làm nên cuộc cách mạng CV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7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7"/>
          <p:cNvSpPr/>
          <p:nvPr/>
        </p:nvSpPr>
        <p:spPr>
          <a:xfrm>
            <a:off x="1285792" y="876267"/>
            <a:ext cx="3963986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L03 · KERNEL / FILTER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7"/>
          <p:cNvSpPr/>
          <p:nvPr/>
        </p:nvSpPr>
        <p:spPr>
          <a:xfrm>
            <a:off x="1047750" y="1408576"/>
            <a:ext cx="8476420" cy="6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Một cửa sổ nhỏ trượt khắp ảnh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7"/>
          <p:cNvSpPr/>
          <p:nvPr/>
        </p:nvSpPr>
        <p:spPr>
          <a:xfrm>
            <a:off x="1485900" y="5263390"/>
            <a:ext cx="7547818" cy="4281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Phát hiện cạnh, góc, texture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7"/>
          <p:cNvSpPr/>
          <p:nvPr/>
        </p:nvSpPr>
        <p:spPr>
          <a:xfrm>
            <a:off x="1485884" y="5895826"/>
            <a:ext cx="5562491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Mỗi kernel học một loại đặc trưng riêng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7"/>
          <p:cNvSpPr/>
          <p:nvPr/>
        </p:nvSpPr>
        <p:spPr>
          <a:xfrm>
            <a:off x="1485884" y="6367364"/>
            <a:ext cx="7534690" cy="3599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Nhiều kernel → nhiều loại đặc trưng được trích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7"/>
          <p:cNvSpPr/>
          <p:nvPr/>
        </p:nvSpPr>
        <p:spPr>
          <a:xfrm>
            <a:off x="10810875" y="4302621"/>
            <a:ext cx="1428750" cy="1428750"/>
          </a:xfrm>
          <a:prstGeom prst="rect">
            <a:avLst/>
          </a:prstGeom>
          <a:noFill/>
          <a:ln>
            <a:noFill/>
          </a:ln>
          <a:effectLst>
            <a:outerShdw blurRad="22860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7"/>
          <p:cNvSpPr/>
          <p:nvPr/>
        </p:nvSpPr>
        <p:spPr>
          <a:xfrm>
            <a:off x="14182709" y="5550380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7"/>
          <p:cNvSpPr/>
          <p:nvPr/>
        </p:nvSpPr>
        <p:spPr>
          <a:xfrm>
            <a:off x="15031409" y="5313329"/>
            <a:ext cx="912283" cy="874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∑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7"/>
          <p:cNvSpPr/>
          <p:nvPr/>
        </p:nvSpPr>
        <p:spPr>
          <a:xfrm>
            <a:off x="9613213" y="7369639"/>
            <a:ext cx="7500626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Kernel 3×3 nhân từng vùng → một giá trị đặc trưng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8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8"/>
          <p:cNvSpPr/>
          <p:nvPr/>
        </p:nvSpPr>
        <p:spPr>
          <a:xfrm>
            <a:off x="1285792" y="876267"/>
            <a:ext cx="4152707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L03 · STRIDE &amp; PADDING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8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Hai nút điều khiển kích thước output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8"/>
          <p:cNvSpPr/>
          <p:nvPr/>
        </p:nvSpPr>
        <p:spPr>
          <a:xfrm>
            <a:off x="1491175" y="3566336"/>
            <a:ext cx="7229467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STRIDE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8"/>
          <p:cNvSpPr/>
          <p:nvPr/>
        </p:nvSpPr>
        <p:spPr>
          <a:xfrm>
            <a:off x="1491175" y="3980078"/>
            <a:ext cx="7229467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Bước nhảy của kernel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8"/>
          <p:cNvSpPr/>
          <p:nvPr/>
        </p:nvSpPr>
        <p:spPr>
          <a:xfrm>
            <a:off x="1277815" y="4679570"/>
            <a:ext cx="7308460" cy="9827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Stride 1: trượt từng pixel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Stride lớn → output nhỏ hơn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8"/>
          <p:cNvSpPr/>
          <p:nvPr/>
        </p:nvSpPr>
        <p:spPr>
          <a:xfrm>
            <a:off x="9777925" y="3566336"/>
            <a:ext cx="7229467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PADDING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8"/>
          <p:cNvSpPr/>
          <p:nvPr/>
        </p:nvSpPr>
        <p:spPr>
          <a:xfrm>
            <a:off x="9777925" y="3980078"/>
            <a:ext cx="7229467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Viền số 0 quanh ảnh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8"/>
          <p:cNvSpPr/>
          <p:nvPr/>
        </p:nvSpPr>
        <p:spPr>
          <a:xfrm>
            <a:off x="9564565" y="4679570"/>
            <a:ext cx="7308460" cy="9827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Giữ nguyên kích thước sau conv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Bảo toàn thông tin ở rìa ảnh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9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9"/>
          <p:cNvSpPr/>
          <p:nvPr/>
        </p:nvSpPr>
        <p:spPr>
          <a:xfrm>
            <a:off x="1285792" y="876267"/>
            <a:ext cx="5285286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L03 · TÍNH KÍCH THƯỚC OUTPUT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9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Công thức từ input, kernel, stride, padding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3978734" y="5209084"/>
            <a:ext cx="10330533" cy="7524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50"/>
              <a:buFont typeface="Courier New"/>
              <a:buNone/>
            </a:pPr>
            <a:r>
              <a:rPr b="0" i="0" lang="en-US" sz="37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output = ⌊ ( W − K + 2P ) / S ⌋ + 1</a:t>
            </a:r>
            <a:endParaRPr b="0" i="0" sz="3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9"/>
          <p:cNvSpPr/>
          <p:nvPr/>
        </p:nvSpPr>
        <p:spPr>
          <a:xfrm>
            <a:off x="3771024" y="6981759"/>
            <a:ext cx="11090366" cy="41896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⚠️ Ví dụ hay hỏi: input 224, conv 3×3, stride 1, pad 1 → </a:t>
            </a:r>
            <a:r>
              <a:rPr b="1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224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0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0"/>
          <p:cNvSpPr/>
          <p:nvPr/>
        </p:nvSpPr>
        <p:spPr>
          <a:xfrm>
            <a:off x="1285792" y="876267"/>
            <a:ext cx="3963986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L03 · RECEPTIVE FIELD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0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Lớp càng sâu, một nơ-ron nhìn càng rộng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0"/>
          <p:cNvSpPr/>
          <p:nvPr/>
        </p:nvSpPr>
        <p:spPr>
          <a:xfrm>
            <a:off x="3031464" y="5630003"/>
            <a:ext cx="1036307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Lớp đầu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20"/>
          <p:cNvSpPr/>
          <p:nvPr/>
        </p:nvSpPr>
        <p:spPr>
          <a:xfrm>
            <a:off x="1259387" y="5962303"/>
            <a:ext cx="4504344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nhìn thấy: cạnh, góc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20"/>
          <p:cNvSpPr/>
          <p:nvPr/>
        </p:nvSpPr>
        <p:spPr>
          <a:xfrm>
            <a:off x="6146817" y="5764610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20"/>
          <p:cNvSpPr/>
          <p:nvPr/>
        </p:nvSpPr>
        <p:spPr>
          <a:xfrm>
            <a:off x="8595321" y="5630003"/>
            <a:ext cx="1173477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Lớp giữa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0"/>
          <p:cNvSpPr/>
          <p:nvPr/>
        </p:nvSpPr>
        <p:spPr>
          <a:xfrm>
            <a:off x="6891786" y="5962303"/>
            <a:ext cx="4504429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nhìn thấy: hoa văn, bộ phận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0"/>
          <p:cNvSpPr/>
          <p:nvPr/>
        </p:nvSpPr>
        <p:spPr>
          <a:xfrm>
            <a:off x="11779300" y="5764610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0"/>
          <p:cNvSpPr/>
          <p:nvPr/>
        </p:nvSpPr>
        <p:spPr>
          <a:xfrm>
            <a:off x="14296347" y="5630003"/>
            <a:ext cx="1036308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Lớp sâu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0"/>
          <p:cNvSpPr/>
          <p:nvPr/>
        </p:nvSpPr>
        <p:spPr>
          <a:xfrm>
            <a:off x="12524270" y="5962303"/>
            <a:ext cx="4504344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nhìn thấy: cả vật thể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0"/>
          <p:cNvSpPr/>
          <p:nvPr/>
        </p:nvSpPr>
        <p:spPr>
          <a:xfrm>
            <a:off x="804863" y="6872883"/>
            <a:ext cx="16678276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Receptive field = vùng ảnh gốc mà một nơ-ron tổng hợp được — mở rộng dần theo độ sâu.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1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1"/>
          <p:cNvSpPr/>
          <p:nvPr/>
        </p:nvSpPr>
        <p:spPr>
          <a:xfrm>
            <a:off x="1285792" y="876267"/>
            <a:ext cx="2458607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L03 · TÓM TẮT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1"/>
          <p:cNvSpPr/>
          <p:nvPr/>
        </p:nvSpPr>
        <p:spPr>
          <a:xfrm>
            <a:off x="1047750" y="1408576"/>
            <a:ext cx="8476420" cy="6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Bộ máy của convolution: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1"/>
          <p:cNvSpPr/>
          <p:nvPr/>
        </p:nvSpPr>
        <p:spPr>
          <a:xfrm>
            <a:off x="1305983" y="2685918"/>
            <a:ext cx="899104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kernel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1"/>
          <p:cNvSpPr/>
          <p:nvPr/>
        </p:nvSpPr>
        <p:spPr>
          <a:xfrm>
            <a:off x="2816754" y="2685918"/>
            <a:ext cx="2275765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stride / padding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1"/>
          <p:cNvSpPr/>
          <p:nvPr/>
        </p:nvSpPr>
        <p:spPr>
          <a:xfrm>
            <a:off x="5699059" y="2685918"/>
            <a:ext cx="2134480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receptive field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1"/>
          <p:cNvSpPr/>
          <p:nvPr/>
        </p:nvSpPr>
        <p:spPr>
          <a:xfrm>
            <a:off x="1047750" y="3619169"/>
            <a:ext cx="1423425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1"/>
          <p:cNvSpPr/>
          <p:nvPr/>
        </p:nvSpPr>
        <p:spPr>
          <a:xfrm>
            <a:off x="2604492" y="3508044"/>
            <a:ext cx="469685" cy="583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1"/>
          <p:cNvSpPr/>
          <p:nvPr/>
        </p:nvSpPr>
        <p:spPr>
          <a:xfrm>
            <a:off x="3207494" y="3531857"/>
            <a:ext cx="14453739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Ráp convolution thành một mạng CNN hoàn chỉnh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2"/>
          <p:cNvSpPr/>
          <p:nvPr/>
        </p:nvSpPr>
        <p:spPr>
          <a:xfrm>
            <a:off x="11964872" y="3390925"/>
            <a:ext cx="5433640" cy="35432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0"/>
              <a:buFont typeface="Arial"/>
              <a:buNone/>
            </a:pPr>
            <a:r>
              <a:rPr b="1" i="0" lang="en-US" sz="3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3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2"/>
          <p:cNvSpPr/>
          <p:nvPr/>
        </p:nvSpPr>
        <p:spPr>
          <a:xfrm>
            <a:off x="1047750" y="4240196"/>
            <a:ext cx="95250" cy="95250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2"/>
          <p:cNvSpPr/>
          <p:nvPr/>
        </p:nvSpPr>
        <p:spPr>
          <a:xfrm>
            <a:off x="1295384" y="4137009"/>
            <a:ext cx="647279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LECTURE 04 · ~8 PHÚT · 6 SLIDES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2"/>
          <p:cNvSpPr/>
          <p:nvPr/>
        </p:nvSpPr>
        <p:spPr>
          <a:xfrm>
            <a:off x="1047750" y="4724384"/>
            <a:ext cx="9889185" cy="8382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Kiến trúc CNN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2"/>
          <p:cNvSpPr/>
          <p:nvPr/>
        </p:nvSpPr>
        <p:spPr>
          <a:xfrm>
            <a:off x="1047750" y="5848284"/>
            <a:ext cx="1667827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Conv · Pool · FC — cách các thành phần ghép thành mạng hoàn chỉnh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3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3"/>
          <p:cNvSpPr/>
          <p:nvPr/>
        </p:nvSpPr>
        <p:spPr>
          <a:xfrm>
            <a:off x="1285792" y="876267"/>
            <a:ext cx="3963986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L04 · LỚP CONVOLUTION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23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Trích đặc trưng, tạo ra nhiều feature map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3"/>
          <p:cNvSpPr/>
          <p:nvPr/>
        </p:nvSpPr>
        <p:spPr>
          <a:xfrm>
            <a:off x="834390" y="5762460"/>
            <a:ext cx="8042927" cy="10659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Mỗi filter quét ảnh → một feature map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Nhiều filter → nhiều feature map song song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3"/>
          <p:cNvSpPr/>
          <p:nvPr/>
        </p:nvSpPr>
        <p:spPr>
          <a:xfrm>
            <a:off x="11231083" y="5810664"/>
            <a:ext cx="1007533" cy="96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ảnh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3"/>
          <p:cNvSpPr/>
          <p:nvPr/>
        </p:nvSpPr>
        <p:spPr>
          <a:xfrm>
            <a:off x="12992084" y="6095339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3"/>
          <p:cNvSpPr/>
          <p:nvPr/>
        </p:nvSpPr>
        <p:spPr>
          <a:xfrm>
            <a:off x="14178344" y="5652972"/>
            <a:ext cx="903833" cy="9419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4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4"/>
          <p:cNvSpPr/>
          <p:nvPr/>
        </p:nvSpPr>
        <p:spPr>
          <a:xfrm>
            <a:off x="1285792" y="876267"/>
            <a:ext cx="2458607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L04 · POOLING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4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Thu nhỏ feature map, giữ phần quan trọng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4"/>
          <p:cNvSpPr/>
          <p:nvPr/>
        </p:nvSpPr>
        <p:spPr>
          <a:xfrm>
            <a:off x="834390" y="5762460"/>
            <a:ext cx="8042927" cy="10659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Max pool / Average pool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Giảm tính toán + chống overfit nhẹ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4"/>
          <p:cNvSpPr/>
          <p:nvPr/>
        </p:nvSpPr>
        <p:spPr>
          <a:xfrm>
            <a:off x="11033803" y="5343013"/>
            <a:ext cx="514333" cy="4762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4"/>
          <p:cNvSpPr/>
          <p:nvPr/>
        </p:nvSpPr>
        <p:spPr>
          <a:xfrm>
            <a:off x="11509971" y="5343013"/>
            <a:ext cx="514333" cy="4762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4"/>
          <p:cNvSpPr/>
          <p:nvPr/>
        </p:nvSpPr>
        <p:spPr>
          <a:xfrm>
            <a:off x="11986138" y="5343013"/>
            <a:ext cx="514333" cy="4762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4"/>
          <p:cNvSpPr/>
          <p:nvPr/>
        </p:nvSpPr>
        <p:spPr>
          <a:xfrm>
            <a:off x="12462306" y="5343013"/>
            <a:ext cx="514333" cy="4762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4"/>
          <p:cNvSpPr/>
          <p:nvPr/>
        </p:nvSpPr>
        <p:spPr>
          <a:xfrm>
            <a:off x="11033803" y="5819180"/>
            <a:ext cx="514333" cy="4762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4"/>
          <p:cNvSpPr/>
          <p:nvPr/>
        </p:nvSpPr>
        <p:spPr>
          <a:xfrm>
            <a:off x="11509971" y="5819180"/>
            <a:ext cx="514333" cy="4762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4"/>
          <p:cNvSpPr/>
          <p:nvPr/>
        </p:nvSpPr>
        <p:spPr>
          <a:xfrm>
            <a:off x="11986138" y="5819180"/>
            <a:ext cx="514333" cy="4762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4"/>
          <p:cNvSpPr/>
          <p:nvPr/>
        </p:nvSpPr>
        <p:spPr>
          <a:xfrm>
            <a:off x="12462306" y="5819180"/>
            <a:ext cx="514333" cy="4762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4"/>
          <p:cNvSpPr/>
          <p:nvPr/>
        </p:nvSpPr>
        <p:spPr>
          <a:xfrm>
            <a:off x="11033803" y="6295347"/>
            <a:ext cx="514333" cy="4762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4"/>
          <p:cNvSpPr/>
          <p:nvPr/>
        </p:nvSpPr>
        <p:spPr>
          <a:xfrm>
            <a:off x="11509971" y="6295347"/>
            <a:ext cx="514333" cy="4762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4"/>
          <p:cNvSpPr/>
          <p:nvPr/>
        </p:nvSpPr>
        <p:spPr>
          <a:xfrm>
            <a:off x="11986138" y="6295347"/>
            <a:ext cx="514333" cy="4762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4"/>
          <p:cNvSpPr/>
          <p:nvPr/>
        </p:nvSpPr>
        <p:spPr>
          <a:xfrm>
            <a:off x="12462306" y="6295347"/>
            <a:ext cx="514333" cy="4762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4"/>
          <p:cNvSpPr/>
          <p:nvPr/>
        </p:nvSpPr>
        <p:spPr>
          <a:xfrm>
            <a:off x="11033803" y="6771515"/>
            <a:ext cx="514333" cy="4762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4"/>
          <p:cNvSpPr/>
          <p:nvPr/>
        </p:nvSpPr>
        <p:spPr>
          <a:xfrm>
            <a:off x="11509971" y="6771515"/>
            <a:ext cx="514333" cy="4762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4"/>
          <p:cNvSpPr/>
          <p:nvPr/>
        </p:nvSpPr>
        <p:spPr>
          <a:xfrm>
            <a:off x="11986138" y="6771515"/>
            <a:ext cx="514333" cy="4762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5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4"/>
          <p:cNvSpPr/>
          <p:nvPr/>
        </p:nvSpPr>
        <p:spPr>
          <a:xfrm>
            <a:off x="12462306" y="6771515"/>
            <a:ext cx="514333" cy="4762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4"/>
          <p:cNvSpPr/>
          <p:nvPr/>
        </p:nvSpPr>
        <p:spPr>
          <a:xfrm>
            <a:off x="13525401" y="5829184"/>
            <a:ext cx="438084" cy="4402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4"/>
          <p:cNvSpPr/>
          <p:nvPr/>
        </p:nvSpPr>
        <p:spPr>
          <a:xfrm>
            <a:off x="13186189" y="6421851"/>
            <a:ext cx="1116509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max 2×2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4"/>
          <p:cNvSpPr/>
          <p:nvPr/>
        </p:nvSpPr>
        <p:spPr>
          <a:xfrm>
            <a:off x="14512248" y="5723930"/>
            <a:ext cx="609584" cy="5714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4"/>
          <p:cNvSpPr/>
          <p:nvPr/>
        </p:nvSpPr>
        <p:spPr>
          <a:xfrm>
            <a:off x="15083665" y="5723930"/>
            <a:ext cx="609584" cy="5714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4"/>
          <p:cNvSpPr/>
          <p:nvPr/>
        </p:nvSpPr>
        <p:spPr>
          <a:xfrm>
            <a:off x="14512248" y="6295347"/>
            <a:ext cx="609584" cy="5714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4"/>
          <p:cNvSpPr/>
          <p:nvPr/>
        </p:nvSpPr>
        <p:spPr>
          <a:xfrm>
            <a:off x="15083665" y="6295347"/>
            <a:ext cx="609584" cy="571484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5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5"/>
          <p:cNvSpPr/>
          <p:nvPr/>
        </p:nvSpPr>
        <p:spPr>
          <a:xfrm>
            <a:off x="1285792" y="876267"/>
            <a:ext cx="3963986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L04 · FULLY CONNECTED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5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Làm phẳng → lớp dày → ra quyết định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5"/>
          <p:cNvSpPr/>
          <p:nvPr/>
        </p:nvSpPr>
        <p:spPr>
          <a:xfrm>
            <a:off x="1272240" y="6133489"/>
            <a:ext cx="3070557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Feature maps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5"/>
          <p:cNvSpPr/>
          <p:nvPr/>
        </p:nvSpPr>
        <p:spPr>
          <a:xfrm>
            <a:off x="4738737" y="6095339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5"/>
          <p:cNvSpPr/>
          <p:nvPr/>
        </p:nvSpPr>
        <p:spPr>
          <a:xfrm>
            <a:off x="6551745" y="5960732"/>
            <a:ext cx="1036307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Flatten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5"/>
          <p:cNvSpPr/>
          <p:nvPr/>
        </p:nvSpPr>
        <p:spPr>
          <a:xfrm>
            <a:off x="5504829" y="6293032"/>
            <a:ext cx="3054022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thành vector 1 chiều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5"/>
          <p:cNvSpPr/>
          <p:nvPr/>
        </p:nvSpPr>
        <p:spPr>
          <a:xfrm>
            <a:off x="8963059" y="6095339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5"/>
          <p:cNvSpPr/>
          <p:nvPr/>
        </p:nvSpPr>
        <p:spPr>
          <a:xfrm>
            <a:off x="9720883" y="6133489"/>
            <a:ext cx="3070557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FC layers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5"/>
          <p:cNvSpPr/>
          <p:nvPr/>
        </p:nvSpPr>
        <p:spPr>
          <a:xfrm>
            <a:off x="13187380" y="6095339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25"/>
          <p:cNvSpPr/>
          <p:nvPr/>
        </p:nvSpPr>
        <p:spPr>
          <a:xfrm>
            <a:off x="15000388" y="5960732"/>
            <a:ext cx="1036307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Softmax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5"/>
          <p:cNvSpPr/>
          <p:nvPr/>
        </p:nvSpPr>
        <p:spPr>
          <a:xfrm>
            <a:off x="13953471" y="6293032"/>
            <a:ext cx="3054022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xác suất từng lớp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6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6"/>
          <p:cNvSpPr/>
          <p:nvPr/>
        </p:nvSpPr>
        <p:spPr>
          <a:xfrm>
            <a:off x="1285792" y="876267"/>
            <a:ext cx="3586459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L04 · TOÀN CẢNH CNN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6"/>
          <p:cNvSpPr/>
          <p:nvPr/>
        </p:nvSpPr>
        <p:spPr>
          <a:xfrm>
            <a:off x="1047750" y="1408576"/>
            <a:ext cx="8476420" cy="6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Conv–Pool lặp lại → FC → nhãn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6"/>
          <p:cNvSpPr/>
          <p:nvPr/>
        </p:nvSpPr>
        <p:spPr>
          <a:xfrm>
            <a:off x="1305983" y="5227588"/>
            <a:ext cx="912283" cy="874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ảnh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6"/>
          <p:cNvSpPr/>
          <p:nvPr/>
        </p:nvSpPr>
        <p:spPr>
          <a:xfrm>
            <a:off x="2647950" y="5464639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6"/>
          <p:cNvSpPr/>
          <p:nvPr/>
        </p:nvSpPr>
        <p:spPr>
          <a:xfrm>
            <a:off x="4485928" y="5330032"/>
            <a:ext cx="2684075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 Conv → Pool ] × 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6"/>
          <p:cNvSpPr/>
          <p:nvPr/>
        </p:nvSpPr>
        <p:spPr>
          <a:xfrm>
            <a:off x="3388607" y="5662332"/>
            <a:ext cx="4800540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trích đặc trưng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6"/>
          <p:cNvSpPr/>
          <p:nvPr/>
        </p:nvSpPr>
        <p:spPr>
          <a:xfrm>
            <a:off x="8567920" y="5464639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6"/>
          <p:cNvSpPr/>
          <p:nvPr/>
        </p:nvSpPr>
        <p:spPr>
          <a:xfrm>
            <a:off x="9320283" y="5502788"/>
            <a:ext cx="3445528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Flatten → FC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6"/>
          <p:cNvSpPr/>
          <p:nvPr/>
        </p:nvSpPr>
        <p:spPr>
          <a:xfrm>
            <a:off x="13156291" y="5464639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6"/>
          <p:cNvSpPr/>
          <p:nvPr/>
        </p:nvSpPr>
        <p:spPr>
          <a:xfrm>
            <a:off x="13913649" y="5502788"/>
            <a:ext cx="3102578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Nhãn 🐱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6"/>
          <p:cNvSpPr/>
          <p:nvPr/>
        </p:nvSpPr>
        <p:spPr>
          <a:xfrm>
            <a:off x="804863" y="6741005"/>
            <a:ext cx="16678276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Hai nửa: trích đặc trưng (Conv/Pool) → phân loại (FC).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27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7"/>
          <p:cNvSpPr/>
          <p:nvPr/>
        </p:nvSpPr>
        <p:spPr>
          <a:xfrm>
            <a:off x="1285792" y="876267"/>
            <a:ext cx="2458607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L04 · TÓM TẮT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7"/>
          <p:cNvSpPr/>
          <p:nvPr/>
        </p:nvSpPr>
        <p:spPr>
          <a:xfrm>
            <a:off x="1047750" y="1408576"/>
            <a:ext cx="8476420" cy="6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 khối xây nên mọi CNN: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7"/>
          <p:cNvSpPr/>
          <p:nvPr/>
        </p:nvSpPr>
        <p:spPr>
          <a:xfrm>
            <a:off x="1305983" y="2685918"/>
            <a:ext cx="624847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Conv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7"/>
          <p:cNvSpPr/>
          <p:nvPr/>
        </p:nvSpPr>
        <p:spPr>
          <a:xfrm>
            <a:off x="2542497" y="2685918"/>
            <a:ext cx="624847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Pool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7"/>
          <p:cNvSpPr/>
          <p:nvPr/>
        </p:nvSpPr>
        <p:spPr>
          <a:xfrm>
            <a:off x="3779011" y="2685918"/>
            <a:ext cx="350507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7"/>
          <p:cNvSpPr/>
          <p:nvPr/>
        </p:nvSpPr>
        <p:spPr>
          <a:xfrm>
            <a:off x="1047750" y="3619169"/>
            <a:ext cx="1423425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7"/>
          <p:cNvSpPr/>
          <p:nvPr/>
        </p:nvSpPr>
        <p:spPr>
          <a:xfrm>
            <a:off x="2604492" y="3508044"/>
            <a:ext cx="469685" cy="583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7"/>
          <p:cNvSpPr/>
          <p:nvPr/>
        </p:nvSpPr>
        <p:spPr>
          <a:xfrm>
            <a:off x="3207494" y="3531857"/>
            <a:ext cx="14453739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Các kiến trúc CNN nổi tiếng làm nên lịch sử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8"/>
          <p:cNvSpPr/>
          <p:nvPr/>
        </p:nvSpPr>
        <p:spPr>
          <a:xfrm>
            <a:off x="12122630" y="3390925"/>
            <a:ext cx="5271149" cy="35432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0"/>
              <a:buFont typeface="Arial"/>
              <a:buNone/>
            </a:pPr>
            <a:r>
              <a:rPr b="1" i="0" lang="en-US" sz="3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3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8"/>
          <p:cNvSpPr/>
          <p:nvPr/>
        </p:nvSpPr>
        <p:spPr>
          <a:xfrm>
            <a:off x="1047750" y="4240196"/>
            <a:ext cx="95250" cy="95250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8"/>
          <p:cNvSpPr/>
          <p:nvPr/>
        </p:nvSpPr>
        <p:spPr>
          <a:xfrm>
            <a:off x="1295384" y="4137009"/>
            <a:ext cx="647279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LECTURE 05 · ~9 PHÚT · 6 SLIDES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8"/>
          <p:cNvSpPr/>
          <p:nvPr/>
        </p:nvSpPr>
        <p:spPr>
          <a:xfrm>
            <a:off x="1047750" y="4724384"/>
            <a:ext cx="9889185" cy="8382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CNN kinh điển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8"/>
          <p:cNvSpPr/>
          <p:nvPr/>
        </p:nvSpPr>
        <p:spPr>
          <a:xfrm>
            <a:off x="1047750" y="5848284"/>
            <a:ext cx="1667827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LeNet · AlexNet · VGG · ResNet — hiểu lịch sử để hiểu thiết kế hiện đại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9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29"/>
          <p:cNvSpPr/>
          <p:nvPr/>
        </p:nvSpPr>
        <p:spPr>
          <a:xfrm>
            <a:off x="1285792" y="876267"/>
            <a:ext cx="3963986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L05 · LENET &amp; ALEXNET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9"/>
          <p:cNvSpPr/>
          <p:nvPr/>
        </p:nvSpPr>
        <p:spPr>
          <a:xfrm>
            <a:off x="1047750" y="1408576"/>
            <a:ext cx="8476420" cy="6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Hai cột mốc khởi đầu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9"/>
          <p:cNvSpPr/>
          <p:nvPr/>
        </p:nvSpPr>
        <p:spPr>
          <a:xfrm>
            <a:off x="1491175" y="2966310"/>
            <a:ext cx="7229467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1998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9"/>
          <p:cNvSpPr/>
          <p:nvPr/>
        </p:nvSpPr>
        <p:spPr>
          <a:xfrm>
            <a:off x="1491175" y="3380052"/>
            <a:ext cx="7229467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LeNet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9"/>
          <p:cNvSpPr/>
          <p:nvPr/>
        </p:nvSpPr>
        <p:spPr>
          <a:xfrm>
            <a:off x="1277815" y="4079545"/>
            <a:ext cx="7308460" cy="9827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Nhận dạng chữ số viết tay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CNN đầu tiên thực dụng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29"/>
          <p:cNvSpPr/>
          <p:nvPr/>
        </p:nvSpPr>
        <p:spPr>
          <a:xfrm>
            <a:off x="9777925" y="2966310"/>
            <a:ext cx="7229467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2012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29"/>
          <p:cNvSpPr/>
          <p:nvPr/>
        </p:nvSpPr>
        <p:spPr>
          <a:xfrm>
            <a:off x="9777925" y="3380052"/>
            <a:ext cx="7229467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AlexNet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9"/>
          <p:cNvSpPr/>
          <p:nvPr/>
        </p:nvSpPr>
        <p:spPr>
          <a:xfrm>
            <a:off x="9564565" y="4079545"/>
            <a:ext cx="7308460" cy="9827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Thắng ImageNet vang dội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Khởi đầu kỷ nguyên Deep Learning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0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0"/>
          <p:cNvSpPr/>
          <p:nvPr/>
        </p:nvSpPr>
        <p:spPr>
          <a:xfrm>
            <a:off x="1285792" y="876267"/>
            <a:ext cx="1725629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L05 · VGG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0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Sâu hơn, dùng kernel 3×3 đều đặn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0"/>
          <p:cNvSpPr/>
          <p:nvPr/>
        </p:nvSpPr>
        <p:spPr>
          <a:xfrm>
            <a:off x="1485900" y="5563444"/>
            <a:ext cx="7547818" cy="4281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Xếp chồng nhiều lớp conv 3×3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0"/>
          <p:cNvSpPr/>
          <p:nvPr/>
        </p:nvSpPr>
        <p:spPr>
          <a:xfrm>
            <a:off x="1485884" y="6195881"/>
            <a:ext cx="4718188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Đơn giản &amp; đều — nhưng rất nặng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0"/>
          <p:cNvSpPr/>
          <p:nvPr/>
        </p:nvSpPr>
        <p:spPr>
          <a:xfrm>
            <a:off x="1485884" y="6667417"/>
            <a:ext cx="7534690" cy="3599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Số tham số lớn, tốn bộ nhớ và tính toán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0"/>
          <p:cNvSpPr/>
          <p:nvPr/>
        </p:nvSpPr>
        <p:spPr>
          <a:xfrm>
            <a:off x="10990891" y="7193360"/>
            <a:ext cx="4745269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Nhiều lớp 3×3 xếp chồng đều đặn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1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31"/>
          <p:cNvSpPr/>
          <p:nvPr/>
        </p:nvSpPr>
        <p:spPr>
          <a:xfrm>
            <a:off x="1285792" y="876267"/>
            <a:ext cx="3963986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L05 · VẤN ĐỀ MẠNG SÂU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1"/>
          <p:cNvSpPr/>
          <p:nvPr/>
        </p:nvSpPr>
        <p:spPr>
          <a:xfrm>
            <a:off x="1047750" y="1408576"/>
            <a:ext cx="8476420" cy="6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Càng sâu lại càng khó train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1"/>
          <p:cNvSpPr/>
          <p:nvPr/>
        </p:nvSpPr>
        <p:spPr>
          <a:xfrm>
            <a:off x="2962920" y="5330032"/>
            <a:ext cx="1173477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Mạng vừa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1"/>
          <p:cNvSpPr/>
          <p:nvPr/>
        </p:nvSpPr>
        <p:spPr>
          <a:xfrm>
            <a:off x="1259387" y="5662332"/>
            <a:ext cx="4504344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 tốt ✓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1"/>
          <p:cNvSpPr/>
          <p:nvPr/>
        </p:nvSpPr>
        <p:spPr>
          <a:xfrm>
            <a:off x="6146817" y="5464639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1"/>
          <p:cNvSpPr/>
          <p:nvPr/>
        </p:nvSpPr>
        <p:spPr>
          <a:xfrm>
            <a:off x="8321064" y="5330032"/>
            <a:ext cx="1722073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Mạng rất sâu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1"/>
          <p:cNvSpPr/>
          <p:nvPr/>
        </p:nvSpPr>
        <p:spPr>
          <a:xfrm>
            <a:off x="6891786" y="5662332"/>
            <a:ext cx="4504429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loss lại tệ hơn ✗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1"/>
          <p:cNvSpPr/>
          <p:nvPr/>
        </p:nvSpPr>
        <p:spPr>
          <a:xfrm>
            <a:off x="11779300" y="5464639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1"/>
          <p:cNvSpPr/>
          <p:nvPr/>
        </p:nvSpPr>
        <p:spPr>
          <a:xfrm>
            <a:off x="13542037" y="5330032"/>
            <a:ext cx="2544927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Vanishing gradient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1"/>
          <p:cNvSpPr/>
          <p:nvPr/>
        </p:nvSpPr>
        <p:spPr>
          <a:xfrm>
            <a:off x="12524270" y="5662332"/>
            <a:ext cx="4504344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gradient tan biến khi lan ngược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1"/>
          <p:cNvSpPr/>
          <p:nvPr/>
        </p:nvSpPr>
        <p:spPr>
          <a:xfrm>
            <a:off x="804863" y="6572912"/>
            <a:ext cx="16678276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Thêm lớp không còn giúp ích — chính vấn đề này dẫn tới ResNet.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2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2"/>
          <p:cNvSpPr/>
          <p:nvPr/>
        </p:nvSpPr>
        <p:spPr>
          <a:xfrm>
            <a:off x="1285792" y="876267"/>
            <a:ext cx="5662813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L05 · RESNET &amp; SKIP CONNECTION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2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"Đường tắt" giúp train mạng rất sâu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2"/>
          <p:cNvSpPr/>
          <p:nvPr/>
        </p:nvSpPr>
        <p:spPr>
          <a:xfrm>
            <a:off x="7772483" y="5218328"/>
            <a:ext cx="283447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skip connection: + 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2"/>
          <p:cNvSpPr/>
          <p:nvPr/>
        </p:nvSpPr>
        <p:spPr>
          <a:xfrm>
            <a:off x="1283059" y="6117118"/>
            <a:ext cx="2327682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2"/>
          <p:cNvSpPr/>
          <p:nvPr/>
        </p:nvSpPr>
        <p:spPr>
          <a:xfrm>
            <a:off x="4017500" y="6078968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2"/>
          <p:cNvSpPr/>
          <p:nvPr/>
        </p:nvSpPr>
        <p:spPr>
          <a:xfrm>
            <a:off x="5837536" y="5944361"/>
            <a:ext cx="2544928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F(x) : conv → conv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32"/>
          <p:cNvSpPr/>
          <p:nvPr/>
        </p:nvSpPr>
        <p:spPr>
          <a:xfrm>
            <a:off x="4760752" y="6276661"/>
            <a:ext cx="4622294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khối học phần dư (residual)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32"/>
          <p:cNvSpPr/>
          <p:nvPr/>
        </p:nvSpPr>
        <p:spPr>
          <a:xfrm>
            <a:off x="9764415" y="6078968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2"/>
          <p:cNvSpPr/>
          <p:nvPr/>
        </p:nvSpPr>
        <p:spPr>
          <a:xfrm>
            <a:off x="10533058" y="6117118"/>
            <a:ext cx="2327682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2"/>
          <p:cNvSpPr/>
          <p:nvPr/>
        </p:nvSpPr>
        <p:spPr>
          <a:xfrm>
            <a:off x="13267498" y="6078968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32"/>
          <p:cNvSpPr/>
          <p:nvPr/>
        </p:nvSpPr>
        <p:spPr>
          <a:xfrm>
            <a:off x="14026525" y="6117118"/>
            <a:ext cx="2988034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out = F(x)+x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2"/>
          <p:cNvSpPr/>
          <p:nvPr/>
        </p:nvSpPr>
        <p:spPr>
          <a:xfrm>
            <a:off x="804863" y="7225275"/>
            <a:ext cx="16678276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Gradient chảy thẳng qua "đường tắt" — giải quyết vanishing gradient.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33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33"/>
          <p:cNvSpPr/>
          <p:nvPr/>
        </p:nvSpPr>
        <p:spPr>
          <a:xfrm>
            <a:off x="1285792" y="876267"/>
            <a:ext cx="2458607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L05 · TÓM TẮT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3"/>
          <p:cNvSpPr/>
          <p:nvPr/>
        </p:nvSpPr>
        <p:spPr>
          <a:xfrm>
            <a:off x="1047750" y="1408576"/>
            <a:ext cx="8476420" cy="6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Dòng chảy lịch sử CNN: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3"/>
          <p:cNvSpPr/>
          <p:nvPr/>
        </p:nvSpPr>
        <p:spPr>
          <a:xfrm>
            <a:off x="1305983" y="2685918"/>
            <a:ext cx="761934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LeNet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3"/>
          <p:cNvSpPr/>
          <p:nvPr/>
        </p:nvSpPr>
        <p:spPr>
          <a:xfrm>
            <a:off x="2679584" y="2685918"/>
            <a:ext cx="1036274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AlexNet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3"/>
          <p:cNvSpPr/>
          <p:nvPr/>
        </p:nvSpPr>
        <p:spPr>
          <a:xfrm>
            <a:off x="4327525" y="2685918"/>
            <a:ext cx="487677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VGG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3"/>
          <p:cNvSpPr/>
          <p:nvPr/>
        </p:nvSpPr>
        <p:spPr>
          <a:xfrm>
            <a:off x="5426869" y="2685918"/>
            <a:ext cx="899104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ResNet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3"/>
          <p:cNvSpPr/>
          <p:nvPr/>
        </p:nvSpPr>
        <p:spPr>
          <a:xfrm>
            <a:off x="1047750" y="3619169"/>
            <a:ext cx="1423425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3"/>
          <p:cNvSpPr/>
          <p:nvPr/>
        </p:nvSpPr>
        <p:spPr>
          <a:xfrm>
            <a:off x="2604492" y="3508044"/>
            <a:ext cx="469685" cy="583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3"/>
          <p:cNvSpPr/>
          <p:nvPr/>
        </p:nvSpPr>
        <p:spPr>
          <a:xfrm>
            <a:off x="3207494" y="3531857"/>
            <a:ext cx="14453739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CNN hiện đại &amp; Vision Transformer — cái gì đang thống trị 2026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4"/>
          <p:cNvSpPr/>
          <p:nvPr/>
        </p:nvSpPr>
        <p:spPr>
          <a:xfrm>
            <a:off x="12043751" y="3390925"/>
            <a:ext cx="5352395" cy="35432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0"/>
              <a:buFont typeface="Arial"/>
              <a:buNone/>
            </a:pPr>
            <a:r>
              <a:rPr b="1" i="0" lang="en-US" sz="3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3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34"/>
          <p:cNvSpPr/>
          <p:nvPr/>
        </p:nvSpPr>
        <p:spPr>
          <a:xfrm>
            <a:off x="1047750" y="4240196"/>
            <a:ext cx="95250" cy="95250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34"/>
          <p:cNvSpPr/>
          <p:nvPr/>
        </p:nvSpPr>
        <p:spPr>
          <a:xfrm>
            <a:off x="1295384" y="4137009"/>
            <a:ext cx="647279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LECTURE 06 · ~9 PHÚT · 6 SLIDES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34"/>
          <p:cNvSpPr/>
          <p:nvPr/>
        </p:nvSpPr>
        <p:spPr>
          <a:xfrm>
            <a:off x="1047750" y="4724384"/>
            <a:ext cx="9889185" cy="8382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CNN hiện đại &amp; ViT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34"/>
          <p:cNvSpPr/>
          <p:nvPr/>
        </p:nvSpPr>
        <p:spPr>
          <a:xfrm>
            <a:off x="1047750" y="5848284"/>
            <a:ext cx="1667827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EfficientNet · ConvNeXt · Vision Transformer — Transformer không chỉ cho text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5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35"/>
          <p:cNvSpPr/>
          <p:nvPr/>
        </p:nvSpPr>
        <p:spPr>
          <a:xfrm>
            <a:off x="1285792" y="876267"/>
            <a:ext cx="3397739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L06 · EFFICIENTNET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35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Cân bằng cả ba chiều — nhẹ, nhanh, chính xác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35"/>
          <p:cNvSpPr/>
          <p:nvPr/>
        </p:nvSpPr>
        <p:spPr>
          <a:xfrm>
            <a:off x="834390" y="5762460"/>
            <a:ext cx="8042927" cy="10659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Compound scaling: độ sâu · độ rộng · độ phân giải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Rất phổ biến trong production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5"/>
          <p:cNvSpPr/>
          <p:nvPr/>
        </p:nvSpPr>
        <p:spPr>
          <a:xfrm>
            <a:off x="9486884" y="5103316"/>
            <a:ext cx="7985968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độ sâu (depth)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5"/>
          <p:cNvSpPr/>
          <p:nvPr/>
        </p:nvSpPr>
        <p:spPr>
          <a:xfrm>
            <a:off x="9486884" y="5955192"/>
            <a:ext cx="7985968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độ rộng (width)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5"/>
          <p:cNvSpPr/>
          <p:nvPr/>
        </p:nvSpPr>
        <p:spPr>
          <a:xfrm>
            <a:off x="9486884" y="6807068"/>
            <a:ext cx="7985968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độ phân giải (resolution)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6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36"/>
          <p:cNvSpPr/>
          <p:nvPr/>
        </p:nvSpPr>
        <p:spPr>
          <a:xfrm>
            <a:off x="1285792" y="876267"/>
            <a:ext cx="2642686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L06 · CONVNEXT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6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CNN được "hiện đại hoá" theo ý tưởng Transformer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36"/>
          <p:cNvSpPr/>
          <p:nvPr/>
        </p:nvSpPr>
        <p:spPr>
          <a:xfrm>
            <a:off x="834390" y="5762460"/>
            <a:ext cx="8042927" cy="10659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Mượn thiết kế từ Transformer, vẫn là CNN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Chứng minh CNN vẫn rất cạnh tranh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6"/>
          <p:cNvSpPr/>
          <p:nvPr/>
        </p:nvSpPr>
        <p:spPr>
          <a:xfrm>
            <a:off x="11874874" y="4893254"/>
            <a:ext cx="2977304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large-kernel conv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6"/>
          <p:cNvSpPr/>
          <p:nvPr/>
        </p:nvSpPr>
        <p:spPr>
          <a:xfrm>
            <a:off x="11597591" y="5475271"/>
            <a:ext cx="3531870" cy="399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6"/>
          <p:cNvSpPr/>
          <p:nvPr/>
        </p:nvSpPr>
        <p:spPr>
          <a:xfrm>
            <a:off x="11874874" y="6133489"/>
            <a:ext cx="2977304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LayerNorm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6"/>
          <p:cNvSpPr/>
          <p:nvPr/>
        </p:nvSpPr>
        <p:spPr>
          <a:xfrm>
            <a:off x="11597591" y="6715506"/>
            <a:ext cx="3531870" cy="399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6"/>
          <p:cNvSpPr/>
          <p:nvPr/>
        </p:nvSpPr>
        <p:spPr>
          <a:xfrm>
            <a:off x="11874874" y="7373723"/>
            <a:ext cx="2977304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MLP (1×1 conv)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7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37"/>
          <p:cNvSpPr/>
          <p:nvPr/>
        </p:nvSpPr>
        <p:spPr>
          <a:xfrm>
            <a:off x="1285792" y="876267"/>
            <a:ext cx="5662813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L06 · VISION TRANSFORMER (VIT)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37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Cắt ảnh thành patch , xử lý như chuỗi từ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7"/>
          <p:cNvSpPr/>
          <p:nvPr/>
        </p:nvSpPr>
        <p:spPr>
          <a:xfrm>
            <a:off x="2647950" y="5783709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37"/>
          <p:cNvSpPr/>
          <p:nvPr/>
        </p:nvSpPr>
        <p:spPr>
          <a:xfrm>
            <a:off x="3391397" y="5821859"/>
            <a:ext cx="4057763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Chuỗi patch + vị trí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37"/>
          <p:cNvSpPr/>
          <p:nvPr/>
        </p:nvSpPr>
        <p:spPr>
          <a:xfrm>
            <a:off x="7830724" y="5783709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7"/>
          <p:cNvSpPr/>
          <p:nvPr/>
        </p:nvSpPr>
        <p:spPr>
          <a:xfrm>
            <a:off x="9300104" y="5649102"/>
            <a:ext cx="2684075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Transformer encoder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7"/>
          <p:cNvSpPr/>
          <p:nvPr/>
        </p:nvSpPr>
        <p:spPr>
          <a:xfrm>
            <a:off x="8582438" y="5981402"/>
            <a:ext cx="4041314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attention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37"/>
          <p:cNvSpPr/>
          <p:nvPr/>
        </p:nvSpPr>
        <p:spPr>
          <a:xfrm>
            <a:off x="13013581" y="5783709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7"/>
          <p:cNvSpPr/>
          <p:nvPr/>
        </p:nvSpPr>
        <p:spPr>
          <a:xfrm>
            <a:off x="13768798" y="5821859"/>
            <a:ext cx="3249569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Nhãn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7"/>
          <p:cNvSpPr/>
          <p:nvPr/>
        </p:nvSpPr>
        <p:spPr>
          <a:xfrm>
            <a:off x="804863" y="7021959"/>
            <a:ext cx="16678276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Gặp lại attention chi tiết ở Section NLP.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8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38"/>
          <p:cNvSpPr/>
          <p:nvPr/>
        </p:nvSpPr>
        <p:spPr>
          <a:xfrm>
            <a:off x="1285792" y="876267"/>
            <a:ext cx="4907759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L06 · KHI NÀO DÙNG CÁI NÀO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38"/>
          <p:cNvSpPr/>
          <p:nvPr/>
        </p:nvSpPr>
        <p:spPr>
          <a:xfrm>
            <a:off x="1047750" y="1408576"/>
            <a:ext cx="8476420" cy="6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Chọn theo lượng dữ liệu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8"/>
          <p:cNvSpPr/>
          <p:nvPr/>
        </p:nvSpPr>
        <p:spPr>
          <a:xfrm>
            <a:off x="1491175" y="2966310"/>
            <a:ext cx="7229467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DỮ LIỆU LỚN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38"/>
          <p:cNvSpPr/>
          <p:nvPr/>
        </p:nvSpPr>
        <p:spPr>
          <a:xfrm>
            <a:off x="1491175" y="3380052"/>
            <a:ext cx="7229467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ViT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8"/>
          <p:cNvSpPr/>
          <p:nvPr/>
        </p:nvSpPr>
        <p:spPr>
          <a:xfrm>
            <a:off x="1277815" y="4079545"/>
            <a:ext cx="7308460" cy="9827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Phát huy khi có rất nhiều ảnh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Mạnh ở quy mô lớn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8"/>
          <p:cNvSpPr/>
          <p:nvPr/>
        </p:nvSpPr>
        <p:spPr>
          <a:xfrm>
            <a:off x="9777925" y="2966310"/>
            <a:ext cx="7229467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DỮ LIỆU VỪA · EDGE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38"/>
          <p:cNvSpPr/>
          <p:nvPr/>
        </p:nvSpPr>
        <p:spPr>
          <a:xfrm>
            <a:off x="9777925" y="3380052"/>
            <a:ext cx="7229467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CNN / EfficientNet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38"/>
          <p:cNvSpPr/>
          <p:nvPr/>
        </p:nvSpPr>
        <p:spPr>
          <a:xfrm>
            <a:off x="9564565" y="4079545"/>
            <a:ext cx="7308460" cy="9827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Hiệu quả với dữ liệu nhỏ–vừa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Thực tế vẫn là lựa chọn an toàn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9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39"/>
          <p:cNvSpPr/>
          <p:nvPr/>
        </p:nvSpPr>
        <p:spPr>
          <a:xfrm>
            <a:off x="1285792" y="876267"/>
            <a:ext cx="2458607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L06 · TÓM TẮT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39"/>
          <p:cNvSpPr/>
          <p:nvPr/>
        </p:nvSpPr>
        <p:spPr>
          <a:xfrm>
            <a:off x="1047750" y="1408576"/>
            <a:ext cx="8476420" cy="6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Bộ ba hiện đại: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39"/>
          <p:cNvSpPr/>
          <p:nvPr/>
        </p:nvSpPr>
        <p:spPr>
          <a:xfrm>
            <a:off x="1305983" y="2685918"/>
            <a:ext cx="1722041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EfficientNet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39"/>
          <p:cNvSpPr/>
          <p:nvPr/>
        </p:nvSpPr>
        <p:spPr>
          <a:xfrm>
            <a:off x="3639691" y="2685918"/>
            <a:ext cx="1173444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ConvNeXt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9"/>
          <p:cNvSpPr/>
          <p:nvPr/>
        </p:nvSpPr>
        <p:spPr>
          <a:xfrm>
            <a:off x="5424802" y="2685918"/>
            <a:ext cx="487677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9"/>
          <p:cNvSpPr/>
          <p:nvPr/>
        </p:nvSpPr>
        <p:spPr>
          <a:xfrm>
            <a:off x="1047750" y="3619169"/>
            <a:ext cx="1423425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39"/>
          <p:cNvSpPr/>
          <p:nvPr/>
        </p:nvSpPr>
        <p:spPr>
          <a:xfrm>
            <a:off x="2604492" y="3508044"/>
            <a:ext cx="469685" cy="583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39"/>
          <p:cNvSpPr/>
          <p:nvPr/>
        </p:nvSpPr>
        <p:spPr>
          <a:xfrm>
            <a:off x="3207494" y="3531857"/>
            <a:ext cx="14453739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Transfer learning — tận dụng model đã train sẵn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40"/>
          <p:cNvSpPr/>
          <p:nvPr/>
        </p:nvSpPr>
        <p:spPr>
          <a:xfrm>
            <a:off x="12411770" y="3390925"/>
            <a:ext cx="4973335" cy="35432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0"/>
              <a:buFont typeface="Arial"/>
              <a:buNone/>
            </a:pPr>
            <a:r>
              <a:rPr b="1" i="0" lang="en-US" sz="3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3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40"/>
          <p:cNvSpPr/>
          <p:nvPr/>
        </p:nvSpPr>
        <p:spPr>
          <a:xfrm>
            <a:off x="1047750" y="3840179"/>
            <a:ext cx="95250" cy="95250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40"/>
          <p:cNvSpPr/>
          <p:nvPr/>
        </p:nvSpPr>
        <p:spPr>
          <a:xfrm>
            <a:off x="1295384" y="3736992"/>
            <a:ext cx="647279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LECTURE 07 · ~9 PHÚT · 6 SLIDES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8" name="Google Shape;578;p40"/>
          <p:cNvSpPr/>
          <p:nvPr/>
        </p:nvSpPr>
        <p:spPr>
          <a:xfrm>
            <a:off x="1047750" y="4324367"/>
            <a:ext cx="9889185" cy="16383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Transfer learning &amp; fine-tuning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40"/>
          <p:cNvSpPr/>
          <p:nvPr/>
        </p:nvSpPr>
        <p:spPr>
          <a:xfrm>
            <a:off x="1047750" y="6248384"/>
            <a:ext cx="1667827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Không ai train từ đầu — ta đứng trên vai người khổng lồ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41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1"/>
          <p:cNvSpPr/>
          <p:nvPr/>
        </p:nvSpPr>
        <p:spPr>
          <a:xfrm>
            <a:off x="1285792" y="876267"/>
            <a:ext cx="5662813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L07 · VÌ SAO TRANSFER LEARNING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41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Kỹ thuật quan trọng nhất trong CV thực tế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41"/>
          <p:cNvSpPr/>
          <p:nvPr/>
        </p:nvSpPr>
        <p:spPr>
          <a:xfrm>
            <a:off x="834390" y="5762460"/>
            <a:ext cx="8042927" cy="10659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Tiết kiệm dữ liệu, thời gian, GPU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Tận dụng đặc trưng model đã học sẵn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41"/>
          <p:cNvSpPr/>
          <p:nvPr/>
        </p:nvSpPr>
        <p:spPr>
          <a:xfrm>
            <a:off x="10906125" y="5817857"/>
            <a:ext cx="761967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Model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41"/>
          <p:cNvSpPr/>
          <p:nvPr/>
        </p:nvSpPr>
        <p:spPr>
          <a:xfrm>
            <a:off x="10563242" y="6103607"/>
            <a:ext cx="144773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pretrained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41"/>
          <p:cNvSpPr/>
          <p:nvPr/>
        </p:nvSpPr>
        <p:spPr>
          <a:xfrm>
            <a:off x="9719571" y="6435907"/>
            <a:ext cx="3058876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đã học trên triệu ảnh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41"/>
          <p:cNvSpPr/>
          <p:nvPr/>
        </p:nvSpPr>
        <p:spPr>
          <a:xfrm>
            <a:off x="13182584" y="6095339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41"/>
          <p:cNvSpPr/>
          <p:nvPr/>
        </p:nvSpPr>
        <p:spPr>
          <a:xfrm>
            <a:off x="15203703" y="5817857"/>
            <a:ext cx="62487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Task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41"/>
          <p:cNvSpPr/>
          <p:nvPr/>
        </p:nvSpPr>
        <p:spPr>
          <a:xfrm>
            <a:off x="15272329" y="6103607"/>
            <a:ext cx="48771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mới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41"/>
          <p:cNvSpPr/>
          <p:nvPr/>
        </p:nvSpPr>
        <p:spPr>
          <a:xfrm>
            <a:off x="13948604" y="6435907"/>
            <a:ext cx="3058961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dữ liệu của bạn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42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42"/>
          <p:cNvSpPr/>
          <p:nvPr/>
        </p:nvSpPr>
        <p:spPr>
          <a:xfrm>
            <a:off x="1285792" y="876267"/>
            <a:ext cx="4530233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L07 · FEATURE EXTRACTION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42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Đóng băng backbone, chỉ train lớp cuối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42"/>
          <p:cNvSpPr/>
          <p:nvPr/>
        </p:nvSpPr>
        <p:spPr>
          <a:xfrm>
            <a:off x="834390" y="5762460"/>
            <a:ext cx="8042927" cy="10659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Dùng khi dữ liệu ít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Phần đã học giữ nguyên — train nhanh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42"/>
          <p:cNvSpPr/>
          <p:nvPr/>
        </p:nvSpPr>
        <p:spPr>
          <a:xfrm>
            <a:off x="11776767" y="4607504"/>
            <a:ext cx="3173519" cy="6095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🔒 Conv blocks (frozen)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42"/>
          <p:cNvSpPr/>
          <p:nvPr/>
        </p:nvSpPr>
        <p:spPr>
          <a:xfrm>
            <a:off x="11499484" y="5475271"/>
            <a:ext cx="3728085" cy="399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42"/>
          <p:cNvSpPr/>
          <p:nvPr/>
        </p:nvSpPr>
        <p:spPr>
          <a:xfrm>
            <a:off x="11776767" y="6133489"/>
            <a:ext cx="3173519" cy="6095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🔒 Conv blocks (frozen)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42"/>
          <p:cNvSpPr/>
          <p:nvPr/>
        </p:nvSpPr>
        <p:spPr>
          <a:xfrm>
            <a:off x="11499484" y="7001256"/>
            <a:ext cx="3728085" cy="399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42"/>
          <p:cNvSpPr/>
          <p:nvPr/>
        </p:nvSpPr>
        <p:spPr>
          <a:xfrm>
            <a:off x="11776767" y="7659473"/>
            <a:ext cx="3173519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⚡ FC mới (train)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3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43"/>
          <p:cNvSpPr/>
          <p:nvPr/>
        </p:nvSpPr>
        <p:spPr>
          <a:xfrm>
            <a:off x="1285792" y="876267"/>
            <a:ext cx="3208933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L07 · FINE-TUNING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43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Mở băng &amp; train lại với learning rate nhỏ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43"/>
          <p:cNvSpPr/>
          <p:nvPr/>
        </p:nvSpPr>
        <p:spPr>
          <a:xfrm>
            <a:off x="834390" y="5762460"/>
            <a:ext cx="8042927" cy="10659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Dùng khi có nhiều dữ liệu hơn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lr nhỏ để không phá hỏng đặc trưng cũ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43"/>
          <p:cNvSpPr/>
          <p:nvPr/>
        </p:nvSpPr>
        <p:spPr>
          <a:xfrm>
            <a:off x="11776767" y="4607504"/>
            <a:ext cx="3173519" cy="6095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🔓 Conv blocks (train, lr nhỏ)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43"/>
          <p:cNvSpPr/>
          <p:nvPr/>
        </p:nvSpPr>
        <p:spPr>
          <a:xfrm>
            <a:off x="11499484" y="5475271"/>
            <a:ext cx="3728085" cy="399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43"/>
          <p:cNvSpPr/>
          <p:nvPr/>
        </p:nvSpPr>
        <p:spPr>
          <a:xfrm>
            <a:off x="11776767" y="6133489"/>
            <a:ext cx="3173519" cy="6095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🔓 Conv blocks (train, lr nhỏ)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43"/>
          <p:cNvSpPr/>
          <p:nvPr/>
        </p:nvSpPr>
        <p:spPr>
          <a:xfrm>
            <a:off x="11499484" y="7001256"/>
            <a:ext cx="3728085" cy="399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43"/>
          <p:cNvSpPr/>
          <p:nvPr/>
        </p:nvSpPr>
        <p:spPr>
          <a:xfrm>
            <a:off x="11776767" y="7659473"/>
            <a:ext cx="3173519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⚡ FC mới (train)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44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0" name="Google Shape;630;p44"/>
          <p:cNvSpPr/>
          <p:nvPr/>
        </p:nvSpPr>
        <p:spPr>
          <a:xfrm>
            <a:off x="1285792" y="876267"/>
            <a:ext cx="4341513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L07 · QUY TRÌNH THỰC TẾ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44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Vài dòng code, kết quả mạnh ngay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44"/>
          <p:cNvSpPr/>
          <p:nvPr/>
        </p:nvSpPr>
        <p:spPr>
          <a:xfrm>
            <a:off x="1472076" y="5003602"/>
            <a:ext cx="15804165" cy="4623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import torchvision.models as models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44"/>
          <p:cNvSpPr/>
          <p:nvPr/>
        </p:nvSpPr>
        <p:spPr>
          <a:xfrm>
            <a:off x="1472076" y="5427845"/>
            <a:ext cx="15804165" cy="4623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Courier New"/>
              <a:buNone/>
            </a:pPr>
            <a:r>
              <a:rPr b="0" i="1" lang="en-US" sz="20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 1 · Chọn model pretrained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44"/>
          <p:cNvSpPr/>
          <p:nvPr/>
        </p:nvSpPr>
        <p:spPr>
          <a:xfrm>
            <a:off x="1472076" y="5852088"/>
            <a:ext cx="15804165" cy="4623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model = models.resnet50(weights="IMAGENET1K_V2")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44"/>
          <p:cNvSpPr/>
          <p:nvPr/>
        </p:nvSpPr>
        <p:spPr>
          <a:xfrm>
            <a:off x="1472076" y="6276330"/>
            <a:ext cx="15804165" cy="4623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Courier New"/>
              <a:buNone/>
            </a:pPr>
            <a:r>
              <a:rPr b="0" i="1" lang="en-US" sz="20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 2 · Thay lớp cuối cho số lớp của bạn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44"/>
          <p:cNvSpPr/>
          <p:nvPr/>
        </p:nvSpPr>
        <p:spPr>
          <a:xfrm>
            <a:off x="1472076" y="6700573"/>
            <a:ext cx="15804165" cy="4623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model.fc = nn.Linear(model.fc.in_features, 5)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44"/>
          <p:cNvSpPr/>
          <p:nvPr/>
        </p:nvSpPr>
        <p:spPr>
          <a:xfrm>
            <a:off x="1472076" y="7124816"/>
            <a:ext cx="15804165" cy="4623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Courier New"/>
              <a:buNone/>
            </a:pPr>
            <a:r>
              <a:rPr b="0" i="1" lang="en-US" sz="20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# 3 · Train như bình thường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45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45"/>
          <p:cNvSpPr/>
          <p:nvPr/>
        </p:nvSpPr>
        <p:spPr>
          <a:xfrm>
            <a:off x="1285792" y="876267"/>
            <a:ext cx="2458607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L07 · TÓM TẮT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45"/>
          <p:cNvSpPr/>
          <p:nvPr/>
        </p:nvSpPr>
        <p:spPr>
          <a:xfrm>
            <a:off x="1047750" y="1408576"/>
            <a:ext cx="8476420" cy="6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Tái sử dụng tri thức: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45"/>
          <p:cNvSpPr/>
          <p:nvPr/>
        </p:nvSpPr>
        <p:spPr>
          <a:xfrm>
            <a:off x="1305983" y="2685918"/>
            <a:ext cx="1173444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transfer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45"/>
          <p:cNvSpPr/>
          <p:nvPr/>
        </p:nvSpPr>
        <p:spPr>
          <a:xfrm>
            <a:off x="3091094" y="2685918"/>
            <a:ext cx="2558250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feature extraction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45"/>
          <p:cNvSpPr/>
          <p:nvPr/>
        </p:nvSpPr>
        <p:spPr>
          <a:xfrm>
            <a:off x="6247656" y="2685918"/>
            <a:ext cx="1310531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fine-tune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45"/>
          <p:cNvSpPr/>
          <p:nvPr/>
        </p:nvSpPr>
        <p:spPr>
          <a:xfrm>
            <a:off x="1047750" y="3619169"/>
            <a:ext cx="1423425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45"/>
          <p:cNvSpPr/>
          <p:nvPr/>
        </p:nvSpPr>
        <p:spPr>
          <a:xfrm>
            <a:off x="2604492" y="3508044"/>
            <a:ext cx="469685" cy="583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45"/>
          <p:cNvSpPr/>
          <p:nvPr/>
        </p:nvSpPr>
        <p:spPr>
          <a:xfrm>
            <a:off x="3207494" y="3531857"/>
            <a:ext cx="14453739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Xây pipeline data augmentation chuyên nghiệp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46"/>
          <p:cNvSpPr/>
          <p:nvPr/>
        </p:nvSpPr>
        <p:spPr>
          <a:xfrm>
            <a:off x="12122630" y="3390925"/>
            <a:ext cx="5271149" cy="35432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0"/>
              <a:buFont typeface="Arial"/>
              <a:buNone/>
            </a:pPr>
            <a:r>
              <a:rPr b="1" i="0" lang="en-US" sz="3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 b="0" i="0" sz="3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46"/>
          <p:cNvSpPr/>
          <p:nvPr/>
        </p:nvSpPr>
        <p:spPr>
          <a:xfrm>
            <a:off x="1047750" y="3840179"/>
            <a:ext cx="95250" cy="95250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46"/>
          <p:cNvSpPr/>
          <p:nvPr/>
        </p:nvSpPr>
        <p:spPr>
          <a:xfrm>
            <a:off x="1295384" y="3736992"/>
            <a:ext cx="647279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LECTURE 08 · ~7 PHÚT · 5 SLIDES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46"/>
          <p:cNvSpPr/>
          <p:nvPr/>
        </p:nvSpPr>
        <p:spPr>
          <a:xfrm>
            <a:off x="1047750" y="4324367"/>
            <a:ext cx="9889185" cy="16383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Pipeline data augmentation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46"/>
          <p:cNvSpPr/>
          <p:nvPr/>
        </p:nvSpPr>
        <p:spPr>
          <a:xfrm>
            <a:off x="1047750" y="6248384"/>
            <a:ext cx="1667827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Albumentations · torchvision — tăng dữ liệu miễn phí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47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47"/>
          <p:cNvSpPr/>
          <p:nvPr/>
        </p:nvSpPr>
        <p:spPr>
          <a:xfrm>
            <a:off x="1285792" y="876267"/>
            <a:ext cx="5285286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L08 · TORCHVISION TRANSFORMS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47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Compose thành một pipeline — đủ cho hầu hết bài toán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47"/>
          <p:cNvSpPr/>
          <p:nvPr/>
        </p:nvSpPr>
        <p:spPr>
          <a:xfrm>
            <a:off x="1472076" y="4579359"/>
            <a:ext cx="15804165" cy="4623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from torchvision import transforms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47"/>
          <p:cNvSpPr/>
          <p:nvPr/>
        </p:nvSpPr>
        <p:spPr>
          <a:xfrm>
            <a:off x="1472076" y="5003602"/>
            <a:ext cx="15804165" cy="4623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train_tf = transforms.Compose([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47"/>
          <p:cNvSpPr/>
          <p:nvPr/>
        </p:nvSpPr>
        <p:spPr>
          <a:xfrm>
            <a:off x="1472076" y="5427845"/>
            <a:ext cx="15804165" cy="4623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transforms.Resize((224, 224)),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47"/>
          <p:cNvSpPr/>
          <p:nvPr/>
        </p:nvSpPr>
        <p:spPr>
          <a:xfrm>
            <a:off x="1472076" y="5852088"/>
            <a:ext cx="15804165" cy="4623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transforms.RandomHorizontalFlip(),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47"/>
          <p:cNvSpPr/>
          <p:nvPr/>
        </p:nvSpPr>
        <p:spPr>
          <a:xfrm>
            <a:off x="1472076" y="6276330"/>
            <a:ext cx="15804165" cy="4623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transforms.RandomRotation(15),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47"/>
          <p:cNvSpPr/>
          <p:nvPr/>
        </p:nvSpPr>
        <p:spPr>
          <a:xfrm>
            <a:off x="1472076" y="6700573"/>
            <a:ext cx="15804165" cy="4623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transforms.ToTensor(),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47"/>
          <p:cNvSpPr/>
          <p:nvPr/>
        </p:nvSpPr>
        <p:spPr>
          <a:xfrm>
            <a:off x="1472076" y="7124816"/>
            <a:ext cx="15804165" cy="4623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transforms.Normalize(mean, std),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47"/>
          <p:cNvSpPr/>
          <p:nvPr/>
        </p:nvSpPr>
        <p:spPr>
          <a:xfrm>
            <a:off x="1472076" y="7549059"/>
            <a:ext cx="15804165" cy="46234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25"/>
              <a:buFont typeface="Courier New"/>
              <a:buNone/>
            </a:pPr>
            <a:r>
              <a:rPr b="0" i="0" lang="en-US" sz="2025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48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48"/>
          <p:cNvSpPr/>
          <p:nvPr/>
        </p:nvSpPr>
        <p:spPr>
          <a:xfrm>
            <a:off x="1285792" y="876267"/>
            <a:ext cx="3775180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L08 · ALBUMENTATIONS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48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Nhanh, mạnh — chuẩn cho detection &amp; segmentation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48"/>
          <p:cNvSpPr/>
          <p:nvPr/>
        </p:nvSpPr>
        <p:spPr>
          <a:xfrm>
            <a:off x="834390" y="5762460"/>
            <a:ext cx="8042927" cy="10659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Rất nhiều phép biến đổi mạnh, tốc độ cao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Hỗ trợ đồng bộ cả bounding box &amp; mask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48"/>
          <p:cNvSpPr/>
          <p:nvPr/>
        </p:nvSpPr>
        <p:spPr>
          <a:xfrm>
            <a:off x="9911209" y="5144741"/>
            <a:ext cx="7111857" cy="4152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import albumentations as 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48"/>
          <p:cNvSpPr/>
          <p:nvPr/>
        </p:nvSpPr>
        <p:spPr>
          <a:xfrm>
            <a:off x="9911209" y="5521937"/>
            <a:ext cx="7111857" cy="4152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tf = A.Compose([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48"/>
          <p:cNvSpPr/>
          <p:nvPr/>
        </p:nvSpPr>
        <p:spPr>
          <a:xfrm>
            <a:off x="9911209" y="5899134"/>
            <a:ext cx="7111857" cy="4152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A.RandomBrightnessContrast(),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48"/>
          <p:cNvSpPr/>
          <p:nvPr/>
        </p:nvSpPr>
        <p:spPr>
          <a:xfrm>
            <a:off x="9911209" y="6276330"/>
            <a:ext cx="7111857" cy="4152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A.ShiftScaleRotate(),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48"/>
          <p:cNvSpPr/>
          <p:nvPr/>
        </p:nvSpPr>
        <p:spPr>
          <a:xfrm>
            <a:off x="9911209" y="6653527"/>
            <a:ext cx="7111857" cy="4152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A.CoarseDropout(),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48"/>
          <p:cNvSpPr/>
          <p:nvPr/>
        </p:nvSpPr>
        <p:spPr>
          <a:xfrm>
            <a:off x="9911209" y="7030724"/>
            <a:ext cx="7111857" cy="41529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], bbox_params=...)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9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49"/>
          <p:cNvSpPr/>
          <p:nvPr/>
        </p:nvSpPr>
        <p:spPr>
          <a:xfrm>
            <a:off x="1285792" y="876267"/>
            <a:ext cx="4719039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L08 · AUGMENT MẠNH VS NHẸ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49"/>
          <p:cNvSpPr/>
          <p:nvPr/>
        </p:nvSpPr>
        <p:spPr>
          <a:xfrm>
            <a:off x="1047750" y="1408576"/>
            <a:ext cx="8476420" cy="6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Augment phải phù hợp domain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49"/>
          <p:cNvSpPr/>
          <p:nvPr/>
        </p:nvSpPr>
        <p:spPr>
          <a:xfrm>
            <a:off x="1491175" y="2966310"/>
            <a:ext cx="7229467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CÂN BẰNG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49"/>
          <p:cNvSpPr/>
          <p:nvPr/>
        </p:nvSpPr>
        <p:spPr>
          <a:xfrm>
            <a:off x="1491175" y="3380052"/>
            <a:ext cx="7229467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Augment hợp lý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49"/>
          <p:cNvSpPr/>
          <p:nvPr/>
        </p:nvSpPr>
        <p:spPr>
          <a:xfrm>
            <a:off x="1277815" y="4079545"/>
            <a:ext cx="7308460" cy="9827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Tăng đa dạng, chống overfit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Giữ ảnh vẫn "thật"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49"/>
          <p:cNvSpPr/>
          <p:nvPr/>
        </p:nvSpPr>
        <p:spPr>
          <a:xfrm>
            <a:off x="9777925" y="2966310"/>
            <a:ext cx="7229467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CẨN THẬN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5" name="Google Shape;705;p49"/>
          <p:cNvSpPr/>
          <p:nvPr/>
        </p:nvSpPr>
        <p:spPr>
          <a:xfrm>
            <a:off x="9777925" y="3380052"/>
            <a:ext cx="7229467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Augment quá mạnh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49"/>
          <p:cNvSpPr/>
          <p:nvPr/>
        </p:nvSpPr>
        <p:spPr>
          <a:xfrm>
            <a:off x="9564565" y="4079545"/>
            <a:ext cx="7308460" cy="9827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Bóp méo đặc trưng quan trọng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 thể làm model tệ đi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50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50"/>
          <p:cNvSpPr/>
          <p:nvPr/>
        </p:nvSpPr>
        <p:spPr>
          <a:xfrm>
            <a:off x="1285792" y="876267"/>
            <a:ext cx="2458607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L08 · TÓM TẮT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50"/>
          <p:cNvSpPr/>
          <p:nvPr/>
        </p:nvSpPr>
        <p:spPr>
          <a:xfrm>
            <a:off x="1047750" y="1408576"/>
            <a:ext cx="8476420" cy="6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Tăng dữ liệu đúng cách: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50"/>
          <p:cNvSpPr/>
          <p:nvPr/>
        </p:nvSpPr>
        <p:spPr>
          <a:xfrm>
            <a:off x="1305983" y="2685918"/>
            <a:ext cx="1584871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torchvision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50"/>
          <p:cNvSpPr/>
          <p:nvPr/>
        </p:nvSpPr>
        <p:spPr>
          <a:xfrm>
            <a:off x="3502521" y="2685918"/>
            <a:ext cx="1996298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Albumentations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50"/>
          <p:cNvSpPr/>
          <p:nvPr/>
        </p:nvSpPr>
        <p:spPr>
          <a:xfrm>
            <a:off x="6110486" y="2685918"/>
            <a:ext cx="1173444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cân bằng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50"/>
          <p:cNvSpPr/>
          <p:nvPr/>
        </p:nvSpPr>
        <p:spPr>
          <a:xfrm>
            <a:off x="1047750" y="3619169"/>
            <a:ext cx="1423425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50"/>
          <p:cNvSpPr/>
          <p:nvPr/>
        </p:nvSpPr>
        <p:spPr>
          <a:xfrm>
            <a:off x="2604492" y="3508044"/>
            <a:ext cx="469685" cy="583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50"/>
          <p:cNvSpPr/>
          <p:nvPr/>
        </p:nvSpPr>
        <p:spPr>
          <a:xfrm>
            <a:off x="3207494" y="3531857"/>
            <a:ext cx="14453739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 Detection — không chỉ "ảnh có gì" mà "vật ở đâu"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51"/>
          <p:cNvSpPr/>
          <p:nvPr/>
        </p:nvSpPr>
        <p:spPr>
          <a:xfrm>
            <a:off x="12043751" y="3390925"/>
            <a:ext cx="5352395" cy="35432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0"/>
              <a:buFont typeface="Arial"/>
              <a:buNone/>
            </a:pPr>
            <a:r>
              <a:rPr b="1" i="0" lang="en-US" sz="3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 b="0" i="0" sz="3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7" name="Google Shape;727;p51"/>
          <p:cNvSpPr/>
          <p:nvPr/>
        </p:nvSpPr>
        <p:spPr>
          <a:xfrm>
            <a:off x="1047750" y="4240196"/>
            <a:ext cx="95250" cy="95250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51"/>
          <p:cNvSpPr/>
          <p:nvPr/>
        </p:nvSpPr>
        <p:spPr>
          <a:xfrm>
            <a:off x="1295384" y="4137009"/>
            <a:ext cx="6681615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LECTURE 09 · ~10 PHÚT · 7 SLIDES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51"/>
          <p:cNvSpPr/>
          <p:nvPr/>
        </p:nvSpPr>
        <p:spPr>
          <a:xfrm>
            <a:off x="1047750" y="4724384"/>
            <a:ext cx="9889185" cy="8382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 Detection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51"/>
          <p:cNvSpPr/>
          <p:nvPr/>
        </p:nvSpPr>
        <p:spPr>
          <a:xfrm>
            <a:off x="1047750" y="5848284"/>
            <a:ext cx="1667827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YOLO · Faster R-CNN · DETR — không chỉ "ảnh có gì" mà "vật ở đâu"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52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52"/>
          <p:cNvSpPr/>
          <p:nvPr/>
        </p:nvSpPr>
        <p:spPr>
          <a:xfrm>
            <a:off x="1285792" y="876267"/>
            <a:ext cx="6229060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L09 · CLASSIFICATION VS DETECTION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52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Từ "ảnh có gì" đến "vật nằm ở đâu"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52"/>
          <p:cNvSpPr/>
          <p:nvPr/>
        </p:nvSpPr>
        <p:spPr>
          <a:xfrm>
            <a:off x="1491175" y="3566336"/>
            <a:ext cx="7229467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CLASSIFICATION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52"/>
          <p:cNvSpPr/>
          <p:nvPr/>
        </p:nvSpPr>
        <p:spPr>
          <a:xfrm>
            <a:off x="1491175" y="3980078"/>
            <a:ext cx="7229467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Một nhãn cho cả ảnh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52"/>
          <p:cNvSpPr/>
          <p:nvPr/>
        </p:nvSpPr>
        <p:spPr>
          <a:xfrm>
            <a:off x="1277815" y="4679570"/>
            <a:ext cx="7308460" cy="9827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"Đây là ảnh con mèo"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Không biết vị trí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52"/>
          <p:cNvSpPr/>
          <p:nvPr/>
        </p:nvSpPr>
        <p:spPr>
          <a:xfrm>
            <a:off x="9777925" y="3566336"/>
            <a:ext cx="7229467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DETECTION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52"/>
          <p:cNvSpPr/>
          <p:nvPr/>
        </p:nvSpPr>
        <p:spPr>
          <a:xfrm>
            <a:off x="9777925" y="3980078"/>
            <a:ext cx="7229467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Vị trí + nhãn từng vật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52"/>
          <p:cNvSpPr/>
          <p:nvPr/>
        </p:nvSpPr>
        <p:spPr>
          <a:xfrm>
            <a:off x="9564565" y="4679570"/>
            <a:ext cx="7308460" cy="9827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Hộp bao quanh từng vật thể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Khó hơn, hữu dụng hơn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53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1" name="Google Shape;751;p53"/>
          <p:cNvSpPr/>
          <p:nvPr/>
        </p:nvSpPr>
        <p:spPr>
          <a:xfrm>
            <a:off x="1285792" y="876267"/>
            <a:ext cx="4530233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L09 · BOUNDING BOX &amp; IOU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2" name="Google Shape;752;p53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IoU đo độ khớp giữa dự đoán &amp; thực tế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53"/>
          <p:cNvSpPr/>
          <p:nvPr/>
        </p:nvSpPr>
        <p:spPr>
          <a:xfrm>
            <a:off x="3316603" y="7468527"/>
            <a:ext cx="3215661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━ thực tế ━ dự đoán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53"/>
          <p:cNvSpPr/>
          <p:nvPr/>
        </p:nvSpPr>
        <p:spPr>
          <a:xfrm>
            <a:off x="9911275" y="5324343"/>
            <a:ext cx="7137185" cy="60956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ourier New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IoU = giao / hợp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53"/>
          <p:cNvSpPr/>
          <p:nvPr/>
        </p:nvSpPr>
        <p:spPr>
          <a:xfrm>
            <a:off x="9273524" y="6548768"/>
            <a:ext cx="8042927" cy="10659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1.0 = trùng khít hoàn hảo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Nền tảng của mọi metric detection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54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54"/>
          <p:cNvSpPr/>
          <p:nvPr/>
        </p:nvSpPr>
        <p:spPr>
          <a:xfrm>
            <a:off x="1285792" y="876267"/>
            <a:ext cx="5285286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L09 · ONE-STAGE VS TWO-STAGE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54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Trade-off tốc độ vs độ chính xác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54"/>
          <p:cNvSpPr/>
          <p:nvPr/>
        </p:nvSpPr>
        <p:spPr>
          <a:xfrm>
            <a:off x="1491175" y="3566336"/>
            <a:ext cx="7229467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ONE-STAGE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54"/>
          <p:cNvSpPr/>
          <p:nvPr/>
        </p:nvSpPr>
        <p:spPr>
          <a:xfrm>
            <a:off x="1491175" y="3980078"/>
            <a:ext cx="7229467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YOLO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6" name="Google Shape;766;p54"/>
          <p:cNvSpPr/>
          <p:nvPr/>
        </p:nvSpPr>
        <p:spPr>
          <a:xfrm>
            <a:off x="1277815" y="4679570"/>
            <a:ext cx="7308460" cy="9827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Dự đoán trực tiếp — rất nhanh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Lý tưởng cho real-time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54"/>
          <p:cNvSpPr/>
          <p:nvPr/>
        </p:nvSpPr>
        <p:spPr>
          <a:xfrm>
            <a:off x="9777925" y="3566336"/>
            <a:ext cx="7229467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TWO-STAGE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54"/>
          <p:cNvSpPr/>
          <p:nvPr/>
        </p:nvSpPr>
        <p:spPr>
          <a:xfrm>
            <a:off x="9777925" y="3980078"/>
            <a:ext cx="7229467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Faster R-CNN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54"/>
          <p:cNvSpPr/>
          <p:nvPr/>
        </p:nvSpPr>
        <p:spPr>
          <a:xfrm>
            <a:off x="9564565" y="4679570"/>
            <a:ext cx="7308460" cy="9827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Đề xuất vùng → phân loại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Chính xác hơn, chậm hơn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55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55"/>
          <p:cNvSpPr/>
          <p:nvPr/>
        </p:nvSpPr>
        <p:spPr>
          <a:xfrm>
            <a:off x="1285792" y="876267"/>
            <a:ext cx="1908853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L09 · YOLO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55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Chia lưới, dự đoán trong một lần nhìn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55"/>
          <p:cNvSpPr/>
          <p:nvPr/>
        </p:nvSpPr>
        <p:spPr>
          <a:xfrm>
            <a:off x="1485900" y="5563444"/>
            <a:ext cx="7547818" cy="4281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"You Only Look Once" — chia ảnh thành lưới ô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55"/>
          <p:cNvSpPr/>
          <p:nvPr/>
        </p:nvSpPr>
        <p:spPr>
          <a:xfrm>
            <a:off x="1485884" y="6195881"/>
            <a:ext cx="5310324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YOLOv8 / v10: nhanh, mạnh, dễ dùng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55"/>
          <p:cNvSpPr/>
          <p:nvPr/>
        </p:nvSpPr>
        <p:spPr>
          <a:xfrm>
            <a:off x="1485884" y="6667417"/>
            <a:ext cx="7534690" cy="3599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Lựa chọn số 1 cho ứng dụng real-time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55"/>
          <p:cNvSpPr/>
          <p:nvPr/>
        </p:nvSpPr>
        <p:spPr>
          <a:xfrm>
            <a:off x="12639610" y="5457147"/>
            <a:ext cx="1173378" cy="29732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dog 0.94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56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56"/>
          <p:cNvSpPr/>
          <p:nvPr/>
        </p:nvSpPr>
        <p:spPr>
          <a:xfrm>
            <a:off x="1285792" y="876267"/>
            <a:ext cx="4530233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L09 · DETR (TRANSFORMER)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56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Detection bằng Transformer — không cần anchor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56"/>
          <p:cNvSpPr/>
          <p:nvPr/>
        </p:nvSpPr>
        <p:spPr>
          <a:xfrm>
            <a:off x="1305983" y="5905914"/>
            <a:ext cx="817033" cy="7789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ảnh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1" name="Google Shape;791;p56"/>
          <p:cNvSpPr/>
          <p:nvPr/>
        </p:nvSpPr>
        <p:spPr>
          <a:xfrm>
            <a:off x="2552700" y="6095339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56"/>
          <p:cNvSpPr/>
          <p:nvPr/>
        </p:nvSpPr>
        <p:spPr>
          <a:xfrm>
            <a:off x="3299594" y="6133489"/>
            <a:ext cx="3821096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CNN backbone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56"/>
          <p:cNvSpPr/>
          <p:nvPr/>
        </p:nvSpPr>
        <p:spPr>
          <a:xfrm>
            <a:off x="7505701" y="6095339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56"/>
          <p:cNvSpPr/>
          <p:nvPr/>
        </p:nvSpPr>
        <p:spPr>
          <a:xfrm>
            <a:off x="8252594" y="6133489"/>
            <a:ext cx="3821096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Transformer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56"/>
          <p:cNvSpPr/>
          <p:nvPr/>
        </p:nvSpPr>
        <p:spPr>
          <a:xfrm>
            <a:off x="12458701" y="6095339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56"/>
          <p:cNvSpPr/>
          <p:nvPr/>
        </p:nvSpPr>
        <p:spPr>
          <a:xfrm>
            <a:off x="14156036" y="5960732"/>
            <a:ext cx="199633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Tập hộp + nhãn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56"/>
          <p:cNvSpPr/>
          <p:nvPr/>
        </p:nvSpPr>
        <p:spPr>
          <a:xfrm>
            <a:off x="13213862" y="6293032"/>
            <a:ext cx="3804561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thiết kế gọn, hiện đại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57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57"/>
          <p:cNvSpPr/>
          <p:nvPr/>
        </p:nvSpPr>
        <p:spPr>
          <a:xfrm>
            <a:off x="1285792" y="876267"/>
            <a:ext cx="2458607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L09 · TÓM TẮT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5" name="Google Shape;805;p57"/>
          <p:cNvSpPr/>
          <p:nvPr/>
        </p:nvSpPr>
        <p:spPr>
          <a:xfrm>
            <a:off x="1047750" y="1408576"/>
            <a:ext cx="8476420" cy="6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Phát hiện vật thể: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57"/>
          <p:cNvSpPr/>
          <p:nvPr/>
        </p:nvSpPr>
        <p:spPr>
          <a:xfrm>
            <a:off x="1305983" y="2685918"/>
            <a:ext cx="1447701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bbox / IoU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57"/>
          <p:cNvSpPr/>
          <p:nvPr/>
        </p:nvSpPr>
        <p:spPr>
          <a:xfrm>
            <a:off x="3365351" y="2685918"/>
            <a:ext cx="624847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YOLO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57"/>
          <p:cNvSpPr/>
          <p:nvPr/>
        </p:nvSpPr>
        <p:spPr>
          <a:xfrm>
            <a:off x="4601865" y="2685918"/>
            <a:ext cx="1722041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Faster R-CNN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57"/>
          <p:cNvSpPr/>
          <p:nvPr/>
        </p:nvSpPr>
        <p:spPr>
          <a:xfrm>
            <a:off x="6935573" y="2685918"/>
            <a:ext cx="624847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DETR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57"/>
          <p:cNvSpPr/>
          <p:nvPr/>
        </p:nvSpPr>
        <p:spPr>
          <a:xfrm>
            <a:off x="1047750" y="3619169"/>
            <a:ext cx="1423425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57"/>
          <p:cNvSpPr/>
          <p:nvPr/>
        </p:nvSpPr>
        <p:spPr>
          <a:xfrm>
            <a:off x="2604492" y="3508044"/>
            <a:ext cx="469685" cy="583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57"/>
          <p:cNvSpPr/>
          <p:nvPr/>
        </p:nvSpPr>
        <p:spPr>
          <a:xfrm>
            <a:off x="3207494" y="3531857"/>
            <a:ext cx="14453739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Segmentation — phân vùng ảnh tới từng pixel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58"/>
          <p:cNvSpPr/>
          <p:nvPr/>
        </p:nvSpPr>
        <p:spPr>
          <a:xfrm>
            <a:off x="12771108" y="3390925"/>
            <a:ext cx="4603218" cy="35432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0"/>
              <a:buFont typeface="Arial"/>
              <a:buNone/>
            </a:pPr>
            <a:r>
              <a:rPr b="1" i="0" lang="en-US" sz="3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3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58"/>
          <p:cNvSpPr/>
          <p:nvPr/>
        </p:nvSpPr>
        <p:spPr>
          <a:xfrm>
            <a:off x="1047750" y="4240196"/>
            <a:ext cx="95250" cy="95250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58"/>
          <p:cNvSpPr/>
          <p:nvPr/>
        </p:nvSpPr>
        <p:spPr>
          <a:xfrm>
            <a:off x="1295384" y="4137009"/>
            <a:ext cx="647279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LECTURE 10 · ~9 PHÚT · 6 SLIDES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58"/>
          <p:cNvSpPr/>
          <p:nvPr/>
        </p:nvSpPr>
        <p:spPr>
          <a:xfrm>
            <a:off x="1047750" y="4724384"/>
            <a:ext cx="9889185" cy="8382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 Segmentation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58"/>
          <p:cNvSpPr/>
          <p:nvPr/>
        </p:nvSpPr>
        <p:spPr>
          <a:xfrm>
            <a:off x="1047750" y="5848284"/>
            <a:ext cx="1667827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U-Net · Mask R-CNN · SAM — phân loại từng pixel, chi tiết nhất trong CV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59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59"/>
          <p:cNvSpPr/>
          <p:nvPr/>
        </p:nvSpPr>
        <p:spPr>
          <a:xfrm>
            <a:off x="1285792" y="876267"/>
            <a:ext cx="5096565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L10 · CÁC LOẠI SEGMENTATION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59"/>
          <p:cNvSpPr/>
          <p:nvPr/>
        </p:nvSpPr>
        <p:spPr>
          <a:xfrm>
            <a:off x="1047750" y="1408576"/>
            <a:ext cx="8476420" cy="6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Khác nhau ở mức độ chi tiết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59"/>
          <p:cNvSpPr/>
          <p:nvPr/>
        </p:nvSpPr>
        <p:spPr>
          <a:xfrm>
            <a:off x="1491175" y="2966310"/>
            <a:ext cx="7229467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SEMANTIC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59"/>
          <p:cNvSpPr/>
          <p:nvPr/>
        </p:nvSpPr>
        <p:spPr>
          <a:xfrm>
            <a:off x="1491175" y="3380052"/>
            <a:ext cx="7229467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Phân vùng theo lớp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59"/>
          <p:cNvSpPr/>
          <p:nvPr/>
        </p:nvSpPr>
        <p:spPr>
          <a:xfrm>
            <a:off x="1277815" y="4079545"/>
            <a:ext cx="7308460" cy="9827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Mọi "người" cùng một màu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Không tách từng cá thể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59"/>
          <p:cNvSpPr/>
          <p:nvPr/>
        </p:nvSpPr>
        <p:spPr>
          <a:xfrm>
            <a:off x="9777925" y="2966310"/>
            <a:ext cx="7229467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INSTANCE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59"/>
          <p:cNvSpPr/>
          <p:nvPr/>
        </p:nvSpPr>
        <p:spPr>
          <a:xfrm>
            <a:off x="9777925" y="3380052"/>
            <a:ext cx="7229467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Phân vùng theo từng vật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6" name="Google Shape;836;p59"/>
          <p:cNvSpPr/>
          <p:nvPr/>
        </p:nvSpPr>
        <p:spPr>
          <a:xfrm>
            <a:off x="9564565" y="4079545"/>
            <a:ext cx="7308460" cy="9827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Người 1, người 2… tách riêng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Chi tiết hơn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60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3" name="Google Shape;843;p60"/>
          <p:cNvSpPr/>
          <p:nvPr/>
        </p:nvSpPr>
        <p:spPr>
          <a:xfrm>
            <a:off x="1285792" y="876267"/>
            <a:ext cx="2092077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L10 · U-NET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60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Encoder–decoder hình chữ U — chuẩn vàng ảnh y tế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60"/>
          <p:cNvSpPr/>
          <p:nvPr/>
        </p:nvSpPr>
        <p:spPr>
          <a:xfrm>
            <a:off x="5657949" y="5088351"/>
            <a:ext cx="1036307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Encoder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60"/>
          <p:cNvSpPr/>
          <p:nvPr/>
        </p:nvSpPr>
        <p:spPr>
          <a:xfrm>
            <a:off x="5619849" y="5420651"/>
            <a:ext cx="1036307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thu nhỏ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60"/>
          <p:cNvSpPr/>
          <p:nvPr/>
        </p:nvSpPr>
        <p:spPr>
          <a:xfrm>
            <a:off x="7420223" y="5839801"/>
            <a:ext cx="213271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60"/>
          <p:cNvSpPr/>
          <p:nvPr/>
        </p:nvSpPr>
        <p:spPr>
          <a:xfrm>
            <a:off x="8397611" y="6506551"/>
            <a:ext cx="1447635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Bottleneck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60"/>
          <p:cNvSpPr/>
          <p:nvPr/>
        </p:nvSpPr>
        <p:spPr>
          <a:xfrm>
            <a:off x="10609362" y="5839801"/>
            <a:ext cx="213271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↑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60"/>
          <p:cNvSpPr/>
          <p:nvPr/>
        </p:nvSpPr>
        <p:spPr>
          <a:xfrm>
            <a:off x="11647373" y="5088351"/>
            <a:ext cx="1036307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Decoder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60"/>
          <p:cNvSpPr/>
          <p:nvPr/>
        </p:nvSpPr>
        <p:spPr>
          <a:xfrm>
            <a:off x="11586700" y="5420651"/>
            <a:ext cx="1081451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phóng lại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60"/>
          <p:cNvSpPr/>
          <p:nvPr/>
        </p:nvSpPr>
        <p:spPr>
          <a:xfrm>
            <a:off x="804863" y="7393368"/>
            <a:ext cx="1667827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┄ skip connection nối encoder ↔ decoder, giữ chi tiết không gian.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61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61"/>
          <p:cNvSpPr/>
          <p:nvPr/>
        </p:nvSpPr>
        <p:spPr>
          <a:xfrm>
            <a:off x="1285792" y="876267"/>
            <a:ext cx="3020212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L10 · MASK R-CNN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61"/>
          <p:cNvSpPr/>
          <p:nvPr/>
        </p:nvSpPr>
        <p:spPr>
          <a:xfrm>
            <a:off x="1047750" y="1408576"/>
            <a:ext cx="8476420" cy="6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Detection + mask cho từng vật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61"/>
          <p:cNvSpPr/>
          <p:nvPr/>
        </p:nvSpPr>
        <p:spPr>
          <a:xfrm>
            <a:off x="1305983" y="5237097"/>
            <a:ext cx="912283" cy="8741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ảnh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61"/>
          <p:cNvSpPr/>
          <p:nvPr/>
        </p:nvSpPr>
        <p:spPr>
          <a:xfrm>
            <a:off x="2647950" y="5474147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61"/>
          <p:cNvSpPr/>
          <p:nvPr/>
        </p:nvSpPr>
        <p:spPr>
          <a:xfrm>
            <a:off x="5940227" y="5339540"/>
            <a:ext cx="131056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Phát hiện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61"/>
          <p:cNvSpPr/>
          <p:nvPr/>
        </p:nvSpPr>
        <p:spPr>
          <a:xfrm>
            <a:off x="3365550" y="5671840"/>
            <a:ext cx="6383801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bounding box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61"/>
          <p:cNvSpPr/>
          <p:nvPr/>
        </p:nvSpPr>
        <p:spPr>
          <a:xfrm>
            <a:off x="10105067" y="5474147"/>
            <a:ext cx="287519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+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61"/>
          <p:cNvSpPr/>
          <p:nvPr/>
        </p:nvSpPr>
        <p:spPr>
          <a:xfrm>
            <a:off x="12972521" y="5339540"/>
            <a:ext cx="1859161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Mask từng vật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61"/>
          <p:cNvSpPr/>
          <p:nvPr/>
        </p:nvSpPr>
        <p:spPr>
          <a:xfrm>
            <a:off x="10672100" y="5671840"/>
            <a:ext cx="6383886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vùng pixel chính xác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61"/>
          <p:cNvSpPr/>
          <p:nvPr/>
        </p:nvSpPr>
        <p:spPr>
          <a:xfrm>
            <a:off x="804863" y="6731414"/>
            <a:ext cx="16678276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Kết hợp detection và segmentation trong một model.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62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62"/>
          <p:cNvSpPr/>
          <p:nvPr/>
        </p:nvSpPr>
        <p:spPr>
          <a:xfrm>
            <a:off x="1285792" y="876267"/>
            <a:ext cx="5285286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L10 · SEGMENT ANYTHING (SAM)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62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nền tảng phân vùng "mọi thứ"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62"/>
          <p:cNvSpPr/>
          <p:nvPr/>
        </p:nvSpPr>
        <p:spPr>
          <a:xfrm>
            <a:off x="1485900" y="5563444"/>
            <a:ext cx="7547818" cy="4281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Ít / không cần train thêm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62"/>
          <p:cNvSpPr/>
          <p:nvPr/>
        </p:nvSpPr>
        <p:spPr>
          <a:xfrm>
            <a:off x="1485884" y="6195881"/>
            <a:ext cx="4844824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Chỉ cần click hoặc gợi ý là ra mask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62"/>
          <p:cNvSpPr/>
          <p:nvPr/>
        </p:nvSpPr>
        <p:spPr>
          <a:xfrm>
            <a:off x="1485884" y="6667417"/>
            <a:ext cx="7534690" cy="3599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Bước nhảy lớn: segmentation không cần dữ liệu nhãn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62"/>
          <p:cNvSpPr/>
          <p:nvPr/>
        </p:nvSpPr>
        <p:spPr>
          <a:xfrm>
            <a:off x="9730067" y="5763039"/>
            <a:ext cx="3056984" cy="10646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ảnh + 1 click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62"/>
          <p:cNvSpPr/>
          <p:nvPr/>
        </p:nvSpPr>
        <p:spPr>
          <a:xfrm>
            <a:off x="13201684" y="6095339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62"/>
          <p:cNvSpPr/>
          <p:nvPr/>
        </p:nvSpPr>
        <p:spPr>
          <a:xfrm>
            <a:off x="13959722" y="5686839"/>
            <a:ext cx="3055823" cy="1217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mask tức thì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63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9" name="Google Shape;889;p63"/>
          <p:cNvSpPr/>
          <p:nvPr/>
        </p:nvSpPr>
        <p:spPr>
          <a:xfrm>
            <a:off x="1285792" y="876267"/>
            <a:ext cx="2458607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L10 · TÓM TẮT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0" name="Google Shape;890;p63"/>
          <p:cNvSpPr/>
          <p:nvPr/>
        </p:nvSpPr>
        <p:spPr>
          <a:xfrm>
            <a:off x="1047750" y="1408576"/>
            <a:ext cx="8476420" cy="6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Phân vùng tới từng pixel: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63"/>
          <p:cNvSpPr/>
          <p:nvPr/>
        </p:nvSpPr>
        <p:spPr>
          <a:xfrm>
            <a:off x="1305983" y="2685918"/>
            <a:ext cx="2699535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semantic / instance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63"/>
          <p:cNvSpPr/>
          <p:nvPr/>
        </p:nvSpPr>
        <p:spPr>
          <a:xfrm>
            <a:off x="4599715" y="2685918"/>
            <a:ext cx="761934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U-Net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3" name="Google Shape;893;p63"/>
          <p:cNvSpPr/>
          <p:nvPr/>
        </p:nvSpPr>
        <p:spPr>
          <a:xfrm>
            <a:off x="5973316" y="2685918"/>
            <a:ext cx="1447701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Mask R-CNN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63"/>
          <p:cNvSpPr/>
          <p:nvPr/>
        </p:nvSpPr>
        <p:spPr>
          <a:xfrm>
            <a:off x="8032684" y="2685918"/>
            <a:ext cx="487677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5" name="Google Shape;895;p63"/>
          <p:cNvSpPr/>
          <p:nvPr/>
        </p:nvSpPr>
        <p:spPr>
          <a:xfrm>
            <a:off x="1047750" y="3619169"/>
            <a:ext cx="1423425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6" name="Google Shape;896;p63"/>
          <p:cNvSpPr/>
          <p:nvPr/>
        </p:nvSpPr>
        <p:spPr>
          <a:xfrm>
            <a:off x="2604492" y="3508044"/>
            <a:ext cx="469685" cy="583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63"/>
          <p:cNvSpPr/>
          <p:nvPr/>
        </p:nvSpPr>
        <p:spPr>
          <a:xfrm>
            <a:off x="3207494" y="3531857"/>
            <a:ext cx="14453739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OCR — đọc chữ trong ảnh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64"/>
          <p:cNvSpPr/>
          <p:nvPr/>
        </p:nvSpPr>
        <p:spPr>
          <a:xfrm>
            <a:off x="13629846" y="3390925"/>
            <a:ext cx="3718717" cy="35432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0"/>
              <a:buFont typeface="Arial"/>
              <a:buNone/>
            </a:pPr>
            <a:r>
              <a:rPr b="1" i="0" lang="en-US" sz="3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3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64"/>
          <p:cNvSpPr/>
          <p:nvPr/>
        </p:nvSpPr>
        <p:spPr>
          <a:xfrm>
            <a:off x="1047750" y="4240196"/>
            <a:ext cx="95250" cy="95250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64"/>
          <p:cNvSpPr/>
          <p:nvPr/>
        </p:nvSpPr>
        <p:spPr>
          <a:xfrm>
            <a:off x="1295384" y="4137009"/>
            <a:ext cx="647279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LECTURE 11 · ~8 PHÚT · 6 SLIDES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64"/>
          <p:cNvSpPr/>
          <p:nvPr/>
        </p:nvSpPr>
        <p:spPr>
          <a:xfrm>
            <a:off x="1047750" y="4724384"/>
            <a:ext cx="9889185" cy="8382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OCR — đọc chữ từ ảnh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7" name="Google Shape;907;p64"/>
          <p:cNvSpPr/>
          <p:nvPr/>
        </p:nvSpPr>
        <p:spPr>
          <a:xfrm>
            <a:off x="1047750" y="5848284"/>
            <a:ext cx="1667827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Tesseract · EasyOCR · PaddleOCR · KIE — hoá đơn, CMND, hợp đồng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2" name="Shape 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Google Shape;913;p65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4" name="Google Shape;914;p65"/>
          <p:cNvSpPr/>
          <p:nvPr/>
        </p:nvSpPr>
        <p:spPr>
          <a:xfrm>
            <a:off x="1285792" y="876267"/>
            <a:ext cx="2831406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L11 · OCR LÀ GÌ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5" name="Google Shape;915;p65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Hai bước: tìm chữ ở đâu , đọc chữ gì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65"/>
          <p:cNvSpPr/>
          <p:nvPr/>
        </p:nvSpPr>
        <p:spPr>
          <a:xfrm>
            <a:off x="1305983" y="5584776"/>
            <a:ext cx="1007533" cy="7789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ảnh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65"/>
          <p:cNvSpPr/>
          <p:nvPr/>
        </p:nvSpPr>
        <p:spPr>
          <a:xfrm>
            <a:off x="2743200" y="5774201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65"/>
          <p:cNvSpPr/>
          <p:nvPr/>
        </p:nvSpPr>
        <p:spPr>
          <a:xfrm>
            <a:off x="6179758" y="5639594"/>
            <a:ext cx="899136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Detect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65"/>
          <p:cNvSpPr/>
          <p:nvPr/>
        </p:nvSpPr>
        <p:spPr>
          <a:xfrm>
            <a:off x="3462643" y="5971894"/>
            <a:ext cx="6257249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vùng chứa text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65"/>
          <p:cNvSpPr/>
          <p:nvPr/>
        </p:nvSpPr>
        <p:spPr>
          <a:xfrm>
            <a:off x="10077450" y="5774201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1" name="Google Shape;921;p65"/>
          <p:cNvSpPr/>
          <p:nvPr/>
        </p:nvSpPr>
        <p:spPr>
          <a:xfrm>
            <a:off x="13308295" y="5639594"/>
            <a:ext cx="1310563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Recognize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65"/>
          <p:cNvSpPr/>
          <p:nvPr/>
        </p:nvSpPr>
        <p:spPr>
          <a:xfrm>
            <a:off x="10796893" y="5971894"/>
            <a:ext cx="6257249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đọc ra ký tự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65"/>
          <p:cNvSpPr/>
          <p:nvPr/>
        </p:nvSpPr>
        <p:spPr>
          <a:xfrm>
            <a:off x="804863" y="6983843"/>
            <a:ext cx="16678276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Optical Character Recognition — nhận dạng ký tự quang học.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66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p66"/>
          <p:cNvSpPr/>
          <p:nvPr/>
        </p:nvSpPr>
        <p:spPr>
          <a:xfrm>
            <a:off x="1285792" y="876267"/>
            <a:ext cx="3208933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L11 · CÔNG CỤ OCR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1" name="Google Shape;931;p66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Chọn công cụ theo hỗ trợ tiếng Việt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66"/>
          <p:cNvSpPr/>
          <p:nvPr/>
        </p:nvSpPr>
        <p:spPr>
          <a:xfrm>
            <a:off x="1414942" y="5881192"/>
            <a:ext cx="4606795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Tesseract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3" name="Google Shape;933;p66"/>
          <p:cNvSpPr/>
          <p:nvPr/>
        </p:nvSpPr>
        <p:spPr>
          <a:xfrm>
            <a:off x="1414942" y="6337267"/>
            <a:ext cx="4606795" cy="3723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Lâu đời, miễn phí, đa ngôn ngữ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66"/>
          <p:cNvSpPr/>
          <p:nvPr/>
        </p:nvSpPr>
        <p:spPr>
          <a:xfrm>
            <a:off x="6907692" y="5881192"/>
            <a:ext cx="4606795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EasyOCR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5" name="Google Shape;935;p66"/>
          <p:cNvSpPr/>
          <p:nvPr/>
        </p:nvSpPr>
        <p:spPr>
          <a:xfrm>
            <a:off x="6907692" y="6337267"/>
            <a:ext cx="4606795" cy="3723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Dễ dùng, nhiều ngôn ngữ sẵn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6" name="Google Shape;936;p66"/>
          <p:cNvSpPr/>
          <p:nvPr/>
        </p:nvSpPr>
        <p:spPr>
          <a:xfrm>
            <a:off x="12400443" y="5881192"/>
            <a:ext cx="4606795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PaddleOCR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66"/>
          <p:cNvSpPr/>
          <p:nvPr/>
        </p:nvSpPr>
        <p:spPr>
          <a:xfrm>
            <a:off x="12400443" y="6337267"/>
            <a:ext cx="4606795" cy="37238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Mạnh, hỗ trợ tốt dấu tiếng Việt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67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67"/>
          <p:cNvSpPr/>
          <p:nvPr/>
        </p:nvSpPr>
        <p:spPr>
          <a:xfrm>
            <a:off x="1285792" y="876267"/>
            <a:ext cx="7172834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L11 · KIE — KEY INFORMATION EXTRACTION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67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Không chỉ đọc, mà hiểu cấu trúc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67"/>
          <p:cNvSpPr/>
          <p:nvPr/>
        </p:nvSpPr>
        <p:spPr>
          <a:xfrm>
            <a:off x="3847220" y="5620164"/>
            <a:ext cx="2154343" cy="1350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hoá đơn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7" name="Google Shape;947;p67"/>
          <p:cNvSpPr/>
          <p:nvPr/>
        </p:nvSpPr>
        <p:spPr>
          <a:xfrm>
            <a:off x="10664197" y="4099388"/>
            <a:ext cx="172207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Tên cửa hàng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67"/>
          <p:cNvSpPr/>
          <p:nvPr/>
        </p:nvSpPr>
        <p:spPr>
          <a:xfrm>
            <a:off x="9712427" y="4431689"/>
            <a:ext cx="3549414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"Cửa hàng ABC"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67"/>
          <p:cNvSpPr/>
          <p:nvPr/>
        </p:nvSpPr>
        <p:spPr>
          <a:xfrm>
            <a:off x="9426876" y="5037469"/>
            <a:ext cx="4120515" cy="399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0" name="Google Shape;950;p67"/>
          <p:cNvSpPr/>
          <p:nvPr/>
        </p:nvSpPr>
        <p:spPr>
          <a:xfrm>
            <a:off x="11007080" y="5706236"/>
            <a:ext cx="1036307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Số tiền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67"/>
          <p:cNvSpPr/>
          <p:nvPr/>
        </p:nvSpPr>
        <p:spPr>
          <a:xfrm>
            <a:off x="9712427" y="6038536"/>
            <a:ext cx="3549414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"450.000 ₫"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67"/>
          <p:cNvSpPr/>
          <p:nvPr/>
        </p:nvSpPr>
        <p:spPr>
          <a:xfrm>
            <a:off x="9426876" y="6644316"/>
            <a:ext cx="4120515" cy="399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67"/>
          <p:cNvSpPr/>
          <p:nvPr/>
        </p:nvSpPr>
        <p:spPr>
          <a:xfrm>
            <a:off x="11212795" y="7313084"/>
            <a:ext cx="62487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Ngày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4" name="Google Shape;954;p67"/>
          <p:cNvSpPr/>
          <p:nvPr/>
        </p:nvSpPr>
        <p:spPr>
          <a:xfrm>
            <a:off x="9712427" y="7645384"/>
            <a:ext cx="3549414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"29/05/2026"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67"/>
          <p:cNvSpPr/>
          <p:nvPr/>
        </p:nvSpPr>
        <p:spPr>
          <a:xfrm>
            <a:off x="9486884" y="8403498"/>
            <a:ext cx="7985968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Đây là phần tạo ra giá trị kinh doanh.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68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68"/>
          <p:cNvSpPr/>
          <p:nvPr/>
        </p:nvSpPr>
        <p:spPr>
          <a:xfrm>
            <a:off x="1285792" y="876267"/>
            <a:ext cx="4907759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L11 · PIPELINE DOCUMENT AI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68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Từ ảnh tài liệu đến dữ liệu có cấu trúc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4" name="Google Shape;964;p68"/>
          <p:cNvSpPr/>
          <p:nvPr/>
        </p:nvSpPr>
        <p:spPr>
          <a:xfrm>
            <a:off x="1274359" y="5812350"/>
            <a:ext cx="2925099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Detect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68"/>
          <p:cNvSpPr/>
          <p:nvPr/>
        </p:nvSpPr>
        <p:spPr>
          <a:xfrm>
            <a:off x="4597516" y="5774201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6" name="Google Shape;966;p68"/>
          <p:cNvSpPr/>
          <p:nvPr/>
        </p:nvSpPr>
        <p:spPr>
          <a:xfrm>
            <a:off x="5357457" y="5812350"/>
            <a:ext cx="2925184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OCR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68"/>
          <p:cNvSpPr/>
          <p:nvPr/>
        </p:nvSpPr>
        <p:spPr>
          <a:xfrm>
            <a:off x="8680699" y="5774201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68"/>
          <p:cNvSpPr/>
          <p:nvPr/>
        </p:nvSpPr>
        <p:spPr>
          <a:xfrm>
            <a:off x="9440641" y="5812350"/>
            <a:ext cx="2925099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KIE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68"/>
          <p:cNvSpPr/>
          <p:nvPr/>
        </p:nvSpPr>
        <p:spPr>
          <a:xfrm>
            <a:off x="12763799" y="5774201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0" name="Google Shape;970;p68"/>
          <p:cNvSpPr/>
          <p:nvPr/>
        </p:nvSpPr>
        <p:spPr>
          <a:xfrm>
            <a:off x="14034327" y="5639594"/>
            <a:ext cx="2544928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Output có cấu trúc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68"/>
          <p:cNvSpPr/>
          <p:nvPr/>
        </p:nvSpPr>
        <p:spPr>
          <a:xfrm>
            <a:off x="13523536" y="5971894"/>
            <a:ext cx="3490311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JSON / database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2" name="Google Shape;972;p68"/>
          <p:cNvSpPr/>
          <p:nvPr/>
        </p:nvSpPr>
        <p:spPr>
          <a:xfrm>
            <a:off x="804863" y="6863375"/>
            <a:ext cx="16678276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Liên hệ trực tiếp tới Capstone OCR hoá đơn.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69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69"/>
          <p:cNvSpPr/>
          <p:nvPr/>
        </p:nvSpPr>
        <p:spPr>
          <a:xfrm>
            <a:off x="1285792" y="876267"/>
            <a:ext cx="2458607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L11 · TÓM TẮT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69"/>
          <p:cNvSpPr/>
          <p:nvPr/>
        </p:nvSpPr>
        <p:spPr>
          <a:xfrm>
            <a:off x="1047750" y="1408576"/>
            <a:ext cx="8476420" cy="6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Đọc &amp; hiểu tài liệu: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69"/>
          <p:cNvSpPr/>
          <p:nvPr/>
        </p:nvSpPr>
        <p:spPr>
          <a:xfrm>
            <a:off x="1305983" y="2685918"/>
            <a:ext cx="487677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OCR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69"/>
          <p:cNvSpPr/>
          <p:nvPr/>
        </p:nvSpPr>
        <p:spPr>
          <a:xfrm>
            <a:off x="2405327" y="2685918"/>
            <a:ext cx="1310531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PaddleOCR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69"/>
          <p:cNvSpPr/>
          <p:nvPr/>
        </p:nvSpPr>
        <p:spPr>
          <a:xfrm>
            <a:off x="4327525" y="2685918"/>
            <a:ext cx="487677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KIE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69"/>
          <p:cNvSpPr/>
          <p:nvPr/>
        </p:nvSpPr>
        <p:spPr>
          <a:xfrm>
            <a:off x="5426869" y="2685918"/>
            <a:ext cx="1584871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Document 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69"/>
          <p:cNvSpPr/>
          <p:nvPr/>
        </p:nvSpPr>
        <p:spPr>
          <a:xfrm>
            <a:off x="1047750" y="3619169"/>
            <a:ext cx="1423425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69"/>
          <p:cNvSpPr/>
          <p:nvPr/>
        </p:nvSpPr>
        <p:spPr>
          <a:xfrm>
            <a:off x="2604492" y="3508044"/>
            <a:ext cx="469685" cy="583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69"/>
          <p:cNvSpPr/>
          <p:nvPr/>
        </p:nvSpPr>
        <p:spPr>
          <a:xfrm>
            <a:off x="3207494" y="3531857"/>
            <a:ext cx="14453739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Nhận diện khuôn mặt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70"/>
          <p:cNvSpPr/>
          <p:nvPr/>
        </p:nvSpPr>
        <p:spPr>
          <a:xfrm>
            <a:off x="13007662" y="3390925"/>
            <a:ext cx="4359567" cy="35432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0"/>
              <a:buFont typeface="Arial"/>
              <a:buNone/>
            </a:pPr>
            <a:r>
              <a:rPr b="1" i="0" lang="en-US" sz="3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3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70"/>
          <p:cNvSpPr/>
          <p:nvPr/>
        </p:nvSpPr>
        <p:spPr>
          <a:xfrm>
            <a:off x="1047750" y="4240196"/>
            <a:ext cx="95250" cy="95250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70"/>
          <p:cNvSpPr/>
          <p:nvPr/>
        </p:nvSpPr>
        <p:spPr>
          <a:xfrm>
            <a:off x="1295384" y="4137009"/>
            <a:ext cx="647279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LECTURE 12 · ~7 PHÚT · 5 SLIDES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70"/>
          <p:cNvSpPr/>
          <p:nvPr/>
        </p:nvSpPr>
        <p:spPr>
          <a:xfrm>
            <a:off x="1047750" y="4724384"/>
            <a:ext cx="9889185" cy="8382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Nhận diện khuôn mặt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70"/>
          <p:cNvSpPr/>
          <p:nvPr/>
        </p:nvSpPr>
        <p:spPr>
          <a:xfrm>
            <a:off x="1047750" y="5848284"/>
            <a:ext cx="1667827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FaceNet &amp; ArcFace — từ mở khoá điện thoại tới chấm công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71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71"/>
          <p:cNvSpPr/>
          <p:nvPr/>
        </p:nvSpPr>
        <p:spPr>
          <a:xfrm>
            <a:off x="1285792" y="876267"/>
            <a:ext cx="2642686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L12 · BÀI TOÁN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5" name="Google Shape;1005;p71"/>
          <p:cNvSpPr/>
          <p:nvPr/>
        </p:nvSpPr>
        <p:spPr>
          <a:xfrm>
            <a:off x="1047750" y="1408576"/>
            <a:ext cx="8476420" cy="6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Hai câu hỏi khác nhau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71"/>
          <p:cNvSpPr/>
          <p:nvPr/>
        </p:nvSpPr>
        <p:spPr>
          <a:xfrm>
            <a:off x="1491175" y="2966310"/>
            <a:ext cx="7229467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VERIFICATION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71"/>
          <p:cNvSpPr/>
          <p:nvPr/>
        </p:nvSpPr>
        <p:spPr>
          <a:xfrm>
            <a:off x="1491175" y="3380052"/>
            <a:ext cx="7229467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Có phải cùng một người?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71"/>
          <p:cNvSpPr/>
          <p:nvPr/>
        </p:nvSpPr>
        <p:spPr>
          <a:xfrm>
            <a:off x="1277815" y="4079545"/>
            <a:ext cx="7308460" cy="9827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 1–1: mặt này = mặt kia?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VD: mở khoá điện thoại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71"/>
          <p:cNvSpPr/>
          <p:nvPr/>
        </p:nvSpPr>
        <p:spPr>
          <a:xfrm>
            <a:off x="9777925" y="2966310"/>
            <a:ext cx="7229467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IDENTIFICATION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71"/>
          <p:cNvSpPr/>
          <p:nvPr/>
        </p:nvSpPr>
        <p:spPr>
          <a:xfrm>
            <a:off x="9777925" y="3380052"/>
            <a:ext cx="7229467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Đây là ai?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71"/>
          <p:cNvSpPr/>
          <p:nvPr/>
        </p:nvSpPr>
        <p:spPr>
          <a:xfrm>
            <a:off x="9564565" y="4079545"/>
            <a:ext cx="7308460" cy="9827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 1–N: tìm trong cơ sở dữ liệu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VD: chấm công, an ninh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6" name="Shape 1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Google Shape;1017;p72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8" name="Google Shape;1018;p72"/>
          <p:cNvSpPr/>
          <p:nvPr/>
        </p:nvSpPr>
        <p:spPr>
          <a:xfrm>
            <a:off x="1285792" y="876267"/>
            <a:ext cx="3775180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L12 · FACE EMBEDDING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72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Biến khuôn mặt thành một vector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72"/>
          <p:cNvSpPr/>
          <p:nvPr/>
        </p:nvSpPr>
        <p:spPr>
          <a:xfrm>
            <a:off x="1305983" y="5489526"/>
            <a:ext cx="1007533" cy="969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khuôn mặt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72"/>
          <p:cNvSpPr/>
          <p:nvPr/>
        </p:nvSpPr>
        <p:spPr>
          <a:xfrm>
            <a:off x="2743200" y="5774201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72"/>
          <p:cNvSpPr/>
          <p:nvPr/>
        </p:nvSpPr>
        <p:spPr>
          <a:xfrm>
            <a:off x="3458715" y="5812350"/>
            <a:ext cx="5975799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Model embedding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3" name="Google Shape;1023;p72"/>
          <p:cNvSpPr/>
          <p:nvPr/>
        </p:nvSpPr>
        <p:spPr>
          <a:xfrm>
            <a:off x="9788145" y="5774201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4" name="Google Shape;1024;p72"/>
          <p:cNvSpPr/>
          <p:nvPr/>
        </p:nvSpPr>
        <p:spPr>
          <a:xfrm>
            <a:off x="12546460" y="5639594"/>
            <a:ext cx="2544928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[ 0.12, −0.84, … ]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72"/>
          <p:cNvSpPr/>
          <p:nvPr/>
        </p:nvSpPr>
        <p:spPr>
          <a:xfrm>
            <a:off x="10503248" y="5971894"/>
            <a:ext cx="6555234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vector đặc trưng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72"/>
          <p:cNvSpPr/>
          <p:nvPr/>
        </p:nvSpPr>
        <p:spPr>
          <a:xfrm>
            <a:off x="804863" y="7079093"/>
            <a:ext cx="16678276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So sánh hai mặt = đo khoảng cách hai vector — nối lại cosine similarity ở Section 4.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73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73"/>
          <p:cNvSpPr/>
          <p:nvPr/>
        </p:nvSpPr>
        <p:spPr>
          <a:xfrm>
            <a:off x="1285792" y="876267"/>
            <a:ext cx="4341513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L12 · FACENET &amp; ARCFACE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73"/>
          <p:cNvSpPr/>
          <p:nvPr/>
        </p:nvSpPr>
        <p:spPr>
          <a:xfrm>
            <a:off x="1047750" y="1408576"/>
            <a:ext cx="8476420" cy="6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Học embedding phân biệt tốt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5" name="Google Shape;1035;p73"/>
          <p:cNvSpPr/>
          <p:nvPr/>
        </p:nvSpPr>
        <p:spPr>
          <a:xfrm>
            <a:off x="1485900" y="5263390"/>
            <a:ext cx="7547818" cy="4281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Cùng người → vector gần nhau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6" name="Google Shape;1036;p73"/>
          <p:cNvSpPr/>
          <p:nvPr/>
        </p:nvSpPr>
        <p:spPr>
          <a:xfrm>
            <a:off x="1485884" y="5895826"/>
            <a:ext cx="4136100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Khác người → vector xa nhau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7" name="Google Shape;1037;p73"/>
          <p:cNvSpPr/>
          <p:nvPr/>
        </p:nvSpPr>
        <p:spPr>
          <a:xfrm>
            <a:off x="1485884" y="6367364"/>
            <a:ext cx="7534690" cy="3599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ArcFace dùng biên độ góc để tách lớp rõ hơn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8" name="Google Shape;1038;p73"/>
          <p:cNvSpPr/>
          <p:nvPr/>
        </p:nvSpPr>
        <p:spPr>
          <a:xfrm>
            <a:off x="9995934" y="7083889"/>
            <a:ext cx="6735267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Các cụm tách biệt trong không gian embedding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74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74"/>
          <p:cNvSpPr/>
          <p:nvPr/>
        </p:nvSpPr>
        <p:spPr>
          <a:xfrm>
            <a:off x="1285792" y="876267"/>
            <a:ext cx="2458607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L12 · TÓM TẮT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74"/>
          <p:cNvSpPr/>
          <p:nvPr/>
        </p:nvSpPr>
        <p:spPr>
          <a:xfrm>
            <a:off x="1047750" y="1408576"/>
            <a:ext cx="8476420" cy="6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Nhận diện khuôn mặt: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74"/>
          <p:cNvSpPr/>
          <p:nvPr/>
        </p:nvSpPr>
        <p:spPr>
          <a:xfrm>
            <a:off x="1305983" y="2685918"/>
            <a:ext cx="4112215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verification / identification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8" name="Google Shape;1048;p74"/>
          <p:cNvSpPr/>
          <p:nvPr/>
        </p:nvSpPr>
        <p:spPr>
          <a:xfrm>
            <a:off x="5971249" y="2685918"/>
            <a:ext cx="1310531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embedding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74"/>
          <p:cNvSpPr/>
          <p:nvPr/>
        </p:nvSpPr>
        <p:spPr>
          <a:xfrm>
            <a:off x="7893448" y="2685918"/>
            <a:ext cx="1036274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ArcFace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0" name="Google Shape;1050;p74"/>
          <p:cNvSpPr/>
          <p:nvPr/>
        </p:nvSpPr>
        <p:spPr>
          <a:xfrm>
            <a:off x="1047750" y="3619169"/>
            <a:ext cx="1423425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74"/>
          <p:cNvSpPr/>
          <p:nvPr/>
        </p:nvSpPr>
        <p:spPr>
          <a:xfrm>
            <a:off x="2604492" y="3508044"/>
            <a:ext cx="469685" cy="583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2" name="Google Shape;1052;p74"/>
          <p:cNvSpPr/>
          <p:nvPr/>
        </p:nvSpPr>
        <p:spPr>
          <a:xfrm>
            <a:off x="3207494" y="3531857"/>
            <a:ext cx="14453739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Vision đa phương thức — nối ảnh với ngôn ngữ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75"/>
          <p:cNvSpPr/>
          <p:nvPr/>
        </p:nvSpPr>
        <p:spPr>
          <a:xfrm>
            <a:off x="12946311" y="3390925"/>
            <a:ext cx="4422758" cy="35432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0"/>
              <a:buFont typeface="Arial"/>
              <a:buNone/>
            </a:pPr>
            <a:r>
              <a:rPr b="1" i="0" lang="en-US" sz="3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3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75"/>
          <p:cNvSpPr/>
          <p:nvPr/>
        </p:nvSpPr>
        <p:spPr>
          <a:xfrm>
            <a:off x="1047750" y="4240196"/>
            <a:ext cx="95250" cy="95250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75"/>
          <p:cNvSpPr/>
          <p:nvPr/>
        </p:nvSpPr>
        <p:spPr>
          <a:xfrm>
            <a:off x="1295384" y="4137009"/>
            <a:ext cx="647279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LECTURE 13 · ~7 PHÚT · 5 SLIDES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75"/>
          <p:cNvSpPr/>
          <p:nvPr/>
        </p:nvSpPr>
        <p:spPr>
          <a:xfrm>
            <a:off x="1047750" y="4724384"/>
            <a:ext cx="9889185" cy="8382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Vision đa phương thức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2" name="Google Shape;1062;p75"/>
          <p:cNvSpPr/>
          <p:nvPr/>
        </p:nvSpPr>
        <p:spPr>
          <a:xfrm>
            <a:off x="1047750" y="5848284"/>
            <a:ext cx="1667827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CLIP · BLIP — cầu nối giữa thị giác và ngôn ngữ, nền của GenAI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76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9" name="Google Shape;1069;p76"/>
          <p:cNvSpPr/>
          <p:nvPr/>
        </p:nvSpPr>
        <p:spPr>
          <a:xfrm>
            <a:off x="1285792" y="876267"/>
            <a:ext cx="1908853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L13 · CLIP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76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Ảnh &amp; text trong cùng một không gian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76"/>
          <p:cNvSpPr/>
          <p:nvPr/>
        </p:nvSpPr>
        <p:spPr>
          <a:xfrm>
            <a:off x="834390" y="5762460"/>
            <a:ext cx="8042927" cy="10659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Học ảnh và mô tả text khớp nhau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Zero-shot: phân loại không cần train thêm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2" name="Google Shape;1072;p76"/>
          <p:cNvSpPr/>
          <p:nvPr/>
        </p:nvSpPr>
        <p:spPr>
          <a:xfrm>
            <a:off x="10648106" y="5684854"/>
            <a:ext cx="2228638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🖼️ Image encoder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76"/>
          <p:cNvSpPr/>
          <p:nvPr/>
        </p:nvSpPr>
        <p:spPr>
          <a:xfrm>
            <a:off x="10648106" y="6582205"/>
            <a:ext cx="2228638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📝 Text encoder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76"/>
          <p:cNvSpPr/>
          <p:nvPr/>
        </p:nvSpPr>
        <p:spPr>
          <a:xfrm>
            <a:off x="13570695" y="6095339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5" name="Google Shape;1075;p76"/>
          <p:cNvSpPr/>
          <p:nvPr/>
        </p:nvSpPr>
        <p:spPr>
          <a:xfrm>
            <a:off x="14667013" y="5858289"/>
            <a:ext cx="144773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Không gian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76"/>
          <p:cNvSpPr/>
          <p:nvPr/>
        </p:nvSpPr>
        <p:spPr>
          <a:xfrm>
            <a:off x="14735556" y="6144039"/>
            <a:ext cx="1310564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embedding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76"/>
          <p:cNvSpPr/>
          <p:nvPr/>
        </p:nvSpPr>
        <p:spPr>
          <a:xfrm>
            <a:off x="15009895" y="6429789"/>
            <a:ext cx="761967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chung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77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77"/>
          <p:cNvSpPr/>
          <p:nvPr/>
        </p:nvSpPr>
        <p:spPr>
          <a:xfrm>
            <a:off x="1285792" y="876267"/>
            <a:ext cx="3586459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L13 · ỨNG DỤNG CLIP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77"/>
          <p:cNvSpPr/>
          <p:nvPr/>
        </p:nvSpPr>
        <p:spPr>
          <a:xfrm>
            <a:off x="1047750" y="1408576"/>
            <a:ext cx="8476420" cy="6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Tìm ảnh bằng câu mô tả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77"/>
          <p:cNvSpPr/>
          <p:nvPr/>
        </p:nvSpPr>
        <p:spPr>
          <a:xfrm>
            <a:off x="3013356" y="5344832"/>
            <a:ext cx="3085192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"một chú mèo cam đang ngủ"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7" name="Google Shape;1087;p77"/>
          <p:cNvSpPr/>
          <p:nvPr/>
        </p:nvSpPr>
        <p:spPr>
          <a:xfrm>
            <a:off x="1229403" y="5671840"/>
            <a:ext cx="6563239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câu mô tả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77"/>
          <p:cNvSpPr/>
          <p:nvPr/>
        </p:nvSpPr>
        <p:spPr>
          <a:xfrm>
            <a:off x="8145744" y="5474147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77"/>
          <p:cNvSpPr/>
          <p:nvPr/>
        </p:nvSpPr>
        <p:spPr>
          <a:xfrm>
            <a:off x="8874519" y="5512296"/>
            <a:ext cx="5065239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CLIP so khớp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77"/>
          <p:cNvSpPr/>
          <p:nvPr/>
        </p:nvSpPr>
        <p:spPr>
          <a:xfrm>
            <a:off x="14306650" y="5474147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77"/>
          <p:cNvSpPr/>
          <p:nvPr/>
        </p:nvSpPr>
        <p:spPr>
          <a:xfrm>
            <a:off x="15098217" y="5379972"/>
            <a:ext cx="626533" cy="588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ảnh ✓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2" name="Google Shape;1092;p77"/>
          <p:cNvSpPr/>
          <p:nvPr/>
        </p:nvSpPr>
        <p:spPr>
          <a:xfrm>
            <a:off x="16355484" y="5379972"/>
            <a:ext cx="626533" cy="588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ảnh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77"/>
          <p:cNvSpPr/>
          <p:nvPr/>
        </p:nvSpPr>
        <p:spPr>
          <a:xfrm>
            <a:off x="804863" y="6588539"/>
            <a:ext cx="16678276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Cũng là nền cho Stable Diffusion — gặp lại ở Section Generative AI.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78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78"/>
          <p:cNvSpPr/>
          <p:nvPr/>
        </p:nvSpPr>
        <p:spPr>
          <a:xfrm>
            <a:off x="1285792" y="876267"/>
            <a:ext cx="1908853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L13 · BLIP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78"/>
          <p:cNvSpPr/>
          <p:nvPr/>
        </p:nvSpPr>
        <p:spPr>
          <a:xfrm>
            <a:off x="1047750" y="1408576"/>
            <a:ext cx="8476420" cy="6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Mô tả ảnh &amp; hỏi-đáp về ảnh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78"/>
          <p:cNvSpPr/>
          <p:nvPr/>
        </p:nvSpPr>
        <p:spPr>
          <a:xfrm>
            <a:off x="3847220" y="5320192"/>
            <a:ext cx="2154343" cy="1350433"/>
          </a:xfrm>
          <a:prstGeom prst="rect">
            <a:avLst/>
          </a:prstGeom>
          <a:noFill/>
          <a:ln>
            <a:noFill/>
          </a:ln>
        </p:spPr>
        <p:txBody>
          <a:bodyPr anchorCtr="0" anchor="ctr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ảnh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78"/>
          <p:cNvSpPr/>
          <p:nvPr/>
        </p:nvSpPr>
        <p:spPr>
          <a:xfrm>
            <a:off x="11035937" y="4608132"/>
            <a:ext cx="1169011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Captioning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78"/>
          <p:cNvSpPr/>
          <p:nvPr/>
        </p:nvSpPr>
        <p:spPr>
          <a:xfrm>
            <a:off x="9709570" y="4935141"/>
            <a:ext cx="3745629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"Một người đang lướt sóng"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78"/>
          <p:cNvSpPr/>
          <p:nvPr/>
        </p:nvSpPr>
        <p:spPr>
          <a:xfrm>
            <a:off x="9424019" y="5540921"/>
            <a:ext cx="4316730" cy="399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78"/>
          <p:cNvSpPr/>
          <p:nvPr/>
        </p:nvSpPr>
        <p:spPr>
          <a:xfrm>
            <a:off x="11341035" y="6214980"/>
            <a:ext cx="558900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VQA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7" name="Google Shape;1107;p78"/>
          <p:cNvSpPr/>
          <p:nvPr/>
        </p:nvSpPr>
        <p:spPr>
          <a:xfrm>
            <a:off x="9709570" y="6541988"/>
            <a:ext cx="3745629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Hỏi: "Mấy người?" → "Một"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78"/>
          <p:cNvSpPr/>
          <p:nvPr/>
        </p:nvSpPr>
        <p:spPr>
          <a:xfrm>
            <a:off x="9486884" y="7300103"/>
            <a:ext cx="7985968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Nền cho các multimodal LLM.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79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79"/>
          <p:cNvSpPr/>
          <p:nvPr/>
        </p:nvSpPr>
        <p:spPr>
          <a:xfrm>
            <a:off x="1285792" y="876267"/>
            <a:ext cx="2458607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L13 · TÓM TẮT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79"/>
          <p:cNvSpPr/>
          <p:nvPr/>
        </p:nvSpPr>
        <p:spPr>
          <a:xfrm>
            <a:off x="1047750" y="1408576"/>
            <a:ext cx="8476420" cy="6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Nối ảnh với ngôn ngữ: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7" name="Google Shape;1117;p79"/>
          <p:cNvSpPr/>
          <p:nvPr/>
        </p:nvSpPr>
        <p:spPr>
          <a:xfrm>
            <a:off x="1305983" y="2685918"/>
            <a:ext cx="624847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CLIP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79"/>
          <p:cNvSpPr/>
          <p:nvPr/>
        </p:nvSpPr>
        <p:spPr>
          <a:xfrm>
            <a:off x="2542497" y="2685918"/>
            <a:ext cx="624847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BLIP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9" name="Google Shape;1119;p79"/>
          <p:cNvSpPr/>
          <p:nvPr/>
        </p:nvSpPr>
        <p:spPr>
          <a:xfrm>
            <a:off x="3779011" y="2685918"/>
            <a:ext cx="1447701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multimodal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79"/>
          <p:cNvSpPr/>
          <p:nvPr/>
        </p:nvSpPr>
        <p:spPr>
          <a:xfrm>
            <a:off x="1047750" y="3619169"/>
            <a:ext cx="1423425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1" name="Google Shape;1121;p79"/>
          <p:cNvSpPr/>
          <p:nvPr/>
        </p:nvSpPr>
        <p:spPr>
          <a:xfrm>
            <a:off x="2604492" y="3508044"/>
            <a:ext cx="469685" cy="583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79"/>
          <p:cNvSpPr/>
          <p:nvPr/>
        </p:nvSpPr>
        <p:spPr>
          <a:xfrm>
            <a:off x="3207494" y="3531857"/>
            <a:ext cx="14453739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Triển khai edge — đưa model lên thiết bị thật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80"/>
          <p:cNvSpPr/>
          <p:nvPr/>
        </p:nvSpPr>
        <p:spPr>
          <a:xfrm>
            <a:off x="12823693" y="3390925"/>
            <a:ext cx="4549054" cy="35432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0"/>
              <a:buFont typeface="Arial"/>
              <a:buNone/>
            </a:pPr>
            <a:r>
              <a:rPr b="1" i="0" lang="en-US" sz="3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3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9" name="Google Shape;1129;p80"/>
          <p:cNvSpPr/>
          <p:nvPr/>
        </p:nvSpPr>
        <p:spPr>
          <a:xfrm>
            <a:off x="1047750" y="4240196"/>
            <a:ext cx="95250" cy="95250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0" name="Google Shape;1130;p80"/>
          <p:cNvSpPr/>
          <p:nvPr/>
        </p:nvSpPr>
        <p:spPr>
          <a:xfrm>
            <a:off x="1295384" y="4137009"/>
            <a:ext cx="647279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LECTURE 14 · ~7 PHÚT · 5 SLIDES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80"/>
          <p:cNvSpPr/>
          <p:nvPr/>
        </p:nvSpPr>
        <p:spPr>
          <a:xfrm>
            <a:off x="1047750" y="4724384"/>
            <a:ext cx="9889185" cy="8382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Triển khai Edge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80"/>
          <p:cNvSpPr/>
          <p:nvPr/>
        </p:nvSpPr>
        <p:spPr>
          <a:xfrm>
            <a:off x="1047750" y="5848284"/>
            <a:ext cx="1667827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ONNX · TensorRT · mobile — model phải chạy được tại chỗ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81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9" name="Google Shape;1139;p81"/>
          <p:cNvSpPr/>
          <p:nvPr/>
        </p:nvSpPr>
        <p:spPr>
          <a:xfrm>
            <a:off x="1285792" y="876267"/>
            <a:ext cx="3208933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L14 · VÌ SAO EDGE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0" name="Google Shape;1140;p81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Không phải lúc nào cũng có cloud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81"/>
          <p:cNvSpPr/>
          <p:nvPr/>
        </p:nvSpPr>
        <p:spPr>
          <a:xfrm>
            <a:off x="1491175" y="3566336"/>
            <a:ext cx="7229467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CLOUD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81"/>
          <p:cNvSpPr/>
          <p:nvPr/>
        </p:nvSpPr>
        <p:spPr>
          <a:xfrm>
            <a:off x="1491175" y="3980078"/>
            <a:ext cx="7229467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Chạy trên server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81"/>
          <p:cNvSpPr/>
          <p:nvPr/>
        </p:nvSpPr>
        <p:spPr>
          <a:xfrm>
            <a:off x="1277815" y="4679570"/>
            <a:ext cx="7308460" cy="9827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Mạnh, nhưng cần mạng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Độ trễ cao, lo về riêng tư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4" name="Google Shape;1144;p81"/>
          <p:cNvSpPr/>
          <p:nvPr/>
        </p:nvSpPr>
        <p:spPr>
          <a:xfrm>
            <a:off x="9777925" y="3566336"/>
            <a:ext cx="7229467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EDGE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81"/>
          <p:cNvSpPr/>
          <p:nvPr/>
        </p:nvSpPr>
        <p:spPr>
          <a:xfrm>
            <a:off x="9777925" y="3980078"/>
            <a:ext cx="7229467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Chạy ngay trên thiết bị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6" name="Google Shape;1146;p81"/>
          <p:cNvSpPr/>
          <p:nvPr/>
        </p:nvSpPr>
        <p:spPr>
          <a:xfrm>
            <a:off x="9564565" y="4679570"/>
            <a:ext cx="7308460" cy="9827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Độ trễ thấp · riêng tư · offline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Camera an ninh, mobile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82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3" name="Google Shape;1153;p82"/>
          <p:cNvSpPr/>
          <p:nvPr/>
        </p:nvSpPr>
        <p:spPr>
          <a:xfrm>
            <a:off x="1285792" y="876267"/>
            <a:ext cx="1908853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L14 · ONNX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4" name="Google Shape;1154;p82"/>
          <p:cNvSpPr/>
          <p:nvPr/>
        </p:nvSpPr>
        <p:spPr>
          <a:xfrm>
            <a:off x="1047750" y="1408576"/>
            <a:ext cx="8476420" cy="6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 một nơi, chạy mọi nơi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82"/>
          <p:cNvSpPr/>
          <p:nvPr/>
        </p:nvSpPr>
        <p:spPr>
          <a:xfrm>
            <a:off x="1252620" y="5833517"/>
            <a:ext cx="4417832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PyTorch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82"/>
          <p:cNvSpPr/>
          <p:nvPr/>
        </p:nvSpPr>
        <p:spPr>
          <a:xfrm>
            <a:off x="6046771" y="5795367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82"/>
          <p:cNvSpPr/>
          <p:nvPr/>
        </p:nvSpPr>
        <p:spPr>
          <a:xfrm>
            <a:off x="8719510" y="5660761"/>
            <a:ext cx="62488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ONNX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8" name="Google Shape;1158;p82"/>
          <p:cNvSpPr/>
          <p:nvPr/>
        </p:nvSpPr>
        <p:spPr>
          <a:xfrm>
            <a:off x="6793242" y="5993061"/>
            <a:ext cx="4401297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định dạng model chung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82"/>
          <p:cNvSpPr/>
          <p:nvPr/>
        </p:nvSpPr>
        <p:spPr>
          <a:xfrm>
            <a:off x="11579126" y="5795367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0" name="Google Shape;1160;p82"/>
          <p:cNvSpPr/>
          <p:nvPr/>
        </p:nvSpPr>
        <p:spPr>
          <a:xfrm>
            <a:off x="12236627" y="5145799"/>
            <a:ext cx="4879458" cy="3237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CPU / GPU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82"/>
          <p:cNvSpPr/>
          <p:nvPr/>
        </p:nvSpPr>
        <p:spPr>
          <a:xfrm>
            <a:off x="12236627" y="5833550"/>
            <a:ext cx="4879458" cy="3237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Mobile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2" name="Google Shape;1162;p82"/>
          <p:cNvSpPr/>
          <p:nvPr/>
        </p:nvSpPr>
        <p:spPr>
          <a:xfrm>
            <a:off x="12236627" y="6521302"/>
            <a:ext cx="4879458" cy="32371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Browser / Edge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83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83"/>
          <p:cNvSpPr/>
          <p:nvPr/>
        </p:nvSpPr>
        <p:spPr>
          <a:xfrm>
            <a:off x="1285792" y="876267"/>
            <a:ext cx="4341513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L14 · TENSORRT &amp; MOBILE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83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Mỗi phần cứng có runtime tối ưu riêng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83"/>
          <p:cNvSpPr/>
          <p:nvPr/>
        </p:nvSpPr>
        <p:spPr>
          <a:xfrm>
            <a:off x="1491175" y="3566336"/>
            <a:ext cx="7229467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GPU NVIDIA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83"/>
          <p:cNvSpPr/>
          <p:nvPr/>
        </p:nvSpPr>
        <p:spPr>
          <a:xfrm>
            <a:off x="1491175" y="3980078"/>
            <a:ext cx="7229467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TensorRT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83"/>
          <p:cNvSpPr/>
          <p:nvPr/>
        </p:nvSpPr>
        <p:spPr>
          <a:xfrm>
            <a:off x="1277815" y="4679570"/>
            <a:ext cx="7308460" cy="9827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Tăng tốc inference mạnh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Cho server &amp; Jetson edge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4" name="Google Shape;1174;p83"/>
          <p:cNvSpPr/>
          <p:nvPr/>
        </p:nvSpPr>
        <p:spPr>
          <a:xfrm>
            <a:off x="9777925" y="3566336"/>
            <a:ext cx="7229467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ĐIỆN THOẠI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5" name="Google Shape;1175;p83"/>
          <p:cNvSpPr/>
          <p:nvPr/>
        </p:nvSpPr>
        <p:spPr>
          <a:xfrm>
            <a:off x="9777925" y="3980078"/>
            <a:ext cx="7229467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TFLite / CoreML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83"/>
          <p:cNvSpPr/>
          <p:nvPr/>
        </p:nvSpPr>
        <p:spPr>
          <a:xfrm>
            <a:off x="9564565" y="4679570"/>
            <a:ext cx="7308460" cy="9827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TFLite cho Android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CoreML cho iOS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84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3" name="Google Shape;1183;p84"/>
          <p:cNvSpPr/>
          <p:nvPr/>
        </p:nvSpPr>
        <p:spPr>
          <a:xfrm>
            <a:off x="1285792" y="876267"/>
            <a:ext cx="2458607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L14 · TÓM TẮT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4" name="Google Shape;1184;p84"/>
          <p:cNvSpPr/>
          <p:nvPr/>
        </p:nvSpPr>
        <p:spPr>
          <a:xfrm>
            <a:off x="1047750" y="1408576"/>
            <a:ext cx="8476420" cy="6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Đưa model ra thiết bị: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5" name="Google Shape;1185;p84"/>
          <p:cNvSpPr/>
          <p:nvPr/>
        </p:nvSpPr>
        <p:spPr>
          <a:xfrm>
            <a:off x="1305983" y="2685918"/>
            <a:ext cx="624847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edge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84"/>
          <p:cNvSpPr/>
          <p:nvPr/>
        </p:nvSpPr>
        <p:spPr>
          <a:xfrm>
            <a:off x="2542497" y="2685918"/>
            <a:ext cx="624847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ONNX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84"/>
          <p:cNvSpPr/>
          <p:nvPr/>
        </p:nvSpPr>
        <p:spPr>
          <a:xfrm>
            <a:off x="3779011" y="2685918"/>
            <a:ext cx="1173444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TensorRT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84"/>
          <p:cNvSpPr/>
          <p:nvPr/>
        </p:nvSpPr>
        <p:spPr>
          <a:xfrm>
            <a:off x="5564122" y="2685918"/>
            <a:ext cx="899104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mobile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9" name="Google Shape;1189;p84"/>
          <p:cNvSpPr/>
          <p:nvPr/>
        </p:nvSpPr>
        <p:spPr>
          <a:xfrm>
            <a:off x="1047750" y="3619169"/>
            <a:ext cx="1423425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0" name="Google Shape;1190;p84"/>
          <p:cNvSpPr/>
          <p:nvPr/>
        </p:nvSpPr>
        <p:spPr>
          <a:xfrm>
            <a:off x="2604492" y="3508044"/>
            <a:ext cx="469685" cy="583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84"/>
          <p:cNvSpPr/>
          <p:nvPr/>
        </p:nvSpPr>
        <p:spPr>
          <a:xfrm>
            <a:off x="3207494" y="3531857"/>
            <a:ext cx="14453739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Quantization &amp; pruning — làm model nhỏ lại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85"/>
          <p:cNvSpPr/>
          <p:nvPr/>
        </p:nvSpPr>
        <p:spPr>
          <a:xfrm>
            <a:off x="12981368" y="3390925"/>
            <a:ext cx="4386649" cy="35432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0"/>
              <a:buFont typeface="Arial"/>
              <a:buNone/>
            </a:pPr>
            <a:r>
              <a:rPr b="1" i="0" lang="en-US" sz="3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3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85"/>
          <p:cNvSpPr/>
          <p:nvPr/>
        </p:nvSpPr>
        <p:spPr>
          <a:xfrm>
            <a:off x="1047750" y="4240196"/>
            <a:ext cx="95250" cy="95250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85"/>
          <p:cNvSpPr/>
          <p:nvPr/>
        </p:nvSpPr>
        <p:spPr>
          <a:xfrm>
            <a:off x="1295384" y="4137009"/>
            <a:ext cx="647279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LECTURE 15 · ~7 PHÚT · 5 SLIDES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85"/>
          <p:cNvSpPr/>
          <p:nvPr/>
        </p:nvSpPr>
        <p:spPr>
          <a:xfrm>
            <a:off x="1047750" y="4724384"/>
            <a:ext cx="9889185" cy="8382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Nén model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85"/>
          <p:cNvSpPr/>
          <p:nvPr/>
        </p:nvSpPr>
        <p:spPr>
          <a:xfrm>
            <a:off x="1047750" y="5848284"/>
            <a:ext cx="1667827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Quantization &amp; pruning — nhỏ hơn, nhanh hơn, ít tốn điện hơn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p86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8" name="Google Shape;1208;p86"/>
          <p:cNvSpPr/>
          <p:nvPr/>
        </p:nvSpPr>
        <p:spPr>
          <a:xfrm>
            <a:off x="1285792" y="876267"/>
            <a:ext cx="3397739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L15 · QUANTIZATION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9" name="Google Shape;1209;p86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Giảm độ chính xác số — nhỏ &amp; nhanh hơn nhiều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86"/>
          <p:cNvSpPr/>
          <p:nvPr/>
        </p:nvSpPr>
        <p:spPr>
          <a:xfrm>
            <a:off x="4439626" y="5630003"/>
            <a:ext cx="1036307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float32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1" name="Google Shape;1211;p86"/>
          <p:cNvSpPr/>
          <p:nvPr/>
        </p:nvSpPr>
        <p:spPr>
          <a:xfrm>
            <a:off x="1217143" y="5962303"/>
            <a:ext cx="7405073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32 bit / số · nặng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86"/>
          <p:cNvSpPr/>
          <p:nvPr/>
        </p:nvSpPr>
        <p:spPr>
          <a:xfrm>
            <a:off x="8963059" y="5764610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86"/>
          <p:cNvSpPr/>
          <p:nvPr/>
        </p:nvSpPr>
        <p:spPr>
          <a:xfrm>
            <a:off x="13093982" y="5630003"/>
            <a:ext cx="624879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int8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86"/>
          <p:cNvSpPr/>
          <p:nvPr/>
        </p:nvSpPr>
        <p:spPr>
          <a:xfrm>
            <a:off x="9665786" y="5962303"/>
            <a:ext cx="7405073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 bit / số · gọn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5" name="Google Shape;1215;p86"/>
          <p:cNvSpPr/>
          <p:nvPr/>
        </p:nvSpPr>
        <p:spPr>
          <a:xfrm>
            <a:off x="804863" y="6872883"/>
            <a:ext cx="16678276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Nhỏ hơn ~4×, nhanh hơn — mà mất rất ít độ chính xác.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87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2" name="Google Shape;1222;p87"/>
          <p:cNvSpPr/>
          <p:nvPr/>
        </p:nvSpPr>
        <p:spPr>
          <a:xfrm>
            <a:off x="1285792" y="876267"/>
            <a:ext cx="2458607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L15 · PRUNING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87"/>
          <p:cNvSpPr/>
          <p:nvPr/>
        </p:nvSpPr>
        <p:spPr>
          <a:xfrm>
            <a:off x="1047750" y="1408576"/>
            <a:ext cx="8476420" cy="6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Cắt bỏ phần "thừa" của mạng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87"/>
          <p:cNvSpPr/>
          <p:nvPr/>
        </p:nvSpPr>
        <p:spPr>
          <a:xfrm>
            <a:off x="834390" y="5462406"/>
            <a:ext cx="8042927" cy="10659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Loại trọng số / nơ-ron ít quan trọng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Mạng thưa hơn, nhẹ hơn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5" name="Google Shape;1225;p87"/>
          <p:cNvSpPr/>
          <p:nvPr/>
        </p:nvSpPr>
        <p:spPr>
          <a:xfrm>
            <a:off x="13182584" y="5550380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87"/>
          <p:cNvSpPr/>
          <p:nvPr/>
        </p:nvSpPr>
        <p:spPr>
          <a:xfrm>
            <a:off x="11067451" y="6217047"/>
            <a:ext cx="4592232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Mạng đầy đủ → mạng đã tỉa thưa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88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88"/>
          <p:cNvSpPr/>
          <p:nvPr/>
        </p:nvSpPr>
        <p:spPr>
          <a:xfrm>
            <a:off x="1285792" y="876267"/>
            <a:ext cx="2831406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L15 · TRADE-OFF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88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Luôn đo lại accuracy sau khi nén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5" name="Google Shape;1235;p88"/>
          <p:cNvSpPr/>
          <p:nvPr/>
        </p:nvSpPr>
        <p:spPr>
          <a:xfrm>
            <a:off x="3342432" y="5630003"/>
            <a:ext cx="3249130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Tốc độ ↑ · Kích thước 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88"/>
          <p:cNvSpPr/>
          <p:nvPr/>
        </p:nvSpPr>
        <p:spPr>
          <a:xfrm>
            <a:off x="1217143" y="5962303"/>
            <a:ext cx="7405073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lợi ích khi nén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7" name="Google Shape;1237;p88"/>
          <p:cNvSpPr/>
          <p:nvPr/>
        </p:nvSpPr>
        <p:spPr>
          <a:xfrm>
            <a:off x="8963059" y="5764610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⇄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8" name="Google Shape;1238;p88"/>
          <p:cNvSpPr/>
          <p:nvPr/>
        </p:nvSpPr>
        <p:spPr>
          <a:xfrm>
            <a:off x="11928161" y="5630003"/>
            <a:ext cx="2966645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Độ chính xác có thể 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88"/>
          <p:cNvSpPr/>
          <p:nvPr/>
        </p:nvSpPr>
        <p:spPr>
          <a:xfrm>
            <a:off x="9665786" y="5962303"/>
            <a:ext cx="7405073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cái giá phải cân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0" name="Google Shape;1240;p88"/>
          <p:cNvSpPr/>
          <p:nvPr/>
        </p:nvSpPr>
        <p:spPr>
          <a:xfrm>
            <a:off x="804863" y="6872883"/>
            <a:ext cx="16678276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Nén tới đâu là đủ? Đo accuracy để tìm điểm cân bằng.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5" name="Shape 1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Google Shape;1246;p89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89"/>
          <p:cNvSpPr/>
          <p:nvPr/>
        </p:nvSpPr>
        <p:spPr>
          <a:xfrm>
            <a:off x="1285792" y="876267"/>
            <a:ext cx="2458607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L15 · TÓM TẮT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89"/>
          <p:cNvSpPr/>
          <p:nvPr/>
        </p:nvSpPr>
        <p:spPr>
          <a:xfrm>
            <a:off x="1047750" y="1408576"/>
            <a:ext cx="8476420" cy="6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Làm model gọn nhẹ: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9" name="Google Shape;1249;p89"/>
          <p:cNvSpPr/>
          <p:nvPr/>
        </p:nvSpPr>
        <p:spPr>
          <a:xfrm>
            <a:off x="1305983" y="2685918"/>
            <a:ext cx="1722041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quantization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89"/>
          <p:cNvSpPr/>
          <p:nvPr/>
        </p:nvSpPr>
        <p:spPr>
          <a:xfrm>
            <a:off x="3639691" y="2685918"/>
            <a:ext cx="1036274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pruning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89"/>
          <p:cNvSpPr/>
          <p:nvPr/>
        </p:nvSpPr>
        <p:spPr>
          <a:xfrm>
            <a:off x="5287632" y="2685918"/>
            <a:ext cx="1310531" cy="29725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trade-off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89"/>
          <p:cNvSpPr/>
          <p:nvPr/>
        </p:nvSpPr>
        <p:spPr>
          <a:xfrm>
            <a:off x="1047750" y="3619169"/>
            <a:ext cx="1423425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89"/>
          <p:cNvSpPr/>
          <p:nvPr/>
        </p:nvSpPr>
        <p:spPr>
          <a:xfrm>
            <a:off x="2604492" y="3508044"/>
            <a:ext cx="469685" cy="583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89"/>
          <p:cNvSpPr/>
          <p:nvPr/>
        </p:nvSpPr>
        <p:spPr>
          <a:xfrm>
            <a:off x="3207494" y="3531857"/>
            <a:ext cx="14453739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Capstone 3 — ráp tất cả vào một dự án CV thật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90"/>
          <p:cNvSpPr/>
          <p:nvPr/>
        </p:nvSpPr>
        <p:spPr>
          <a:xfrm>
            <a:off x="12902489" y="3390925"/>
            <a:ext cx="4467894" cy="35432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500"/>
              <a:buFont typeface="Arial"/>
              <a:buNone/>
            </a:pPr>
            <a:r>
              <a:rPr b="1" i="0" lang="en-US" sz="3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3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90"/>
          <p:cNvSpPr/>
          <p:nvPr/>
        </p:nvSpPr>
        <p:spPr>
          <a:xfrm>
            <a:off x="1047750" y="3840179"/>
            <a:ext cx="95250" cy="95250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90"/>
          <p:cNvSpPr/>
          <p:nvPr/>
        </p:nvSpPr>
        <p:spPr>
          <a:xfrm>
            <a:off x="1295384" y="3755513"/>
            <a:ext cx="7206899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🏆 CAPSTONE 3 · ~16 PHÚT · 8 SLIDES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90"/>
          <p:cNvSpPr/>
          <p:nvPr/>
        </p:nvSpPr>
        <p:spPr>
          <a:xfrm>
            <a:off x="1047750" y="4348179"/>
            <a:ext cx="9889185" cy="16383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00"/>
              <a:buFont typeface="Arial"/>
              <a:buNone/>
            </a:pPr>
            <a:r>
              <a:rPr b="1" i="0" lang="en-US" sz="6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Capstone 3 — CV thực chiến</a:t>
            </a:r>
            <a:endParaRPr b="0" i="0" sz="6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4" name="Google Shape;1264;p90"/>
          <p:cNvSpPr/>
          <p:nvPr/>
        </p:nvSpPr>
        <p:spPr>
          <a:xfrm>
            <a:off x="1047750" y="6272196"/>
            <a:ext cx="16678276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Dự án portfolio thứ 3 — chọn 1 trong 2 hướng (kèm screen recording)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91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1" name="Google Shape;1271;p91"/>
          <p:cNvSpPr/>
          <p:nvPr/>
        </p:nvSpPr>
        <p:spPr>
          <a:xfrm>
            <a:off x="1285792" y="876267"/>
            <a:ext cx="4530233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L16 · CHỌN ĐỀ &amp; BÀI TOÁN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91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Chọn theo hứng thú &amp; định hướng nghề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91"/>
          <p:cNvSpPr/>
          <p:nvPr/>
        </p:nvSpPr>
        <p:spPr>
          <a:xfrm>
            <a:off x="1491175" y="3566336"/>
            <a:ext cx="7229467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HƯỚNG 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91"/>
          <p:cNvSpPr/>
          <p:nvPr/>
        </p:nvSpPr>
        <p:spPr>
          <a:xfrm>
            <a:off x="1491175" y="3980078"/>
            <a:ext cx="7229467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Phân loại ảnh y tế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91"/>
          <p:cNvSpPr/>
          <p:nvPr/>
        </p:nvSpPr>
        <p:spPr>
          <a:xfrm>
            <a:off x="1277815" y="4679570"/>
            <a:ext cx="7308460" cy="9827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Phân loại ảnh X-quang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 classification chuyên sâu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6" name="Google Shape;1276;p91"/>
          <p:cNvSpPr/>
          <p:nvPr/>
        </p:nvSpPr>
        <p:spPr>
          <a:xfrm>
            <a:off x="9777925" y="3566336"/>
            <a:ext cx="7229467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HƯỚNG 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7" name="Google Shape;1277;p91"/>
          <p:cNvSpPr/>
          <p:nvPr/>
        </p:nvSpPr>
        <p:spPr>
          <a:xfrm>
            <a:off x="9777925" y="3980078"/>
            <a:ext cx="7229467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OCR + trích thông tin hoá đơn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91"/>
          <p:cNvSpPr/>
          <p:nvPr/>
        </p:nvSpPr>
        <p:spPr>
          <a:xfrm>
            <a:off x="9564565" y="4679570"/>
            <a:ext cx="7308460" cy="9827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Đọc &amp; trích trường từ hoá đơn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Document AI thực tế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92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5" name="Google Shape;1285;p92"/>
          <p:cNvSpPr/>
          <p:nvPr/>
        </p:nvSpPr>
        <p:spPr>
          <a:xfrm>
            <a:off x="1285792" y="876267"/>
            <a:ext cx="4152707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L16 · CHUẨN BỊ DỮ LIỆU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6" name="Google Shape;1286;p92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Áp dụng tiền xử lý + augmentation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7" name="Google Shape;1287;p92"/>
          <p:cNvSpPr/>
          <p:nvPr/>
        </p:nvSpPr>
        <p:spPr>
          <a:xfrm>
            <a:off x="1272240" y="6133489"/>
            <a:ext cx="3070557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Tải dataset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92"/>
          <p:cNvSpPr/>
          <p:nvPr/>
        </p:nvSpPr>
        <p:spPr>
          <a:xfrm>
            <a:off x="4738737" y="6095339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9" name="Google Shape;1289;p92"/>
          <p:cNvSpPr/>
          <p:nvPr/>
        </p:nvSpPr>
        <p:spPr>
          <a:xfrm>
            <a:off x="5496561" y="6133489"/>
            <a:ext cx="3070557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Tiền xử lý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0" name="Google Shape;1290;p92"/>
          <p:cNvSpPr/>
          <p:nvPr/>
        </p:nvSpPr>
        <p:spPr>
          <a:xfrm>
            <a:off x="8963059" y="6095339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1" name="Google Shape;1291;p92"/>
          <p:cNvSpPr/>
          <p:nvPr/>
        </p:nvSpPr>
        <p:spPr>
          <a:xfrm>
            <a:off x="9720883" y="6133489"/>
            <a:ext cx="3070557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Augment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92"/>
          <p:cNvSpPr/>
          <p:nvPr/>
        </p:nvSpPr>
        <p:spPr>
          <a:xfrm>
            <a:off x="13187380" y="6095339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92"/>
          <p:cNvSpPr/>
          <p:nvPr/>
        </p:nvSpPr>
        <p:spPr>
          <a:xfrm>
            <a:off x="13945204" y="6133489"/>
            <a:ext cx="3070557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Train / Val / Test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93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0" name="Google Shape;1300;p93"/>
          <p:cNvSpPr/>
          <p:nvPr/>
        </p:nvSpPr>
        <p:spPr>
          <a:xfrm>
            <a:off x="1285792" y="876267"/>
            <a:ext cx="2831406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L16 · XÂY MODEL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1" name="Google Shape;1301;p93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Tận dụng pretrained — không train từ đầu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93"/>
          <p:cNvSpPr/>
          <p:nvPr/>
        </p:nvSpPr>
        <p:spPr>
          <a:xfrm>
            <a:off x="1491175" y="3566336"/>
            <a:ext cx="7229467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HƯỚNG 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3" name="Google Shape;1303;p93"/>
          <p:cNvSpPr/>
          <p:nvPr/>
        </p:nvSpPr>
        <p:spPr>
          <a:xfrm>
            <a:off x="1491175" y="3980078"/>
            <a:ext cx="7229467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Transfer learning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93"/>
          <p:cNvSpPr/>
          <p:nvPr/>
        </p:nvSpPr>
        <p:spPr>
          <a:xfrm>
            <a:off x="1277815" y="4679570"/>
            <a:ext cx="7308460" cy="9827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ResNet / EfficientNet pretrained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Thay lớp cuối, fine-tune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5" name="Google Shape;1305;p93"/>
          <p:cNvSpPr/>
          <p:nvPr/>
        </p:nvSpPr>
        <p:spPr>
          <a:xfrm>
            <a:off x="9777925" y="3566336"/>
            <a:ext cx="7229467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HƯỚNG B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93"/>
          <p:cNvSpPr/>
          <p:nvPr/>
        </p:nvSpPr>
        <p:spPr>
          <a:xfrm>
            <a:off x="9777925" y="3980078"/>
            <a:ext cx="7229467" cy="5090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1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PaddleOCR + KIE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93"/>
          <p:cNvSpPr/>
          <p:nvPr/>
        </p:nvSpPr>
        <p:spPr>
          <a:xfrm>
            <a:off x="9564565" y="4679570"/>
            <a:ext cx="7308460" cy="98274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Pipeline OCR sẵn có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Thêm bước trích trường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2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94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4" name="Google Shape;1314;p94"/>
          <p:cNvSpPr/>
          <p:nvPr/>
        </p:nvSpPr>
        <p:spPr>
          <a:xfrm>
            <a:off x="1285792" y="876267"/>
            <a:ext cx="5096565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L16 · HUẤN LUYỆN &amp; ĐÁNH GIÁ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94"/>
          <p:cNvSpPr/>
          <p:nvPr/>
        </p:nvSpPr>
        <p:spPr>
          <a:xfrm>
            <a:off x="1047750" y="1408576"/>
            <a:ext cx="8476420" cy="6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Theo dõi curve, phân tích lỗi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94"/>
          <p:cNvSpPr/>
          <p:nvPr/>
        </p:nvSpPr>
        <p:spPr>
          <a:xfrm>
            <a:off x="834390" y="5462406"/>
            <a:ext cx="8042927" cy="106592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Train &amp; theo dõi loss / accuracy curve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Error analysis: model sai ở đâu, vì sao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94"/>
          <p:cNvSpPr/>
          <p:nvPr/>
        </p:nvSpPr>
        <p:spPr>
          <a:xfrm>
            <a:off x="9704160" y="4450408"/>
            <a:ext cx="3565949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Hướng A · accuracy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94"/>
          <p:cNvSpPr/>
          <p:nvPr/>
        </p:nvSpPr>
        <p:spPr>
          <a:xfrm>
            <a:off x="9426876" y="5032425"/>
            <a:ext cx="4120515" cy="399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94"/>
          <p:cNvSpPr/>
          <p:nvPr/>
        </p:nvSpPr>
        <p:spPr>
          <a:xfrm>
            <a:off x="9704160" y="5690642"/>
            <a:ext cx="3565949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Detection · mAP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94"/>
          <p:cNvSpPr/>
          <p:nvPr/>
        </p:nvSpPr>
        <p:spPr>
          <a:xfrm>
            <a:off x="9426876" y="6272660"/>
            <a:ext cx="4120515" cy="399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·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1" name="Google Shape;1321;p94"/>
          <p:cNvSpPr/>
          <p:nvPr/>
        </p:nvSpPr>
        <p:spPr>
          <a:xfrm>
            <a:off x="9704160" y="6930877"/>
            <a:ext cx="3565949" cy="60953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Hướng B · độ chính xác trích xuất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95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95"/>
          <p:cNvSpPr/>
          <p:nvPr/>
        </p:nvSpPr>
        <p:spPr>
          <a:xfrm>
            <a:off x="1285792" y="876267"/>
            <a:ext cx="3397739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L16 · TỐI ƯU &amp; NÉN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9" name="Google Shape;1329;p95"/>
          <p:cNvSpPr/>
          <p:nvPr/>
        </p:nvSpPr>
        <p:spPr>
          <a:xfrm>
            <a:off x="1047750" y="1408576"/>
            <a:ext cx="8476420" cy="6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Sẵn sàng deploy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p95"/>
          <p:cNvSpPr/>
          <p:nvPr/>
        </p:nvSpPr>
        <p:spPr>
          <a:xfrm>
            <a:off x="1251119" y="5502788"/>
            <a:ext cx="4520879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Model đã train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1" name="Google Shape;1331;p95"/>
          <p:cNvSpPr/>
          <p:nvPr/>
        </p:nvSpPr>
        <p:spPr>
          <a:xfrm>
            <a:off x="6146817" y="5464639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95"/>
          <p:cNvSpPr/>
          <p:nvPr/>
        </p:nvSpPr>
        <p:spPr>
          <a:xfrm>
            <a:off x="6883519" y="5502788"/>
            <a:ext cx="4520964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Export ONNX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3" name="Google Shape;1333;p95"/>
          <p:cNvSpPr/>
          <p:nvPr/>
        </p:nvSpPr>
        <p:spPr>
          <a:xfrm>
            <a:off x="11779300" y="5464639"/>
            <a:ext cx="438084" cy="40008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95"/>
          <p:cNvSpPr/>
          <p:nvPr/>
        </p:nvSpPr>
        <p:spPr>
          <a:xfrm>
            <a:off x="14227804" y="5330032"/>
            <a:ext cx="1173477" cy="297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Quantize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5" name="Google Shape;1335;p95"/>
          <p:cNvSpPr/>
          <p:nvPr/>
        </p:nvSpPr>
        <p:spPr>
          <a:xfrm>
            <a:off x="12524270" y="5662332"/>
            <a:ext cx="4504344" cy="3475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nhỏ &amp; nhanh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6" name="Google Shape;1336;p95"/>
          <p:cNvSpPr/>
          <p:nvPr/>
        </p:nvSpPr>
        <p:spPr>
          <a:xfrm>
            <a:off x="804863" y="6572912"/>
            <a:ext cx="16678276" cy="31855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Áp dụng đúng quantization vừa học ở Lecture 15.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96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96"/>
          <p:cNvSpPr/>
          <p:nvPr/>
        </p:nvSpPr>
        <p:spPr>
          <a:xfrm>
            <a:off x="1285792" y="876267"/>
            <a:ext cx="4152707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L16 · DEPLOY WEB / API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4" name="Google Shape;1344;p96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Điểm khiến CV nổi bật: có demo chạy được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96"/>
          <p:cNvSpPr/>
          <p:nvPr/>
        </p:nvSpPr>
        <p:spPr>
          <a:xfrm>
            <a:off x="1485900" y="5563444"/>
            <a:ext cx="7547818" cy="42819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FastAPI cho backend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6" name="Google Shape;1346;p96"/>
          <p:cNvSpPr/>
          <p:nvPr/>
        </p:nvSpPr>
        <p:spPr>
          <a:xfrm>
            <a:off x="1485884" y="6195881"/>
            <a:ext cx="4533640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Streamlit / Gradio cho giao diện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7" name="Google Shape;1347;p96"/>
          <p:cNvSpPr/>
          <p:nvPr/>
        </p:nvSpPr>
        <p:spPr>
          <a:xfrm>
            <a:off x="1485884" y="6667417"/>
            <a:ext cx="7534690" cy="35998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Upload ảnh → trả về kết quả ngay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96"/>
          <p:cNvSpPr/>
          <p:nvPr/>
        </p:nvSpPr>
        <p:spPr>
          <a:xfrm>
            <a:off x="11776767" y="4893254"/>
            <a:ext cx="3173519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⬆️ Upload ảnh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p96"/>
          <p:cNvSpPr/>
          <p:nvPr/>
        </p:nvSpPr>
        <p:spPr>
          <a:xfrm>
            <a:off x="11499484" y="5475271"/>
            <a:ext cx="3728085" cy="399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0" name="Google Shape;1350;p96"/>
          <p:cNvSpPr/>
          <p:nvPr/>
        </p:nvSpPr>
        <p:spPr>
          <a:xfrm>
            <a:off x="11776767" y="6133489"/>
            <a:ext cx="3173519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Model inference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96"/>
          <p:cNvSpPr/>
          <p:nvPr/>
        </p:nvSpPr>
        <p:spPr>
          <a:xfrm>
            <a:off x="11499484" y="6715506"/>
            <a:ext cx="3728085" cy="3999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None/>
            </a:pPr>
            <a:r>
              <a:rPr b="0" i="0" lang="en-US" sz="28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 b="0" i="0" sz="2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2" name="Google Shape;1352;p96"/>
          <p:cNvSpPr/>
          <p:nvPr/>
        </p:nvSpPr>
        <p:spPr>
          <a:xfrm>
            <a:off x="11776767" y="7373723"/>
            <a:ext cx="3173519" cy="32378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Kết quả trên web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97"/>
          <p:cNvSpPr/>
          <p:nvPr/>
        </p:nvSpPr>
        <p:spPr>
          <a:xfrm>
            <a:off x="1047750" y="994833"/>
            <a:ext cx="85659" cy="85659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97"/>
          <p:cNvSpPr/>
          <p:nvPr/>
        </p:nvSpPr>
        <p:spPr>
          <a:xfrm>
            <a:off x="1285792" y="876267"/>
            <a:ext cx="4530233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0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L16 · TỔNG KẾT SECTION 8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0" name="Google Shape;1360;p97"/>
          <p:cNvSpPr/>
          <p:nvPr/>
        </p:nvSpPr>
        <p:spPr>
          <a:xfrm>
            <a:off x="1047750" y="1408576"/>
            <a:ext cx="8476420" cy="123815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Computer Vision + Capstone 3 ✅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97"/>
          <p:cNvSpPr/>
          <p:nvPr/>
        </p:nvSpPr>
        <p:spPr>
          <a:xfrm>
            <a:off x="1047750" y="5040892"/>
            <a:ext cx="1722570" cy="143063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50"/>
              <a:buFont typeface="Arial"/>
              <a:buNone/>
            </a:pPr>
            <a:r>
              <a:rPr b="1" i="0" lang="en-US" sz="127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1" i="0" lang="en-US" sz="67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/7</a:t>
            </a:r>
            <a:endParaRPr b="0" i="0" sz="12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97"/>
          <p:cNvSpPr/>
          <p:nvPr/>
        </p:nvSpPr>
        <p:spPr>
          <a:xfrm>
            <a:off x="3360870" y="5270996"/>
            <a:ext cx="13187795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portfolio thứ 3 hoàn thành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97"/>
          <p:cNvSpPr/>
          <p:nvPr/>
        </p:nvSpPr>
        <p:spPr>
          <a:xfrm>
            <a:off x="3360870" y="5901697"/>
            <a:ext cx="13187795" cy="339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Courier New"/>
              <a:buNone/>
            </a:pPr>
            <a:r>
              <a:rPr b="0" i="0" lang="en-US" sz="21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Pixel → CNN → detection/segmentation → OCR → deploy → một sản phẩm CV chạy được.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4" name="Google Shape;1364;p97"/>
          <p:cNvSpPr/>
          <p:nvPr/>
        </p:nvSpPr>
        <p:spPr>
          <a:xfrm>
            <a:off x="1047750" y="7077935"/>
            <a:ext cx="1423425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BÀI TIẾP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97"/>
          <p:cNvSpPr/>
          <p:nvPr/>
        </p:nvSpPr>
        <p:spPr>
          <a:xfrm>
            <a:off x="2604492" y="6966810"/>
            <a:ext cx="469685" cy="583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6" name="Google Shape;1366;p97"/>
          <p:cNvSpPr/>
          <p:nvPr/>
        </p:nvSpPr>
        <p:spPr>
          <a:xfrm>
            <a:off x="3207494" y="6990623"/>
            <a:ext cx="14453739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Section 9 — Natural Language Processing (NLP)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p98"/>
          <p:cNvSpPr/>
          <p:nvPr/>
        </p:nvSpPr>
        <p:spPr>
          <a:xfrm>
            <a:off x="1047750" y="2972511"/>
            <a:ext cx="95250" cy="95250"/>
          </a:xfrm>
          <a:prstGeom prst="ellipse">
            <a:avLst/>
          </a:prstGeom>
          <a:noFill/>
          <a:ln>
            <a:noFill/>
          </a:ln>
          <a:effectLst>
            <a:outerShdw blurRad="133350" rotWithShape="0" algn="bl" dir="16200000" dist="508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98"/>
          <p:cNvSpPr/>
          <p:nvPr/>
        </p:nvSpPr>
        <p:spPr>
          <a:xfrm>
            <a:off x="1314400" y="2879907"/>
            <a:ext cx="5298486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✅ HOÀN THÀNH SECTION 8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98"/>
          <p:cNvSpPr/>
          <p:nvPr/>
        </p:nvSpPr>
        <p:spPr>
          <a:xfrm>
            <a:off x="1047750" y="3531774"/>
            <a:ext cx="11655121" cy="204976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50"/>
              <a:buFont typeface="Arial"/>
              <a:buNone/>
            </a:pPr>
            <a:r>
              <a:rPr b="1" i="0" lang="en-US" sz="8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 / 16 lectures</a:t>
            </a:r>
            <a:endParaRPr b="0" i="0" sz="8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98"/>
          <p:cNvSpPr/>
          <p:nvPr/>
        </p:nvSpPr>
        <p:spPr>
          <a:xfrm>
            <a:off x="1047750" y="6057719"/>
            <a:ext cx="1962514" cy="4138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16 </a:t>
            </a: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lectures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6" name="Google Shape;1376;p98"/>
          <p:cNvSpPr/>
          <p:nvPr/>
        </p:nvSpPr>
        <p:spPr>
          <a:xfrm>
            <a:off x="3295964" y="6057719"/>
            <a:ext cx="1790948" cy="4138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~94 </a:t>
            </a: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slides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98"/>
          <p:cNvSpPr/>
          <p:nvPr/>
        </p:nvSpPr>
        <p:spPr>
          <a:xfrm>
            <a:off x="5372613" y="6057719"/>
            <a:ext cx="2649329" cy="4138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1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~130 </a:t>
            </a: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phút video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8" name="Google Shape;1378;p98"/>
          <p:cNvSpPr/>
          <p:nvPr/>
        </p:nvSpPr>
        <p:spPr>
          <a:xfrm>
            <a:off x="8306677" y="6057719"/>
            <a:ext cx="4415604" cy="41380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Courier New"/>
              <a:buNone/>
            </a:pPr>
            <a:r>
              <a:rPr b="0" i="0" lang="en-US" sz="22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Batch 6 · Computer Vision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p98"/>
          <p:cNvSpPr/>
          <p:nvPr/>
        </p:nvSpPr>
        <p:spPr>
          <a:xfrm>
            <a:off x="1047750" y="7020802"/>
            <a:ext cx="1591849" cy="36089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50"/>
              <a:buFont typeface="Courier New"/>
              <a:buNone/>
            </a:pPr>
            <a:r>
              <a:rPr b="1" i="0" lang="en-US" sz="195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TIẾP THEO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0" name="Google Shape;1380;p98"/>
          <p:cNvSpPr/>
          <p:nvPr/>
        </p:nvSpPr>
        <p:spPr>
          <a:xfrm>
            <a:off x="2772916" y="6909676"/>
            <a:ext cx="469685" cy="5831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b="1" i="0" lang="en-US" sz="3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98"/>
          <p:cNvSpPr/>
          <p:nvPr/>
        </p:nvSpPr>
        <p:spPr>
          <a:xfrm>
            <a:off x="3375918" y="6933489"/>
            <a:ext cx="14280263" cy="53551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Batch 7 · Section 9 (NLP) + Section 10 (Generative AI)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