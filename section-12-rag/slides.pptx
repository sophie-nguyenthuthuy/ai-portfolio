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slide" Target="slides/slide145.xml"/><Relationship Id="rId4" Type="http://schemas.openxmlformats.org/officeDocument/2006/relationships/notesMaster" Target="notesMasters/notesMaster1.xml"/><Relationship Id="rId148" Type="http://schemas.openxmlformats.org/officeDocument/2006/relationships/slide" Target="slides/slide144.xml"/><Relationship Id="rId9" Type="http://schemas.openxmlformats.org/officeDocument/2006/relationships/slide" Target="slides/slide5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5" Type="http://schemas.openxmlformats.org/officeDocument/2006/relationships/slide" Target="slides/slide1.xml"/><Relationship Id="rId147" Type="http://schemas.openxmlformats.org/officeDocument/2006/relationships/slide" Target="slides/slide143.xml"/><Relationship Id="rId6" Type="http://schemas.openxmlformats.org/officeDocument/2006/relationships/slide" Target="slides/slide2.xml"/><Relationship Id="rId146" Type="http://schemas.openxmlformats.org/officeDocument/2006/relationships/slide" Target="slides/slide142.xml"/><Relationship Id="rId7" Type="http://schemas.openxmlformats.org/officeDocument/2006/relationships/slide" Target="slides/slide3.xml"/><Relationship Id="rId145" Type="http://schemas.openxmlformats.org/officeDocument/2006/relationships/slide" Target="slides/slide141.xml"/><Relationship Id="rId8" Type="http://schemas.openxmlformats.org/officeDocument/2006/relationships/slide" Target="slides/slide4.xml"/><Relationship Id="rId144" Type="http://schemas.openxmlformats.org/officeDocument/2006/relationships/slide" Target="slides/slide14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0" name="Google Shape;106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6" name="Google Shape;116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1" name="Google Shape;1191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4" name="Google Shape;1244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6" name="Google Shape;1296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9" name="Google Shape;1359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3" name="Google Shape;1373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0" name="Google Shape;1400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4" name="Google Shape;1424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4" name="Google Shape;1434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4" name="Google Shape;1444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2" name="Google Shape;1472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5" name="Google Shape;1485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5" name="Google Shape;1495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2" name="Google Shape;1512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7" name="Google Shape;1527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7" name="Google Shape;1567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1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7" name="Google Shape;1577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2" name="Google Shape;1592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3" name="Google Shape;1603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4" name="Google Shape;1614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7" name="Google Shape;162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7" name="Google Shape;1637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1" name="Google Shape;1651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8" name="Google Shape;1668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1" name="Google Shape;1681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1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5" name="Google Shape;1695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3" name="Google Shape;1733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5" name="Google Shape;1745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p1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9" name="Google Shape;1769;p1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3" name="Google Shape;1783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5" name="Google Shape;1795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1" name="Google Shape;1811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5" name="Google Shape;1835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1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6" name="Google Shape;1846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7" name="Google Shape;1857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6767" y="1741372"/>
            <a:ext cx="166391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 · BATCH 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6767" y="2852043"/>
            <a:ext cx="14519911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Language Models &amp; Retrieval-Augmented Generation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66767" y="5752124"/>
            <a:ext cx="12135353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huấn luyện, prompt engineering và fine-tune LoRA/QLoRA — đến RAG, vector database và chatbot hỏi-đáp tài liệu doanh nghiệp.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57809" y="7597346"/>
            <a:ext cx="3061516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LLMS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57809" y="7834396"/>
            <a:ext cx="306151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Language Models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357809" y="8209029"/>
            <a:ext cx="3061516" cy="2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 lectures · Mini-Project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121755" y="7597346"/>
            <a:ext cx="2940926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RAG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121755" y="7834396"/>
            <a:ext cx="294092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&amp; Vector Database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121755" y="8209029"/>
            <a:ext cx="2940926" cy="2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 lectures · Capstone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066767" y="204440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BATCH 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66767" y="2605319"/>
            <a:ext cx="16639101" cy="17526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Courier New"/>
              <a:buNone/>
            </a:pPr>
            <a:r>
              <a:rPr b="1" i="0" lang="en-US" sz="15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66767" y="5065035"/>
            <a:ext cx="13311281" cy="751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Language Models (LLMs)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66767" y="6809135"/>
            <a:ext cx="10316192" cy="1281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cách LLM được huấn luyện, thành thạo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engineering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calling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fine-tune bằng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LoRA/QLoRA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chạy LLM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giảm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tối ưu chi phí.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là gì? Tham số, dữ liệu huấn luyện, năng lực nổi (emergent)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LLM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khổng lồ, train trên text internet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 chất: dự đoán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tiếp theo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701725" y="5749727"/>
            <a:ext cx="148011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internet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152996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1834730" y="5553935"/>
            <a:ext cx="187358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2049572" y="5749727"/>
            <a:ext cx="144389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384159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4361204" y="5749727"/>
            <a:ext cx="179083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LLM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mô tham số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triệu → tỷ → nghìn tỷ tham số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Càng lớn càng mạnh — tới một giới hạn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701709" y="5639015"/>
            <a:ext cx="635132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SMALL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9739809" y="5855147"/>
            <a:ext cx="635132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068495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1204543" y="5639015"/>
            <a:ext cx="590567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LARGE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1367492" y="5855147"/>
            <a:ext cx="340784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Tỷ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214321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2447986" y="5443224"/>
            <a:ext cx="1449586" cy="897764"/>
          </a:xfrm>
          <a:prstGeom prst="roundRect">
            <a:avLst>
              <a:gd fmla="val 14854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12662810" y="5639015"/>
            <a:ext cx="1019936" cy="2023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FRONTIER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2700910" y="5855147"/>
            <a:ext cx="1019937" cy="329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Nghìn tỷ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LLM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Scaling laws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hệ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– tham số – compute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Chinchilla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dữ liệu cũng quan trọng như tham số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0426461" y="5445704"/>
            <a:ext cx="5855196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× Tham số × Compute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10980956" y="6142798"/>
            <a:ext cx="4746206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Chinchilla optimal — cân bằng cả ba yếu tố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LLM CƠ BẢN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Năng lực nổi (emergent)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Khả năng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xuất hiện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mô hình đủ lớn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Reasoning, in-context learning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mô đủ lớn → năng lực "nhảy vọt"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11037421" y="6405646"/>
            <a:ext cx="4633195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biết làm việc không hề được dạy trực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LLM CƠ BẢN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130065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tham số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090317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scaling laws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5565742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emergent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2449711" y="9085792"/>
            <a:ext cx="272290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 đồ LLM 2026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Bản đồ LLM — GPT, Claude, Gemini, Llama, Qwen, DeepSeek, Mistral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BẢN ĐỒ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Đóng (closed) vs mở (open)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Trade-off: tiện lợi vs kiểm soát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9777925" y="4921002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CLOSED · API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9777925" y="5232136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phí theo token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9617905" y="5743277"/>
            <a:ext cx="3387986" cy="115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13778425" y="4921002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OPEN · SELF-HOST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3778425" y="5232136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 về &amp; tự chạy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13618405" y="5743277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 · Qwen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Mistral · DeepSeek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BẢN ĐỒ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nào dùng closed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Chất lượng cao nhất, không lo hạ tầng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tiền theo token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ƯU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Nhanh ra sản phẩm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quality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vận hành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NHƯỢC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 phí token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rời máy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BẢN ĐỒ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nào dùng open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Riêng tư, kiểm soát, chi phí dài hạn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host và fine-tune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ƯU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Doanh nghiệp kiểm soát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ở lại nội bộ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fine-tune tự 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NHƯỢC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cần hạ tầng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vận hành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BẢN ĐỒ LLM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300659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closed vs open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4050341" y="5120746"/>
            <a:ext cx="234872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cách chọn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2449711" y="9085792"/>
            <a:ext cx="479619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Pretraining · Fine-tuning · RLHF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Pretraining vs Fine-tuning vs RLHF — công thức 3 giai đoạn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3 GIAI ĐOẠN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từ lượng text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khổng lồ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Tốn kém nhất — học kiến thức nền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701725" y="5749727"/>
            <a:ext cx="148011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internet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1152996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1834730" y="5553935"/>
            <a:ext cx="181504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12049572" y="5749727"/>
            <a:ext cx="138535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3 GIAI ĐOẠN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fine-tuning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Dạy model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theo hướng dẫn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 hỏi-đáp chất lượng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9701725" y="5749727"/>
            <a:ext cx="138535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1143520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11739976" y="5553935"/>
            <a:ext cx="213088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11954818" y="5749727"/>
            <a:ext cx="170120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3 GIAI ĐOẠN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RLHF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từ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phản hồi con người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 model + reinforcement learning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Người xếp hạng câu trả lời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9486884" y="6706526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Tinh chỉnh bằng RL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3 GIAI ĐOẠN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Toàn cảnh 3 giai đoạn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giai đoạn một mục đích riêng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701725" y="5749727"/>
            <a:ext cx="130887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135872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1878337" y="5749727"/>
            <a:ext cx="52033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SFT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1274679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3051566" y="5553935"/>
            <a:ext cx="111893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13266408" y="5749727"/>
            <a:ext cx="68925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RLHF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3 GIAI ĐOẠN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300659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pretraining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638914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879975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RLHF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449711" y="9085792"/>
            <a:ext cx="334102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Tokenization cho LLM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Tokenization cho LLM — BPE, SentencePiece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TOKENIZATION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Mảnh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subword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phải từ, cũng không phải ký tự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9701725" y="5749727"/>
            <a:ext cx="166499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“tokenization”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1171484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12019608" y="5553935"/>
            <a:ext cx="113721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12234450" y="5749727"/>
            <a:ext cx="70752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1329010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13809713" y="5749727"/>
            <a:ext cx="114276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##ization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TOKENIZATION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BPE &amp; SentencePiece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Gộp dần các cặp ký tự hay đi cùng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Xử lý từ lạ tốt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10575581" y="5445704"/>
            <a:ext cx="5556956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t,o,k,e,n → to, ken → token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10980956" y="6142798"/>
            <a:ext cx="4746206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BPE gộp cặp phổ biến — cân bằng từ ↔ ký tự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TOKENIZATION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&amp; chi phí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tính tiền theo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Tiếng Việt tốn token hơn tiếng Anh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9004515" y="4874535"/>
            <a:ext cx="1539511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count_tokens.py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 tiktoken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enc = tiktoken.get_encoding("cl100k_base") len(enc.encode("Xin chào thế giới")) # → 9 tokens · "Hello world" → 2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TOKENIZATION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token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2815977" y="5120746"/>
            <a:ext cx="291377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BPE / SentencePiece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6251427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chi phí token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449711" y="9085792"/>
            <a:ext cx="306143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engineering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engineering — zero-shot, few-shot, chain-of-thought, ReAct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7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PROMPT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Zero-shot vs Few-shot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Few-shot thường tốt hơn cho task khó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ZERO-SHOT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Hỏi thẳng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ví dụ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nhanh, đơn giản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FEW-SHOT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ví dụ mẫu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1–5 ví dụ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dẫn dắt định dạng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PROMPT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Chain-of-Thought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 cầu model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nghĩ từng bước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độ chính xác reasoning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10680075" y="5445704"/>
            <a:ext cx="5347966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"Hãy suy nghĩ từng bước"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11093966" y="6142798"/>
            <a:ext cx="452018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câu thần chú giúp model lập luận tốt hơn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PROMPT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 + Acting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Nền tảng cho agent (section sau)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9701725" y="5749727"/>
            <a:ext cx="105214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nghĩ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1110200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1406767" y="5553935"/>
            <a:ext cx="159188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11621608" y="5749727"/>
            <a:ext cx="116219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1313193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13651541" y="5749727"/>
            <a:ext cx="108365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sát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1508331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15602927" y="5749727"/>
            <a:ext cx="2841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PROMPT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Nguyên tắc viết prompt tốt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Rõ ràng, cụ thể, có ví dụ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 dạng output mong muốn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RÕ RÀNG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Cụ thể từng yêu cầu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nêu vai trò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nêu ràng buộc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CÓ CẤU TRÚC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 dạng output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JSON / bảng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 mẫu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PROMPT ENGINEERING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1300659" y="5120746"/>
            <a:ext cx="234872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zero / few-shot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4187511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chain-of-thought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7211533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2449711" y="9085792"/>
            <a:ext cx="382082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 &amp; prompt template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 trò system / user / assistant, prompt template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3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ROLES &amp; TEMPLATE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 vai trò hội thoại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prompt định "tính cách"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9777925" y="503303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9777925" y="5344170"/>
            <a:ext cx="18944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 hướng hành vi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9617905" y="6156937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vai trò, ràng buộc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12444925" y="503303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12444925" y="5344170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12284905" y="5855312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 cầu của người dùng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15111926" y="503303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ASSISTANT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15111926" y="5344170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14951906" y="5855312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phản hồi của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ROLES &amp; TEMPLATE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prompt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Đặt ngữ cảnh, vai trò, ràng buộc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Nơi kiểm soát model mạnh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8094679" y="4556373"/>
            <a:ext cx="9126472" cy="2671465"/>
          </a:xfrm>
          <a:prstGeom prst="roundRect">
            <a:avLst>
              <a:gd fmla="val 5705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5"/>
          <p:cNvSpPr/>
          <p:nvPr/>
        </p:nvSpPr>
        <p:spPr>
          <a:xfrm>
            <a:off x="8099971" y="4561665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5"/>
          <p:cNvSpPr/>
          <p:nvPr/>
        </p:nvSpPr>
        <p:spPr>
          <a:xfrm>
            <a:off x="9004515" y="4704540"/>
            <a:ext cx="114933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messages.py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8366671" y="5274982"/>
            <a:ext cx="8855965" cy="17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messages = [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{ "role": "system" 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"content": "Bạn là trợ lý CSKH, trả lời ngắn gọn, lịch sự." },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{ "role": "user", "content": "Đơn của tôi đâu rồi?" },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ROLES &amp; TEMPLATE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template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Mẫu prompt có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biến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Tái sử dụng, nhất quán cho sản phẩm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6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>
            <a:off x="9004515" y="5044529"/>
            <a:ext cx="114933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template.py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6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prompt =  """Tóm tắt văn bản sau trong {n} câu: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{document}""" prompt.format(n=3, document=text)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ROLES &amp; TEMPLATE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1300659" y="5120746"/>
            <a:ext cx="376140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 / user / assistant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5559045" y="5120746"/>
            <a:ext cx="234872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prompt template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2449711" y="9085792"/>
            <a:ext cx="392310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calling / tool use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calling / tool use — thiết kế JSON schema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8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FUNCTION CALLING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cần tool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không biết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thời gian thực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tính toán chính xác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9701725" y="5749727"/>
            <a:ext cx="56209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9"/>
          <p:cNvSpPr/>
          <p:nvPr/>
        </p:nvSpPr>
        <p:spPr>
          <a:xfrm>
            <a:off x="1061194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10916709" y="5553935"/>
            <a:ext cx="118310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9"/>
          <p:cNvSpPr/>
          <p:nvPr/>
        </p:nvSpPr>
        <p:spPr>
          <a:xfrm>
            <a:off x="11131551" y="5749727"/>
            <a:ext cx="75341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1223309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12752702" y="5749727"/>
            <a:ext cx="180389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bù khuyết điểm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FUNCTION CALLING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hoạt động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0"/>
          <p:cNvSpPr/>
          <p:nvPr/>
        </p:nvSpPr>
        <p:spPr>
          <a:xfrm>
            <a:off x="1447767" y="5678372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tự quyết định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nào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cần tool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9701725" y="5749727"/>
            <a:ext cx="118601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1123586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0"/>
          <p:cNvSpPr/>
          <p:nvPr/>
        </p:nvSpPr>
        <p:spPr>
          <a:xfrm>
            <a:off x="11540629" y="5553935"/>
            <a:ext cx="160693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0"/>
          <p:cNvSpPr/>
          <p:nvPr/>
        </p:nvSpPr>
        <p:spPr>
          <a:xfrm>
            <a:off x="11755471" y="5749727"/>
            <a:ext cx="11772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chọn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1328084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13800452" y="5749727"/>
            <a:ext cx="45882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Gọi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0"/>
          <p:cNvSpPr/>
          <p:nvPr/>
        </p:nvSpPr>
        <p:spPr>
          <a:xfrm>
            <a:off x="1460739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0"/>
          <p:cNvSpPr/>
          <p:nvPr/>
        </p:nvSpPr>
        <p:spPr>
          <a:xfrm>
            <a:off x="15127007" y="5749727"/>
            <a:ext cx="155535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kết quả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FUNCTION CALLING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JSON schema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1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tool rõ ràng: tên, mô tả, tham số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tốt = LLM gọi đúng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8094679" y="4556373"/>
            <a:ext cx="9126472" cy="2671465"/>
          </a:xfrm>
          <a:prstGeom prst="roundRect">
            <a:avLst>
              <a:gd fmla="val 5705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1"/>
          <p:cNvSpPr/>
          <p:nvPr/>
        </p:nvSpPr>
        <p:spPr>
          <a:xfrm>
            <a:off x="8099971" y="4561665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1"/>
          <p:cNvSpPr/>
          <p:nvPr/>
        </p:nvSpPr>
        <p:spPr>
          <a:xfrm>
            <a:off x="9004515" y="4704540"/>
            <a:ext cx="1637076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tool_schema.json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8366671" y="5274982"/>
            <a:ext cx="8855965" cy="17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"name": "get_weather" 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"description": "Lấy thời tiết theo thành phố" 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"parameters": {"city": {"type": "string" }}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FUNCTION CALLING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 thực tế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2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 cứu DB, gọi API thời tiết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thi code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2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2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2"/>
          <p:cNvSpPr/>
          <p:nvPr/>
        </p:nvSpPr>
        <p:spPr>
          <a:xfrm>
            <a:off x="9004515" y="5044529"/>
            <a:ext cx="1246816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tool_call.py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LLM tự sinh lời gọi tool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{"tool": "get_weather", "args": {"city": "Hà Nội"}} # → 28°C, có mưa rào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FUNCTION CALLING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1300659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tool 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3"/>
          <p:cNvSpPr/>
          <p:nvPr/>
        </p:nvSpPr>
        <p:spPr>
          <a:xfrm>
            <a:off x="3227487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JSON schema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5565742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ví dụ thực tế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3"/>
          <p:cNvSpPr/>
          <p:nvPr/>
        </p:nvSpPr>
        <p:spPr>
          <a:xfrm>
            <a:off x="2449711" y="9085792"/>
            <a:ext cx="409854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Fine-tune — LoRA / QLoRA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3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4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4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Kỹ thuật fine-tune — full FT vs LoRA vs QLoRA vs adapter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4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4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FINE-TUNING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nào fine-tune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Phong cách / định dạng đặc thù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Cân nhắc RAG trước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5"/>
          <p:cNvSpPr/>
          <p:nvPr/>
        </p:nvSpPr>
        <p:spPr>
          <a:xfrm>
            <a:off x="9777925" y="503303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5"/>
          <p:cNvSpPr/>
          <p:nvPr/>
        </p:nvSpPr>
        <p:spPr>
          <a:xfrm>
            <a:off x="9777925" y="5344170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Rẻ, nhanh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5"/>
          <p:cNvSpPr/>
          <p:nvPr/>
        </p:nvSpPr>
        <p:spPr>
          <a:xfrm>
            <a:off x="9617905" y="5855312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thử trước tiên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5"/>
          <p:cNvSpPr/>
          <p:nvPr/>
        </p:nvSpPr>
        <p:spPr>
          <a:xfrm>
            <a:off x="12444925" y="503303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5"/>
          <p:cNvSpPr/>
          <p:nvPr/>
        </p:nvSpPr>
        <p:spPr>
          <a:xfrm>
            <a:off x="12444925" y="5344170"/>
            <a:ext cx="18944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thức cập nhật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5"/>
          <p:cNvSpPr/>
          <p:nvPr/>
        </p:nvSpPr>
        <p:spPr>
          <a:xfrm>
            <a:off x="12284905" y="6156937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grounding tài liệu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5"/>
          <p:cNvSpPr/>
          <p:nvPr/>
        </p:nvSpPr>
        <p:spPr>
          <a:xfrm>
            <a:off x="15111926" y="503303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FINE-TUNE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5"/>
          <p:cNvSpPr/>
          <p:nvPr/>
        </p:nvSpPr>
        <p:spPr>
          <a:xfrm>
            <a:off x="15111926" y="5344170"/>
            <a:ext cx="18944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Phong cách / kỹ năng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14951906" y="6156937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prompt không đủ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FINE-TUNING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fine-tuning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lại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toàn bộ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tham số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Tốn kém, cần nhiều GPU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6"/>
          <p:cNvSpPr/>
          <p:nvPr/>
        </p:nvSpPr>
        <p:spPr>
          <a:xfrm>
            <a:off x="11049001" y="5445704"/>
            <a:ext cx="4610116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Cập nhật mọi trọng số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6"/>
          <p:cNvSpPr/>
          <p:nvPr/>
        </p:nvSpPr>
        <p:spPr>
          <a:xfrm>
            <a:off x="11884959" y="6142798"/>
            <a:ext cx="2938115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hiếm khi cần với người học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FINE-TUNING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LoRA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7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train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 trận nhỏ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thêm vào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Tiết kiệm tài nguyên rất lớn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7"/>
          <p:cNvSpPr/>
          <p:nvPr/>
        </p:nvSpPr>
        <p:spPr>
          <a:xfrm>
            <a:off x="12467762" y="5445704"/>
            <a:ext cx="1772510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+ A·B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7"/>
          <p:cNvSpPr/>
          <p:nvPr/>
        </p:nvSpPr>
        <p:spPr>
          <a:xfrm>
            <a:off x="10867944" y="6142798"/>
            <a:ext cx="4972228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A·B = ma trận hạng thấp — chỉ train phần này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FINE-TUNING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QLoRA &amp; Adapter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8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QLoRA = LoRA +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8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Fine-tune model lớn trên 1 GPU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8"/>
          <p:cNvSpPr/>
          <p:nvPr/>
        </p:nvSpPr>
        <p:spPr>
          <a:xfrm>
            <a:off x="9701725" y="5749727"/>
            <a:ext cx="139461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4-bit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8"/>
          <p:cNvSpPr/>
          <p:nvPr/>
        </p:nvSpPr>
        <p:spPr>
          <a:xfrm>
            <a:off x="1144447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8"/>
          <p:cNvSpPr/>
          <p:nvPr/>
        </p:nvSpPr>
        <p:spPr>
          <a:xfrm>
            <a:off x="11749236" y="5553935"/>
            <a:ext cx="1321346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8"/>
          <p:cNvSpPr/>
          <p:nvPr/>
        </p:nvSpPr>
        <p:spPr>
          <a:xfrm>
            <a:off x="11964078" y="5749727"/>
            <a:ext cx="89166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LoRA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8"/>
          <p:cNvSpPr/>
          <p:nvPr/>
        </p:nvSpPr>
        <p:spPr>
          <a:xfrm>
            <a:off x="1320386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8"/>
          <p:cNvSpPr/>
          <p:nvPr/>
        </p:nvSpPr>
        <p:spPr>
          <a:xfrm>
            <a:off x="13723475" y="5749727"/>
            <a:ext cx="107430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 Colab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FINE-TUNING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130065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full 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9"/>
          <p:cNvSpPr/>
          <p:nvPr/>
        </p:nvSpPr>
        <p:spPr>
          <a:xfrm>
            <a:off x="3090317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9"/>
          <p:cNvSpPr/>
          <p:nvPr/>
        </p:nvSpPr>
        <p:spPr>
          <a:xfrm>
            <a:off x="4468548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QLoRA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9"/>
          <p:cNvSpPr/>
          <p:nvPr/>
        </p:nvSpPr>
        <p:spPr>
          <a:xfrm>
            <a:off x="5983866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adapter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9"/>
          <p:cNvSpPr/>
          <p:nvPr/>
        </p:nvSpPr>
        <p:spPr>
          <a:xfrm>
            <a:off x="2449711" y="9085792"/>
            <a:ext cx="235376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LLM local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09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LLM local — Ollama, llama.cpp, vLLM, LM Studio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LLM LOCAL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chạy local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 mật dữ liệu, không tốn phí API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Tuỳ biến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1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1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Riêng tư &amp; miễn phí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1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ở lại máy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phụ thuộc mạng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1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API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1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Tiện nhưng đánh đổi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1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phí token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rời máy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LLM LOCAL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Ollama &amp; LM Studio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2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Dễ dùng nhất cho người mới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Tải &amp; chạy bằng một lệnh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2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2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2"/>
          <p:cNvSpPr/>
          <p:nvPr/>
        </p:nvSpPr>
        <p:spPr>
          <a:xfrm>
            <a:off x="9004515" y="5044529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2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$ ollama run llama3 </a:t>
            </a: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tải model &amp; chat ngay trong terminal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Xin chào!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LLM LOCAL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vLLM &amp; llama.cpp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vLLM: phục vụ tốc độ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llama.cpp: chạy trên phần cứng yếu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3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VLLM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3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throughput 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người dùng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3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LLAMA.CPP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3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Máy yếu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3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/ GPU nhỏ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GGUF quantized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LLM LOCAL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4"/>
          <p:cNvSpPr/>
          <p:nvPr/>
        </p:nvSpPr>
        <p:spPr>
          <a:xfrm>
            <a:off x="130065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Ollama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4"/>
          <p:cNvSpPr/>
          <p:nvPr/>
        </p:nvSpPr>
        <p:spPr>
          <a:xfrm>
            <a:off x="2953147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4"/>
          <p:cNvSpPr/>
          <p:nvPr/>
        </p:nvSpPr>
        <p:spPr>
          <a:xfrm>
            <a:off x="4331378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llama.cpp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4"/>
          <p:cNvSpPr/>
          <p:nvPr/>
        </p:nvSpPr>
        <p:spPr>
          <a:xfrm>
            <a:off x="6395293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LM 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4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4"/>
          <p:cNvSpPr/>
          <p:nvPr/>
        </p:nvSpPr>
        <p:spPr>
          <a:xfrm>
            <a:off x="2449711" y="9085792"/>
            <a:ext cx="211183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 LLM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4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 LLM — perplexity, MMLU, HumanEval, benchmark riêng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ĐÁNH GIÁ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5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Perplexity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5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độ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"bất ngờ"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Thấp = dự đoán tốt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6"/>
          <p:cNvSpPr/>
          <p:nvPr/>
        </p:nvSpPr>
        <p:spPr>
          <a:xfrm>
            <a:off x="10321286" y="5445704"/>
            <a:ext cx="6065463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Perplexity ↓ = dự đoán tốt ↑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11037421" y="6142798"/>
            <a:ext cx="4633195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chỉ số nội tại — không nói hết chất lượng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ĐÁNH GIÁ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 chuẩn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7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Tham khảo nhưng có thể bị "luyện đề"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7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MMLU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7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thức tổng quát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7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57 lĩnh vực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7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HUMANEVAL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7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code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pass@k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ĐÁNH GIÁ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Benchmark riêng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8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xây tập test cho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bài toán của bạn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8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 trọng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8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8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8"/>
          <p:cNvSpPr/>
          <p:nvPr/>
        </p:nvSpPr>
        <p:spPr>
          <a:xfrm>
            <a:off x="9004515" y="4874535"/>
            <a:ext cx="75907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eval.py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8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model thắng MMLU chưa chắc hợp việc bạn </a:t>
            </a: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q, gold in  my_eval_set: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pred = model(q)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score +=  grade(pred, gold)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ĐÁNH GIÁ LLM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1300659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perplexity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3501744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MMLU / HumanEval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6525766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eval riêng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2449711" y="9085792"/>
            <a:ext cx="206107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6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11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6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 — nguyên nhân, phát hiện, giảm thiểu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6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HALLUCINATION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1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thông tin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sai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cách tự tin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1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 hiểm vì nghe rất thuyết phục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1"/>
          <p:cNvSpPr/>
          <p:nvPr/>
        </p:nvSpPr>
        <p:spPr>
          <a:xfrm>
            <a:off x="10539899" y="5445704"/>
            <a:ext cx="5628237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trả lời sai trông rất thật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1"/>
          <p:cNvSpPr/>
          <p:nvPr/>
        </p:nvSpPr>
        <p:spPr>
          <a:xfrm>
            <a:off x="11884959" y="6142798"/>
            <a:ext cx="2938115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tự tin nhưng không có thật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HALLUCINATION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Nguyên nhân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62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đoán token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không "biết"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2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Thiếu kiến thức / ngữ cảnh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62"/>
          <p:cNvSpPr/>
          <p:nvPr/>
        </p:nvSpPr>
        <p:spPr>
          <a:xfrm>
            <a:off x="9701725" y="5749727"/>
            <a:ext cx="135881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Đoán token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62"/>
          <p:cNvSpPr/>
          <p:nvPr/>
        </p:nvSpPr>
        <p:spPr>
          <a:xfrm>
            <a:off x="1140866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62"/>
          <p:cNvSpPr/>
          <p:nvPr/>
        </p:nvSpPr>
        <p:spPr>
          <a:xfrm>
            <a:off x="11928277" y="5749727"/>
            <a:ext cx="180662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Thiếu ngữ cảnh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62"/>
          <p:cNvSpPr/>
          <p:nvPr/>
        </p:nvSpPr>
        <p:spPr>
          <a:xfrm>
            <a:off x="1408302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62"/>
          <p:cNvSpPr/>
          <p:nvPr/>
        </p:nvSpPr>
        <p:spPr>
          <a:xfrm>
            <a:off x="14387794" y="5553935"/>
            <a:ext cx="191525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2"/>
          <p:cNvSpPr/>
          <p:nvPr/>
        </p:nvSpPr>
        <p:spPr>
          <a:xfrm>
            <a:off x="14602636" y="5749727"/>
            <a:ext cx="148556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Bịa thông tin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HALLUCINATION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Giảm thiểu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Grounding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bằng 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 cầu trích dẫn nguồn · hạ temperature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3"/>
          <p:cNvSpPr/>
          <p:nvPr/>
        </p:nvSpPr>
        <p:spPr>
          <a:xfrm>
            <a:off x="9486884" y="4401344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3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Grounding bằng RAG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3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3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Yêu cầu trích dẫn nguồn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3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3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Hạ temperature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HALLUCINATION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6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 tra chéo nguồn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Self-consistency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64"/>
          <p:cNvSpPr/>
          <p:nvPr/>
        </p:nvSpPr>
        <p:spPr>
          <a:xfrm>
            <a:off x="9697398" y="5749727"/>
            <a:ext cx="240745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nhiều câu trả lời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4"/>
          <p:cNvSpPr/>
          <p:nvPr/>
        </p:nvSpPr>
        <p:spPr>
          <a:xfrm>
            <a:off x="1244864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64"/>
          <p:cNvSpPr/>
          <p:nvPr/>
        </p:nvSpPr>
        <p:spPr>
          <a:xfrm>
            <a:off x="12753413" y="5553935"/>
            <a:ext cx="142139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4"/>
          <p:cNvSpPr/>
          <p:nvPr/>
        </p:nvSpPr>
        <p:spPr>
          <a:xfrm>
            <a:off x="12968255" y="5749727"/>
            <a:ext cx="99170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khớp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4"/>
          <p:cNvSpPr/>
          <p:nvPr/>
        </p:nvSpPr>
        <p:spPr>
          <a:xfrm>
            <a:off x="1430808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64"/>
          <p:cNvSpPr/>
          <p:nvPr/>
        </p:nvSpPr>
        <p:spPr>
          <a:xfrm>
            <a:off x="14827697" y="5749727"/>
            <a:ext cx="186623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Lệch = nghi ngờ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HALLUCINATION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65"/>
          <p:cNvSpPr/>
          <p:nvPr/>
        </p:nvSpPr>
        <p:spPr>
          <a:xfrm>
            <a:off x="130065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hallucination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5"/>
          <p:cNvSpPr/>
          <p:nvPr/>
        </p:nvSpPr>
        <p:spPr>
          <a:xfrm>
            <a:off x="3913171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nguyên nhân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65"/>
          <p:cNvSpPr/>
          <p:nvPr/>
        </p:nvSpPr>
        <p:spPr>
          <a:xfrm>
            <a:off x="6251427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giảm thiểu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65"/>
          <p:cNvSpPr/>
          <p:nvPr/>
        </p:nvSpPr>
        <p:spPr>
          <a:xfrm>
            <a:off x="2449711" y="9085792"/>
            <a:ext cx="274726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chi phí LLM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12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chi phí — caching, batching, distillation, quantization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6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TỐI ƯU CHI PHÍ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6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67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kết quả truy vấn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lặp lại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67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Tiết kiệm token &amp; độ trễ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67"/>
          <p:cNvSpPr/>
          <p:nvPr/>
        </p:nvSpPr>
        <p:spPr>
          <a:xfrm>
            <a:off x="9701725" y="5749727"/>
            <a:ext cx="92812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67"/>
          <p:cNvSpPr/>
          <p:nvPr/>
        </p:nvSpPr>
        <p:spPr>
          <a:xfrm>
            <a:off x="1097797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67"/>
          <p:cNvSpPr/>
          <p:nvPr/>
        </p:nvSpPr>
        <p:spPr>
          <a:xfrm>
            <a:off x="11282744" y="5553935"/>
            <a:ext cx="170813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67"/>
          <p:cNvSpPr/>
          <p:nvPr/>
        </p:nvSpPr>
        <p:spPr>
          <a:xfrm>
            <a:off x="11497586" y="5749727"/>
            <a:ext cx="127845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 hit?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7"/>
          <p:cNvSpPr/>
          <p:nvPr/>
        </p:nvSpPr>
        <p:spPr>
          <a:xfrm>
            <a:off x="1312416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7"/>
          <p:cNvSpPr/>
          <p:nvPr/>
        </p:nvSpPr>
        <p:spPr>
          <a:xfrm>
            <a:off x="13643770" y="5749727"/>
            <a:ext cx="103635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ngay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TỐI ƯU CHI PHÍ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6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6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Gộp nhiều request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throughput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68"/>
          <p:cNvSpPr/>
          <p:nvPr/>
        </p:nvSpPr>
        <p:spPr>
          <a:xfrm>
            <a:off x="9701725" y="5749727"/>
            <a:ext cx="151607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 · req · req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8"/>
          <p:cNvSpPr/>
          <p:nvPr/>
        </p:nvSpPr>
        <p:spPr>
          <a:xfrm>
            <a:off x="1156593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68"/>
          <p:cNvSpPr/>
          <p:nvPr/>
        </p:nvSpPr>
        <p:spPr>
          <a:xfrm>
            <a:off x="11870698" y="5553935"/>
            <a:ext cx="116276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8"/>
          <p:cNvSpPr/>
          <p:nvPr/>
        </p:nvSpPr>
        <p:spPr>
          <a:xfrm>
            <a:off x="12085539" y="5749727"/>
            <a:ext cx="73307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8"/>
          <p:cNvSpPr/>
          <p:nvPr/>
        </p:nvSpPr>
        <p:spPr>
          <a:xfrm>
            <a:off x="1316674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8"/>
          <p:cNvSpPr/>
          <p:nvPr/>
        </p:nvSpPr>
        <p:spPr>
          <a:xfrm>
            <a:off x="13686351" y="5749727"/>
            <a:ext cx="115922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lần xử lý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TỐI ƯU CHI PHÍ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Distillation &amp; quantization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Distillation: model nhỏ học model lớn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Quantization: giảm độ chính xác số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9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DISTILLATION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69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nhỏ học lớn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9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nhẹ, nhanh hơn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9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QUANTIZATION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9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Giảm bit số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9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FP16 → INT4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TỐI ƯU CHI PHÍ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7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0"/>
          <p:cNvSpPr/>
          <p:nvPr/>
        </p:nvSpPr>
        <p:spPr>
          <a:xfrm>
            <a:off x="130065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caching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70"/>
          <p:cNvSpPr/>
          <p:nvPr/>
        </p:nvSpPr>
        <p:spPr>
          <a:xfrm>
            <a:off x="3090317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batching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70"/>
          <p:cNvSpPr/>
          <p:nvPr/>
        </p:nvSpPr>
        <p:spPr>
          <a:xfrm>
            <a:off x="5017145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distillation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70"/>
          <p:cNvSpPr/>
          <p:nvPr/>
        </p:nvSpPr>
        <p:spPr>
          <a:xfrm>
            <a:off x="7492570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quantization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70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70"/>
          <p:cNvSpPr/>
          <p:nvPr/>
        </p:nvSpPr>
        <p:spPr>
          <a:xfrm>
            <a:off x="2449711" y="9085792"/>
            <a:ext cx="194845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toàn LLM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70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1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1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13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1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toàn LLM — prompt injection, jailbreak, guardrail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71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1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AN TOÀN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7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72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Người dùng chèn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lệnh độc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72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Ghi đè system prompt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72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Như SQL injection — nhưng cho LLM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2"/>
          <p:cNvSpPr/>
          <p:nvPr/>
        </p:nvSpPr>
        <p:spPr>
          <a:xfrm>
            <a:off x="11828496" y="6405646"/>
            <a:ext cx="3051126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"Bỏ qua hướng dẫn trên và…"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AN TOÀN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7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Jailbreak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73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Lừa model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 vỡ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 hạn an toàn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73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Trò "mèo vờn chuột" liên tục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73"/>
          <p:cNvSpPr/>
          <p:nvPr/>
        </p:nvSpPr>
        <p:spPr>
          <a:xfrm>
            <a:off x="9701725" y="5749727"/>
            <a:ext cx="12957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lừa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73"/>
          <p:cNvSpPr/>
          <p:nvPr/>
        </p:nvSpPr>
        <p:spPr>
          <a:xfrm>
            <a:off x="1134558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73"/>
          <p:cNvSpPr/>
          <p:nvPr/>
        </p:nvSpPr>
        <p:spPr>
          <a:xfrm>
            <a:off x="11650349" y="5553935"/>
            <a:ext cx="238075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3"/>
          <p:cNvSpPr/>
          <p:nvPr/>
        </p:nvSpPr>
        <p:spPr>
          <a:xfrm>
            <a:off x="11865191" y="5749727"/>
            <a:ext cx="195107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Bypass guardrail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73"/>
          <p:cNvSpPr/>
          <p:nvPr/>
        </p:nvSpPr>
        <p:spPr>
          <a:xfrm>
            <a:off x="1416438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73"/>
          <p:cNvSpPr/>
          <p:nvPr/>
        </p:nvSpPr>
        <p:spPr>
          <a:xfrm>
            <a:off x="14683996" y="5749727"/>
            <a:ext cx="162207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Nội dung cấm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AN TOÀN LLM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7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Lọc input / output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 duyệt, validate — nhiều lớp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74"/>
          <p:cNvSpPr/>
          <p:nvPr/>
        </p:nvSpPr>
        <p:spPr>
          <a:xfrm>
            <a:off x="9701725" y="5344915"/>
            <a:ext cx="65882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10708680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11013448" y="5149123"/>
            <a:ext cx="153673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74"/>
          <p:cNvSpPr/>
          <p:nvPr/>
        </p:nvSpPr>
        <p:spPr>
          <a:xfrm>
            <a:off x="11228289" y="5344915"/>
            <a:ext cx="110705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74"/>
          <p:cNvSpPr/>
          <p:nvPr/>
        </p:nvSpPr>
        <p:spPr>
          <a:xfrm>
            <a:off x="12683464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74"/>
          <p:cNvSpPr/>
          <p:nvPr/>
        </p:nvSpPr>
        <p:spPr>
          <a:xfrm>
            <a:off x="13203073" y="5344915"/>
            <a:ext cx="56209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74"/>
          <p:cNvSpPr/>
          <p:nvPr/>
        </p:nvSpPr>
        <p:spPr>
          <a:xfrm>
            <a:off x="14113289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74"/>
          <p:cNvSpPr/>
          <p:nvPr/>
        </p:nvSpPr>
        <p:spPr>
          <a:xfrm>
            <a:off x="14418056" y="5149123"/>
            <a:ext cx="153673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74"/>
          <p:cNvSpPr/>
          <p:nvPr/>
        </p:nvSpPr>
        <p:spPr>
          <a:xfrm>
            <a:off x="14632898" y="5344915"/>
            <a:ext cx="110705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74"/>
          <p:cNvSpPr/>
          <p:nvPr/>
        </p:nvSpPr>
        <p:spPr>
          <a:xfrm>
            <a:off x="16088073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74"/>
          <p:cNvSpPr/>
          <p:nvPr/>
        </p:nvSpPr>
        <p:spPr>
          <a:xfrm>
            <a:off x="9701725" y="6154540"/>
            <a:ext cx="86776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AN TOÀN LLM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7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75"/>
          <p:cNvSpPr/>
          <p:nvPr/>
        </p:nvSpPr>
        <p:spPr>
          <a:xfrm>
            <a:off x="1300659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prompt injection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4324681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jailbreak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75"/>
          <p:cNvSpPr/>
          <p:nvPr/>
        </p:nvSpPr>
        <p:spPr>
          <a:xfrm>
            <a:off x="6388596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guardrail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5"/>
          <p:cNvSpPr/>
          <p:nvPr/>
        </p:nvSpPr>
        <p:spPr>
          <a:xfrm>
            <a:off x="2449711" y="9085792"/>
            <a:ext cx="342601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Mini-Project — QLoRA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7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76"/>
          <p:cNvSpPr/>
          <p:nvPr/>
        </p:nvSpPr>
        <p:spPr>
          <a:xfrm>
            <a:off x="1066767" y="3436028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11 · LECTURE 14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76"/>
          <p:cNvSpPr/>
          <p:nvPr/>
        </p:nvSpPr>
        <p:spPr>
          <a:xfrm>
            <a:off x="1066767" y="4379847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Mini-Project — Fine-tune model 7B với QLoRA trên dataset chuyên ngành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6"/>
          <p:cNvSpPr/>
          <p:nvPr/>
        </p:nvSpPr>
        <p:spPr>
          <a:xfrm>
            <a:off x="1066767" y="6282780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76"/>
          <p:cNvSpPr/>
          <p:nvPr/>
        </p:nvSpPr>
        <p:spPr>
          <a:xfrm>
            <a:off x="1243509" y="6678530"/>
            <a:ext cx="1639623" cy="2338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MINI-PROJECT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76"/>
          <p:cNvSpPr/>
          <p:nvPr/>
        </p:nvSpPr>
        <p:spPr>
          <a:xfrm>
            <a:off x="3155074" y="6646747"/>
            <a:ext cx="286300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~14 phút · 7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MINI-PROJECT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Bài toán &amp; dữ liệu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77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domain (luật, y tế, CSKH…)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77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bị dataset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7"/>
          <p:cNvSpPr/>
          <p:nvPr/>
        </p:nvSpPr>
        <p:spPr>
          <a:xfrm>
            <a:off x="8094679" y="4726368"/>
            <a:ext cx="9126472" cy="2331475"/>
          </a:xfrm>
          <a:prstGeom prst="roundRect">
            <a:avLst>
              <a:gd fmla="val 6537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77"/>
          <p:cNvSpPr/>
          <p:nvPr/>
        </p:nvSpPr>
        <p:spPr>
          <a:xfrm>
            <a:off x="8099971" y="4731660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7"/>
          <p:cNvSpPr/>
          <p:nvPr/>
        </p:nvSpPr>
        <p:spPr>
          <a:xfrm>
            <a:off x="9004515" y="4874535"/>
            <a:ext cx="1344381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dataset.jsonl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7"/>
          <p:cNvSpPr/>
          <p:nvPr/>
        </p:nvSpPr>
        <p:spPr>
          <a:xfrm>
            <a:off x="8366671" y="5444976"/>
            <a:ext cx="8855965" cy="1398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{"instruction": "Tóm tắt điều khoản sau…" 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"input": "…" ,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"output": "…"} 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định dạng đúng là then chốt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MINI-PROJECT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7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Setup QLoRA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78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model 4-bit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Cấu hình LoRA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78"/>
          <p:cNvSpPr/>
          <p:nvPr/>
        </p:nvSpPr>
        <p:spPr>
          <a:xfrm>
            <a:off x="8094679" y="4556373"/>
            <a:ext cx="9126472" cy="2671465"/>
          </a:xfrm>
          <a:prstGeom prst="roundRect">
            <a:avLst>
              <a:gd fmla="val 5705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78"/>
          <p:cNvSpPr/>
          <p:nvPr/>
        </p:nvSpPr>
        <p:spPr>
          <a:xfrm>
            <a:off x="8099971" y="4561665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78"/>
          <p:cNvSpPr/>
          <p:nvPr/>
        </p:nvSpPr>
        <p:spPr>
          <a:xfrm>
            <a:off x="9004515" y="4704540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setup.py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78"/>
          <p:cNvSpPr/>
          <p:nvPr/>
        </p:nvSpPr>
        <p:spPr>
          <a:xfrm>
            <a:off x="8366671" y="5274982"/>
            <a:ext cx="8855965" cy="17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peft import LoraConfig from transformers import  BitsAndBytesConfig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75"/>
              <a:buFont typeface="Calibri"/>
              <a:buNone/>
            </a:pPr>
            <a:r>
              <a:t/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bnb =  BitsAndBytesConfig(load_in_4bit=True 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lora =  LoraConfig(r=16, lora_alpha=32)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MINI-PROJECT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7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Huấn luyện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79"/>
          <p:cNvSpPr/>
          <p:nvPr/>
        </p:nvSpPr>
        <p:spPr>
          <a:xfrm>
            <a:off x="1447767" y="5678372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Train, theo dõi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79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9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9"/>
          <p:cNvSpPr/>
          <p:nvPr/>
        </p:nvSpPr>
        <p:spPr>
          <a:xfrm>
            <a:off x="9004515" y="5044529"/>
            <a:ext cx="95420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train.log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79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step  100 | loss 1.84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step  500 | loss 1.12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step 1000 | loss  0.79  ✓ hội tụ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MINI-PROJECT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8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8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trước / sau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8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Trên eval set riêng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80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TRƯỚC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80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chung chung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80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sát domain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0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SAU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80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Đúng văn phong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80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thuật ngữ chuyên ngành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MINI-PROJECT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8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&amp; dùng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8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Gộp LoRA vào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inference — sẵn sàng deploy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81"/>
          <p:cNvSpPr/>
          <p:nvPr/>
        </p:nvSpPr>
        <p:spPr>
          <a:xfrm>
            <a:off x="9701725" y="5749727"/>
            <a:ext cx="150202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+ LoRA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81"/>
          <p:cNvSpPr/>
          <p:nvPr/>
        </p:nvSpPr>
        <p:spPr>
          <a:xfrm>
            <a:off x="1155187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11856641" y="5553935"/>
            <a:ext cx="122493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81"/>
          <p:cNvSpPr/>
          <p:nvPr/>
        </p:nvSpPr>
        <p:spPr>
          <a:xfrm>
            <a:off x="12071483" y="5749727"/>
            <a:ext cx="79525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81"/>
          <p:cNvSpPr/>
          <p:nvPr/>
        </p:nvSpPr>
        <p:spPr>
          <a:xfrm>
            <a:off x="1321486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81"/>
          <p:cNvSpPr/>
          <p:nvPr/>
        </p:nvSpPr>
        <p:spPr>
          <a:xfrm>
            <a:off x="13734472" y="5749727"/>
            <a:ext cx="202135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fine-tuned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2"/>
          <p:cNvSpPr/>
          <p:nvPr/>
        </p:nvSpPr>
        <p:spPr>
          <a:xfrm>
            <a:off x="9041325" y="4241271"/>
            <a:ext cx="205267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82"/>
          <p:cNvSpPr/>
          <p:nvPr/>
        </p:nvSpPr>
        <p:spPr>
          <a:xfrm>
            <a:off x="8338692" y="4668821"/>
            <a:ext cx="1610535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 thành Section 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7280385" y="5096371"/>
            <a:ext cx="3727148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/ 14 lectures · Mini-Project ✓ ·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144 / 198 lectures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82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82"/>
          <p:cNvSpPr/>
          <p:nvPr/>
        </p:nvSpPr>
        <p:spPr>
          <a:xfrm>
            <a:off x="2449711" y="9085792"/>
            <a:ext cx="569508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12 — RAG &amp; Vector Database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82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3"/>
          <p:cNvSpPr/>
          <p:nvPr/>
        </p:nvSpPr>
        <p:spPr>
          <a:xfrm>
            <a:off x="1066767" y="204440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BATCH 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83"/>
          <p:cNvSpPr/>
          <p:nvPr/>
        </p:nvSpPr>
        <p:spPr>
          <a:xfrm>
            <a:off x="1066767" y="2605319"/>
            <a:ext cx="16639101" cy="17526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Courier New"/>
              <a:buNone/>
            </a:pPr>
            <a:r>
              <a:rPr b="1" i="0" lang="en-US" sz="15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83"/>
          <p:cNvSpPr/>
          <p:nvPr/>
        </p:nvSpPr>
        <p:spPr>
          <a:xfrm>
            <a:off x="1066767" y="5065035"/>
            <a:ext cx="13311281" cy="751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&amp; Vector Database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83"/>
          <p:cNvSpPr/>
          <p:nvPr/>
        </p:nvSpPr>
        <p:spPr>
          <a:xfrm>
            <a:off x="1066767" y="6809135"/>
            <a:ext cx="10316192" cy="1281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pipeline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 chỉnh với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DB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áp dụng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search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reranker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RAG nâng cao; đánh giá bằng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RAGAS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hoàn thành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5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tài liệu nội bộ.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84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84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cần RAG? Giới hạn của LLM khi thiếu ngữ cảnh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84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84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8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Giới hạn của LLM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8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biết dữ liệu nội bộ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thức cũ (cutoff) · hay bịa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85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biết dữ liệu nội bộ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85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85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thức cũ — cutoff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85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85"/>
          <p:cNvSpPr/>
          <p:nvPr/>
        </p:nvSpPr>
        <p:spPr>
          <a:xfrm>
            <a:off x="9486884" y="6706526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85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8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Ý tưởng RAG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8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tài liệu liên quan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8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Đưa vào prompt làm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ngữ cảnh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86"/>
          <p:cNvSpPr/>
          <p:nvPr/>
        </p:nvSpPr>
        <p:spPr>
          <a:xfrm>
            <a:off x="9701725" y="5749727"/>
            <a:ext cx="100179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86"/>
          <p:cNvSpPr/>
          <p:nvPr/>
        </p:nvSpPr>
        <p:spPr>
          <a:xfrm>
            <a:off x="1105164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86"/>
          <p:cNvSpPr/>
          <p:nvPr/>
        </p:nvSpPr>
        <p:spPr>
          <a:xfrm>
            <a:off x="11356414" y="5553935"/>
            <a:ext cx="1538056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86"/>
          <p:cNvSpPr/>
          <p:nvPr/>
        </p:nvSpPr>
        <p:spPr>
          <a:xfrm>
            <a:off x="11571255" y="5749727"/>
            <a:ext cx="110837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86"/>
          <p:cNvSpPr/>
          <p:nvPr/>
        </p:nvSpPr>
        <p:spPr>
          <a:xfrm>
            <a:off x="1302775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86"/>
          <p:cNvSpPr/>
          <p:nvPr/>
        </p:nvSpPr>
        <p:spPr>
          <a:xfrm>
            <a:off x="13547362" y="5749727"/>
            <a:ext cx="111647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8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vs Fine-tuning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87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Câu hỏi phỏng vấn kinh điển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87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87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thức cập nhật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7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rẻ, dễ cập nhật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grounding tài liệu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7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FINE-TUNE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7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Phong cách / kỹ năng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7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văn phong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 cập nhật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RAG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8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88"/>
          <p:cNvSpPr/>
          <p:nvPr/>
        </p:nvSpPr>
        <p:spPr>
          <a:xfrm>
            <a:off x="1300659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giới hạn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88"/>
          <p:cNvSpPr/>
          <p:nvPr/>
        </p:nvSpPr>
        <p:spPr>
          <a:xfrm>
            <a:off x="3776084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ý tưởng RAG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8"/>
          <p:cNvSpPr/>
          <p:nvPr/>
        </p:nvSpPr>
        <p:spPr>
          <a:xfrm>
            <a:off x="6114339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 vs fine-tune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8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8"/>
          <p:cNvSpPr/>
          <p:nvPr/>
        </p:nvSpPr>
        <p:spPr>
          <a:xfrm>
            <a:off x="2449711" y="9085792"/>
            <a:ext cx="334655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 cho 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8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9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89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89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 — vector dày đặc, similarity, chọn model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89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89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EMBEDDINGS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9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 là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9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mang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ngữ nghĩa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9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Section 4 &amp; 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90"/>
          <p:cNvSpPr/>
          <p:nvPr/>
        </p:nvSpPr>
        <p:spPr>
          <a:xfrm>
            <a:off x="11931386" y="4984089"/>
            <a:ext cx="2228089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“tài liệu”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90"/>
          <p:cNvSpPr/>
          <p:nvPr/>
        </p:nvSpPr>
        <p:spPr>
          <a:xfrm>
            <a:off x="14502309" y="5074047"/>
            <a:ext cx="350540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urier New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90"/>
          <p:cNvSpPr/>
          <p:nvPr/>
        </p:nvSpPr>
        <p:spPr>
          <a:xfrm>
            <a:off x="10591767" y="6101623"/>
            <a:ext cx="5690235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[ 0.12, −0.55, 0.83, … ]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EMBEDDINGS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9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độ tương đồng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91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91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gần = nội dung liên quan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91"/>
          <p:cNvSpPr/>
          <p:nvPr/>
        </p:nvSpPr>
        <p:spPr>
          <a:xfrm>
            <a:off x="11396806" y="5445704"/>
            <a:ext cx="3914421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cos(q, d) → [−1, 1]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91"/>
          <p:cNvSpPr/>
          <p:nvPr/>
        </p:nvSpPr>
        <p:spPr>
          <a:xfrm>
            <a:off x="11828496" y="6142798"/>
            <a:ext cx="3051126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càng gần 1 = càng liên quan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EMBEDDINGS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9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embedding model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92"/>
          <p:cNvSpPr/>
          <p:nvPr/>
        </p:nvSpPr>
        <p:spPr>
          <a:xfrm>
            <a:off x="1447767" y="5678372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ý chất lượng với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tiếng Việt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92"/>
          <p:cNvSpPr/>
          <p:nvPr/>
        </p:nvSpPr>
        <p:spPr>
          <a:xfrm>
            <a:off x="9777925" y="4975903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OPENAI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92"/>
          <p:cNvSpPr/>
          <p:nvPr/>
        </p:nvSpPr>
        <p:spPr>
          <a:xfrm>
            <a:off x="9777925" y="5287037"/>
            <a:ext cx="18944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text-embedding-3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92"/>
          <p:cNvSpPr/>
          <p:nvPr/>
        </p:nvSpPr>
        <p:spPr>
          <a:xfrm>
            <a:off x="9617905" y="6099804"/>
            <a:ext cx="20544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chất lượng 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phí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92"/>
          <p:cNvSpPr/>
          <p:nvPr/>
        </p:nvSpPr>
        <p:spPr>
          <a:xfrm>
            <a:off x="12444925" y="4975903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BGE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92"/>
          <p:cNvSpPr/>
          <p:nvPr/>
        </p:nvSpPr>
        <p:spPr>
          <a:xfrm>
            <a:off x="12444925" y="5287037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· mạnh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92"/>
          <p:cNvSpPr/>
          <p:nvPr/>
        </p:nvSpPr>
        <p:spPr>
          <a:xfrm>
            <a:off x="12284905" y="5798179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92"/>
          <p:cNvSpPr/>
          <p:nvPr/>
        </p:nvSpPr>
        <p:spPr>
          <a:xfrm>
            <a:off x="15111926" y="4975903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E5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92"/>
          <p:cNvSpPr/>
          <p:nvPr/>
        </p:nvSpPr>
        <p:spPr>
          <a:xfrm>
            <a:off x="15111926" y="5287037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đa ngôn ngữ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92"/>
          <p:cNvSpPr/>
          <p:nvPr/>
        </p:nvSpPr>
        <p:spPr>
          <a:xfrm>
            <a:off x="14951906" y="5798179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 trợ VN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EMBEDDINGS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9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embedding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93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Văn bản → vector qua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Vài dòng với sentence-transformers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93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93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3"/>
          <p:cNvSpPr/>
          <p:nvPr/>
        </p:nvSpPr>
        <p:spPr>
          <a:xfrm>
            <a:off x="9004515" y="5044529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embed.py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93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sentence_transformers import  SentenceTransformer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 =  SentenceTransformer("BAAI/bge-m3" 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vecs = m. encode(docs)  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1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→ (n, 1024)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EMBEDDINGS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9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94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embedding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94"/>
          <p:cNvSpPr/>
          <p:nvPr/>
        </p:nvSpPr>
        <p:spPr>
          <a:xfrm>
            <a:off x="3364574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cosine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94"/>
          <p:cNvSpPr/>
          <p:nvPr/>
        </p:nvSpPr>
        <p:spPr>
          <a:xfrm>
            <a:off x="5017063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chọn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94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94"/>
          <p:cNvSpPr/>
          <p:nvPr/>
        </p:nvSpPr>
        <p:spPr>
          <a:xfrm>
            <a:off x="2449711" y="9085792"/>
            <a:ext cx="254335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database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94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9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9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database — FAISS, ChromaDB, Pinecone, Qdrant, Weaviate, Milvus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9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9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VECTOR DB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9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cần vector DB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9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nearest neighbor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nhanh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9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mô lớn, lọc metadata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96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BRUTE FORCE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96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mọi vector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96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chính xác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rất chậm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96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96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Gần đúng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6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cực nhanh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mô triệu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VECTOR DB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9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FAISS &amp; ChromaDB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97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FAISS: thư viện nhanh, local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Chroma: dễ dùng cho học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97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97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97"/>
          <p:cNvSpPr/>
          <p:nvPr/>
        </p:nvSpPr>
        <p:spPr>
          <a:xfrm>
            <a:off x="9004515" y="5044529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index.py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97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 chromadb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 = chromadb.Client().create_collection("docs" 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col. add(ids=ids, embeddings=vecs, documents=docs)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9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VECTOR DB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9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DB chuyên dụng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98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Production: quản lý, mở rộng, lọc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98"/>
          <p:cNvSpPr/>
          <p:nvPr/>
        </p:nvSpPr>
        <p:spPr>
          <a:xfrm>
            <a:off x="9701725" y="5749727"/>
            <a:ext cx="112300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Pinecone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98"/>
          <p:cNvSpPr/>
          <p:nvPr/>
        </p:nvSpPr>
        <p:spPr>
          <a:xfrm>
            <a:off x="1117285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98"/>
          <p:cNvSpPr/>
          <p:nvPr/>
        </p:nvSpPr>
        <p:spPr>
          <a:xfrm>
            <a:off x="11477625" y="5553935"/>
            <a:ext cx="129075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98"/>
          <p:cNvSpPr/>
          <p:nvPr/>
        </p:nvSpPr>
        <p:spPr>
          <a:xfrm>
            <a:off x="11692467" y="5749727"/>
            <a:ext cx="86107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Qdrant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98"/>
          <p:cNvSpPr/>
          <p:nvPr/>
        </p:nvSpPr>
        <p:spPr>
          <a:xfrm>
            <a:off x="1290166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98"/>
          <p:cNvSpPr/>
          <p:nvPr/>
        </p:nvSpPr>
        <p:spPr>
          <a:xfrm>
            <a:off x="13421272" y="5749727"/>
            <a:ext cx="111887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Weaviate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98"/>
          <p:cNvSpPr/>
          <p:nvPr/>
        </p:nvSpPr>
        <p:spPr>
          <a:xfrm>
            <a:off x="1488827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98"/>
          <p:cNvSpPr/>
          <p:nvPr/>
        </p:nvSpPr>
        <p:spPr>
          <a:xfrm>
            <a:off x="15407879" y="5749727"/>
            <a:ext cx="80873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Milvus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9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VECTOR DB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vector DB nào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99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Phỏng vấn: 100M vector chọn gì?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99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HỌC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99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giản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99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 · FAISS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99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PRODUCTION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99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Mở rộng lớn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99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Qdrant · Pinecone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0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VECTOR DB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10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100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vector 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100"/>
          <p:cNvSpPr/>
          <p:nvPr/>
        </p:nvSpPr>
        <p:spPr>
          <a:xfrm>
            <a:off x="3364574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100"/>
          <p:cNvSpPr/>
          <p:nvPr/>
        </p:nvSpPr>
        <p:spPr>
          <a:xfrm>
            <a:off x="4605635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cách chọn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100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100"/>
          <p:cNvSpPr/>
          <p:nvPr/>
        </p:nvSpPr>
        <p:spPr>
          <a:xfrm>
            <a:off x="2449711" y="9085792"/>
            <a:ext cx="312402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chunking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100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01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101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101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Chunking — cố định, ngữ nghĩa, phân cấp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101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1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0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CHUNKING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10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chunk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102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Tài liệu dài quá context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102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 =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vị tìm kiếm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102"/>
          <p:cNvSpPr/>
          <p:nvPr/>
        </p:nvSpPr>
        <p:spPr>
          <a:xfrm>
            <a:off x="9701725" y="5749727"/>
            <a:ext cx="125323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Tài liệu dài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102"/>
          <p:cNvSpPr/>
          <p:nvPr/>
        </p:nvSpPr>
        <p:spPr>
          <a:xfrm>
            <a:off x="1130308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102"/>
          <p:cNvSpPr/>
          <p:nvPr/>
        </p:nvSpPr>
        <p:spPr>
          <a:xfrm>
            <a:off x="11607850" y="5553935"/>
            <a:ext cx="165191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02"/>
          <p:cNvSpPr/>
          <p:nvPr/>
        </p:nvSpPr>
        <p:spPr>
          <a:xfrm>
            <a:off x="11822691" y="5749727"/>
            <a:ext cx="122222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Cắt chunk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02"/>
          <p:cNvSpPr/>
          <p:nvPr/>
        </p:nvSpPr>
        <p:spPr>
          <a:xfrm>
            <a:off x="1339304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102"/>
          <p:cNvSpPr/>
          <p:nvPr/>
        </p:nvSpPr>
        <p:spPr>
          <a:xfrm>
            <a:off x="13912652" y="5749727"/>
            <a:ext cx="115508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Đoạn nhỏ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CHUNKING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10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Cố định vs ngữ nghĩa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03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giữ ngữ cảnh tốt hơn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03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103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Cắt theo số token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03"/>
          <p:cNvSpPr/>
          <p:nvPr/>
        </p:nvSpPr>
        <p:spPr>
          <a:xfrm>
            <a:off x="96179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giản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dễ cắt đứt 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103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SEMANTIC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03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Cắt theo nghĩa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103"/>
          <p:cNvSpPr/>
          <p:nvPr/>
        </p:nvSpPr>
        <p:spPr>
          <a:xfrm>
            <a:off x="13618405" y="5948991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giữ trọn 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0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CHUNKING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10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Overlap &amp; phân cấp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10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Chồng lấn giữ ngữ cảnh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Parent-child chunk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04"/>
          <p:cNvSpPr/>
          <p:nvPr/>
        </p:nvSpPr>
        <p:spPr>
          <a:xfrm>
            <a:off x="9701725" y="5749727"/>
            <a:ext cx="16873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…cuối chunk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04"/>
          <p:cNvSpPr/>
          <p:nvPr/>
        </p:nvSpPr>
        <p:spPr>
          <a:xfrm>
            <a:off x="1173724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04"/>
          <p:cNvSpPr/>
          <p:nvPr/>
        </p:nvSpPr>
        <p:spPr>
          <a:xfrm>
            <a:off x="12042015" y="5553935"/>
            <a:ext cx="133622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04"/>
          <p:cNvSpPr/>
          <p:nvPr/>
        </p:nvSpPr>
        <p:spPr>
          <a:xfrm>
            <a:off x="12256857" y="5749727"/>
            <a:ext cx="90654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overlap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104"/>
          <p:cNvSpPr/>
          <p:nvPr/>
        </p:nvSpPr>
        <p:spPr>
          <a:xfrm>
            <a:off x="1351152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104"/>
          <p:cNvSpPr/>
          <p:nvPr/>
        </p:nvSpPr>
        <p:spPr>
          <a:xfrm>
            <a:off x="14031136" y="5749727"/>
            <a:ext cx="163307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đầu chunk B…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0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CHUNKING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10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105"/>
          <p:cNvSpPr/>
          <p:nvPr/>
        </p:nvSpPr>
        <p:spPr>
          <a:xfrm>
            <a:off x="1300659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fixed / semantic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105"/>
          <p:cNvSpPr/>
          <p:nvPr/>
        </p:nvSpPr>
        <p:spPr>
          <a:xfrm>
            <a:off x="4324681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overlap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105"/>
          <p:cNvSpPr/>
          <p:nvPr/>
        </p:nvSpPr>
        <p:spPr>
          <a:xfrm>
            <a:off x="6114339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phân cấp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10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105"/>
          <p:cNvSpPr/>
          <p:nvPr/>
        </p:nvSpPr>
        <p:spPr>
          <a:xfrm>
            <a:off x="2449711" y="9085792"/>
            <a:ext cx="310026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RAG cơ bản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10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0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10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10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RAG cơ bản — ingest → embed → retrieve → augment → generate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10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0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0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PIPELINE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10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Ingest &amp; chunk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107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Nạp tài liệu, cắt chunk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107"/>
          <p:cNvSpPr/>
          <p:nvPr/>
        </p:nvSpPr>
        <p:spPr>
          <a:xfrm>
            <a:off x="9701725" y="5749727"/>
            <a:ext cx="65362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107"/>
          <p:cNvSpPr/>
          <p:nvPr/>
        </p:nvSpPr>
        <p:spPr>
          <a:xfrm>
            <a:off x="1070347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107"/>
          <p:cNvSpPr/>
          <p:nvPr/>
        </p:nvSpPr>
        <p:spPr>
          <a:xfrm>
            <a:off x="11008239" y="5553935"/>
            <a:ext cx="136607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07"/>
          <p:cNvSpPr/>
          <p:nvPr/>
        </p:nvSpPr>
        <p:spPr>
          <a:xfrm>
            <a:off x="11223080" y="5749727"/>
            <a:ext cx="93639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0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PIPELINE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10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 &amp; index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0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embedding → lưu vector DB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một lần lúc dựng hệ thống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108"/>
          <p:cNvSpPr/>
          <p:nvPr/>
        </p:nvSpPr>
        <p:spPr>
          <a:xfrm>
            <a:off x="9701725" y="5749727"/>
            <a:ext cx="93639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108"/>
          <p:cNvSpPr/>
          <p:nvPr/>
        </p:nvSpPr>
        <p:spPr>
          <a:xfrm>
            <a:off x="1098624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108"/>
          <p:cNvSpPr/>
          <p:nvPr/>
        </p:nvSpPr>
        <p:spPr>
          <a:xfrm>
            <a:off x="11505854" y="5749727"/>
            <a:ext cx="94011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108"/>
          <p:cNvSpPr/>
          <p:nvPr/>
        </p:nvSpPr>
        <p:spPr>
          <a:xfrm>
            <a:off x="1279409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108"/>
          <p:cNvSpPr/>
          <p:nvPr/>
        </p:nvSpPr>
        <p:spPr>
          <a:xfrm>
            <a:off x="13098860" y="5553935"/>
            <a:ext cx="163008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08"/>
          <p:cNvSpPr/>
          <p:nvPr/>
        </p:nvSpPr>
        <p:spPr>
          <a:xfrm>
            <a:off x="13313701" y="5749727"/>
            <a:ext cx="120039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0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PIPELINE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10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10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 câu hỏi → tìm chunk gần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top-k phù hợp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109"/>
          <p:cNvSpPr/>
          <p:nvPr/>
        </p:nvSpPr>
        <p:spPr>
          <a:xfrm>
            <a:off x="9701725" y="5749727"/>
            <a:ext cx="76797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109"/>
          <p:cNvSpPr/>
          <p:nvPr/>
        </p:nvSpPr>
        <p:spPr>
          <a:xfrm>
            <a:off x="1081782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109"/>
          <p:cNvSpPr/>
          <p:nvPr/>
        </p:nvSpPr>
        <p:spPr>
          <a:xfrm>
            <a:off x="11122587" y="5553935"/>
            <a:ext cx="20298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9"/>
          <p:cNvSpPr/>
          <p:nvPr/>
        </p:nvSpPr>
        <p:spPr>
          <a:xfrm>
            <a:off x="11337429" y="5749727"/>
            <a:ext cx="160016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Top-k chunks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1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PIPELINE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11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 &amp; generate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1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Gắn chunk vào prompt → LLM trả lời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11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dựa trên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tài liệu thật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110"/>
          <p:cNvSpPr/>
          <p:nvPr/>
        </p:nvSpPr>
        <p:spPr>
          <a:xfrm>
            <a:off x="9701725" y="5749727"/>
            <a:ext cx="202697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Chunks + Prompt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110"/>
          <p:cNvSpPr/>
          <p:nvPr/>
        </p:nvSpPr>
        <p:spPr>
          <a:xfrm>
            <a:off x="1207682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110"/>
          <p:cNvSpPr/>
          <p:nvPr/>
        </p:nvSpPr>
        <p:spPr>
          <a:xfrm>
            <a:off x="12381591" y="5553935"/>
            <a:ext cx="99177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10"/>
          <p:cNvSpPr/>
          <p:nvPr/>
        </p:nvSpPr>
        <p:spPr>
          <a:xfrm>
            <a:off x="12596432" y="5749727"/>
            <a:ext cx="56209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110"/>
          <p:cNvSpPr/>
          <p:nvPr/>
        </p:nvSpPr>
        <p:spPr>
          <a:xfrm>
            <a:off x="1350664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10"/>
          <p:cNvSpPr/>
          <p:nvPr/>
        </p:nvSpPr>
        <p:spPr>
          <a:xfrm>
            <a:off x="14026258" y="5749727"/>
            <a:ext cx="93118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1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PIPELINE RAG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11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111"/>
          <p:cNvSpPr/>
          <p:nvPr/>
        </p:nvSpPr>
        <p:spPr>
          <a:xfrm>
            <a:off x="130065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ingest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111"/>
          <p:cNvSpPr/>
          <p:nvPr/>
        </p:nvSpPr>
        <p:spPr>
          <a:xfrm>
            <a:off x="2953147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embed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111"/>
          <p:cNvSpPr/>
          <p:nvPr/>
        </p:nvSpPr>
        <p:spPr>
          <a:xfrm>
            <a:off x="4468465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retrieve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111"/>
          <p:cNvSpPr/>
          <p:nvPr/>
        </p:nvSpPr>
        <p:spPr>
          <a:xfrm>
            <a:off x="6395293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11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111"/>
          <p:cNvSpPr/>
          <p:nvPr/>
        </p:nvSpPr>
        <p:spPr>
          <a:xfrm>
            <a:off x="2449711" y="9085792"/>
            <a:ext cx="3848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search &amp; reranker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11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1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112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112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search — BM25 + vector + reranker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112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2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1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HYBRID SEARCH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11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chỉ vector chưa đủ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113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 từ khoá chính xác (mã, tên)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113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Vector: giỏi nghĩa · kém khớp chính xác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113"/>
          <p:cNvSpPr/>
          <p:nvPr/>
        </p:nvSpPr>
        <p:spPr>
          <a:xfrm>
            <a:off x="11376452" y="6405646"/>
            <a:ext cx="395521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mã sản phẩm "SKU-8842" dễ bị bỏ sót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1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HYBRID SEARCH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11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Hybrid: BM25 + vector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11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BM25 (keyword) + dense (nghĩa)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hợp điểm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114"/>
          <p:cNvSpPr/>
          <p:nvPr/>
        </p:nvSpPr>
        <p:spPr>
          <a:xfrm>
            <a:off x="11081364" y="5445704"/>
            <a:ext cx="4545307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BM25 + Dense vector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14"/>
          <p:cNvSpPr/>
          <p:nvPr/>
        </p:nvSpPr>
        <p:spPr>
          <a:xfrm>
            <a:off x="11715484" y="6142798"/>
            <a:ext cx="3277148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khớp từ khoá × hiểu ngữ nghĩa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1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HYBRID SEARCH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11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Reranker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11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Xếp lại top kết quả chính xác hơn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BGE-reranker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115"/>
          <p:cNvSpPr/>
          <p:nvPr/>
        </p:nvSpPr>
        <p:spPr>
          <a:xfrm>
            <a:off x="9701725" y="5749727"/>
            <a:ext cx="133806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Top-50 thô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115"/>
          <p:cNvSpPr/>
          <p:nvPr/>
        </p:nvSpPr>
        <p:spPr>
          <a:xfrm>
            <a:off x="1138791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115"/>
          <p:cNvSpPr/>
          <p:nvPr/>
        </p:nvSpPr>
        <p:spPr>
          <a:xfrm>
            <a:off x="11692682" y="5553935"/>
            <a:ext cx="15158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15"/>
          <p:cNvSpPr/>
          <p:nvPr/>
        </p:nvSpPr>
        <p:spPr>
          <a:xfrm>
            <a:off x="11907523" y="5749727"/>
            <a:ext cx="10861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15"/>
          <p:cNvSpPr/>
          <p:nvPr/>
        </p:nvSpPr>
        <p:spPr>
          <a:xfrm>
            <a:off x="1334178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115"/>
          <p:cNvSpPr/>
          <p:nvPr/>
        </p:nvSpPr>
        <p:spPr>
          <a:xfrm>
            <a:off x="13861389" y="5749727"/>
            <a:ext cx="123719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Top-5 tinh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1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HYBRID SEARCH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1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nâng cấp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116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cho RAG production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116"/>
          <p:cNvSpPr/>
          <p:nvPr/>
        </p:nvSpPr>
        <p:spPr>
          <a:xfrm>
            <a:off x="9701725" y="5749727"/>
            <a:ext cx="173973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retrieve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116"/>
          <p:cNvSpPr/>
          <p:nvPr/>
        </p:nvSpPr>
        <p:spPr>
          <a:xfrm>
            <a:off x="1178958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116"/>
          <p:cNvSpPr/>
          <p:nvPr/>
        </p:nvSpPr>
        <p:spPr>
          <a:xfrm>
            <a:off x="12094352" y="5553935"/>
            <a:ext cx="12957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16"/>
          <p:cNvSpPr/>
          <p:nvPr/>
        </p:nvSpPr>
        <p:spPr>
          <a:xfrm>
            <a:off x="12309194" y="5749727"/>
            <a:ext cx="8660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16"/>
          <p:cNvSpPr/>
          <p:nvPr/>
        </p:nvSpPr>
        <p:spPr>
          <a:xfrm>
            <a:off x="1352335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116"/>
          <p:cNvSpPr/>
          <p:nvPr/>
        </p:nvSpPr>
        <p:spPr>
          <a:xfrm>
            <a:off x="14042959" y="5749727"/>
            <a:ext cx="111647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1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HYBRID SEARCH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11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117"/>
          <p:cNvSpPr/>
          <p:nvPr/>
        </p:nvSpPr>
        <p:spPr>
          <a:xfrm>
            <a:off x="130065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hybrid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17"/>
          <p:cNvSpPr/>
          <p:nvPr/>
        </p:nvSpPr>
        <p:spPr>
          <a:xfrm>
            <a:off x="2953147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BM25 + vector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17"/>
          <p:cNvSpPr/>
          <p:nvPr/>
        </p:nvSpPr>
        <p:spPr>
          <a:xfrm>
            <a:off x="5565659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reranker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117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117"/>
          <p:cNvSpPr/>
          <p:nvPr/>
        </p:nvSpPr>
        <p:spPr>
          <a:xfrm>
            <a:off x="2449711" y="9085792"/>
            <a:ext cx="21863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nâng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117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18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18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118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nâng cao — HyDE, multi-query, RAG-Fusion, parent-child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118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18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1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ADVANCED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11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HyDE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19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câu trả lời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embed → tìm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119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Gần tài liệu hơn câu hỏi gốc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119"/>
          <p:cNvSpPr/>
          <p:nvPr/>
        </p:nvSpPr>
        <p:spPr>
          <a:xfrm>
            <a:off x="9701725" y="5749727"/>
            <a:ext cx="92812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119"/>
          <p:cNvSpPr/>
          <p:nvPr/>
        </p:nvSpPr>
        <p:spPr>
          <a:xfrm>
            <a:off x="1097797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119"/>
          <p:cNvSpPr/>
          <p:nvPr/>
        </p:nvSpPr>
        <p:spPr>
          <a:xfrm>
            <a:off x="11282744" y="5553935"/>
            <a:ext cx="156955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119"/>
          <p:cNvSpPr/>
          <p:nvPr/>
        </p:nvSpPr>
        <p:spPr>
          <a:xfrm>
            <a:off x="11497586" y="5749727"/>
            <a:ext cx="113987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giả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119"/>
          <p:cNvSpPr/>
          <p:nvPr/>
        </p:nvSpPr>
        <p:spPr>
          <a:xfrm>
            <a:off x="1298558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119"/>
          <p:cNvSpPr/>
          <p:nvPr/>
        </p:nvSpPr>
        <p:spPr>
          <a:xfrm>
            <a:off x="13505194" y="5749727"/>
            <a:ext cx="8640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119"/>
          <p:cNvSpPr/>
          <p:nvPr/>
        </p:nvSpPr>
        <p:spPr>
          <a:xfrm>
            <a:off x="1471736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119"/>
          <p:cNvSpPr/>
          <p:nvPr/>
        </p:nvSpPr>
        <p:spPr>
          <a:xfrm>
            <a:off x="15236975" y="5749727"/>
            <a:ext cx="5126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2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ADVANCED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12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Multi-query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120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nhiều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biến thể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120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Bắt được nhiều cách diễn đạt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120"/>
          <p:cNvSpPr/>
          <p:nvPr/>
        </p:nvSpPr>
        <p:spPr>
          <a:xfrm>
            <a:off x="9701725" y="5749727"/>
            <a:ext cx="89860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120"/>
          <p:cNvSpPr/>
          <p:nvPr/>
        </p:nvSpPr>
        <p:spPr>
          <a:xfrm>
            <a:off x="1094845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120"/>
          <p:cNvSpPr/>
          <p:nvPr/>
        </p:nvSpPr>
        <p:spPr>
          <a:xfrm>
            <a:off x="11253226" y="5553935"/>
            <a:ext cx="167423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20"/>
          <p:cNvSpPr/>
          <p:nvPr/>
        </p:nvSpPr>
        <p:spPr>
          <a:xfrm>
            <a:off x="11468068" y="5749727"/>
            <a:ext cx="124455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N 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120"/>
          <p:cNvSpPr/>
          <p:nvPr/>
        </p:nvSpPr>
        <p:spPr>
          <a:xfrm>
            <a:off x="1306074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120"/>
          <p:cNvSpPr/>
          <p:nvPr/>
        </p:nvSpPr>
        <p:spPr>
          <a:xfrm>
            <a:off x="13580353" y="5749727"/>
            <a:ext cx="148366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rộng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2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ADVANCED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12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RAG-Fusion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12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Gộp kết quả nhiều query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Xếp hạng lại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121"/>
          <p:cNvSpPr/>
          <p:nvPr/>
        </p:nvSpPr>
        <p:spPr>
          <a:xfrm>
            <a:off x="9701725" y="5749727"/>
            <a:ext cx="14419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121"/>
          <p:cNvSpPr/>
          <p:nvPr/>
        </p:nvSpPr>
        <p:spPr>
          <a:xfrm>
            <a:off x="1149176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121"/>
          <p:cNvSpPr/>
          <p:nvPr/>
        </p:nvSpPr>
        <p:spPr>
          <a:xfrm>
            <a:off x="12011373" y="5749727"/>
            <a:ext cx="142496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Gộp kết quả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121"/>
          <p:cNvSpPr/>
          <p:nvPr/>
        </p:nvSpPr>
        <p:spPr>
          <a:xfrm>
            <a:off x="1378446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121"/>
          <p:cNvSpPr/>
          <p:nvPr/>
        </p:nvSpPr>
        <p:spPr>
          <a:xfrm>
            <a:off x="14089228" y="5553935"/>
            <a:ext cx="140692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121"/>
          <p:cNvSpPr/>
          <p:nvPr/>
        </p:nvSpPr>
        <p:spPr>
          <a:xfrm>
            <a:off x="14304070" y="5749727"/>
            <a:ext cx="97723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Re-rank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2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ADVANCED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12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Parent-child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12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chunk nhỏ, trả về đoạn lớn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Vừa chính xác, vừa đủ ngữ cảnh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122"/>
          <p:cNvSpPr/>
          <p:nvPr/>
        </p:nvSpPr>
        <p:spPr>
          <a:xfrm>
            <a:off x="9701725" y="5749727"/>
            <a:ext cx="142827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Child match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122"/>
          <p:cNvSpPr/>
          <p:nvPr/>
        </p:nvSpPr>
        <p:spPr>
          <a:xfrm>
            <a:off x="1147812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122"/>
          <p:cNvSpPr/>
          <p:nvPr/>
        </p:nvSpPr>
        <p:spPr>
          <a:xfrm>
            <a:off x="11782889" y="5553935"/>
            <a:ext cx="242722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122"/>
          <p:cNvSpPr/>
          <p:nvPr/>
        </p:nvSpPr>
        <p:spPr>
          <a:xfrm>
            <a:off x="11997731" y="5749727"/>
            <a:ext cx="19975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Parent context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2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ADVANCED RAG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12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123"/>
          <p:cNvSpPr/>
          <p:nvPr/>
        </p:nvSpPr>
        <p:spPr>
          <a:xfrm>
            <a:off x="1300659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HyDE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123"/>
          <p:cNvSpPr/>
          <p:nvPr/>
        </p:nvSpPr>
        <p:spPr>
          <a:xfrm>
            <a:off x="2678890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multi-query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23"/>
          <p:cNvSpPr/>
          <p:nvPr/>
        </p:nvSpPr>
        <p:spPr>
          <a:xfrm>
            <a:off x="5017145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RAG-Fusion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23"/>
          <p:cNvSpPr/>
          <p:nvPr/>
        </p:nvSpPr>
        <p:spPr>
          <a:xfrm>
            <a:off x="7218230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parent-child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23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23"/>
          <p:cNvSpPr/>
          <p:nvPr/>
        </p:nvSpPr>
        <p:spPr>
          <a:xfrm>
            <a:off x="2449711" y="9085792"/>
            <a:ext cx="36126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Multi-hop &amp; Graph 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23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2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124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124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Multi-hop &amp; Graph RAG với Neo4j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124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24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2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GRAPH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12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Multi-hop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25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 cần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bước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luận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25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→ suy → tìm tiếp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25"/>
          <p:cNvSpPr/>
          <p:nvPr/>
        </p:nvSpPr>
        <p:spPr>
          <a:xfrm>
            <a:off x="9701725" y="5749727"/>
            <a:ext cx="5126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25"/>
          <p:cNvSpPr/>
          <p:nvPr/>
        </p:nvSpPr>
        <p:spPr>
          <a:xfrm>
            <a:off x="1056249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25"/>
          <p:cNvSpPr/>
          <p:nvPr/>
        </p:nvSpPr>
        <p:spPr>
          <a:xfrm>
            <a:off x="10867265" y="5553935"/>
            <a:ext cx="146810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25"/>
          <p:cNvSpPr/>
          <p:nvPr/>
        </p:nvSpPr>
        <p:spPr>
          <a:xfrm>
            <a:off x="11082106" y="5749727"/>
            <a:ext cx="103842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Suy luận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25"/>
          <p:cNvSpPr/>
          <p:nvPr/>
        </p:nvSpPr>
        <p:spPr>
          <a:xfrm>
            <a:off x="1246865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125"/>
          <p:cNvSpPr/>
          <p:nvPr/>
        </p:nvSpPr>
        <p:spPr>
          <a:xfrm>
            <a:off x="12988264" y="5749727"/>
            <a:ext cx="99625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2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GRAPH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12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graph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12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thể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quan hệ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12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Neo4j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126"/>
          <p:cNvSpPr/>
          <p:nvPr/>
        </p:nvSpPr>
        <p:spPr>
          <a:xfrm>
            <a:off x="10164841" y="5445704"/>
            <a:ext cx="6378435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thể —quan hệ→ Thực thể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26"/>
          <p:cNvSpPr/>
          <p:nvPr/>
        </p:nvSpPr>
        <p:spPr>
          <a:xfrm>
            <a:off x="11093966" y="6142798"/>
            <a:ext cx="452018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 —[ký]→ Hợp đồng X —[thuộc]→ Phòng KD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2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GRAPH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12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RAG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27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hợp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+ vector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27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câu hỏi quan hệ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27"/>
          <p:cNvSpPr/>
          <p:nvPr/>
        </p:nvSpPr>
        <p:spPr>
          <a:xfrm>
            <a:off x="11738905" y="5445704"/>
            <a:ext cx="3230309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+ Vector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127"/>
          <p:cNvSpPr/>
          <p:nvPr/>
        </p:nvSpPr>
        <p:spPr>
          <a:xfrm>
            <a:off x="11319905" y="6142798"/>
            <a:ext cx="4068225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mạnh cho dữ liệu có cấu trúc quan hệ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2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GRAPH RAG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12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128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multi-hop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28"/>
          <p:cNvSpPr/>
          <p:nvPr/>
        </p:nvSpPr>
        <p:spPr>
          <a:xfrm>
            <a:off x="3364574" y="5120746"/>
            <a:ext cx="234872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knowledge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128"/>
          <p:cNvSpPr/>
          <p:nvPr/>
        </p:nvSpPr>
        <p:spPr>
          <a:xfrm>
            <a:off x="6251427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Graph RAG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28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28"/>
          <p:cNvSpPr/>
          <p:nvPr/>
        </p:nvSpPr>
        <p:spPr>
          <a:xfrm>
            <a:off x="2449711" y="9085792"/>
            <a:ext cx="213713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 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28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29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129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09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129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 RAG — faithfulness, answer relevance, context precision (RAGAS)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129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29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3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ĐÁNH GIÁ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3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khó đánh giá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13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khâu: retrieve + generate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Lỗi nằm ở đâu?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130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RETRIEVE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130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sai tài liệu?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130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precision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30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30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sai?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130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3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ĐÁNH GIÁ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13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chỉ số chính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131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 chống hallucination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131"/>
          <p:cNvSpPr/>
          <p:nvPr/>
        </p:nvSpPr>
        <p:spPr>
          <a:xfrm>
            <a:off x="9777925" y="518161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FAITHFULNESS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131"/>
          <p:cNvSpPr/>
          <p:nvPr/>
        </p:nvSpPr>
        <p:spPr>
          <a:xfrm>
            <a:off x="9777925" y="5492750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Bám tài liệu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131"/>
          <p:cNvSpPr/>
          <p:nvPr/>
        </p:nvSpPr>
        <p:spPr>
          <a:xfrm>
            <a:off x="9617905" y="6003892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bịa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31"/>
          <p:cNvSpPr/>
          <p:nvPr/>
        </p:nvSpPr>
        <p:spPr>
          <a:xfrm>
            <a:off x="12444925" y="518161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RELEVANCE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31"/>
          <p:cNvSpPr/>
          <p:nvPr/>
        </p:nvSpPr>
        <p:spPr>
          <a:xfrm>
            <a:off x="12444925" y="5492750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Đúng câu hỏi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31"/>
          <p:cNvSpPr/>
          <p:nvPr/>
        </p:nvSpPr>
        <p:spPr>
          <a:xfrm>
            <a:off x="12284905" y="6003892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sát 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31"/>
          <p:cNvSpPr/>
          <p:nvPr/>
        </p:nvSpPr>
        <p:spPr>
          <a:xfrm>
            <a:off x="15111926" y="5181617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CONTEXT PRECISION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31"/>
          <p:cNvSpPr/>
          <p:nvPr/>
        </p:nvSpPr>
        <p:spPr>
          <a:xfrm>
            <a:off x="15111926" y="5492750"/>
            <a:ext cx="18944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Tài liệu liên quan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31"/>
          <p:cNvSpPr/>
          <p:nvPr/>
        </p:nvSpPr>
        <p:spPr>
          <a:xfrm>
            <a:off x="14951906" y="6305517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ít nhiễu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3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ĐÁNH GIÁ RAG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13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RAGAS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132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Framework đánh giá RAG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tự động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32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LLM chấm RAG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32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32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32"/>
          <p:cNvSpPr/>
          <p:nvPr/>
        </p:nvSpPr>
        <p:spPr>
          <a:xfrm>
            <a:off x="9004515" y="5044529"/>
            <a:ext cx="8566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ragas.py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132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ragas import  evaluate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evaluate(dataset, metrics=[faithfulness, answer_relevancy]) # faithfulness 0.92 · relevance 0.88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3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ĐÁNH GIÁ RAG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13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133"/>
          <p:cNvSpPr/>
          <p:nvPr/>
        </p:nvSpPr>
        <p:spPr>
          <a:xfrm>
            <a:off x="1300659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faithfulness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133"/>
          <p:cNvSpPr/>
          <p:nvPr/>
        </p:nvSpPr>
        <p:spPr>
          <a:xfrm>
            <a:off x="3776084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relevance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33"/>
          <p:cNvSpPr/>
          <p:nvPr/>
        </p:nvSpPr>
        <p:spPr>
          <a:xfrm>
            <a:off x="5839999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context precision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133"/>
          <p:cNvSpPr/>
          <p:nvPr/>
        </p:nvSpPr>
        <p:spPr>
          <a:xfrm>
            <a:off x="9001191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133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133"/>
          <p:cNvSpPr/>
          <p:nvPr/>
        </p:nvSpPr>
        <p:spPr>
          <a:xfrm>
            <a:off x="2449711" y="9085792"/>
            <a:ext cx="335830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trong production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133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34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134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34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production — latency, caching, trích dẫn nguồn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134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34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13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RAG PRODUCTION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13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3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 + generate tốn thời gian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từng khâu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135"/>
          <p:cNvSpPr/>
          <p:nvPr/>
        </p:nvSpPr>
        <p:spPr>
          <a:xfrm>
            <a:off x="9701725" y="5749727"/>
            <a:ext cx="100179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135"/>
          <p:cNvSpPr/>
          <p:nvPr/>
        </p:nvSpPr>
        <p:spPr>
          <a:xfrm>
            <a:off x="1105164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35"/>
          <p:cNvSpPr/>
          <p:nvPr/>
        </p:nvSpPr>
        <p:spPr>
          <a:xfrm>
            <a:off x="11571255" y="5749727"/>
            <a:ext cx="8660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135"/>
          <p:cNvSpPr/>
          <p:nvPr/>
        </p:nvSpPr>
        <p:spPr>
          <a:xfrm>
            <a:off x="1278541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135"/>
          <p:cNvSpPr/>
          <p:nvPr/>
        </p:nvSpPr>
        <p:spPr>
          <a:xfrm>
            <a:off x="13090179" y="5553935"/>
            <a:ext cx="154615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35"/>
          <p:cNvSpPr/>
          <p:nvPr/>
        </p:nvSpPr>
        <p:spPr>
          <a:xfrm>
            <a:off x="13305021" y="5749727"/>
            <a:ext cx="111647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3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RAG PRODUCTION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13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13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 embedding &amp; câu trả lời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tối ưu chi phí Section 11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36"/>
          <p:cNvSpPr/>
          <p:nvPr/>
        </p:nvSpPr>
        <p:spPr>
          <a:xfrm>
            <a:off x="9701725" y="5749727"/>
            <a:ext cx="76797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136"/>
          <p:cNvSpPr/>
          <p:nvPr/>
        </p:nvSpPr>
        <p:spPr>
          <a:xfrm>
            <a:off x="1081782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136"/>
          <p:cNvSpPr/>
          <p:nvPr/>
        </p:nvSpPr>
        <p:spPr>
          <a:xfrm>
            <a:off x="11122587" y="5553935"/>
            <a:ext cx="123295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36"/>
          <p:cNvSpPr/>
          <p:nvPr/>
        </p:nvSpPr>
        <p:spPr>
          <a:xfrm>
            <a:off x="11337429" y="5749727"/>
            <a:ext cx="80327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136"/>
          <p:cNvSpPr/>
          <p:nvPr/>
        </p:nvSpPr>
        <p:spPr>
          <a:xfrm>
            <a:off x="1248883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136"/>
          <p:cNvSpPr/>
          <p:nvPr/>
        </p:nvSpPr>
        <p:spPr>
          <a:xfrm>
            <a:off x="13008439" y="5749727"/>
            <a:ext cx="93118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3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RAG PRODUCTION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13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Trích dẫn nguồn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137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Hiển thị nguồn câu trả lời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niềm tin, chống bịa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137"/>
          <p:cNvSpPr/>
          <p:nvPr/>
        </p:nvSpPr>
        <p:spPr>
          <a:xfrm>
            <a:off x="8094679" y="5066358"/>
            <a:ext cx="9126472" cy="1651496"/>
          </a:xfrm>
          <a:prstGeom prst="roundRect">
            <a:avLst>
              <a:gd fmla="val 9228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37"/>
          <p:cNvSpPr/>
          <p:nvPr/>
        </p:nvSpPr>
        <p:spPr>
          <a:xfrm>
            <a:off x="8099971" y="5071649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37"/>
          <p:cNvSpPr/>
          <p:nvPr/>
        </p:nvSpPr>
        <p:spPr>
          <a:xfrm>
            <a:off x="9004515" y="5214524"/>
            <a:ext cx="105176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answer.txt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137"/>
          <p:cNvSpPr/>
          <p:nvPr/>
        </p:nvSpPr>
        <p:spPr>
          <a:xfrm>
            <a:off x="8366671" y="5784966"/>
            <a:ext cx="8855965" cy="7180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Theo quy định, nghỉ phép tối đa 12 ngày/năm. Nguồn: [So_tay_NV.pdf · trang 8]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3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RAG PRODUCTION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13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138"/>
          <p:cNvSpPr/>
          <p:nvPr/>
        </p:nvSpPr>
        <p:spPr>
          <a:xfrm>
            <a:off x="130065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latency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138"/>
          <p:cNvSpPr/>
          <p:nvPr/>
        </p:nvSpPr>
        <p:spPr>
          <a:xfrm>
            <a:off x="3090317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caching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138"/>
          <p:cNvSpPr/>
          <p:nvPr/>
        </p:nvSpPr>
        <p:spPr>
          <a:xfrm>
            <a:off x="4879975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citation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138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38"/>
          <p:cNvSpPr/>
          <p:nvPr/>
        </p:nvSpPr>
        <p:spPr>
          <a:xfrm>
            <a:off x="2449711" y="9085792"/>
            <a:ext cx="424238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5 — RAG Chatbot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38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39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139"/>
          <p:cNvSpPr/>
          <p:nvPr/>
        </p:nvSpPr>
        <p:spPr>
          <a:xfrm>
            <a:off x="1066767" y="3436028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12 · LECTURE 11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139"/>
          <p:cNvSpPr/>
          <p:nvPr/>
        </p:nvSpPr>
        <p:spPr>
          <a:xfrm>
            <a:off x="1066767" y="4379847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5 — Chatbot hỏi-đáp tài liệu nội bộ cho SME Việt Nam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139"/>
          <p:cNvSpPr/>
          <p:nvPr/>
        </p:nvSpPr>
        <p:spPr>
          <a:xfrm>
            <a:off x="1066767" y="6282780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139"/>
          <p:cNvSpPr/>
          <p:nvPr/>
        </p:nvSpPr>
        <p:spPr>
          <a:xfrm>
            <a:off x="1243509" y="6678530"/>
            <a:ext cx="1379008" cy="2338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CAPSTONE 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139"/>
          <p:cNvSpPr/>
          <p:nvPr/>
        </p:nvSpPr>
        <p:spPr>
          <a:xfrm>
            <a:off x="2894459" y="6646747"/>
            <a:ext cx="286300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~16 phút · 8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4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14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Bài toán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14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SME có nhiều tài liệu nội bộ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Nhân viên cần hỏi-đáp nhanh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140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HIỆN TẠI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140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thủ công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140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chậm, dễ sai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140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 CHATBOT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140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Hỏi là có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140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lời kèm nguồn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4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14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Ingest tài liệu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141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PDF/Word → chunk → embed → vector DB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Lưu ý tài liệu tiếng Việt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141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41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41"/>
          <p:cNvSpPr/>
          <p:nvPr/>
        </p:nvSpPr>
        <p:spPr>
          <a:xfrm>
            <a:off x="9004515" y="5044529"/>
            <a:ext cx="95420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ingest.py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141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docs = load("*.pdf" 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chunks =  split(docs, size=512, overlap=64 )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db. add(embed(chunks))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14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retrieve pipeline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14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search + reranker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Áp dụng kỹ thuật đã học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142"/>
          <p:cNvSpPr/>
          <p:nvPr/>
        </p:nvSpPr>
        <p:spPr>
          <a:xfrm>
            <a:off x="9701725" y="5749727"/>
            <a:ext cx="92812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142"/>
          <p:cNvSpPr/>
          <p:nvPr/>
        </p:nvSpPr>
        <p:spPr>
          <a:xfrm>
            <a:off x="1097797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142"/>
          <p:cNvSpPr/>
          <p:nvPr/>
        </p:nvSpPr>
        <p:spPr>
          <a:xfrm>
            <a:off x="11497586" y="5749727"/>
            <a:ext cx="83395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142"/>
          <p:cNvSpPr/>
          <p:nvPr/>
        </p:nvSpPr>
        <p:spPr>
          <a:xfrm>
            <a:off x="1267966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142"/>
          <p:cNvSpPr/>
          <p:nvPr/>
        </p:nvSpPr>
        <p:spPr>
          <a:xfrm>
            <a:off x="12984427" y="5553935"/>
            <a:ext cx="129571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142"/>
          <p:cNvSpPr/>
          <p:nvPr/>
        </p:nvSpPr>
        <p:spPr>
          <a:xfrm>
            <a:off x="13199269" y="5749727"/>
            <a:ext cx="8660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142"/>
          <p:cNvSpPr/>
          <p:nvPr/>
        </p:nvSpPr>
        <p:spPr>
          <a:xfrm>
            <a:off x="1441342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142"/>
          <p:cNvSpPr/>
          <p:nvPr/>
        </p:nvSpPr>
        <p:spPr>
          <a:xfrm>
            <a:off x="14933034" y="5749727"/>
            <a:ext cx="135666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chunks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14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14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có trích dẫn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143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trả lời +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143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Grounding chống hallucination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143"/>
          <p:cNvSpPr/>
          <p:nvPr/>
        </p:nvSpPr>
        <p:spPr>
          <a:xfrm>
            <a:off x="8094679" y="4896363"/>
            <a:ext cx="9126472" cy="1991486"/>
          </a:xfrm>
          <a:prstGeom prst="roundRect">
            <a:avLst>
              <a:gd fmla="val 7653" name="adj"/>
            </a:avLst>
          </a:prstGeom>
          <a:solidFill>
            <a:srgbClr val="0E0F14"/>
          </a:solidFill>
          <a:ln>
            <a:noFill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143"/>
          <p:cNvSpPr/>
          <p:nvPr/>
        </p:nvSpPr>
        <p:spPr>
          <a:xfrm>
            <a:off x="8099971" y="4901654"/>
            <a:ext cx="9115888" cy="465667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143"/>
          <p:cNvSpPr/>
          <p:nvPr/>
        </p:nvSpPr>
        <p:spPr>
          <a:xfrm>
            <a:off x="9004515" y="5044529"/>
            <a:ext cx="75907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chat.py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43"/>
          <p:cNvSpPr/>
          <p:nvPr/>
        </p:nvSpPr>
        <p:spPr>
          <a:xfrm>
            <a:off x="8366671" y="5614971"/>
            <a:ext cx="8855965" cy="105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ctx = retrieve (question)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answer = llm( f"Dựa trên: {ctx}\nTrả lời: {question}") # → câu trả lời + [nguồn]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4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14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 bằng RAGAS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14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Faithfulness, answer relevance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để chứng minh chất lượng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144"/>
          <p:cNvSpPr/>
          <p:nvPr/>
        </p:nvSpPr>
        <p:spPr>
          <a:xfrm>
            <a:off x="9486884" y="4272856"/>
            <a:ext cx="7734350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44"/>
          <p:cNvSpPr/>
          <p:nvPr/>
        </p:nvSpPr>
        <p:spPr>
          <a:xfrm>
            <a:off x="12987850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144"/>
          <p:cNvSpPr/>
          <p:nvPr/>
        </p:nvSpPr>
        <p:spPr>
          <a:xfrm>
            <a:off x="10480967" y="5777839"/>
            <a:ext cx="5746102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RAGAS report: faithfulness · relevance · context precision theo từng câu hỏi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4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CAPSTONE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14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web UI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14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+ Streamlit / Gradio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tài liệu → hỏi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145"/>
          <p:cNvSpPr/>
          <p:nvPr/>
        </p:nvSpPr>
        <p:spPr>
          <a:xfrm>
            <a:off x="9486884" y="4272856"/>
            <a:ext cx="7734350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45"/>
          <p:cNvSpPr/>
          <p:nvPr/>
        </p:nvSpPr>
        <p:spPr>
          <a:xfrm>
            <a:off x="13206545" y="5428688"/>
            <a:ext cx="29494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145"/>
          <p:cNvSpPr/>
          <p:nvPr/>
        </p:nvSpPr>
        <p:spPr>
          <a:xfrm>
            <a:off x="10480967" y="5777839"/>
            <a:ext cx="5746102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Web chatbot: ô upload tài liệu, khung chat, câu trả lời kèm trích dẫn nguồn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46"/>
          <p:cNvSpPr/>
          <p:nvPr/>
        </p:nvSpPr>
        <p:spPr>
          <a:xfrm>
            <a:off x="9041325" y="4241271"/>
            <a:ext cx="205267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146"/>
          <p:cNvSpPr/>
          <p:nvPr/>
        </p:nvSpPr>
        <p:spPr>
          <a:xfrm>
            <a:off x="8328108" y="4668821"/>
            <a:ext cx="1631785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 thành Section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146"/>
          <p:cNvSpPr/>
          <p:nvPr/>
        </p:nvSpPr>
        <p:spPr>
          <a:xfrm>
            <a:off x="7338125" y="5096371"/>
            <a:ext cx="3611668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/ 11 lectures · Capstone 5 ✓ ·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155 / 198 lectures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14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146"/>
          <p:cNvSpPr/>
          <p:nvPr/>
        </p:nvSpPr>
        <p:spPr>
          <a:xfrm>
            <a:off x="2449711" y="9085792"/>
            <a:ext cx="366813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13 — Agentic 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14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4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LỘ TRÌNH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14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Tiến độ tổng — 155 / 198 lectures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47"/>
          <p:cNvSpPr/>
          <p:nvPr/>
        </p:nvSpPr>
        <p:spPr>
          <a:xfrm>
            <a:off x="1295367" y="2259294"/>
            <a:ext cx="2721670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BATCH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47"/>
          <p:cNvSpPr/>
          <p:nvPr/>
        </p:nvSpPr>
        <p:spPr>
          <a:xfrm>
            <a:off x="4381649" y="2259294"/>
            <a:ext cx="5444154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147"/>
          <p:cNvSpPr/>
          <p:nvPr/>
        </p:nvSpPr>
        <p:spPr>
          <a:xfrm>
            <a:off x="10111119" y="2259294"/>
            <a:ext cx="2777282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147"/>
          <p:cNvSpPr/>
          <p:nvPr/>
        </p:nvSpPr>
        <p:spPr>
          <a:xfrm>
            <a:off x="13251392" y="2259294"/>
            <a:ext cx="3867195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TRẠNG THÁI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147"/>
          <p:cNvSpPr/>
          <p:nvPr/>
        </p:nvSpPr>
        <p:spPr>
          <a:xfrm>
            <a:off x="1295367" y="2832332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147"/>
          <p:cNvSpPr/>
          <p:nvPr/>
        </p:nvSpPr>
        <p:spPr>
          <a:xfrm>
            <a:off x="4381649" y="2832332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147"/>
          <p:cNvSpPr/>
          <p:nvPr/>
        </p:nvSpPr>
        <p:spPr>
          <a:xfrm>
            <a:off x="10111119" y="2832332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147"/>
          <p:cNvSpPr/>
          <p:nvPr/>
        </p:nvSpPr>
        <p:spPr>
          <a:xfrm>
            <a:off x="13251392" y="2832332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47"/>
          <p:cNvSpPr/>
          <p:nvPr/>
        </p:nvSpPr>
        <p:spPr>
          <a:xfrm>
            <a:off x="1295367" y="3471466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147"/>
          <p:cNvSpPr/>
          <p:nvPr/>
        </p:nvSpPr>
        <p:spPr>
          <a:xfrm>
            <a:off x="4381649" y="3471466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· Python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147"/>
          <p:cNvSpPr/>
          <p:nvPr/>
        </p:nvSpPr>
        <p:spPr>
          <a:xfrm>
            <a:off x="10111119" y="3471466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147"/>
          <p:cNvSpPr/>
          <p:nvPr/>
        </p:nvSpPr>
        <p:spPr>
          <a:xfrm>
            <a:off x="13251392" y="3471466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147"/>
          <p:cNvSpPr/>
          <p:nvPr/>
        </p:nvSpPr>
        <p:spPr>
          <a:xfrm>
            <a:off x="1295367" y="4110600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147"/>
          <p:cNvSpPr/>
          <p:nvPr/>
        </p:nvSpPr>
        <p:spPr>
          <a:xfrm>
            <a:off x="4381649" y="4110600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+ S4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147"/>
          <p:cNvSpPr/>
          <p:nvPr/>
        </p:nvSpPr>
        <p:spPr>
          <a:xfrm>
            <a:off x="10111119" y="4110600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147"/>
          <p:cNvSpPr/>
          <p:nvPr/>
        </p:nvSpPr>
        <p:spPr>
          <a:xfrm>
            <a:off x="13251392" y="4110600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147"/>
          <p:cNvSpPr/>
          <p:nvPr/>
        </p:nvSpPr>
        <p:spPr>
          <a:xfrm>
            <a:off x="1295367" y="4749734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147"/>
          <p:cNvSpPr/>
          <p:nvPr/>
        </p:nvSpPr>
        <p:spPr>
          <a:xfrm>
            <a:off x="4381649" y="4749734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S5 · ML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147"/>
          <p:cNvSpPr/>
          <p:nvPr/>
        </p:nvSpPr>
        <p:spPr>
          <a:xfrm>
            <a:off x="10111119" y="4749734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147"/>
          <p:cNvSpPr/>
          <p:nvPr/>
        </p:nvSpPr>
        <p:spPr>
          <a:xfrm>
            <a:off x="13251392" y="4749734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147"/>
          <p:cNvSpPr/>
          <p:nvPr/>
        </p:nvSpPr>
        <p:spPr>
          <a:xfrm>
            <a:off x="1295367" y="5388868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147"/>
          <p:cNvSpPr/>
          <p:nvPr/>
        </p:nvSpPr>
        <p:spPr>
          <a:xfrm>
            <a:off x="4381649" y="5388868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S6 + S7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147"/>
          <p:cNvSpPr/>
          <p:nvPr/>
        </p:nvSpPr>
        <p:spPr>
          <a:xfrm>
            <a:off x="10111119" y="5388868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147"/>
          <p:cNvSpPr/>
          <p:nvPr/>
        </p:nvSpPr>
        <p:spPr>
          <a:xfrm>
            <a:off x="13251392" y="5388868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147"/>
          <p:cNvSpPr/>
          <p:nvPr/>
        </p:nvSpPr>
        <p:spPr>
          <a:xfrm>
            <a:off x="1295367" y="6028002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147"/>
          <p:cNvSpPr/>
          <p:nvPr/>
        </p:nvSpPr>
        <p:spPr>
          <a:xfrm>
            <a:off x="4381649" y="6028002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S8 · CV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147"/>
          <p:cNvSpPr/>
          <p:nvPr/>
        </p:nvSpPr>
        <p:spPr>
          <a:xfrm>
            <a:off x="10111119" y="6028002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147"/>
          <p:cNvSpPr/>
          <p:nvPr/>
        </p:nvSpPr>
        <p:spPr>
          <a:xfrm>
            <a:off x="13251392" y="6028002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147"/>
          <p:cNvSpPr/>
          <p:nvPr/>
        </p:nvSpPr>
        <p:spPr>
          <a:xfrm>
            <a:off x="1295367" y="6667137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147"/>
          <p:cNvSpPr/>
          <p:nvPr/>
        </p:nvSpPr>
        <p:spPr>
          <a:xfrm>
            <a:off x="4381649" y="6667137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S9 + S10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147"/>
          <p:cNvSpPr/>
          <p:nvPr/>
        </p:nvSpPr>
        <p:spPr>
          <a:xfrm>
            <a:off x="10111119" y="6667137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147"/>
          <p:cNvSpPr/>
          <p:nvPr/>
        </p:nvSpPr>
        <p:spPr>
          <a:xfrm>
            <a:off x="13251392" y="6667137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147"/>
          <p:cNvSpPr/>
          <p:nvPr/>
        </p:nvSpPr>
        <p:spPr>
          <a:xfrm>
            <a:off x="1295367" y="7306271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147"/>
          <p:cNvSpPr/>
          <p:nvPr/>
        </p:nvSpPr>
        <p:spPr>
          <a:xfrm>
            <a:off x="4381649" y="7306271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S11 LLMs + S12 RAG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147"/>
          <p:cNvSpPr/>
          <p:nvPr/>
        </p:nvSpPr>
        <p:spPr>
          <a:xfrm>
            <a:off x="10111119" y="7306271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147"/>
          <p:cNvSpPr/>
          <p:nvPr/>
        </p:nvSpPr>
        <p:spPr>
          <a:xfrm>
            <a:off x="13251392" y="7306271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Batch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147"/>
          <p:cNvSpPr/>
          <p:nvPr/>
        </p:nvSpPr>
        <p:spPr>
          <a:xfrm>
            <a:off x="1295367" y="7945405"/>
            <a:ext cx="2721670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147"/>
          <p:cNvSpPr/>
          <p:nvPr/>
        </p:nvSpPr>
        <p:spPr>
          <a:xfrm>
            <a:off x="4381649" y="7945405"/>
            <a:ext cx="5444154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S13 + S14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147"/>
          <p:cNvSpPr/>
          <p:nvPr/>
        </p:nvSpPr>
        <p:spPr>
          <a:xfrm>
            <a:off x="10111119" y="7945405"/>
            <a:ext cx="2777282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147"/>
          <p:cNvSpPr/>
          <p:nvPr/>
        </p:nvSpPr>
        <p:spPr>
          <a:xfrm>
            <a:off x="13251392" y="7945405"/>
            <a:ext cx="3867195" cy="366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⏳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147"/>
          <p:cNvSpPr/>
          <p:nvPr/>
        </p:nvSpPr>
        <p:spPr>
          <a:xfrm>
            <a:off x="1295367" y="8621581"/>
            <a:ext cx="2721670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147"/>
          <p:cNvSpPr/>
          <p:nvPr/>
        </p:nvSpPr>
        <p:spPr>
          <a:xfrm>
            <a:off x="4381649" y="8621581"/>
            <a:ext cx="5444154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S15 + S16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47"/>
          <p:cNvSpPr/>
          <p:nvPr/>
        </p:nvSpPr>
        <p:spPr>
          <a:xfrm>
            <a:off x="10111119" y="8621581"/>
            <a:ext cx="2777282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47"/>
          <p:cNvSpPr/>
          <p:nvPr/>
        </p:nvSpPr>
        <p:spPr>
          <a:xfrm>
            <a:off x="13251392" y="8621581"/>
            <a:ext cx="386719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