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1" name="Google Shape;123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0" name="Google Shape;127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3" name="Google Shape;135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6" name="Google Shape;141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2" name="Google Shape;145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4" name="Google Shape;147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2" name="Google Shape;151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9" name="Google Shape;155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0" name="Google Shape;158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3" name="Google Shape;164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7" name="Google Shape;167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0" name="Google Shape;171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2" name="Google Shape;175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6" name="Google Shape;177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6" name="Google Shape;1796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7" name="Google Shape;181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9" name="Google Shape;1849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0" name="Google Shape;189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2" name="Google Shape;192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0" name="Google Shape;1950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0" name="Google Shape;198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0" name="Google Shape;200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9" name="Google Shape;201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5" name="Google Shape;2035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8" name="Google Shape;206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4" name="Google Shape;209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1" name="Google Shape;216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1" name="Google Shape;219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1" name="Google Shape;221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8" name="Google Shape;222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1" name="Google Shape;2251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7" name="Google Shape;2287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7" name="Google Shape;2317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3" name="Google Shape;234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1" name="Google Shape;2361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0" name="Google Shape;2380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1" name="Google Shape;2411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0" name="Google Shape;2440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4" name="Google Shape;246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8" name="Google Shape;2488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6" name="Google Shape;2506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3" name="Google Shape;2523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9" name="Google Shape;2539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1" name="Google Shape;2561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5" name="Google Shape;2595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2" name="Google Shape;2622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0" name="Google Shape;2640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9" name="Google Shape;265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0" name="Google Shape;2680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4" name="Google Shape;2714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2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4" name="Google Shape;2744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Google Shape;2768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9" name="Google Shape;2769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5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7" name="Google Shape;278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6" name="Google Shape;2806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1" name="Google Shape;2831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0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2" name="Google Shape;2892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3" name="Google Shape;2923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4" name="Google Shape;2944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5" name="Google Shape;2945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2" name="Google Shape;2962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2" name="Google Shape;2982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3" name="Google Shape;2983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2" name="Google Shape;3002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8" name="Google Shape;3018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1" name="Google Shape;3041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2" name="Google Shape;3042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2" name="Google Shape;3062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0" name="Google Shape;3090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1" name="Google Shape;3091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2949443"/>
            <a:ext cx="12557760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52500" y="3150526"/>
            <a:ext cx="12557760" cy="249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Mastering AI &amp; Data Science — Từ 0 đến AI Engineer · Batch 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52500" y="3666960"/>
            <a:ext cx="12557760" cy="17912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850"/>
              <a:buFont typeface="Arial"/>
              <a:buNone/>
            </a:pPr>
            <a:r>
              <a:rPr b="1" i="0" lang="en-US" sz="58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Python cho </a:t>
            </a:r>
            <a:r>
              <a:rPr b="1" i="0" lang="en-US" sz="58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Data Science</a:t>
            </a:r>
            <a:endParaRPr b="0" i="0" sz="5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500" y="5724922"/>
            <a:ext cx="1280253" cy="459052"/>
          </a:xfrm>
          <a:prstGeom prst="roundRect">
            <a:avLst>
              <a:gd fmla="val 50000" name="adj"/>
            </a:avLst>
          </a:prstGeom>
          <a:solidFill>
            <a:srgbClr val="3776AB">
              <a:alpha val="18039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72633" y="5811705"/>
            <a:ext cx="916186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366037" y="5724922"/>
            <a:ext cx="1252141" cy="459052"/>
          </a:xfrm>
          <a:prstGeom prst="roundRect">
            <a:avLst>
              <a:gd fmla="val 50000" name="adj"/>
            </a:avLst>
          </a:prstGeom>
          <a:solidFill>
            <a:srgbClr val="3776AB">
              <a:alpha val="18039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586170" y="5811705"/>
            <a:ext cx="888074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51461" y="5724922"/>
            <a:ext cx="990699" cy="459052"/>
          </a:xfrm>
          <a:prstGeom prst="roundRect">
            <a:avLst>
              <a:gd fmla="val 50000" name="adj"/>
            </a:avLst>
          </a:prstGeom>
          <a:solidFill>
            <a:srgbClr val="3776AB">
              <a:alpha val="18039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971594" y="5811705"/>
            <a:ext cx="626633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OOP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875444" y="5724922"/>
            <a:ext cx="1500188" cy="459052"/>
          </a:xfrm>
          <a:prstGeom prst="roundRect">
            <a:avLst>
              <a:gd fmla="val 50000" name="adj"/>
            </a:avLst>
          </a:prstGeom>
          <a:solidFill>
            <a:srgbClr val="FFD43B">
              <a:alpha val="1215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095578" y="5811705"/>
            <a:ext cx="1136121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508915" y="5724922"/>
            <a:ext cx="1376660" cy="459052"/>
          </a:xfrm>
          <a:prstGeom prst="roundRect">
            <a:avLst>
              <a:gd fmla="val 50000" name="adj"/>
            </a:avLst>
          </a:prstGeom>
          <a:solidFill>
            <a:srgbClr val="FFD43B">
              <a:alpha val="1215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729049" y="5811705"/>
            <a:ext cx="1012594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018860" y="5724922"/>
            <a:ext cx="1045931" cy="459052"/>
          </a:xfrm>
          <a:prstGeom prst="roundRect">
            <a:avLst>
              <a:gd fmla="val 50000" name="adj"/>
            </a:avLst>
          </a:prstGeom>
          <a:solidFill>
            <a:srgbClr val="FFD43B">
              <a:alpha val="1215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238993" y="5811705"/>
            <a:ext cx="681864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9198075" y="5724922"/>
            <a:ext cx="1156064" cy="459052"/>
          </a:xfrm>
          <a:prstGeom prst="roundRect">
            <a:avLst>
              <a:gd fmla="val 50000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418208" y="5811705"/>
            <a:ext cx="791997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487423" y="5724922"/>
            <a:ext cx="1724422" cy="459052"/>
          </a:xfrm>
          <a:prstGeom prst="roundRect">
            <a:avLst>
              <a:gd fmla="val 50000" name="adj"/>
            </a:avLst>
          </a:prstGeom>
          <a:solidFill>
            <a:srgbClr val="C9A5FF">
              <a:alpha val="10196"/>
            </a:srgbClr>
          </a:solidFill>
          <a:ln cap="flat" cmpd="sng" w="10575">
            <a:solidFill>
              <a:srgbClr val="C9A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0707556" y="5811705"/>
            <a:ext cx="1360355" cy="3235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5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9A5FF"/>
                </a:solidFill>
                <a:latin typeface="Arial"/>
                <a:ea typeface="Arial"/>
                <a:cs typeface="Arial"/>
                <a:sym typeface="Arial"/>
              </a:rPr>
              <a:t>Time-series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952500" y="6564809"/>
            <a:ext cx="733524" cy="5715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52500" y="7136309"/>
            <a:ext cx="733524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066892" y="6564809"/>
            <a:ext cx="888140" cy="5715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116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066892" y="7136309"/>
            <a:ext cx="888140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Slides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335900" y="6564809"/>
            <a:ext cx="1123950" cy="5715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165'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3335900" y="7136309"/>
            <a:ext cx="1123950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3906501" y="0"/>
            <a:ext cx="4381500" cy="102870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6501" y="0"/>
            <a:ext cx="43815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228659" y="4476750"/>
            <a:ext cx="142888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~9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Cú Pháp Python Biến &amp; Kiểu Dữ Liệu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667250" y="6063424"/>
            <a:ext cx="114399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49284" y="6131157"/>
            <a:ext cx="85612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925509" y="6063424"/>
            <a:ext cx="1324074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107543" y="6131157"/>
            <a:ext cx="103620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63851" y="6063424"/>
            <a:ext cx="171565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545884" y="6131157"/>
            <a:ext cx="1427791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Dynamic Typing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9193775" y="6063424"/>
            <a:ext cx="208971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375809" y="6131157"/>
            <a:ext cx="180184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Mutable / Immutable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Vì Sao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Python </a:t>
            </a: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Thống Trị AI / Data?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307707" y="4517595"/>
            <a:ext cx="1809750" cy="1809750"/>
          </a:xfrm>
          <a:prstGeom prst="ellipse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269607" y="4517595"/>
            <a:ext cx="1885950" cy="184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726991" y="3482909"/>
            <a:ext cx="5253303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947124" y="3607792"/>
            <a:ext cx="4970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Pandas — phân tích &amp; làm sạch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726991" y="4151643"/>
            <a:ext cx="5253303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947124" y="4276527"/>
            <a:ext cx="4970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NumPy — tính toán số học / ma trận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726991" y="4820378"/>
            <a:ext cx="5253303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947124" y="4945261"/>
            <a:ext cx="4970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scikit-learn — Machine Learning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726991" y="5489112"/>
            <a:ext cx="5253303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C9A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947124" y="5613995"/>
            <a:ext cx="4970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5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9A5FF"/>
                </a:solidFill>
                <a:latin typeface="Arial"/>
                <a:ea typeface="Arial"/>
                <a:cs typeface="Arial"/>
                <a:sym typeface="Arial"/>
              </a:rPr>
              <a:t>PyTorch / TensorFlow — Deep Learning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726991" y="6157847"/>
            <a:ext cx="5253303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39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947124" y="6282730"/>
            <a:ext cx="4970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Arial"/>
                <a:ea typeface="Arial"/>
                <a:cs typeface="Arial"/>
                <a:sym typeface="Arial"/>
              </a:rPr>
              <a:t>Matplotlib · Seaborn · Plotly — Visualization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726991" y="6826581"/>
            <a:ext cx="5253303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FFA6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947124" y="6951464"/>
            <a:ext cx="4970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A657"/>
                </a:solidFill>
                <a:latin typeface="Arial"/>
                <a:ea typeface="Arial"/>
                <a:cs typeface="Arial"/>
                <a:sym typeface="Arial"/>
              </a:rPr>
              <a:t>FastAPI · Streamlit — Deploy &amp; 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538552" y="9047758"/>
            <a:ext cx="9631568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Python thắng vì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cộng đồng + hệ sinh thái khổng lồ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— không phải vì tốc độ thực thi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Biến &amp; Gán Giá Trị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200051" y="2188766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295301" y="2207816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x = 10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546780" y="2231099"/>
            <a:ext cx="378735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không cần khai báo kiểu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200051" y="2882470"/>
            <a:ext cx="102522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339578" y="2840137"/>
            <a:ext cx="1726539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tự suy kiểu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180417" y="2882470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675849" y="2840137"/>
            <a:ext cx="210919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dynamic typing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200051" y="3533841"/>
            <a:ext cx="342115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Tên biến: rõ nghĩa, 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712064" y="3491508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807314" y="3510558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snake_case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200051" y="4185213"/>
            <a:ext cx="261773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Kiểm tra kiểu bằng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932039" y="4142879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027289" y="4161929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type()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14301" y="4927534"/>
            <a:ext cx="6667666" cy="735376"/>
          </a:xfrm>
          <a:prstGeom prst="roundRect">
            <a:avLst>
              <a:gd fmla="val 15543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172435" y="5118861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538552" y="5109435"/>
            <a:ext cx="5883725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Tránh đặt tên trùng với keyword: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list type print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915467" y="2304025"/>
            <a:ext cx="1310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variables.py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Python tự suy kiểu — dynamic typing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int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99.5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float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str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la_hoc_vien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bool # Kiểm tra kiểu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&lt;class 'int'&gt;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&lt;class 'str'&gt; # Gán nhiều biến cùng lúc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4 Kiểu Dữ Liệu Cơ Bản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914301" y="2188766"/>
            <a:ext cx="8124859" cy="3129029"/>
          </a:xfrm>
          <a:prstGeom prst="roundRect">
            <a:avLst>
              <a:gd fmla="val 3653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210634" y="2446900"/>
            <a:ext cx="775815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210634" y="2923150"/>
            <a:ext cx="77581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Số nguyên, không có phần thập phân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210634" y="3304150"/>
            <a:ext cx="7758158" cy="503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tuoi = 25 count = -3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9248676" y="2188766"/>
            <a:ext cx="8125024" cy="3129029"/>
          </a:xfrm>
          <a:prstGeom prst="roundRect">
            <a:avLst>
              <a:gd fmla="val 3653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9545010" y="2446900"/>
            <a:ext cx="775832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545010" y="2923150"/>
            <a:ext cx="7758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Số thực, có phần thập phân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9545010" y="3304150"/>
            <a:ext cx="7758328" cy="503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 = 99.9 pi = 3.14159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914301" y="5527311"/>
            <a:ext cx="8124859" cy="3129029"/>
          </a:xfrm>
          <a:prstGeom prst="roundRect">
            <a:avLst>
              <a:gd fmla="val 3653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210634" y="5785446"/>
            <a:ext cx="775815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210634" y="6261696"/>
            <a:ext cx="77581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Chuỗi ký tự trong nháy đơn hoặc kép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10634" y="6642696"/>
            <a:ext cx="7758158" cy="503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ten = "An" msg = 'Xin chào'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248676" y="5527311"/>
            <a:ext cx="8125024" cy="3129029"/>
          </a:xfrm>
          <a:prstGeom prst="roundRect">
            <a:avLst>
              <a:gd fmla="val 3653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9545010" y="5785446"/>
            <a:ext cx="775832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5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C9A5FF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545010" y="6261696"/>
            <a:ext cx="7758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Chỉ có True hoặc False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9545010" y="6642696"/>
            <a:ext cx="7758328" cy="503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5FF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C9A5FF"/>
                </a:solidFill>
                <a:latin typeface="Courier New"/>
                <a:ea typeface="Courier New"/>
                <a:cs typeface="Courier New"/>
                <a:sym typeface="Courier New"/>
              </a:rPr>
              <a:t>co_data = True da_chay = False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538552" y="9047758"/>
            <a:ext cx="9878029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Ép kiểu: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int("5")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→ 5 ·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float(3)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→ 3.0 ·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str(99)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→ "99" ·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bool(0)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→ False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Mutable vs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Immutable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914301" y="2590932"/>
            <a:ext cx="7962966" cy="10583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914301" y="2188766"/>
            <a:ext cx="8201855" cy="345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✏️ MUTABLE — CÓ THỂ THAY ĐỔI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301" y="2849067"/>
            <a:ext cx="7962966" cy="546034"/>
          </a:xfrm>
          <a:prstGeom prst="roundRect">
            <a:avLst>
              <a:gd fmla="val 17444" name="adj"/>
            </a:avLst>
          </a:prstGeom>
          <a:solidFill>
            <a:srgbClr val="1A2235"/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134434" y="2973950"/>
            <a:ext cx="7761589" cy="334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6D364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list → </a:t>
            </a: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[1, 2, 3]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914301" y="3604617"/>
            <a:ext cx="7962966" cy="546034"/>
          </a:xfrm>
          <a:prstGeom prst="roundRect">
            <a:avLst>
              <a:gd fmla="val 17444" name="adj"/>
            </a:avLst>
          </a:prstGeom>
          <a:solidFill>
            <a:srgbClr val="1A2235"/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134434" y="3729501"/>
            <a:ext cx="7761589" cy="334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6D364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dict → </a:t>
            </a: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{"a": 1}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914301" y="4360168"/>
            <a:ext cx="7962966" cy="546034"/>
          </a:xfrm>
          <a:prstGeom prst="roundRect">
            <a:avLst>
              <a:gd fmla="val 17444" name="adj"/>
            </a:avLst>
          </a:prstGeom>
          <a:solidFill>
            <a:srgbClr val="1A2235"/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134434" y="4485051"/>
            <a:ext cx="7761589" cy="334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6D364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set → </a:t>
            </a: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{1, 2, 3}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14301" y="5229986"/>
            <a:ext cx="7962966" cy="714210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914301" y="5229986"/>
            <a:ext cx="31750" cy="71421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174651" y="5401436"/>
            <a:ext cx="7712905" cy="409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Thay đổi trực tiếp </a:t>
            </a:r>
            <a:r>
              <a:rPr b="0" i="0" lang="en-US" sz="1950" u="none" cap="none" strike="noStrike">
                <a:solidFill>
                  <a:srgbClr val="DDE3F0"/>
                </a:solidFill>
                <a:highlight>
                  <a:srgbClr val="131926"/>
                </a:highlight>
                <a:latin typeface="Arial"/>
                <a:ea typeface="Arial"/>
                <a:cs typeface="Arial"/>
                <a:sym typeface="Arial"/>
              </a:rPr>
              <a:t>trong bộ nhớ — thêm, xoá, sửa phần tử được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9410568" y="2590932"/>
            <a:ext cx="7963132" cy="10583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9410568" y="2188766"/>
            <a:ext cx="8202026" cy="345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🔒 IMMUTABLE — KHÔNG THỂ THAY ĐỔI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410568" y="2849067"/>
            <a:ext cx="7963132" cy="535451"/>
          </a:xfrm>
          <a:prstGeom prst="roundRect">
            <a:avLst>
              <a:gd fmla="val 17789" name="adj"/>
            </a:avLst>
          </a:prstGeom>
          <a:solidFill>
            <a:srgbClr val="1A2235"/>
          </a:solidFill>
          <a:ln cap="flat" cmpd="sng" w="10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630701" y="2973950"/>
            <a:ext cx="776175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int · float · bool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9410568" y="3594034"/>
            <a:ext cx="7963132" cy="546034"/>
          </a:xfrm>
          <a:prstGeom prst="roundRect">
            <a:avLst>
              <a:gd fmla="val 17444" name="adj"/>
            </a:avLst>
          </a:prstGeom>
          <a:solidFill>
            <a:srgbClr val="1A2235"/>
          </a:solidFill>
          <a:ln cap="flat" cmpd="sng" w="10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630701" y="3718917"/>
            <a:ext cx="7761759" cy="334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85149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str → </a:t>
            </a: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9410568" y="4349585"/>
            <a:ext cx="7963132" cy="546034"/>
          </a:xfrm>
          <a:prstGeom prst="roundRect">
            <a:avLst>
              <a:gd fmla="val 17444" name="adj"/>
            </a:avLst>
          </a:prstGeom>
          <a:solidFill>
            <a:srgbClr val="1A2235"/>
          </a:solidFill>
          <a:ln cap="flat" cmpd="sng" w="10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9630701" y="4474468"/>
            <a:ext cx="7761759" cy="3343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85149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tuple → </a:t>
            </a: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(1, 2)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410568" y="5219402"/>
            <a:ext cx="7963132" cy="714210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9410568" y="5219402"/>
            <a:ext cx="31750" cy="71421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9670918" y="5390852"/>
            <a:ext cx="7713076" cy="409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highlight>
                  <a:srgbClr val="131926"/>
                </a:highlight>
                <a:latin typeface="Arial"/>
                <a:ea typeface="Arial"/>
                <a:cs typeface="Arial"/>
                <a:sym typeface="Arial"/>
              </a:rPr>
              <a:t>Mỗi lần "sửa" = </a:t>
            </a:r>
            <a:r>
              <a:rPr b="1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tạo object mới </a:t>
            </a:r>
            <a:r>
              <a:rPr b="0" i="0" lang="en-US" sz="1950" u="none" cap="none" strike="noStrike">
                <a:solidFill>
                  <a:srgbClr val="DDE3F0"/>
                </a:solidFill>
                <a:highlight>
                  <a:srgbClr val="131926"/>
                </a:highlight>
                <a:latin typeface="Arial"/>
                <a:ea typeface="Arial"/>
                <a:cs typeface="Arial"/>
                <a:sym typeface="Arial"/>
              </a:rPr>
              <a:t>trong bộ nhớ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🔑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538552" y="9047758"/>
            <a:ext cx="10164517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Immutable = an toàn hơn khi truyền vào hàm · Mutable = linh hoạt khi cần thay đổi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01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Cú Pháp Python, Biến &amp; Kiểu Dữ Liệu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914301" y="2247305"/>
            <a:ext cx="558750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134434" y="2372188"/>
            <a:ext cx="5314863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Biến &amp; dynamic typing — Python tự suy kiểu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673123" y="2247305"/>
            <a:ext cx="446897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6893256" y="2372188"/>
            <a:ext cx="416278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4 kiểu cơ bản: int · float · str · bool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1313419" y="2247305"/>
            <a:ext cx="595742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1533552" y="2372188"/>
            <a:ext cx="569588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Mutable (list/dict/set) vs Immutable (int/str/tuple)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914301" y="2954073"/>
            <a:ext cx="445674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134434" y="3078956"/>
            <a:ext cx="415017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Ép kiểu: int() · float() · str() · bool()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914301" y="3984790"/>
            <a:ext cx="5473403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629668" y="4204891"/>
            <a:ext cx="4595553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Toán Tử &amp; Biểu Thức Điều Kiện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133905" y="4476750"/>
            <a:ext cx="16182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Toán Tử, Điều Kiện &amp; Câu Lệnh Match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667250" y="6063424"/>
            <a:ext cx="121096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849284" y="6131157"/>
            <a:ext cx="92309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992482" y="6063424"/>
            <a:ext cx="13697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174515" y="6131157"/>
            <a:ext cx="10818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if / elif / else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476464" y="6063424"/>
            <a:ext cx="2190419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7658497" y="6131157"/>
            <a:ext cx="190255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match (Python 3.10+)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Các Loại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Toán Tử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14301" y="2188766"/>
            <a:ext cx="5308699" cy="7412468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914301" y="9590650"/>
            <a:ext cx="53086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914301" y="2188766"/>
            <a:ext cx="53086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914301" y="2188766"/>
            <a:ext cx="10583" cy="7412468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212417" y="2188766"/>
            <a:ext cx="10583" cy="7412468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172435" y="2419449"/>
            <a:ext cx="4936204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SỐ HỌC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172435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316368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667867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811801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2163300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2307233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2658732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2802665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154164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298097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781061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924995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276494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420427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458185" y="3259667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1553435" y="3278717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161150" y="3302000"/>
            <a:ext cx="180475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chia nguyên: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080206" y="3259667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175456" y="3278717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7//2 = 3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458185" y="3911038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1553435" y="3930088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2000250" y="3953371"/>
            <a:ext cx="117835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chia dư: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292905" y="3911038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388155" y="3930088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7%2 = 1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458185" y="4562409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553435" y="4581459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2161150" y="4604742"/>
            <a:ext cx="126302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luỹ thừa: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538472" y="4562409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3633722" y="4581459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2**8 = 256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489568" y="2188766"/>
            <a:ext cx="5308865" cy="7412468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489568" y="9590650"/>
            <a:ext cx="5308865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489568" y="2188766"/>
            <a:ext cx="5308865" cy="21167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89568" y="2188766"/>
            <a:ext cx="10583" cy="7412468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11787849" y="2188766"/>
            <a:ext cx="10583" cy="7412468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747702" y="2419449"/>
            <a:ext cx="4936375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SO SÁNH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747702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891635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7374599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7518533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001496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8145430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8496929" y="2766550"/>
            <a:ext cx="419365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8640862" y="2824758"/>
            <a:ext cx="20769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8992361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9136294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619258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9763192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033452" y="3302000"/>
            <a:ext cx="160135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Luôn trả về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8749110" y="3259667"/>
            <a:ext cx="72459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bool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9588004" y="3302000"/>
            <a:ext cx="172471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(True/False)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747702" y="3911038"/>
            <a:ext cx="493637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trong điều kiện if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2065001" y="2188766"/>
            <a:ext cx="5308699" cy="7412468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12065001" y="9590650"/>
            <a:ext cx="53086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12065001" y="2188766"/>
            <a:ext cx="5308699" cy="21167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12065001" y="2188766"/>
            <a:ext cx="10583" cy="7412468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7363117" y="2188766"/>
            <a:ext cx="10583" cy="7412468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2323135" y="2419449"/>
            <a:ext cx="4936204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2323135" y="2766550"/>
            <a:ext cx="682294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12467068" y="2824758"/>
            <a:ext cx="47062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13081497" y="2766550"/>
            <a:ext cx="550829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3225430" y="2824758"/>
            <a:ext cx="339163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3708393" y="2766550"/>
            <a:ext cx="682294" cy="359833"/>
          </a:xfrm>
          <a:prstGeom prst="roundRect">
            <a:avLst>
              <a:gd fmla="val 15882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3852327" y="2824758"/>
            <a:ext cx="470628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725"/>
              <a:buFont typeface="Courier New"/>
              <a:buNone/>
            </a:pPr>
            <a:r>
              <a:rPr b="0" i="0" lang="en-US" sz="1725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2608885" y="325966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12704135" y="327871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3472750" y="3302000"/>
            <a:ext cx="336443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cả hai đúng mới True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2608885" y="3911038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12704135" y="3930088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3311849" y="3953371"/>
            <a:ext cx="371718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ít nhất một đúng là True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2608885" y="4562409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12704135" y="4581459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3472750" y="4604742"/>
            <a:ext cx="305155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đảo ngược kết quả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if / elif / else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200051" y="2231099"/>
            <a:ext cx="122813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Cấu trúc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2542481" y="2188766"/>
            <a:ext cx="13762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rẽ nhánh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033077" y="2231099"/>
            <a:ext cx="222809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ra quyết định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200051" y="2840137"/>
            <a:ext cx="1037299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Indent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351650" y="2882470"/>
            <a:ext cx="529695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quyết định khối lệnh — sai indent = lỗi ngay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200051" y="3975695"/>
            <a:ext cx="397965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Python dùng indent thay cho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254294" y="3933362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349544" y="3952412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200051" y="4627067"/>
            <a:ext cx="87259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Nhiều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2186947" y="4584733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2282197" y="4603783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3211711" y="4627067"/>
            <a:ext cx="193737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liên tiếp được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200051" y="5278438"/>
            <a:ext cx="11773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Ternary: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2491714" y="5236104"/>
            <a:ext cx="3570222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2586964" y="5255154"/>
            <a:ext cx="34868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x if điều_kiện else 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8915467" y="2304025"/>
            <a:ext cx="1413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conditions.py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diem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78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diem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"Xuất sắc"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diem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75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"Giỏi"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← chạy dòng này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diem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"Trung bình"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"Cần cố gắng"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Ternary (1 dòng)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loai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"Đậu"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diem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"Rớt"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Ví Dụ Thực Tế — Phân Khúc Khách Hàng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200051" y="2231099"/>
            <a:ext cx="329903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Bài toán: phân loại theo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593498" y="2188766"/>
            <a:ext cx="218575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chi tiêu/tháng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VIP → ≥ 10 triệu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Tiềm năng → 3–10 triệu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Phổ thông → dưới 3 triệu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914301" y="4794250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Ứng dụng: banking, e-commerce, loyalty program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914301" y="6020759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1172435" y="6212087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538552" y="6202660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Đây là bước đầu của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Customer Segmentation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— bài toán cốt lõi Data Science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8039034" y="2188766"/>
            <a:ext cx="9334666" cy="5199559"/>
          </a:xfrm>
          <a:prstGeom prst="roundRect">
            <a:avLst>
              <a:gd fmla="val 219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8915467" y="2304025"/>
            <a:ext cx="1618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segmentation.py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8354417" y="2857434"/>
            <a:ext cx="8983304" cy="43107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phan_khuc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"VIP"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"Tiềm năng"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"Phổ thông"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phan_khuc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12_500_000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VIP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phan_khuc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4_200_000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Tiềm năng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phan_khuc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Phổ thông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Câu Lệnh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match </a:t>
            </a:r>
            <a:r>
              <a:rPr b="1" i="0" lang="en-US" sz="51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(Python 3.10+)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200051" y="2231099"/>
            <a:ext cx="322835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Thay thế nhiều if-elif 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524871" y="2188766"/>
            <a:ext cx="193043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gọn &amp; rõ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200051" y="2882470"/>
            <a:ext cx="78776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2102115" y="2840137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2197365" y="2859187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2644180" y="2882470"/>
            <a:ext cx="294084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default (giống else)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Hoạt động với số, chuỗi, tuple, 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Mạnh hơn if-elif nhiều: hỗ trợ pattern phức tạp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8915467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match.py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trang_thai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"pending"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match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trang_thai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"success"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"✅ Đơn hàng thành công"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"pending"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"⏳ Đang xử lý"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← chạy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"failed"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"❌ Giao dịch thất bại"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"refunded"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"↩️ Hoàn tiền"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"❓ Không xác định"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02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Toán Tử, Điều Kiện &amp; Match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914301" y="2247305"/>
            <a:ext cx="421034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1134434" y="2372188"/>
            <a:ext cx="389639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3 nhóm: số học · so sánh · logic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5295966" y="2247305"/>
            <a:ext cx="480251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516100" y="2372188"/>
            <a:ext cx="450632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if / elif / else — indent quyết định khối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0269802" y="2247305"/>
            <a:ext cx="550647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10489936" y="2372188"/>
            <a:ext cx="5231403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Phân khúc khách hàng — ứng dụng thực tế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914301" y="2954073"/>
            <a:ext cx="6114687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1134434" y="3078956"/>
            <a:ext cx="585786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match — gọn hơn cho nhiều case (Python 3.10+)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914301" y="3984790"/>
            <a:ext cx="3035763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629668" y="4204891"/>
            <a:ext cx="2100263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Vòng Lặp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1124645" y="4476750"/>
            <a:ext cx="163691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531442" y="5905500"/>
            <a:ext cx="82315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~10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Vòng Lặp — for, while, Comprehension &amp; Generator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667250" y="6063424"/>
            <a:ext cx="586217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4849284" y="6131157"/>
            <a:ext cx="298351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367735" y="6063424"/>
            <a:ext cx="79805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5549768" y="6131157"/>
            <a:ext cx="51018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280051" y="6063424"/>
            <a:ext cx="1719461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462084" y="6131157"/>
            <a:ext cx="143159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break / continue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8113779" y="6063424"/>
            <a:ext cx="205812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8295812" y="6131157"/>
            <a:ext cx="1770261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List Comprehension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10286173" y="6063424"/>
            <a:ext cx="122154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10468207" y="6131157"/>
            <a:ext cx="93368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Generator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Vòng Lặp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1200051" y="2231099"/>
            <a:ext cx="117802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Lặp qua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2492375" y="2188766"/>
            <a:ext cx="346544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list, tuple, chuỗi, range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914301" y="2840137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khi biết trước số lần hoặc có tập để duyệt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1200051" y="3933362"/>
            <a:ext cx="4053086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1295301" y="3952412"/>
            <a:ext cx="398417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range(start, stop, step)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5443637" y="3975695"/>
            <a:ext cx="200765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sinh dãy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1200051" y="4584733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1295301" y="4603783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enumerate()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3351444" y="4627067"/>
            <a:ext cx="333276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lấy cả index và giá trị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1200051" y="5236104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1295301" y="5255154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zip()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2385880" y="5278438"/>
            <a:ext cx="415406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lặp song song 2 danh sách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for_loop.py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"Laptop"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"Phone"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"Tablet"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range — dãy số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 2 3 4 5 # enumerate — kèm index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zip — song song 2 list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999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599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399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Vòng Lặp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200051" y="2231099"/>
            <a:ext cx="105912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Lặp khi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2373478" y="2188766"/>
            <a:ext cx="288855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điều kiện còn đúng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khi không biết trước số lần lặp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914301" y="3491508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⚠️ Phải có điều kiện thoát — tránh vòng lặp vô hạn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914301" y="4584733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Phổ biến: retry logic, đọc streaming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017904" y="5388405"/>
            <a:ext cx="2460460" cy="573484"/>
          </a:xfrm>
          <a:prstGeom prst="roundRect">
            <a:avLst>
              <a:gd fmla="val 16609" name="adj"/>
            </a:avLst>
          </a:prstGeom>
          <a:solidFill>
            <a:srgbClr val="3776AB">
              <a:alpha val="14117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3218987" y="5532339"/>
            <a:ext cx="2058293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Kiểm tra điều kiện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2780440" y="6076057"/>
            <a:ext cx="764447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 True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314939" y="6456826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2516022" y="6600759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Chạy block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2663362" y="7051378"/>
            <a:ext cx="998604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↑ Lặp lại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4944401" y="6285409"/>
            <a:ext cx="874415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 False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505689" y="6666177"/>
            <a:ext cx="1675639" cy="499401"/>
          </a:xfrm>
          <a:prstGeom prst="roundRect">
            <a:avLst>
              <a:gd fmla="val 19073" name="adj"/>
            </a:avLst>
          </a:prstGeom>
          <a:solidFill>
            <a:srgbClr val="F85149">
              <a:alpha val="10196"/>
            </a:srgbClr>
          </a:solidFill>
          <a:ln cap="flat" cmpd="sng" w="10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8"/>
          <p:cNvSpPr/>
          <p:nvPr/>
        </p:nvSpPr>
        <p:spPr>
          <a:xfrm>
            <a:off x="4706772" y="6810111"/>
            <a:ext cx="127347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Thoát vòng lặp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8039034" y="2188766"/>
            <a:ext cx="9334666" cy="7530207"/>
          </a:xfrm>
          <a:prstGeom prst="roundRect">
            <a:avLst>
              <a:gd fmla="val 151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8915467" y="2304025"/>
            <a:ext cx="1413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while_loop.py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8354417" y="2857434"/>
            <a:ext cx="8983304" cy="66414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&lt;=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 2 3 4 5 # Retry logic thực tế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so_lan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so_lan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ket_qua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goi_api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ket_qua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ok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thoát khi OK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so_lan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Vòng lặp daemon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doc_stream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break &amp; continue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1200051" y="2188766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1295301" y="2207816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385880" y="2231099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2881313" y="2188766"/>
            <a:ext cx="171397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thoát ngay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4709583" y="2231099"/>
            <a:ext cx="187255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khỏi vòng lặp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1200051" y="2840137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1295301" y="2859187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2868580" y="2882470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3364012" y="2840137"/>
            <a:ext cx="1032834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bỏ qua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4511146" y="2882470"/>
            <a:ext cx="285925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lượt hiện tại, tiếp tục lặp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914301" y="3933362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để lọc dữ liệu, tìm kiếm sớm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914301" y="4584733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Tránh lạm dụng — khó đọc khi lồng sâu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8039034" y="2188766"/>
            <a:ext cx="9334666" cy="7530207"/>
          </a:xfrm>
          <a:prstGeom prst="roundRect">
            <a:avLst>
              <a:gd fmla="val 151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8915467" y="2304025"/>
            <a:ext cx="18242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break_continue.py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8354417" y="2857434"/>
            <a:ext cx="8983304" cy="66414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break — tìm phần tử đầu tiên &gt; 5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"Tìm thấy:"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7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break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continue — bỏ số chẵn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%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continue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 3 5 7 # Lọc dữ liệu hợp lệ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du_lieu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None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continue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xu_ly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List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Comprehension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200051" y="2231099"/>
            <a:ext cx="322341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Viết vòng lặp gọn trong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4520076" y="2188766"/>
            <a:ext cx="1053339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 dòng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Nhanh hơn for thông thường ~30–50%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200051" y="3533841"/>
            <a:ext cx="83902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Cú pháp: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2552899" y="3491508"/>
            <a:ext cx="5029068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2648149" y="3510558"/>
            <a:ext cx="4989440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[expr for x in tập if điều_kiện]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914301" y="4584733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Dict &amp; set comprehension cũng tương tự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914301" y="5369389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1172435" y="5560715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538552" y="5551289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Rất phổ biến trong Pandas: tạo cột mới, lọc dữ liệu theo điều kiện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0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8915467" y="2304025"/>
            <a:ext cx="1721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comprehension.py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For thông thường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kq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[]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kq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List comprehension — 1 dòng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kq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[1, 4, 9, 16, 25] # Kèm điều kiện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Dict comprehension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Generator — Lazy Evaluation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1200051" y="2231099"/>
            <a:ext cx="117769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Sinh giá trị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2688332" y="2188766"/>
            <a:ext cx="1407385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lười (lazy)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4210017" y="2231099"/>
            <a:ext cx="341775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không tính trước toàn bộ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1200051" y="3324324"/>
            <a:ext cx="8049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2119313" y="3281991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1"/>
          <p:cNvSpPr/>
          <p:nvPr/>
        </p:nvSpPr>
        <p:spPr>
          <a:xfrm>
            <a:off x="2214563" y="3301041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yield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3305142" y="3324324"/>
            <a:ext cx="65233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4071772" y="3281991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4167022" y="3301041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914301" y="3933362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Quan trọng: streaming data, pipeline ML lớn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914301" y="4756051"/>
            <a:ext cx="1976603" cy="804003"/>
          </a:xfrm>
          <a:prstGeom prst="roundRect">
            <a:avLst>
              <a:gd fmla="val 14216" name="adj"/>
            </a:avLst>
          </a:prstGeom>
          <a:solidFill>
            <a:srgbClr val="F85149">
              <a:alpha val="7058"/>
            </a:srgbClr>
          </a:solidFill>
          <a:ln cap="flat" cmpd="sng" w="10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/>
          <p:nvPr/>
        </p:nvSpPr>
        <p:spPr>
          <a:xfrm>
            <a:off x="1039085" y="4918935"/>
            <a:ext cx="1727035" cy="249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List — vào RAM hết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1039085" y="5206669"/>
            <a:ext cx="17270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1M phần tử → ~8MB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3043205" y="4756051"/>
            <a:ext cx="2106414" cy="804003"/>
          </a:xfrm>
          <a:prstGeom prst="roundRect">
            <a:avLst>
              <a:gd fmla="val 14216" name="adj"/>
            </a:avLst>
          </a:prstGeom>
          <a:solidFill>
            <a:srgbClr val="56D364">
              <a:alpha val="7058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3167989" y="4918935"/>
            <a:ext cx="1856846" cy="249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Generator — sinh dần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3167989" y="5206669"/>
            <a:ext cx="18568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1M phần tử → ~200B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8915467" y="2304025"/>
            <a:ext cx="1310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generator.py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binh_phuong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yield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sinh từng giá trị # Dùng như for bình thường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binh_phuong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xu_ly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tiết kiệm RAM # Generator expression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0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 # So sánh RAM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list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gen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2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03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Vòng Lặp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914301" y="2247305"/>
            <a:ext cx="569416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1134434" y="2372188"/>
            <a:ext cx="542472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for — duyệt tập hợp · range · enumerate · zip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6779783" y="2247305"/>
            <a:ext cx="580793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2"/>
          <p:cNvSpPr/>
          <p:nvPr/>
        </p:nvSpPr>
        <p:spPr>
          <a:xfrm>
            <a:off x="6999916" y="2372188"/>
            <a:ext cx="554190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while — lặp theo điều kiện, cần điều kiện thoát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914301" y="2954073"/>
            <a:ext cx="505073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1134434" y="3078956"/>
            <a:ext cx="476198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break / continue — điều khiển luồng lặp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6136349" y="2954073"/>
            <a:ext cx="551573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>
            <a:off x="6356483" y="3078956"/>
            <a:ext cx="524094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List comprehension — Pythonic, nhanh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11823403" y="2954073"/>
            <a:ext cx="5324740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/>
          <p:nvPr/>
        </p:nvSpPr>
        <p:spPr>
          <a:xfrm>
            <a:off x="12043536" y="3078956"/>
            <a:ext cx="504421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Generator + yield — lazy, tiết kiệm bộ nhớ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914301" y="3984790"/>
            <a:ext cx="5760807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2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1629668" y="4204891"/>
            <a:ext cx="4891579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Hàm, Scope, Lambda &amp; Decorator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1105958" y="4476750"/>
            <a:ext cx="167411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1531442" y="5905500"/>
            <a:ext cx="82315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~10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Hàm, Scope, Lambda &amp; Decorator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4667250" y="6063424"/>
            <a:ext cx="128504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4849284" y="6131157"/>
            <a:ext cx="99718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def / return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6066565" y="6063424"/>
            <a:ext cx="171913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6248598" y="6131157"/>
            <a:ext cx="143126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*args / **kwargs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7899963" y="6063424"/>
            <a:ext cx="90404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3"/>
          <p:cNvSpPr/>
          <p:nvPr/>
        </p:nvSpPr>
        <p:spPr>
          <a:xfrm>
            <a:off x="8081996" y="6131157"/>
            <a:ext cx="61618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8918278" y="6063424"/>
            <a:ext cx="9887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3"/>
          <p:cNvSpPr/>
          <p:nvPr/>
        </p:nvSpPr>
        <p:spPr>
          <a:xfrm>
            <a:off x="9100311" y="6131157"/>
            <a:ext cx="7008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10021259" y="6063424"/>
            <a:ext cx="136210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3"/>
          <p:cNvSpPr/>
          <p:nvPr/>
        </p:nvSpPr>
        <p:spPr>
          <a:xfrm>
            <a:off x="10203293" y="6131157"/>
            <a:ext cx="1074241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@decorator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Định Nghĩa Hàm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1200051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"/>
          <p:cNvSpPr/>
          <p:nvPr/>
        </p:nvSpPr>
        <p:spPr>
          <a:xfrm>
            <a:off x="1295301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2063915" y="2231099"/>
            <a:ext cx="14148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khai báo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4"/>
          <p:cNvSpPr/>
          <p:nvPr/>
        </p:nvSpPr>
        <p:spPr>
          <a:xfrm>
            <a:off x="3593042" y="2188766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4"/>
          <p:cNvSpPr/>
          <p:nvPr/>
        </p:nvSpPr>
        <p:spPr>
          <a:xfrm>
            <a:off x="3688292" y="2207816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4939771" y="2231099"/>
            <a:ext cx="151652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trả kết quả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1200051" y="2840137"/>
            <a:ext cx="158680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Parameter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2901156" y="2882470"/>
            <a:ext cx="288855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biến trong def hàm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1200051" y="3491508"/>
            <a:ext cx="152562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Argument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2839971" y="3533841"/>
            <a:ext cx="299279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giá trị truyền khi gọi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1200051" y="4185213"/>
            <a:ext cx="136422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có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/>
          <p:nvPr/>
        </p:nvSpPr>
        <p:spPr>
          <a:xfrm>
            <a:off x="2678576" y="4142879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"/>
          <p:cNvSpPr/>
          <p:nvPr/>
        </p:nvSpPr>
        <p:spPr>
          <a:xfrm>
            <a:off x="2773826" y="4161929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4025305" y="4185213"/>
            <a:ext cx="110129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trả về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5240900" y="4142879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5336150" y="4161929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/>
          <p:nvPr/>
        </p:nvSpPr>
        <p:spPr>
          <a:xfrm>
            <a:off x="914301" y="4794250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 = viết một lần, dùng mãi mãi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8915467" y="2304025"/>
            <a:ext cx="1310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functions.py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tinh_doanh_thu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so_luong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*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so_luong 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tinh_doanh_thu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150_000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3_000_000 # Trả nhiều giá trị (tuple)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thong_ke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)/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thong_ke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2 9 5.25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Tham Số Mặc Định &amp;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*args / **kwargs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Tham số mặc định → không bắt buộc truyền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1200051" y="2840137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"/>
          <p:cNvSpPr/>
          <p:nvPr/>
        </p:nvSpPr>
        <p:spPr>
          <a:xfrm>
            <a:off x="1295301" y="2859187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*args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2385880" y="2882470"/>
            <a:ext cx="373421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nhiều argument tuỳ ý 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6201834" y="2840137"/>
            <a:ext cx="85440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1200051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1295301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**kwargs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2868580" y="3533841"/>
            <a:ext cx="354192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keyword arguments 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6497837" y="3491508"/>
            <a:ext cx="66440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dict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Giúp hàm linh hoạt, tái sử dụng tốt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8915467" y="2304025"/>
            <a:ext cx="1515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args_kwargs.py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Tham số mặc định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chao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"Xin chào"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chao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Xin chào An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chao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"Bình"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"Hola"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Hola Bình # *args — nhận nhiều số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args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10 # **kwargs — keyword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profile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(**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kw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():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profile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tuoi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Scope — Phạm Vi Biến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5161359" y="3701852"/>
            <a:ext cx="7965282" cy="3250737"/>
          </a:xfrm>
          <a:prstGeom prst="roundRect">
            <a:avLst>
              <a:gd fmla="val 351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6"/>
          <p:cNvSpPr/>
          <p:nvPr/>
        </p:nvSpPr>
        <p:spPr>
          <a:xfrm>
            <a:off x="5362443" y="3826702"/>
            <a:ext cx="3754145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Global Scope — sống toàn chương trình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5933943" y="4207702"/>
            <a:ext cx="661271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TEN_APP = </a:t>
            </a:r>
            <a:r>
              <a:rPr b="0" i="0" lang="en-US" sz="165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"DS Platform"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5933943" y="4573819"/>
            <a:ext cx="6420115" cy="1506802"/>
          </a:xfrm>
          <a:prstGeom prst="roundRect">
            <a:avLst>
              <a:gd fmla="val 7586" name="adj"/>
            </a:avLst>
          </a:prstGeom>
          <a:solidFill>
            <a:srgbClr val="FFD43B">
              <a:alpha val="7843"/>
            </a:srgbClr>
          </a:solidFill>
          <a:ln cap="flat" cmpd="sng" w="10575">
            <a:solidFill>
              <a:srgbClr val="FFD43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6"/>
          <p:cNvSpPr/>
          <p:nvPr/>
        </p:nvSpPr>
        <p:spPr>
          <a:xfrm>
            <a:off x="5324244" y="3807685"/>
            <a:ext cx="2807476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Local Scope — bên trong hàm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7909719" y="4850970"/>
            <a:ext cx="2544763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tinh_vat</a:t>
            </a:r>
            <a:r>
              <a:rPr b="0" i="0" lang="en-US" sz="18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(gia):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6401594" y="5200220"/>
            <a:ext cx="5649357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vat = gia * 0.1 </a:t>
            </a:r>
            <a:r>
              <a:rPr b="0" i="1" lang="en-US" sz="180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# chỉ sống trong hàm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8184059" y="5549471"/>
            <a:ext cx="199591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return vat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5933943" y="6213905"/>
            <a:ext cx="661271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85149"/>
                </a:solidFill>
                <a:latin typeface="Courier New"/>
                <a:ea typeface="Courier New"/>
                <a:cs typeface="Courier New"/>
                <a:sym typeface="Courier New"/>
              </a:rPr>
              <a:t>print(vat) → NameError!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1538552" y="9047758"/>
            <a:ext cx="9772938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Lỗi scope là </a:t>
            </a:r>
            <a:r>
              <a:rPr b="1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bug phổ biến nhất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với người mới · Hạn chế dùng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global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— khó debug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Lambda — Hàm Ẩn Danh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 1 dòng — không cần đặt tên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1200051" y="2882470"/>
            <a:ext cx="13132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Cú pháp: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2627643" y="2840137"/>
            <a:ext cx="4213986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2722893" y="2859187"/>
            <a:ext cx="414990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lambda tham_so: bieu_thuc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1200051" y="3533841"/>
            <a:ext cx="138109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Hay dùng với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2698915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7"/>
          <p:cNvSpPr/>
          <p:nvPr/>
        </p:nvSpPr>
        <p:spPr>
          <a:xfrm>
            <a:off x="2794165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sorted()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4367444" y="3533841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642776" y="3491508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7"/>
          <p:cNvSpPr/>
          <p:nvPr/>
        </p:nvSpPr>
        <p:spPr>
          <a:xfrm>
            <a:off x="4738026" y="3510558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map()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5828606" y="3533841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6103938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6199188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914301" y="4584733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Gọn cho hàm nhỏ, dùng 1 lần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7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7"/>
          <p:cNvSpPr/>
          <p:nvPr/>
        </p:nvSpPr>
        <p:spPr>
          <a:xfrm>
            <a:off x="8915467" y="2304025"/>
            <a:ext cx="1001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lambda.py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Hàm thường vs lambda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nhan_doi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nhan_doi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Sort theo giá — thực tế nhất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150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map, filter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gia_vat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1.1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Decorator — Hàm Bọc Hàm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1200051" y="2231099"/>
            <a:ext cx="71979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2034150" y="2188766"/>
            <a:ext cx="3030943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bọc ngoài hàm khác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5167313" y="2231099"/>
            <a:ext cx="1736461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thêm tính năng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1200051" y="3324324"/>
            <a:ext cx="13132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Cú pháp: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2627643" y="3281991"/>
            <a:ext cx="24435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2722893" y="3301041"/>
            <a:ext cx="23292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@ten_decorator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5261736" y="3324324"/>
            <a:ext cx="178772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phía trên def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8"/>
          <p:cNvSpPr/>
          <p:nvPr/>
        </p:nvSpPr>
        <p:spPr>
          <a:xfrm>
            <a:off x="914301" y="3933362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Ứng dụng: logging, timing, caching, auth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8"/>
          <p:cNvSpPr/>
          <p:nvPr/>
        </p:nvSpPr>
        <p:spPr>
          <a:xfrm>
            <a:off x="1200051" y="4627067"/>
            <a:ext cx="104209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Gặp lại ở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2544961" y="4584733"/>
            <a:ext cx="1163638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3822899" y="4627067"/>
            <a:ext cx="2380886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@app.get("/"), @app.post()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914301" y="5830259"/>
            <a:ext cx="1619250" cy="520568"/>
          </a:xfrm>
          <a:prstGeom prst="roundRect">
            <a:avLst>
              <a:gd fmla="val 18297" name="adj"/>
            </a:avLst>
          </a:prstGeom>
          <a:solidFill>
            <a:srgbClr val="C9A5FF">
              <a:alpha val="12156"/>
            </a:srgbClr>
          </a:solidFill>
          <a:ln cap="flat" cmpd="sng" w="10575">
            <a:solidFill>
              <a:srgbClr val="C9A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1115384" y="5974193"/>
            <a:ext cx="1217083" cy="2708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5FF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C9A5FF"/>
                </a:solidFill>
                <a:latin typeface="Arial"/>
                <a:ea typeface="Arial"/>
                <a:cs typeface="Arial"/>
                <a:sym typeface="Arial"/>
              </a:rPr>
              <a:t>@timer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1485801" y="6464995"/>
            <a:ext cx="2000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914301" y="6864780"/>
            <a:ext cx="2701561" cy="520568"/>
          </a:xfrm>
          <a:prstGeom prst="roundRect">
            <a:avLst>
              <a:gd fmla="val 18297" name="adj"/>
            </a:avLst>
          </a:prstGeom>
          <a:solidFill>
            <a:srgbClr val="3776AB">
              <a:alpha val="14117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1112961" y="7008714"/>
            <a:ext cx="2304241" cy="2708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wrapper(*args, **kwargs)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1485801" y="7499515"/>
            <a:ext cx="2000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914301" y="7899301"/>
            <a:ext cx="2468728" cy="520568"/>
          </a:xfrm>
          <a:prstGeom prst="roundRect">
            <a:avLst>
              <a:gd fmla="val 18297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8"/>
          <p:cNvSpPr/>
          <p:nvPr/>
        </p:nvSpPr>
        <p:spPr>
          <a:xfrm>
            <a:off x="1115384" y="8043234"/>
            <a:ext cx="2066561" cy="2708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gọi hàm gốc bên trong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8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8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8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8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8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8915467" y="2304025"/>
            <a:ext cx="1310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decorator.py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8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time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timer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wrapper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**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kwargs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time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**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kwargs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()-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"giây"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result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wrapper </a:t>
            </a:r>
            <a:r>
              <a:rPr b="0" i="0" lang="en-US" sz="1800" u="none" cap="none" strike="noStrike">
                <a:solidFill>
                  <a:srgbClr val="C9A5FF"/>
                </a:solidFill>
                <a:latin typeface="Courier New"/>
                <a:ea typeface="Courier New"/>
                <a:cs typeface="Courier New"/>
                <a:sym typeface="Courier New"/>
              </a:rPr>
              <a:t>@timer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xu_ly_du_lieu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"nhom"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xu_ly_du_lieu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in thời gian tự động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9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04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9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Hàm, Scope, Lambda &amp; Decorator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9"/>
          <p:cNvSpPr/>
          <p:nvPr/>
        </p:nvSpPr>
        <p:spPr>
          <a:xfrm>
            <a:off x="914301" y="2247305"/>
            <a:ext cx="467816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9"/>
          <p:cNvSpPr/>
          <p:nvPr/>
        </p:nvSpPr>
        <p:spPr>
          <a:xfrm>
            <a:off x="1134434" y="2372188"/>
            <a:ext cx="437824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def / return · parameter vs argument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9"/>
          <p:cNvSpPr/>
          <p:nvPr/>
        </p:nvSpPr>
        <p:spPr>
          <a:xfrm>
            <a:off x="5763783" y="2247305"/>
            <a:ext cx="473323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9"/>
          <p:cNvSpPr/>
          <p:nvPr/>
        </p:nvSpPr>
        <p:spPr>
          <a:xfrm>
            <a:off x="5983916" y="2372188"/>
            <a:ext cx="443496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*args / **kwargs — tham số linh hoạt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9"/>
          <p:cNvSpPr/>
          <p:nvPr/>
        </p:nvSpPr>
        <p:spPr>
          <a:xfrm>
            <a:off x="10668331" y="2247305"/>
            <a:ext cx="309562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9"/>
          <p:cNvSpPr/>
          <p:nvPr/>
        </p:nvSpPr>
        <p:spPr>
          <a:xfrm>
            <a:off x="10888465" y="2372188"/>
            <a:ext cx="274822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Scope: local vs global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9"/>
          <p:cNvSpPr/>
          <p:nvPr/>
        </p:nvSpPr>
        <p:spPr>
          <a:xfrm>
            <a:off x="914301" y="2954073"/>
            <a:ext cx="416983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9"/>
          <p:cNvSpPr/>
          <p:nvPr/>
        </p:nvSpPr>
        <p:spPr>
          <a:xfrm>
            <a:off x="1134434" y="3078956"/>
            <a:ext cx="385466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lambda — hàm ẩn danh 1 dòng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5255452" y="2954073"/>
            <a:ext cx="505387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9"/>
          <p:cNvSpPr/>
          <p:nvPr/>
        </p:nvSpPr>
        <p:spPr>
          <a:xfrm>
            <a:off x="5475585" y="3078956"/>
            <a:ext cx="476522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@decorator — bọc hàm thêm tính năng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914301" y="3984790"/>
            <a:ext cx="3351940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9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9"/>
          <p:cNvSpPr/>
          <p:nvPr/>
        </p:nvSpPr>
        <p:spPr>
          <a:xfrm>
            <a:off x="1629668" y="4204891"/>
            <a:ext cx="2416440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List vs Tuple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0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1129936" y="4476750"/>
            <a:ext cx="16261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~7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0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0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List vs Tuple Khi Nào Dùng Cái Nào?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4667250" y="6063424"/>
            <a:ext cx="157079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4849284" y="6131157"/>
            <a:ext cx="128293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list — mutable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0"/>
          <p:cNvSpPr/>
          <p:nvPr/>
        </p:nvSpPr>
        <p:spPr>
          <a:xfrm>
            <a:off x="6352315" y="6063424"/>
            <a:ext cx="1952129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0"/>
          <p:cNvSpPr/>
          <p:nvPr/>
        </p:nvSpPr>
        <p:spPr>
          <a:xfrm>
            <a:off x="6534348" y="6131157"/>
            <a:ext cx="166426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tuple — immutable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8418711" y="6063424"/>
            <a:ext cx="89330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0"/>
          <p:cNvSpPr/>
          <p:nvPr/>
        </p:nvSpPr>
        <p:spPr>
          <a:xfrm>
            <a:off x="8600744" y="6131157"/>
            <a:ext cx="60543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slicing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0"/>
          <p:cNvSpPr/>
          <p:nvPr/>
        </p:nvSpPr>
        <p:spPr>
          <a:xfrm>
            <a:off x="9426278" y="6063424"/>
            <a:ext cx="204771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0"/>
          <p:cNvSpPr/>
          <p:nvPr/>
        </p:nvSpPr>
        <p:spPr>
          <a:xfrm>
            <a:off x="9608311" y="6131157"/>
            <a:ext cx="175984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packing / unpacking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List — Mutable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1200051" y="2231099"/>
            <a:ext cx="136422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Tạo bằng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2678576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1"/>
          <p:cNvSpPr/>
          <p:nvPr/>
        </p:nvSpPr>
        <p:spPr>
          <a:xfrm>
            <a:off x="2773826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3542440" y="2231099"/>
            <a:ext cx="244835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có thể thay đổi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1200051" y="2882470"/>
            <a:ext cx="119538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Index từ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2509738" y="2840137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1"/>
          <p:cNvSpPr/>
          <p:nvPr/>
        </p:nvSpPr>
        <p:spPr>
          <a:xfrm>
            <a:off x="2604988" y="2859187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3051804" y="2882470"/>
            <a:ext cx="188958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 Index âm từ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1"/>
          <p:cNvSpPr/>
          <p:nvPr/>
        </p:nvSpPr>
        <p:spPr>
          <a:xfrm>
            <a:off x="5055691" y="2840137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1"/>
          <p:cNvSpPr/>
          <p:nvPr/>
        </p:nvSpPr>
        <p:spPr>
          <a:xfrm>
            <a:off x="5150941" y="2859187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1"/>
          <p:cNvSpPr/>
          <p:nvPr/>
        </p:nvSpPr>
        <p:spPr>
          <a:xfrm>
            <a:off x="5758657" y="2882470"/>
            <a:ext cx="83836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(cuối)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1"/>
          <p:cNvSpPr/>
          <p:nvPr/>
        </p:nvSpPr>
        <p:spPr>
          <a:xfrm>
            <a:off x="1200051" y="3533841"/>
            <a:ext cx="94006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Thêm: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1"/>
          <p:cNvSpPr/>
          <p:nvPr/>
        </p:nvSpPr>
        <p:spPr>
          <a:xfrm>
            <a:off x="2254415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1"/>
          <p:cNvSpPr/>
          <p:nvPr/>
        </p:nvSpPr>
        <p:spPr>
          <a:xfrm>
            <a:off x="2349665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append()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3922944" y="3533841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4198276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4293526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insert()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1200051" y="4185213"/>
            <a:ext cx="7032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Xoá: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2017613" y="4142879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1"/>
          <p:cNvSpPr/>
          <p:nvPr/>
        </p:nvSpPr>
        <p:spPr>
          <a:xfrm>
            <a:off x="2112863" y="4161929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remove()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3686142" y="4185213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3961474" y="4142879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1"/>
          <p:cNvSpPr/>
          <p:nvPr/>
        </p:nvSpPr>
        <p:spPr>
          <a:xfrm>
            <a:off x="4056724" y="4161929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pop()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1200051" y="4836584"/>
            <a:ext cx="229671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khi 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1"/>
          <p:cNvSpPr/>
          <p:nvPr/>
        </p:nvSpPr>
        <p:spPr>
          <a:xfrm>
            <a:off x="3611067" y="4794250"/>
            <a:ext cx="171595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sẽ thay đổi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1"/>
          <p:cNvSpPr/>
          <p:nvPr/>
        </p:nvSpPr>
        <p:spPr>
          <a:xfrm>
            <a:off x="8039034" y="2188766"/>
            <a:ext cx="9334666" cy="5199559"/>
          </a:xfrm>
          <a:prstGeom prst="roundRect">
            <a:avLst>
              <a:gd fmla="val 219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1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1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1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1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list_ops.py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8354417" y="2857434"/>
            <a:ext cx="8983304" cy="43107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"Laptop"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"Phone"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"Tablet"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"Watch"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thêm cuối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"Pad"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thêm vị trí 1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"Phone"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theo giá trị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&amp; trả về cuối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vị trí 0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"Gaming Laptop"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sửa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[-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phần tử cuối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số phần tử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Slicing &amp; Sort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1200051" y="2231099"/>
            <a:ext cx="105879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Slicing: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2"/>
          <p:cNvSpPr/>
          <p:nvPr/>
        </p:nvSpPr>
        <p:spPr>
          <a:xfrm>
            <a:off x="2373147" y="2188766"/>
            <a:ext cx="3409322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2"/>
          <p:cNvSpPr/>
          <p:nvPr/>
        </p:nvSpPr>
        <p:spPr>
          <a:xfrm>
            <a:off x="2468397" y="2207816"/>
            <a:ext cx="3321101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lst[start:stop:step]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2"/>
          <p:cNvSpPr/>
          <p:nvPr/>
        </p:nvSpPr>
        <p:spPr>
          <a:xfrm>
            <a:off x="1200051" y="2840137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2"/>
          <p:cNvSpPr/>
          <p:nvPr/>
        </p:nvSpPr>
        <p:spPr>
          <a:xfrm>
            <a:off x="1295301" y="2859187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lst[::-1]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2"/>
          <p:cNvSpPr/>
          <p:nvPr/>
        </p:nvSpPr>
        <p:spPr>
          <a:xfrm>
            <a:off x="3029479" y="2882470"/>
            <a:ext cx="241147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đảo ngược list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1200051" y="3491508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2"/>
          <p:cNvSpPr/>
          <p:nvPr/>
        </p:nvSpPr>
        <p:spPr>
          <a:xfrm>
            <a:off x="1295301" y="3510558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lst.sort()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3190544" y="3533841"/>
            <a:ext cx="333258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sort tại chỗ (in-place)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2"/>
          <p:cNvSpPr/>
          <p:nvPr/>
        </p:nvSpPr>
        <p:spPr>
          <a:xfrm>
            <a:off x="1200051" y="4142879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2"/>
          <p:cNvSpPr/>
          <p:nvPr/>
        </p:nvSpPr>
        <p:spPr>
          <a:xfrm>
            <a:off x="1295301" y="4161929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sorted(lst)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3351444" y="4185213"/>
            <a:ext cx="18847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trả list mới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1200051" y="4836584"/>
            <a:ext cx="173695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Slicing 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2"/>
          <p:cNvSpPr/>
          <p:nvPr/>
        </p:nvSpPr>
        <p:spPr>
          <a:xfrm>
            <a:off x="3051307" y="4794250"/>
            <a:ext cx="140755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rất nhiều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4573158" y="4836584"/>
            <a:ext cx="188975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khi xử lý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2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2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2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2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2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slicing.py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    0    1    2    3    4    5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[20, 30, 40]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[10, 20, 30]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:]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[40, 50, 60]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[::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[10, 30, 50] bước 2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[::-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[60, 50, 40, 30, 20, 10]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tăng dần, tại chỗ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reverse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giảm dần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trả list mới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Tuple — Immutable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1200051" y="2231099"/>
            <a:ext cx="136422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Tạo bằng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3"/>
          <p:cNvSpPr/>
          <p:nvPr/>
        </p:nvSpPr>
        <p:spPr>
          <a:xfrm>
            <a:off x="2678576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3"/>
          <p:cNvSpPr/>
          <p:nvPr/>
        </p:nvSpPr>
        <p:spPr>
          <a:xfrm>
            <a:off x="2773826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( 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3"/>
          <p:cNvSpPr/>
          <p:nvPr/>
        </p:nvSpPr>
        <p:spPr>
          <a:xfrm>
            <a:off x="3542440" y="2231099"/>
            <a:ext cx="38113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>
            <a:off x="4037873" y="2188766"/>
            <a:ext cx="289536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không thể thay đổi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3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Nhanh hơn list, ít tốn bộ nhớ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3"/>
          <p:cNvSpPr/>
          <p:nvPr/>
        </p:nvSpPr>
        <p:spPr>
          <a:xfrm>
            <a:off x="1200051" y="3533841"/>
            <a:ext cx="155009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Có thể làm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3"/>
          <p:cNvSpPr/>
          <p:nvPr/>
        </p:nvSpPr>
        <p:spPr>
          <a:xfrm>
            <a:off x="2864446" y="3491508"/>
            <a:ext cx="216756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key trong dict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5146311" y="3533841"/>
            <a:ext cx="237741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(list không được)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3"/>
          <p:cNvSpPr/>
          <p:nvPr/>
        </p:nvSpPr>
        <p:spPr>
          <a:xfrm>
            <a:off x="914301" y="4142879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cho dữ liệu cố định: toạ độ, RGB, hằng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3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3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3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3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3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3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3"/>
          <p:cNvSpPr/>
          <p:nvPr/>
        </p:nvSpPr>
        <p:spPr>
          <a:xfrm>
            <a:off x="8915467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tuple.py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3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vi_tri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10.78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106.70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lat, lng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mau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127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RGB orange # Truy cập như list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vi_tri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10.78 # Thử sửa → lỗi ngay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vi_tri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11.0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TypeError: object does not #    support item assignment # Làm key trong dict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gia_ve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"HCM"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Packing &amp;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Unpacking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/>
          <p:nvPr/>
        </p:nvSpPr>
        <p:spPr>
          <a:xfrm>
            <a:off x="1200051" y="2188766"/>
            <a:ext cx="124086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Packing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/>
          <p:nvPr/>
        </p:nvSpPr>
        <p:spPr>
          <a:xfrm>
            <a:off x="2555214" y="2231099"/>
            <a:ext cx="385685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: gom nhiều giá trị vào tuple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4"/>
          <p:cNvSpPr/>
          <p:nvPr/>
        </p:nvSpPr>
        <p:spPr>
          <a:xfrm>
            <a:off x="1200051" y="2840137"/>
            <a:ext cx="1646998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Unpacking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4"/>
          <p:cNvSpPr/>
          <p:nvPr/>
        </p:nvSpPr>
        <p:spPr>
          <a:xfrm>
            <a:off x="2961349" y="2882470"/>
            <a:ext cx="255088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: tách ra từng biến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4"/>
          <p:cNvSpPr/>
          <p:nvPr/>
        </p:nvSpPr>
        <p:spPr>
          <a:xfrm>
            <a:off x="1200051" y="3533841"/>
            <a:ext cx="8049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/>
          <p:nvPr/>
        </p:nvSpPr>
        <p:spPr>
          <a:xfrm>
            <a:off x="2119313" y="3491508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4"/>
          <p:cNvSpPr/>
          <p:nvPr/>
        </p:nvSpPr>
        <p:spPr>
          <a:xfrm>
            <a:off x="2214563" y="3510558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661378" y="3533841"/>
            <a:ext cx="265333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để bắt phần còn lại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Rất tiện khi hàm trả nhiều giá trị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4"/>
          <p:cNvSpPr/>
          <p:nvPr/>
        </p:nvSpPr>
        <p:spPr>
          <a:xfrm>
            <a:off x="8915467" y="2304025"/>
            <a:ext cx="1310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unpacking.py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4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Hoán đổi biến (Pythonic)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a=20, b=10 # Unpack kết quả hàm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thong_ke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Star unpacking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giua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cuoi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dau=1 · giua=[2,3,4] · cuoi=5 # Unpack trong for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pairs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pairs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5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05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5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List vs Tuple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919592" y="2247305"/>
            <a:ext cx="5202866" cy="589359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5"/>
          <p:cNvSpPr/>
          <p:nvPr/>
        </p:nvSpPr>
        <p:spPr>
          <a:xfrm>
            <a:off x="1148192" y="2380655"/>
            <a:ext cx="4901752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Tiêu chí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6122459" y="2247305"/>
            <a:ext cx="5406099" cy="589359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5"/>
          <p:cNvSpPr/>
          <p:nvPr/>
        </p:nvSpPr>
        <p:spPr>
          <a:xfrm>
            <a:off x="6351059" y="2380655"/>
            <a:ext cx="5111082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5"/>
          <p:cNvSpPr/>
          <p:nvPr/>
        </p:nvSpPr>
        <p:spPr>
          <a:xfrm>
            <a:off x="11528558" y="2247305"/>
            <a:ext cx="5839851" cy="589359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5"/>
          <p:cNvSpPr/>
          <p:nvPr/>
        </p:nvSpPr>
        <p:spPr>
          <a:xfrm>
            <a:off x="11757158" y="2380655"/>
            <a:ext cx="5557846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919592" y="2836664"/>
            <a:ext cx="5202866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1158776" y="2971072"/>
            <a:ext cx="488058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Có thể thay đổi?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5"/>
          <p:cNvSpPr/>
          <p:nvPr/>
        </p:nvSpPr>
        <p:spPr>
          <a:xfrm>
            <a:off x="6122459" y="2836664"/>
            <a:ext cx="5406099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>
            <a:off x="6361642" y="2971072"/>
            <a:ext cx="508991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✅ Có (mutable)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5"/>
          <p:cNvSpPr/>
          <p:nvPr/>
        </p:nvSpPr>
        <p:spPr>
          <a:xfrm>
            <a:off x="11528558" y="2836664"/>
            <a:ext cx="5839851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>
            <a:off x="11767741" y="2971072"/>
            <a:ext cx="5536679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🔒 Không (immutable)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919592" y="3536487"/>
            <a:ext cx="5202866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5"/>
          <p:cNvSpPr/>
          <p:nvPr/>
        </p:nvSpPr>
        <p:spPr>
          <a:xfrm>
            <a:off x="1158776" y="3670895"/>
            <a:ext cx="488058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Tốc độ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6122459" y="3536487"/>
            <a:ext cx="5406099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6361642" y="3670895"/>
            <a:ext cx="508991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Chậm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/>
          <p:nvPr/>
        </p:nvSpPr>
        <p:spPr>
          <a:xfrm>
            <a:off x="11528558" y="3536487"/>
            <a:ext cx="5839851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5"/>
          <p:cNvSpPr/>
          <p:nvPr/>
        </p:nvSpPr>
        <p:spPr>
          <a:xfrm>
            <a:off x="11767741" y="3670895"/>
            <a:ext cx="5536679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Nhanh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5"/>
          <p:cNvSpPr/>
          <p:nvPr/>
        </p:nvSpPr>
        <p:spPr>
          <a:xfrm>
            <a:off x="919592" y="4236310"/>
            <a:ext cx="5202866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1158776" y="4370718"/>
            <a:ext cx="488058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làm key dict?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5"/>
          <p:cNvSpPr/>
          <p:nvPr/>
        </p:nvSpPr>
        <p:spPr>
          <a:xfrm>
            <a:off x="6122459" y="4236310"/>
            <a:ext cx="5406099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5"/>
          <p:cNvSpPr/>
          <p:nvPr/>
        </p:nvSpPr>
        <p:spPr>
          <a:xfrm>
            <a:off x="6361642" y="4370718"/>
            <a:ext cx="508991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❌ Không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5"/>
          <p:cNvSpPr/>
          <p:nvPr/>
        </p:nvSpPr>
        <p:spPr>
          <a:xfrm>
            <a:off x="11528558" y="4236310"/>
            <a:ext cx="5839851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5"/>
          <p:cNvSpPr/>
          <p:nvPr/>
        </p:nvSpPr>
        <p:spPr>
          <a:xfrm>
            <a:off x="11767741" y="4370718"/>
            <a:ext cx="5536679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✅ Được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5"/>
          <p:cNvSpPr/>
          <p:nvPr/>
        </p:nvSpPr>
        <p:spPr>
          <a:xfrm>
            <a:off x="919592" y="4936133"/>
            <a:ext cx="5202866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5"/>
          <p:cNvSpPr/>
          <p:nvPr/>
        </p:nvSpPr>
        <p:spPr>
          <a:xfrm>
            <a:off x="1158776" y="5070541"/>
            <a:ext cx="488058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Khi nào dùng?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6122459" y="4936133"/>
            <a:ext cx="5406099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5"/>
          <p:cNvSpPr/>
          <p:nvPr/>
        </p:nvSpPr>
        <p:spPr>
          <a:xfrm>
            <a:off x="6361642" y="5070541"/>
            <a:ext cx="5089915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Dữ liệu hay thay đổi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11528558" y="4936133"/>
            <a:ext cx="5839851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5"/>
          <p:cNvSpPr/>
          <p:nvPr/>
        </p:nvSpPr>
        <p:spPr>
          <a:xfrm>
            <a:off x="11767741" y="5070541"/>
            <a:ext cx="5536679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Dữ liệu cố định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5"/>
          <p:cNvSpPr/>
          <p:nvPr/>
        </p:nvSpPr>
        <p:spPr>
          <a:xfrm>
            <a:off x="914301" y="5907816"/>
            <a:ext cx="3750965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5"/>
          <p:cNvSpPr/>
          <p:nvPr/>
        </p:nvSpPr>
        <p:spPr>
          <a:xfrm>
            <a:off x="1210634" y="6127915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5"/>
          <p:cNvSpPr/>
          <p:nvPr/>
        </p:nvSpPr>
        <p:spPr>
          <a:xfrm>
            <a:off x="1629668" y="6127915"/>
            <a:ext cx="2821442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Dictionary &amp; Set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6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6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/>
          <p:nvPr/>
        </p:nvSpPr>
        <p:spPr>
          <a:xfrm>
            <a:off x="1118030" y="4476750"/>
            <a:ext cx="16501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6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6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6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Dictionary &amp; Set Xương Sống của Feature Engineering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6"/>
          <p:cNvSpPr/>
          <p:nvPr/>
        </p:nvSpPr>
        <p:spPr>
          <a:xfrm>
            <a:off x="4667250" y="6063424"/>
            <a:ext cx="1761464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6"/>
          <p:cNvSpPr/>
          <p:nvPr/>
        </p:nvSpPr>
        <p:spPr>
          <a:xfrm>
            <a:off x="4849284" y="6131157"/>
            <a:ext cx="1473597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dict — key/value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6542981" y="6063424"/>
            <a:ext cx="1920544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6"/>
          <p:cNvSpPr/>
          <p:nvPr/>
        </p:nvSpPr>
        <p:spPr>
          <a:xfrm>
            <a:off x="6725014" y="6131157"/>
            <a:ext cx="163267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set — không trùng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6"/>
          <p:cNvSpPr/>
          <p:nvPr/>
        </p:nvSpPr>
        <p:spPr>
          <a:xfrm>
            <a:off x="8577792" y="6063424"/>
            <a:ext cx="1560546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6"/>
          <p:cNvSpPr/>
          <p:nvPr/>
        </p:nvSpPr>
        <p:spPr>
          <a:xfrm>
            <a:off x="8759825" y="6131157"/>
            <a:ext cx="1272679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Dictionary — Key → Value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7"/>
          <p:cNvSpPr/>
          <p:nvPr/>
        </p:nvSpPr>
        <p:spPr>
          <a:xfrm>
            <a:off x="1200051" y="2231099"/>
            <a:ext cx="6354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Cặp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7"/>
          <p:cNvSpPr/>
          <p:nvPr/>
        </p:nvSpPr>
        <p:spPr>
          <a:xfrm>
            <a:off x="1949814" y="2188766"/>
            <a:ext cx="1844278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key → value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/>
          <p:nvPr/>
        </p:nvSpPr>
        <p:spPr>
          <a:xfrm>
            <a:off x="3908392" y="2231099"/>
            <a:ext cx="347378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 tra cứu O(1) cực nhanh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7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Key phải immutable · Value bất kỳ kiểu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7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Ứng dụng: mã SP → giá, encoding nhãn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7"/>
          <p:cNvSpPr/>
          <p:nvPr/>
        </p:nvSpPr>
        <p:spPr>
          <a:xfrm>
            <a:off x="2266983" y="4295180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FFD43B">
              <a:alpha val="1019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7"/>
          <p:cNvSpPr/>
          <p:nvPr/>
        </p:nvSpPr>
        <p:spPr>
          <a:xfrm>
            <a:off x="2468066" y="4439113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"ten"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7"/>
          <p:cNvSpPr/>
          <p:nvPr/>
        </p:nvSpPr>
        <p:spPr>
          <a:xfrm>
            <a:off x="2266983" y="4870649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FFD43B">
              <a:alpha val="1019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7"/>
          <p:cNvSpPr/>
          <p:nvPr/>
        </p:nvSpPr>
        <p:spPr>
          <a:xfrm>
            <a:off x="2468066" y="5014582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"tuoi"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7"/>
          <p:cNvSpPr/>
          <p:nvPr/>
        </p:nvSpPr>
        <p:spPr>
          <a:xfrm>
            <a:off x="2266983" y="5446118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FFD43B">
              <a:alpha val="1019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7"/>
          <p:cNvSpPr/>
          <p:nvPr/>
        </p:nvSpPr>
        <p:spPr>
          <a:xfrm>
            <a:off x="2468066" y="5590051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"luong"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/>
          <p:nvPr/>
        </p:nvSpPr>
        <p:spPr>
          <a:xfrm>
            <a:off x="4076733" y="4924558"/>
            <a:ext cx="419001" cy="429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76A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3776A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7"/>
          <p:cNvSpPr/>
          <p:nvPr/>
        </p:nvSpPr>
        <p:spPr>
          <a:xfrm>
            <a:off x="4610034" y="4295180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7"/>
          <p:cNvSpPr/>
          <p:nvPr/>
        </p:nvSpPr>
        <p:spPr>
          <a:xfrm>
            <a:off x="4811117" y="4439113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"An"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7"/>
          <p:cNvSpPr/>
          <p:nvPr/>
        </p:nvSpPr>
        <p:spPr>
          <a:xfrm>
            <a:off x="4610034" y="4870649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7"/>
          <p:cNvSpPr/>
          <p:nvPr/>
        </p:nvSpPr>
        <p:spPr>
          <a:xfrm>
            <a:off x="4811117" y="5014582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7"/>
          <p:cNvSpPr/>
          <p:nvPr/>
        </p:nvSpPr>
        <p:spPr>
          <a:xfrm>
            <a:off x="4610034" y="5446118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7"/>
          <p:cNvSpPr/>
          <p:nvPr/>
        </p:nvSpPr>
        <p:spPr>
          <a:xfrm>
            <a:off x="4811117" y="5590051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15_000_000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7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7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7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7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7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7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7"/>
          <p:cNvSpPr/>
          <p:nvPr/>
        </p:nvSpPr>
        <p:spPr>
          <a:xfrm>
            <a:off x="8915467" y="2304025"/>
            <a:ext cx="79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dict.py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7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nv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: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25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15_000_000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"An"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"N/A"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"N/A"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"Data"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thêm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3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Thao Tác Dictionary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8"/>
          <p:cNvSpPr/>
          <p:nvPr/>
        </p:nvSpPr>
        <p:spPr>
          <a:xfrm>
            <a:off x="1200051" y="2188766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8"/>
          <p:cNvSpPr/>
          <p:nvPr/>
        </p:nvSpPr>
        <p:spPr>
          <a:xfrm>
            <a:off x="1295301" y="2207816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.keys()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8"/>
          <p:cNvSpPr/>
          <p:nvPr/>
        </p:nvSpPr>
        <p:spPr>
          <a:xfrm>
            <a:off x="2707680" y="2231099"/>
            <a:ext cx="258378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danh sách keys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8"/>
          <p:cNvSpPr/>
          <p:nvPr/>
        </p:nvSpPr>
        <p:spPr>
          <a:xfrm>
            <a:off x="1200051" y="2840137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8"/>
          <p:cNvSpPr/>
          <p:nvPr/>
        </p:nvSpPr>
        <p:spPr>
          <a:xfrm>
            <a:off x="1295301" y="2859187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.values()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8"/>
          <p:cNvSpPr/>
          <p:nvPr/>
        </p:nvSpPr>
        <p:spPr>
          <a:xfrm>
            <a:off x="3029479" y="2882470"/>
            <a:ext cx="284477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danh sách values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8"/>
          <p:cNvSpPr/>
          <p:nvPr/>
        </p:nvSpPr>
        <p:spPr>
          <a:xfrm>
            <a:off x="1200051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8"/>
          <p:cNvSpPr/>
          <p:nvPr/>
        </p:nvSpPr>
        <p:spPr>
          <a:xfrm>
            <a:off x="1295301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.items()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8"/>
          <p:cNvSpPr/>
          <p:nvPr/>
        </p:nvSpPr>
        <p:spPr>
          <a:xfrm>
            <a:off x="2868580" y="3533841"/>
            <a:ext cx="430429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danh sách (key, value) pairs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8"/>
          <p:cNvSpPr/>
          <p:nvPr/>
        </p:nvSpPr>
        <p:spPr>
          <a:xfrm>
            <a:off x="1200051" y="4185213"/>
            <a:ext cx="224495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Dict comprehension: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8"/>
          <p:cNvSpPr/>
          <p:nvPr/>
        </p:nvSpPr>
        <p:spPr>
          <a:xfrm>
            <a:off x="3559307" y="4142879"/>
            <a:ext cx="4022659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8"/>
          <p:cNvSpPr/>
          <p:nvPr/>
        </p:nvSpPr>
        <p:spPr>
          <a:xfrm>
            <a:off x="3654557" y="4161929"/>
            <a:ext cx="3952839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{k: v*1.1 for k,v in d.items()}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8"/>
          <p:cNvSpPr/>
          <p:nvPr/>
        </p:nvSpPr>
        <p:spPr>
          <a:xfrm>
            <a:off x="1200051" y="5278438"/>
            <a:ext cx="323720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Gộp dict (Python 3.9+):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8"/>
          <p:cNvSpPr/>
          <p:nvPr/>
        </p:nvSpPr>
        <p:spPr>
          <a:xfrm>
            <a:off x="4533470" y="5236104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8"/>
          <p:cNvSpPr/>
          <p:nvPr/>
        </p:nvSpPr>
        <p:spPr>
          <a:xfrm>
            <a:off x="4628720" y="5255154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d1 | d2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8"/>
          <p:cNvSpPr/>
          <p:nvPr/>
        </p:nvSpPr>
        <p:spPr>
          <a:xfrm>
            <a:off x="8039034" y="2188766"/>
            <a:ext cx="9334666" cy="7530207"/>
          </a:xfrm>
          <a:prstGeom prst="roundRect">
            <a:avLst>
              <a:gd fmla="val 151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8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8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8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8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8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8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dict_ops.py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8"/>
          <p:cNvSpPr/>
          <p:nvPr/>
        </p:nvSpPr>
        <p:spPr>
          <a:xfrm>
            <a:off x="8354417" y="2857434"/>
            <a:ext cx="8983304" cy="66414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"HCM"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Duyệt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items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"→"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Dict comprehension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co_vnd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()}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Gộp 2 dict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tat_ca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them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Python 3.9+ # defaultdict — tránh KeyError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collections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defaultdict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defaultdict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Set — Tập Hợp Không Trùng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9"/>
          <p:cNvSpPr/>
          <p:nvPr/>
        </p:nvSpPr>
        <p:spPr>
          <a:xfrm>
            <a:off x="1200051" y="2231099"/>
            <a:ext cx="754360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Tạo bằng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9"/>
          <p:cNvSpPr/>
          <p:nvPr/>
        </p:nvSpPr>
        <p:spPr>
          <a:xfrm>
            <a:off x="2188270" y="2188766"/>
            <a:ext cx="489479" cy="815578"/>
          </a:xfrm>
          <a:prstGeom prst="roundRect">
            <a:avLst>
              <a:gd fmla="val 1167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9"/>
          <p:cNvSpPr/>
          <p:nvPr/>
        </p:nvSpPr>
        <p:spPr>
          <a:xfrm>
            <a:off x="2283520" y="2207816"/>
            <a:ext cx="375179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9"/>
          <p:cNvSpPr/>
          <p:nvPr/>
        </p:nvSpPr>
        <p:spPr>
          <a:xfrm>
            <a:off x="2868249" y="2231099"/>
            <a:ext cx="7371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hoặc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9"/>
          <p:cNvSpPr/>
          <p:nvPr/>
        </p:nvSpPr>
        <p:spPr>
          <a:xfrm>
            <a:off x="3719711" y="2188766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9"/>
          <p:cNvSpPr/>
          <p:nvPr/>
        </p:nvSpPr>
        <p:spPr>
          <a:xfrm>
            <a:off x="3814961" y="2207816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9"/>
          <p:cNvSpPr/>
          <p:nvPr/>
        </p:nvSpPr>
        <p:spPr>
          <a:xfrm>
            <a:off x="4905541" y="2231099"/>
            <a:ext cx="270647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không có thứ tự, không trùng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9"/>
          <p:cNvSpPr/>
          <p:nvPr/>
        </p:nvSpPr>
        <p:spPr>
          <a:xfrm>
            <a:off x="914301" y="3281991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Tra cứu, thêm, xoá rất nhanh O(1)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9"/>
          <p:cNvSpPr/>
          <p:nvPr/>
        </p:nvSpPr>
        <p:spPr>
          <a:xfrm>
            <a:off x="1200051" y="3975695"/>
            <a:ext cx="75386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Mẹo: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9"/>
          <p:cNvSpPr/>
          <p:nvPr/>
        </p:nvSpPr>
        <p:spPr>
          <a:xfrm>
            <a:off x="2068215" y="3933362"/>
            <a:ext cx="24435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9"/>
          <p:cNvSpPr/>
          <p:nvPr/>
        </p:nvSpPr>
        <p:spPr>
          <a:xfrm>
            <a:off x="2163465" y="3952412"/>
            <a:ext cx="23292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list(set(lst))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9"/>
          <p:cNvSpPr/>
          <p:nvPr/>
        </p:nvSpPr>
        <p:spPr>
          <a:xfrm>
            <a:off x="4702307" y="3975695"/>
            <a:ext cx="274121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để khử trùng nhanh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9"/>
          <p:cNvSpPr/>
          <p:nvPr/>
        </p:nvSpPr>
        <p:spPr>
          <a:xfrm>
            <a:off x="8039034" y="2188766"/>
            <a:ext cx="9334666" cy="5199559"/>
          </a:xfrm>
          <a:prstGeom prst="roundRect">
            <a:avLst>
              <a:gd fmla="val 219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9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9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9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9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9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9"/>
          <p:cNvSpPr/>
          <p:nvPr/>
        </p:nvSpPr>
        <p:spPr>
          <a:xfrm>
            <a:off x="8915467" y="2304025"/>
            <a:ext cx="693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set.py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9"/>
          <p:cNvSpPr/>
          <p:nvPr/>
        </p:nvSpPr>
        <p:spPr>
          <a:xfrm>
            <a:off x="8354417" y="2857434"/>
            <a:ext cx="8983304" cy="43107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"Bình"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"Cường"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{'An', 'Bình', 'Cường'} # Khử trùng trong list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sach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discard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xoá, không lỗi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True — cực nhanh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Phép Toán Tập Hợp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0"/>
          <p:cNvSpPr/>
          <p:nvPr/>
        </p:nvSpPr>
        <p:spPr>
          <a:xfrm>
            <a:off x="1200051" y="2188766"/>
            <a:ext cx="66622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0"/>
          <p:cNvSpPr/>
          <p:nvPr/>
        </p:nvSpPr>
        <p:spPr>
          <a:xfrm>
            <a:off x="1980572" y="2188766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0"/>
          <p:cNvSpPr/>
          <p:nvPr/>
        </p:nvSpPr>
        <p:spPr>
          <a:xfrm>
            <a:off x="2075822" y="2207816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 | B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0"/>
          <p:cNvSpPr/>
          <p:nvPr/>
        </p:nvSpPr>
        <p:spPr>
          <a:xfrm>
            <a:off x="3166401" y="2231099"/>
            <a:ext cx="234731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tất cả phần tử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0"/>
          <p:cNvSpPr/>
          <p:nvPr/>
        </p:nvSpPr>
        <p:spPr>
          <a:xfrm>
            <a:off x="1200051" y="2840137"/>
            <a:ext cx="716988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Giao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0"/>
          <p:cNvSpPr/>
          <p:nvPr/>
        </p:nvSpPr>
        <p:spPr>
          <a:xfrm>
            <a:off x="2031339" y="2840137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0"/>
          <p:cNvSpPr/>
          <p:nvPr/>
        </p:nvSpPr>
        <p:spPr>
          <a:xfrm>
            <a:off x="2126589" y="2859187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 &amp; B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0"/>
          <p:cNvSpPr/>
          <p:nvPr/>
        </p:nvSpPr>
        <p:spPr>
          <a:xfrm>
            <a:off x="3217168" y="2882470"/>
            <a:ext cx="205892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phần chung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0"/>
          <p:cNvSpPr/>
          <p:nvPr/>
        </p:nvSpPr>
        <p:spPr>
          <a:xfrm>
            <a:off x="1200051" y="3491508"/>
            <a:ext cx="72013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Hiệu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0"/>
          <p:cNvSpPr/>
          <p:nvPr/>
        </p:nvSpPr>
        <p:spPr>
          <a:xfrm>
            <a:off x="2034481" y="3491508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0"/>
          <p:cNvSpPr/>
          <p:nvPr/>
        </p:nvSpPr>
        <p:spPr>
          <a:xfrm>
            <a:off x="2129731" y="3510558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 - B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0"/>
          <p:cNvSpPr/>
          <p:nvPr/>
        </p:nvSpPr>
        <p:spPr>
          <a:xfrm>
            <a:off x="3220310" y="3533841"/>
            <a:ext cx="172025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A trừ đi 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0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Ứng dụng: so sánh tập khách hàng, loyalty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5" name="Google Shape;10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01" y="4889500"/>
            <a:ext cx="304800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40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0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0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0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0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0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0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set_ops.py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0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"Bình"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"Cường"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"Bình"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"Hiếu"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Hợp — tất cả khách hàng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t2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{'An','Bình','Cường','Dung','Hiếu'} # Giao — loyal cả 2 tháng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&amp;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{'Bình', 'Dung'} # Hiệu — chỉ mua tháng 1 (churn?)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{'An', 'Cường'}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1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06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1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Dictionary &amp; Set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1"/>
          <p:cNvSpPr/>
          <p:nvPr/>
        </p:nvSpPr>
        <p:spPr>
          <a:xfrm>
            <a:off x="914301" y="2247305"/>
            <a:ext cx="398346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1"/>
          <p:cNvSpPr/>
          <p:nvPr/>
        </p:nvSpPr>
        <p:spPr>
          <a:xfrm>
            <a:off x="1134434" y="2372188"/>
            <a:ext cx="366270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dict = key/value · tra cứu O(1)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1"/>
          <p:cNvSpPr/>
          <p:nvPr/>
        </p:nvSpPr>
        <p:spPr>
          <a:xfrm>
            <a:off x="5069086" y="2247305"/>
            <a:ext cx="660532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1"/>
          <p:cNvSpPr/>
          <p:nvPr/>
        </p:nvSpPr>
        <p:spPr>
          <a:xfrm>
            <a:off x="5289219" y="2372188"/>
            <a:ext cx="636321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.get() an toàn · .items() để duyệt · dict comprehension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41"/>
          <p:cNvSpPr/>
          <p:nvPr/>
        </p:nvSpPr>
        <p:spPr>
          <a:xfrm>
            <a:off x="11845727" y="2247305"/>
            <a:ext cx="508578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1"/>
          <p:cNvSpPr/>
          <p:nvPr/>
        </p:nvSpPr>
        <p:spPr>
          <a:xfrm>
            <a:off x="12065860" y="2372188"/>
            <a:ext cx="479809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set = không trùng · khử duplicate nhanh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1"/>
          <p:cNvSpPr/>
          <p:nvPr/>
        </p:nvSpPr>
        <p:spPr>
          <a:xfrm>
            <a:off x="914301" y="2954073"/>
            <a:ext cx="461433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1"/>
          <p:cNvSpPr/>
          <p:nvPr/>
        </p:nvSpPr>
        <p:spPr>
          <a:xfrm>
            <a:off x="1134434" y="3078956"/>
            <a:ext cx="431249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union | · intersection &amp; · difference -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1"/>
          <p:cNvSpPr/>
          <p:nvPr/>
        </p:nvSpPr>
        <p:spPr>
          <a:xfrm>
            <a:off x="914301" y="3984790"/>
            <a:ext cx="5916910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1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1"/>
          <p:cNvSpPr/>
          <p:nvPr/>
        </p:nvSpPr>
        <p:spPr>
          <a:xfrm>
            <a:off x="1629668" y="4204891"/>
            <a:ext cx="5052366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Lập Trình Hướng Đối Tượng (OOP)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42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42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2"/>
          <p:cNvSpPr/>
          <p:nvPr/>
        </p:nvSpPr>
        <p:spPr>
          <a:xfrm>
            <a:off x="1173923" y="4476750"/>
            <a:ext cx="15381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2"/>
          <p:cNvSpPr/>
          <p:nvPr/>
        </p:nvSpPr>
        <p:spPr>
          <a:xfrm>
            <a:off x="1531442" y="5905500"/>
            <a:ext cx="82315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~10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2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2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Lập Trình Hướng Đối Tượng (OOP) trong Python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2"/>
          <p:cNvSpPr/>
          <p:nvPr/>
        </p:nvSpPr>
        <p:spPr>
          <a:xfrm>
            <a:off x="4667250" y="6063424"/>
            <a:ext cx="146496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2"/>
          <p:cNvSpPr/>
          <p:nvPr/>
        </p:nvSpPr>
        <p:spPr>
          <a:xfrm>
            <a:off x="4849284" y="6131157"/>
            <a:ext cx="117709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class / object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2"/>
          <p:cNvSpPr/>
          <p:nvPr/>
        </p:nvSpPr>
        <p:spPr>
          <a:xfrm>
            <a:off x="6246482" y="6063424"/>
            <a:ext cx="1031214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2"/>
          <p:cNvSpPr/>
          <p:nvPr/>
        </p:nvSpPr>
        <p:spPr>
          <a:xfrm>
            <a:off x="6428515" y="6131157"/>
            <a:ext cx="743347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2"/>
          <p:cNvSpPr/>
          <p:nvPr/>
        </p:nvSpPr>
        <p:spPr>
          <a:xfrm>
            <a:off x="7391963" y="6063424"/>
            <a:ext cx="99929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2"/>
          <p:cNvSpPr/>
          <p:nvPr/>
        </p:nvSpPr>
        <p:spPr>
          <a:xfrm>
            <a:off x="7573996" y="6131157"/>
            <a:ext cx="71143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2"/>
          <p:cNvSpPr/>
          <p:nvPr/>
        </p:nvSpPr>
        <p:spPr>
          <a:xfrm>
            <a:off x="8505528" y="6063424"/>
            <a:ext cx="1295797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2"/>
          <p:cNvSpPr/>
          <p:nvPr/>
        </p:nvSpPr>
        <p:spPr>
          <a:xfrm>
            <a:off x="8687561" y="6131157"/>
            <a:ext cx="1007930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4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Class &amp; Object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3"/>
          <p:cNvSpPr/>
          <p:nvPr/>
        </p:nvSpPr>
        <p:spPr>
          <a:xfrm>
            <a:off x="1200051" y="2188766"/>
            <a:ext cx="846468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3"/>
          <p:cNvSpPr/>
          <p:nvPr/>
        </p:nvSpPr>
        <p:spPr>
          <a:xfrm>
            <a:off x="2160819" y="2231099"/>
            <a:ext cx="339441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bản thiết kế (blueprint)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3"/>
          <p:cNvSpPr/>
          <p:nvPr/>
        </p:nvSpPr>
        <p:spPr>
          <a:xfrm>
            <a:off x="1200051" y="2840137"/>
            <a:ext cx="104738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3"/>
          <p:cNvSpPr/>
          <p:nvPr/>
        </p:nvSpPr>
        <p:spPr>
          <a:xfrm>
            <a:off x="2361737" y="2882470"/>
            <a:ext cx="396875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thực thể được tạo từ 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3"/>
          <p:cNvSpPr/>
          <p:nvPr/>
        </p:nvSpPr>
        <p:spPr>
          <a:xfrm>
            <a:off x="914301" y="3491508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Ví von: class = khuôn đúc bánh → object = từng cái bánh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3"/>
          <p:cNvSpPr/>
          <p:nvPr/>
        </p:nvSpPr>
        <p:spPr>
          <a:xfrm>
            <a:off x="914301" y="4584733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PyTorch, scikit-learn đều dùng class — hiểu OOP = đọc được 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3"/>
          <p:cNvSpPr/>
          <p:nvPr/>
        </p:nvSpPr>
        <p:spPr>
          <a:xfrm>
            <a:off x="11306473" y="2379266"/>
            <a:ext cx="2799788" cy="698500"/>
          </a:xfrm>
          <a:prstGeom prst="roundRect">
            <a:avLst>
              <a:gd fmla="val 16364" name="adj"/>
            </a:avLst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43"/>
          <p:cNvSpPr/>
          <p:nvPr/>
        </p:nvSpPr>
        <p:spPr>
          <a:xfrm>
            <a:off x="11645476" y="2569766"/>
            <a:ext cx="2121781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KhachHang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3"/>
          <p:cNvSpPr/>
          <p:nvPr/>
        </p:nvSpPr>
        <p:spPr>
          <a:xfrm>
            <a:off x="12122051" y="3230067"/>
            <a:ext cx="1244832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 tạo object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8301633" y="3657534"/>
            <a:ext cx="2587460" cy="628385"/>
          </a:xfrm>
          <a:prstGeom prst="roundRect">
            <a:avLst>
              <a:gd fmla="val 18189" name="adj"/>
            </a:avLst>
          </a:prstGeom>
          <a:solidFill>
            <a:srgbClr val="FFD43B">
              <a:alpha val="7843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43"/>
          <p:cNvSpPr/>
          <p:nvPr/>
        </p:nvSpPr>
        <p:spPr>
          <a:xfrm>
            <a:off x="8654405" y="3839567"/>
            <a:ext cx="188191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an = KhachHang()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43"/>
          <p:cNvSpPr/>
          <p:nvPr/>
        </p:nvSpPr>
        <p:spPr>
          <a:xfrm>
            <a:off x="11117627" y="3657534"/>
            <a:ext cx="2783913" cy="628385"/>
          </a:xfrm>
          <a:prstGeom prst="roundRect">
            <a:avLst>
              <a:gd fmla="val 18189" name="adj"/>
            </a:avLst>
          </a:prstGeom>
          <a:solidFill>
            <a:srgbClr val="FFD43B">
              <a:alpha val="7843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3"/>
          <p:cNvSpPr/>
          <p:nvPr/>
        </p:nvSpPr>
        <p:spPr>
          <a:xfrm>
            <a:off x="11467452" y="3839567"/>
            <a:ext cx="208426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binh = KhachHang()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3"/>
          <p:cNvSpPr/>
          <p:nvPr/>
        </p:nvSpPr>
        <p:spPr>
          <a:xfrm>
            <a:off x="14130074" y="3657534"/>
            <a:ext cx="2981027" cy="628385"/>
          </a:xfrm>
          <a:prstGeom prst="roundRect">
            <a:avLst>
              <a:gd fmla="val 18189" name="adj"/>
            </a:avLst>
          </a:prstGeom>
          <a:solidFill>
            <a:srgbClr val="FFD43B">
              <a:alpha val="7843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43"/>
          <p:cNvSpPr/>
          <p:nvPr/>
        </p:nvSpPr>
        <p:spPr>
          <a:xfrm>
            <a:off x="14476941" y="3839567"/>
            <a:ext cx="2287292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cuong = KhachHang()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8229534" y="4514288"/>
            <a:ext cx="8953666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3"/>
          <p:cNvSpPr/>
          <p:nvPr/>
        </p:nvSpPr>
        <p:spPr>
          <a:xfrm>
            <a:off x="8487669" y="4705615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3"/>
          <p:cNvSpPr/>
          <p:nvPr/>
        </p:nvSpPr>
        <p:spPr>
          <a:xfrm>
            <a:off x="8853786" y="4696189"/>
            <a:ext cx="7362662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Mỗi object có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attributes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(thuộc tính) và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methods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(hành vi) riêng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4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Thuộc Tính &amp;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4"/>
          <p:cNvSpPr/>
          <p:nvPr/>
        </p:nvSpPr>
        <p:spPr>
          <a:xfrm>
            <a:off x="1200051" y="2188766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44"/>
          <p:cNvSpPr/>
          <p:nvPr/>
        </p:nvSpPr>
        <p:spPr>
          <a:xfrm>
            <a:off x="1295301" y="2207816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4"/>
          <p:cNvSpPr/>
          <p:nvPr/>
        </p:nvSpPr>
        <p:spPr>
          <a:xfrm>
            <a:off x="2868580" y="2231099"/>
            <a:ext cx="426307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hàm khởi tạo — chạy khi tạo object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4"/>
          <p:cNvSpPr/>
          <p:nvPr/>
        </p:nvSpPr>
        <p:spPr>
          <a:xfrm>
            <a:off x="1200051" y="3281991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44"/>
          <p:cNvSpPr/>
          <p:nvPr/>
        </p:nvSpPr>
        <p:spPr>
          <a:xfrm>
            <a:off x="1295301" y="3301041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4"/>
          <p:cNvSpPr/>
          <p:nvPr/>
        </p:nvSpPr>
        <p:spPr>
          <a:xfrm>
            <a:off x="2224815" y="3324324"/>
            <a:ext cx="5017450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chính object đó — luôn là tham số đầu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4"/>
          <p:cNvSpPr/>
          <p:nvPr/>
        </p:nvSpPr>
        <p:spPr>
          <a:xfrm>
            <a:off x="1200051" y="4417550"/>
            <a:ext cx="3525228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Thuộc tính (attribute) gán qua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4"/>
          <p:cNvSpPr/>
          <p:nvPr/>
        </p:nvSpPr>
        <p:spPr>
          <a:xfrm>
            <a:off x="5234616" y="4375216"/>
            <a:ext cx="2347350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4"/>
          <p:cNvSpPr/>
          <p:nvPr/>
        </p:nvSpPr>
        <p:spPr>
          <a:xfrm>
            <a:off x="5329866" y="4394266"/>
            <a:ext cx="2233050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self.ten = ...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4"/>
          <p:cNvSpPr/>
          <p:nvPr/>
        </p:nvSpPr>
        <p:spPr>
          <a:xfrm>
            <a:off x="1200051" y="5468442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44"/>
          <p:cNvSpPr/>
          <p:nvPr/>
        </p:nvSpPr>
        <p:spPr>
          <a:xfrm>
            <a:off x="1295301" y="5487492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4"/>
          <p:cNvSpPr/>
          <p:nvPr/>
        </p:nvSpPr>
        <p:spPr>
          <a:xfrm>
            <a:off x="2868580" y="5510775"/>
            <a:ext cx="4800114" cy="81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là dunder method — Python gọi tự động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4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4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4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44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oop_init.py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4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KhachHang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tuoi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tuoi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tuoi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Tạo object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KhachHang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12_000_000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KhachHang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"Bình"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4_500_000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"An"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4_500_000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Method — Hành Vi Của Object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5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Method = hàm định nghĩa bên trong 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5"/>
          <p:cNvSpPr/>
          <p:nvPr/>
        </p:nvSpPr>
        <p:spPr>
          <a:xfrm>
            <a:off x="1200051" y="2882470"/>
            <a:ext cx="116099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Luôn có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5"/>
          <p:cNvSpPr/>
          <p:nvPr/>
        </p:nvSpPr>
        <p:spPr>
          <a:xfrm>
            <a:off x="2475343" y="2840137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5"/>
          <p:cNvSpPr/>
          <p:nvPr/>
        </p:nvSpPr>
        <p:spPr>
          <a:xfrm>
            <a:off x="2570593" y="2859187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5"/>
          <p:cNvSpPr/>
          <p:nvPr/>
        </p:nvSpPr>
        <p:spPr>
          <a:xfrm>
            <a:off x="3500107" y="2882470"/>
            <a:ext cx="265282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là tham số đầu tiên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5"/>
          <p:cNvSpPr/>
          <p:nvPr/>
        </p:nvSpPr>
        <p:spPr>
          <a:xfrm>
            <a:off x="1200051" y="3533841"/>
            <a:ext cx="13556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Method 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45"/>
          <p:cNvSpPr/>
          <p:nvPr/>
        </p:nvSpPr>
        <p:spPr>
          <a:xfrm>
            <a:off x="2669977" y="3491508"/>
            <a:ext cx="112775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động từ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5"/>
          <p:cNvSpPr/>
          <p:nvPr/>
        </p:nvSpPr>
        <p:spPr>
          <a:xfrm>
            <a:off x="3912030" y="3533841"/>
            <a:ext cx="146575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của object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5"/>
          <p:cNvSpPr/>
          <p:nvPr/>
        </p:nvSpPr>
        <p:spPr>
          <a:xfrm>
            <a:off x="1200051" y="4185213"/>
            <a:ext cx="139795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Gọi bằng: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5"/>
          <p:cNvSpPr/>
          <p:nvPr/>
        </p:nvSpPr>
        <p:spPr>
          <a:xfrm>
            <a:off x="2712310" y="4142879"/>
            <a:ext cx="260465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5"/>
          <p:cNvSpPr/>
          <p:nvPr/>
        </p:nvSpPr>
        <p:spPr>
          <a:xfrm>
            <a:off x="2807560" y="4161929"/>
            <a:ext cx="2492297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object.method()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5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45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45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45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45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5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45"/>
          <p:cNvSpPr/>
          <p:nvPr/>
        </p:nvSpPr>
        <p:spPr>
          <a:xfrm>
            <a:off x="8915467" y="2304025"/>
            <a:ext cx="1413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oop_method.py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5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KhachHang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phan_khuc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"VIP"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"Phổ thông"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__repr__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"KH({self.ten})"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KhachHang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12_000_000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phan_khuc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Kế Thừa —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6"/>
          <p:cNvSpPr/>
          <p:nvPr/>
        </p:nvSpPr>
        <p:spPr>
          <a:xfrm>
            <a:off x="1200051" y="2231099"/>
            <a:ext cx="141449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Class con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6"/>
          <p:cNvSpPr/>
          <p:nvPr/>
        </p:nvSpPr>
        <p:spPr>
          <a:xfrm>
            <a:off x="2728847" y="2188766"/>
            <a:ext cx="121043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kế thừa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46"/>
          <p:cNvSpPr/>
          <p:nvPr/>
        </p:nvSpPr>
        <p:spPr>
          <a:xfrm>
            <a:off x="4053582" y="2231099"/>
            <a:ext cx="255038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tất cả từ class cha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6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Tái sử dụng + mở rộng thêm tính năng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6"/>
          <p:cNvSpPr/>
          <p:nvPr/>
        </p:nvSpPr>
        <p:spPr>
          <a:xfrm>
            <a:off x="1200051" y="3491508"/>
            <a:ext cx="3087357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6"/>
          <p:cNvSpPr/>
          <p:nvPr/>
        </p:nvSpPr>
        <p:spPr>
          <a:xfrm>
            <a:off x="1295301" y="3510558"/>
            <a:ext cx="298947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super().__init__()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6"/>
          <p:cNvSpPr/>
          <p:nvPr/>
        </p:nvSpPr>
        <p:spPr>
          <a:xfrm>
            <a:off x="4477908" y="3533841"/>
            <a:ext cx="210952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gọi init của cha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6"/>
          <p:cNvSpPr/>
          <p:nvPr/>
        </p:nvSpPr>
        <p:spPr>
          <a:xfrm>
            <a:off x="1200051" y="4185213"/>
            <a:ext cx="3001476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Gặp lại khi viết model PyTorch: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6"/>
          <p:cNvSpPr/>
          <p:nvPr/>
        </p:nvSpPr>
        <p:spPr>
          <a:xfrm>
            <a:off x="4641123" y="4142879"/>
            <a:ext cx="2940844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6"/>
          <p:cNvSpPr/>
          <p:nvPr/>
        </p:nvSpPr>
        <p:spPr>
          <a:xfrm>
            <a:off x="4736373" y="4161929"/>
            <a:ext cx="2838569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class Model(nn.Module)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6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4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4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4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46"/>
          <p:cNvSpPr/>
          <p:nvPr/>
        </p:nvSpPr>
        <p:spPr>
          <a:xfrm>
            <a:off x="8915467" y="2304025"/>
            <a:ext cx="1515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inheritance.py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46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NguoiDung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class cha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chao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"Xin chào {self.ten}"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NguoiDung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kế thừa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quyen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gọi cha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quyen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quyen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xoa_user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uid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...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"superadmin"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chao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Xin chào 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Vì Sao Dân Data Cần OOP?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7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PyTorch, scikit-learn đều dùng 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7"/>
          <p:cNvSpPr/>
          <p:nvPr/>
        </p:nvSpPr>
        <p:spPr>
          <a:xfrm>
            <a:off x="1200051" y="2882470"/>
            <a:ext cx="172240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Hiểu OOP 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47"/>
          <p:cNvSpPr/>
          <p:nvPr/>
        </p:nvSpPr>
        <p:spPr>
          <a:xfrm>
            <a:off x="3036755" y="2840137"/>
            <a:ext cx="363662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đọc được code 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47"/>
          <p:cNvSpPr/>
          <p:nvPr/>
        </p:nvSpPr>
        <p:spPr>
          <a:xfrm>
            <a:off x="1200051" y="3533841"/>
            <a:ext cx="412204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Viết model PyTorch = kế thừa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7"/>
          <p:cNvSpPr/>
          <p:nvPr/>
        </p:nvSpPr>
        <p:spPr>
          <a:xfrm>
            <a:off x="5392539" y="3491508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7"/>
          <p:cNvSpPr/>
          <p:nvPr/>
        </p:nvSpPr>
        <p:spPr>
          <a:xfrm>
            <a:off x="5487789" y="3510558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nn.Module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7"/>
          <p:cNvSpPr/>
          <p:nvPr/>
        </p:nvSpPr>
        <p:spPr>
          <a:xfrm>
            <a:off x="914301" y="4142879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cần master OOP — cần hiểu để đọc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7"/>
          <p:cNvSpPr/>
          <p:nvPr/>
        </p:nvSpPr>
        <p:spPr>
          <a:xfrm>
            <a:off x="914301" y="5388405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47"/>
          <p:cNvSpPr/>
          <p:nvPr/>
        </p:nvSpPr>
        <p:spPr>
          <a:xfrm>
            <a:off x="1172435" y="5579732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47"/>
          <p:cNvSpPr/>
          <p:nvPr/>
        </p:nvSpPr>
        <p:spPr>
          <a:xfrm>
            <a:off x="1538552" y="5570307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Mọi thứ trong Python đều là object: int, list, function đều là class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47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47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47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47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7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7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47"/>
          <p:cNvSpPr/>
          <p:nvPr/>
        </p:nvSpPr>
        <p:spPr>
          <a:xfrm>
            <a:off x="8915467" y="2304025"/>
            <a:ext cx="19271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pytorch_preview.py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7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nn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Model PyTorch = kế thừa nn.Module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LinearModel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Module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__init__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forward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LinearModel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Sẽ học chi tiết ở phần Deep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48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07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8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OOP trong Python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8"/>
          <p:cNvSpPr/>
          <p:nvPr/>
        </p:nvSpPr>
        <p:spPr>
          <a:xfrm>
            <a:off x="914301" y="2247305"/>
            <a:ext cx="489958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48"/>
          <p:cNvSpPr/>
          <p:nvPr/>
        </p:nvSpPr>
        <p:spPr>
          <a:xfrm>
            <a:off x="1134434" y="2372188"/>
            <a:ext cx="4606309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class = bản thiết kế · object = thực thể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8"/>
          <p:cNvSpPr/>
          <p:nvPr/>
        </p:nvSpPr>
        <p:spPr>
          <a:xfrm>
            <a:off x="5985206" y="2247305"/>
            <a:ext cx="475175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8"/>
          <p:cNvSpPr/>
          <p:nvPr/>
        </p:nvSpPr>
        <p:spPr>
          <a:xfrm>
            <a:off x="6205340" y="2372188"/>
            <a:ext cx="445403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__init__ khởi tạo · self = chính object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8"/>
          <p:cNvSpPr/>
          <p:nvPr/>
        </p:nvSpPr>
        <p:spPr>
          <a:xfrm>
            <a:off x="10908275" y="2247305"/>
            <a:ext cx="380487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8"/>
          <p:cNvSpPr/>
          <p:nvPr/>
        </p:nvSpPr>
        <p:spPr>
          <a:xfrm>
            <a:off x="11128408" y="2372188"/>
            <a:ext cx="3478753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method = hành vi của object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48"/>
          <p:cNvSpPr/>
          <p:nvPr/>
        </p:nvSpPr>
        <p:spPr>
          <a:xfrm>
            <a:off x="914301" y="2954073"/>
            <a:ext cx="431932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48"/>
          <p:cNvSpPr/>
          <p:nvPr/>
        </p:nvSpPr>
        <p:spPr>
          <a:xfrm>
            <a:off x="1134434" y="3078956"/>
            <a:ext cx="400863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Kế thừa = tái sử dụng + mở rộng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8"/>
          <p:cNvSpPr/>
          <p:nvPr/>
        </p:nvSpPr>
        <p:spPr>
          <a:xfrm>
            <a:off x="5404942" y="2954073"/>
            <a:ext cx="470561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48"/>
          <p:cNvSpPr/>
          <p:nvPr/>
        </p:nvSpPr>
        <p:spPr>
          <a:xfrm>
            <a:off x="5625075" y="3078956"/>
            <a:ext cx="440651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PyTorch / scikit-learn đều dùng OOP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8"/>
          <p:cNvSpPr/>
          <p:nvPr/>
        </p:nvSpPr>
        <p:spPr>
          <a:xfrm>
            <a:off x="914301" y="3984790"/>
            <a:ext cx="6348347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48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8"/>
          <p:cNvSpPr/>
          <p:nvPr/>
        </p:nvSpPr>
        <p:spPr>
          <a:xfrm>
            <a:off x="1629668" y="4204891"/>
            <a:ext cx="5496746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Module, Package &amp; Virtual Environment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9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9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49"/>
          <p:cNvSpPr/>
          <p:nvPr/>
        </p:nvSpPr>
        <p:spPr>
          <a:xfrm>
            <a:off x="1129936" y="4476750"/>
            <a:ext cx="162616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9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49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9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Module, Package, Import &amp; Virtual Environment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9"/>
          <p:cNvSpPr/>
          <p:nvPr/>
        </p:nvSpPr>
        <p:spPr>
          <a:xfrm>
            <a:off x="4667250" y="6063424"/>
            <a:ext cx="9887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49"/>
          <p:cNvSpPr/>
          <p:nvPr/>
        </p:nvSpPr>
        <p:spPr>
          <a:xfrm>
            <a:off x="4849284" y="6131157"/>
            <a:ext cx="7008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9"/>
          <p:cNvSpPr/>
          <p:nvPr/>
        </p:nvSpPr>
        <p:spPr>
          <a:xfrm>
            <a:off x="5770232" y="6063424"/>
            <a:ext cx="893134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49"/>
          <p:cNvSpPr/>
          <p:nvPr/>
        </p:nvSpPr>
        <p:spPr>
          <a:xfrm>
            <a:off x="5952265" y="6131157"/>
            <a:ext cx="60526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9"/>
          <p:cNvSpPr/>
          <p:nvPr/>
        </p:nvSpPr>
        <p:spPr>
          <a:xfrm>
            <a:off x="6777633" y="6063424"/>
            <a:ext cx="11792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9"/>
          <p:cNvSpPr/>
          <p:nvPr/>
        </p:nvSpPr>
        <p:spPr>
          <a:xfrm>
            <a:off x="6959667" y="6131157"/>
            <a:ext cx="8913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pip / PyPI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49"/>
          <p:cNvSpPr/>
          <p:nvPr/>
        </p:nvSpPr>
        <p:spPr>
          <a:xfrm>
            <a:off x="8071115" y="6063424"/>
            <a:ext cx="76630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9"/>
          <p:cNvSpPr/>
          <p:nvPr/>
        </p:nvSpPr>
        <p:spPr>
          <a:xfrm>
            <a:off x="8253148" y="6131157"/>
            <a:ext cx="47843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venv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Module &amp; import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0"/>
          <p:cNvSpPr/>
          <p:nvPr/>
        </p:nvSpPr>
        <p:spPr>
          <a:xfrm>
            <a:off x="1200051" y="2188766"/>
            <a:ext cx="116959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Module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0"/>
          <p:cNvSpPr/>
          <p:nvPr/>
        </p:nvSpPr>
        <p:spPr>
          <a:xfrm>
            <a:off x="2483941" y="2231099"/>
            <a:ext cx="43863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1 file .py với code tái sử dụng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50"/>
          <p:cNvSpPr/>
          <p:nvPr/>
        </p:nvSpPr>
        <p:spPr>
          <a:xfrm>
            <a:off x="1200051" y="2840137"/>
            <a:ext cx="2926457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50"/>
          <p:cNvSpPr/>
          <p:nvPr/>
        </p:nvSpPr>
        <p:spPr>
          <a:xfrm>
            <a:off x="1295301" y="2859187"/>
            <a:ext cx="2823751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import ten_module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0"/>
          <p:cNvSpPr/>
          <p:nvPr/>
        </p:nvSpPr>
        <p:spPr>
          <a:xfrm>
            <a:off x="4317008" y="2882470"/>
            <a:ext cx="280917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import cả module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0"/>
          <p:cNvSpPr/>
          <p:nvPr/>
        </p:nvSpPr>
        <p:spPr>
          <a:xfrm>
            <a:off x="1200051" y="3491508"/>
            <a:ext cx="260465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50"/>
          <p:cNvSpPr/>
          <p:nvPr/>
        </p:nvSpPr>
        <p:spPr>
          <a:xfrm>
            <a:off x="1295301" y="3510558"/>
            <a:ext cx="2492297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from m import x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0"/>
          <p:cNvSpPr/>
          <p:nvPr/>
        </p:nvSpPr>
        <p:spPr>
          <a:xfrm>
            <a:off x="3995208" y="3533841"/>
            <a:ext cx="300147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import phần cụ thể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0"/>
          <p:cNvSpPr/>
          <p:nvPr/>
        </p:nvSpPr>
        <p:spPr>
          <a:xfrm>
            <a:off x="1200051" y="4142879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50"/>
          <p:cNvSpPr/>
          <p:nvPr/>
        </p:nvSpPr>
        <p:spPr>
          <a:xfrm>
            <a:off x="1295301" y="4161929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0"/>
          <p:cNvSpPr/>
          <p:nvPr/>
        </p:nvSpPr>
        <p:spPr>
          <a:xfrm>
            <a:off x="1903016" y="4185213"/>
            <a:ext cx="296724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đặt alias ngắn gọn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0"/>
          <p:cNvSpPr/>
          <p:nvPr/>
        </p:nvSpPr>
        <p:spPr>
          <a:xfrm>
            <a:off x="914301" y="4794250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ai viết tất cả trong 1 file — tách theo chức năng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0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0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0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0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0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0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0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imports.py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0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Import cả module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math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sqrt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4.0 # Import phần cụ thể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factorial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3.14159... # Alias phổ biến trong Data Science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matplotlib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pyplot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Import từ file của mình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utils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tinh_vat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xu_ly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Package — Cây Thư Mục Code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51"/>
          <p:cNvSpPr/>
          <p:nvPr/>
        </p:nvSpPr>
        <p:spPr>
          <a:xfrm>
            <a:off x="1200051" y="2188766"/>
            <a:ext cx="132040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Package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1"/>
          <p:cNvSpPr/>
          <p:nvPr/>
        </p:nvSpPr>
        <p:spPr>
          <a:xfrm>
            <a:off x="2634754" y="2231099"/>
            <a:ext cx="419869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thư mục chứa nhiều module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51"/>
          <p:cNvSpPr/>
          <p:nvPr/>
        </p:nvSpPr>
        <p:spPr>
          <a:xfrm>
            <a:off x="1200051" y="2882470"/>
            <a:ext cx="268739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Mỗi package có file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1"/>
          <p:cNvSpPr/>
          <p:nvPr/>
        </p:nvSpPr>
        <p:spPr>
          <a:xfrm>
            <a:off x="3999673" y="2840137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51"/>
          <p:cNvSpPr/>
          <p:nvPr/>
        </p:nvSpPr>
        <p:spPr>
          <a:xfrm>
            <a:off x="4094923" y="2859187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51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pandas, numpy chính là các package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1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Cấu trúc package chuẩn giúp code dễ bảo trì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1"/>
          <p:cNvSpPr/>
          <p:nvPr/>
        </p:nvSpPr>
        <p:spPr>
          <a:xfrm>
            <a:off x="914301" y="4927534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51"/>
          <p:cNvSpPr/>
          <p:nvPr/>
        </p:nvSpPr>
        <p:spPr>
          <a:xfrm>
            <a:off x="1172435" y="5118861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51"/>
          <p:cNvSpPr/>
          <p:nvPr/>
        </p:nvSpPr>
        <p:spPr>
          <a:xfrm>
            <a:off x="1538552" y="5109435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__init__.py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có thể rỗng — chỉ để Python nhận diện đây là package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1"/>
          <p:cNvSpPr/>
          <p:nvPr/>
        </p:nvSpPr>
        <p:spPr>
          <a:xfrm>
            <a:off x="8039034" y="2188766"/>
            <a:ext cx="9334666" cy="5050896"/>
          </a:xfrm>
          <a:prstGeom prst="roundRect">
            <a:avLst>
              <a:gd fmla="val 2263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51"/>
          <p:cNvSpPr/>
          <p:nvPr/>
        </p:nvSpPr>
        <p:spPr>
          <a:xfrm>
            <a:off x="8392419" y="2485099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my_project/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51"/>
          <p:cNvSpPr/>
          <p:nvPr/>
        </p:nvSpPr>
        <p:spPr>
          <a:xfrm>
            <a:off x="8392419" y="2930922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data/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51"/>
          <p:cNvSpPr/>
          <p:nvPr/>
        </p:nvSpPr>
        <p:spPr>
          <a:xfrm>
            <a:off x="8392419" y="3376745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51"/>
          <p:cNvSpPr/>
          <p:nvPr/>
        </p:nvSpPr>
        <p:spPr>
          <a:xfrm>
            <a:off x="8392419" y="3822568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loader.py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51"/>
          <p:cNvSpPr/>
          <p:nvPr/>
        </p:nvSpPr>
        <p:spPr>
          <a:xfrm>
            <a:off x="8392419" y="4268391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│ └──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cleaner.py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51"/>
          <p:cNvSpPr/>
          <p:nvPr/>
        </p:nvSpPr>
        <p:spPr>
          <a:xfrm>
            <a:off x="8392419" y="4714214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models/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51"/>
          <p:cNvSpPr/>
          <p:nvPr/>
        </p:nvSpPr>
        <p:spPr>
          <a:xfrm>
            <a:off x="8392419" y="5160037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│ ├──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1"/>
          <p:cNvSpPr/>
          <p:nvPr/>
        </p:nvSpPr>
        <p:spPr>
          <a:xfrm>
            <a:off x="8392419" y="5605860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│ └──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train.py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51"/>
          <p:cNvSpPr/>
          <p:nvPr/>
        </p:nvSpPr>
        <p:spPr>
          <a:xfrm>
            <a:off x="8392419" y="6051682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main.py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1"/>
          <p:cNvSpPr/>
          <p:nvPr/>
        </p:nvSpPr>
        <p:spPr>
          <a:xfrm>
            <a:off x="8392419" y="6497506"/>
            <a:ext cx="8886735" cy="4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└── requirements.txt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5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5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pip &amp;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PyPI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52"/>
          <p:cNvSpPr/>
          <p:nvPr/>
        </p:nvSpPr>
        <p:spPr>
          <a:xfrm>
            <a:off x="1200051" y="2188766"/>
            <a:ext cx="54550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pip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2"/>
          <p:cNvSpPr/>
          <p:nvPr/>
        </p:nvSpPr>
        <p:spPr>
          <a:xfrm>
            <a:off x="1859856" y="2231099"/>
            <a:ext cx="414572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công cụ cài thư viện 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2"/>
          <p:cNvSpPr/>
          <p:nvPr/>
        </p:nvSpPr>
        <p:spPr>
          <a:xfrm>
            <a:off x="1200051" y="2840137"/>
            <a:ext cx="710539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PyPI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52"/>
          <p:cNvSpPr/>
          <p:nvPr/>
        </p:nvSpPr>
        <p:spPr>
          <a:xfrm>
            <a:off x="2024889" y="2882470"/>
            <a:ext cx="5117601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kho 500,000+ thư viện mở — "App Store của Python"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52"/>
          <p:cNvSpPr/>
          <p:nvPr/>
        </p:nvSpPr>
        <p:spPr>
          <a:xfrm>
            <a:off x="1200051" y="3933362"/>
            <a:ext cx="260465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2"/>
          <p:cNvSpPr/>
          <p:nvPr/>
        </p:nvSpPr>
        <p:spPr>
          <a:xfrm>
            <a:off x="1295301" y="3952412"/>
            <a:ext cx="2492297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ten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52"/>
          <p:cNvSpPr/>
          <p:nvPr/>
        </p:nvSpPr>
        <p:spPr>
          <a:xfrm>
            <a:off x="3995208" y="3975695"/>
            <a:ext cx="204222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cài 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2"/>
          <p:cNvSpPr/>
          <p:nvPr/>
        </p:nvSpPr>
        <p:spPr>
          <a:xfrm>
            <a:off x="1200051" y="4584733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2"/>
          <p:cNvSpPr/>
          <p:nvPr/>
        </p:nvSpPr>
        <p:spPr>
          <a:xfrm>
            <a:off x="1295301" y="4603783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pip list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52"/>
          <p:cNvSpPr/>
          <p:nvPr/>
        </p:nvSpPr>
        <p:spPr>
          <a:xfrm>
            <a:off x="2868580" y="4627067"/>
            <a:ext cx="314165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xem thư viện đã cài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2"/>
          <p:cNvSpPr/>
          <p:nvPr/>
        </p:nvSpPr>
        <p:spPr>
          <a:xfrm>
            <a:off x="1200051" y="5236104"/>
            <a:ext cx="3696229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2"/>
          <p:cNvSpPr/>
          <p:nvPr/>
        </p:nvSpPr>
        <p:spPr>
          <a:xfrm>
            <a:off x="1295301" y="5255154"/>
            <a:ext cx="3616616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pandas==2.1.0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2"/>
          <p:cNvSpPr/>
          <p:nvPr/>
        </p:nvSpPr>
        <p:spPr>
          <a:xfrm>
            <a:off x="5086780" y="5278438"/>
            <a:ext cx="2346821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chỉ định phiên bản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2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52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52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52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52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52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52"/>
          <p:cNvSpPr/>
          <p:nvPr/>
        </p:nvSpPr>
        <p:spPr>
          <a:xfrm>
            <a:off x="8915467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52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Cài thư viện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install pandas numpy matplotlib seaborn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Cài phiên bản cụ thể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install pandas==2.1.4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Cài từ requirements.txt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install -r requirements.txt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Xem đã cài gì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show pandas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Gỡ cài đặt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uninstall ten_thu_vien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5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5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Virtual Environment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53"/>
          <p:cNvSpPr/>
          <p:nvPr/>
        </p:nvSpPr>
        <p:spPr>
          <a:xfrm>
            <a:off x="1200051" y="2231099"/>
            <a:ext cx="102572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Mỗi dự án có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3"/>
          <p:cNvSpPr/>
          <p:nvPr/>
        </p:nvSpPr>
        <p:spPr>
          <a:xfrm>
            <a:off x="2721405" y="2188766"/>
            <a:ext cx="1933079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môi trường riêng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53"/>
          <p:cNvSpPr/>
          <p:nvPr/>
        </p:nvSpPr>
        <p:spPr>
          <a:xfrm>
            <a:off x="4768784" y="2231099"/>
            <a:ext cx="241445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tránh xung đột phiên bản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53"/>
          <p:cNvSpPr/>
          <p:nvPr/>
        </p:nvSpPr>
        <p:spPr>
          <a:xfrm>
            <a:off x="1200051" y="3281991"/>
            <a:ext cx="2765557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53"/>
          <p:cNvSpPr/>
          <p:nvPr/>
        </p:nvSpPr>
        <p:spPr>
          <a:xfrm>
            <a:off x="1295301" y="3301041"/>
            <a:ext cx="265802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requirements.txt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53"/>
          <p:cNvSpPr/>
          <p:nvPr/>
        </p:nvSpPr>
        <p:spPr>
          <a:xfrm>
            <a:off x="4156108" y="3324324"/>
            <a:ext cx="329886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ghi lại tất cả 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53"/>
          <p:cNvSpPr/>
          <p:nvPr/>
        </p:nvSpPr>
        <p:spPr>
          <a:xfrm>
            <a:off x="1200051" y="3975695"/>
            <a:ext cx="239461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Người khác chạy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3"/>
          <p:cNvSpPr/>
          <p:nvPr/>
        </p:nvSpPr>
        <p:spPr>
          <a:xfrm>
            <a:off x="3708962" y="3933362"/>
            <a:ext cx="24435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53"/>
          <p:cNvSpPr/>
          <p:nvPr/>
        </p:nvSpPr>
        <p:spPr>
          <a:xfrm>
            <a:off x="3804212" y="3952412"/>
            <a:ext cx="23292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3"/>
          <p:cNvSpPr/>
          <p:nvPr/>
        </p:nvSpPr>
        <p:spPr>
          <a:xfrm>
            <a:off x="6343055" y="3975695"/>
            <a:ext cx="114379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là có đủ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3"/>
          <p:cNvSpPr/>
          <p:nvPr/>
        </p:nvSpPr>
        <p:spPr>
          <a:xfrm>
            <a:off x="914301" y="4584733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Trong khoá này dùng Google Colab — đã có venv sẵn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3"/>
          <p:cNvSpPr/>
          <p:nvPr/>
        </p:nvSpPr>
        <p:spPr>
          <a:xfrm>
            <a:off x="8039034" y="2188766"/>
            <a:ext cx="9334666" cy="7530207"/>
          </a:xfrm>
          <a:prstGeom prst="roundRect">
            <a:avLst>
              <a:gd fmla="val 151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8915467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3"/>
          <p:cNvSpPr/>
          <p:nvPr/>
        </p:nvSpPr>
        <p:spPr>
          <a:xfrm>
            <a:off x="8354417" y="2857434"/>
            <a:ext cx="8983304" cy="66414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Tạo virtual environment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python -m venv .venv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Kích hoạt (macOS/Linux)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source .venv/bin/activate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Kích hoạt (Windows)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.venvScriptsactivate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Cài thư viện vào venv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install pandas numpy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Lưu ra requirements.txt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pip freeze &gt; requirements.txt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Tắt venv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 deactivate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54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08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4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Module, Package &amp; Virtual Environment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54"/>
          <p:cNvSpPr/>
          <p:nvPr/>
        </p:nvSpPr>
        <p:spPr>
          <a:xfrm>
            <a:off x="914301" y="2247305"/>
            <a:ext cx="458820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54"/>
          <p:cNvSpPr/>
          <p:nvPr/>
        </p:nvSpPr>
        <p:spPr>
          <a:xfrm>
            <a:off x="1134434" y="2372188"/>
            <a:ext cx="428558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Module = file .py · import / from / 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54"/>
          <p:cNvSpPr/>
          <p:nvPr/>
        </p:nvSpPr>
        <p:spPr>
          <a:xfrm>
            <a:off x="5673825" y="2247305"/>
            <a:ext cx="504494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54"/>
          <p:cNvSpPr/>
          <p:nvPr/>
        </p:nvSpPr>
        <p:spPr>
          <a:xfrm>
            <a:off x="5893958" y="2372188"/>
            <a:ext cx="475602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Package = thư mục chứa nhiều module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54"/>
          <p:cNvSpPr/>
          <p:nvPr/>
        </p:nvSpPr>
        <p:spPr>
          <a:xfrm>
            <a:off x="10890085" y="2247305"/>
            <a:ext cx="5256609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54"/>
          <p:cNvSpPr/>
          <p:nvPr/>
        </p:nvSpPr>
        <p:spPr>
          <a:xfrm>
            <a:off x="11110219" y="2372188"/>
            <a:ext cx="497404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pip install · PyPI — App Store của Python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54"/>
          <p:cNvSpPr/>
          <p:nvPr/>
        </p:nvSpPr>
        <p:spPr>
          <a:xfrm>
            <a:off x="914301" y="2954073"/>
            <a:ext cx="463533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54"/>
          <p:cNvSpPr/>
          <p:nvPr/>
        </p:nvSpPr>
        <p:spPr>
          <a:xfrm>
            <a:off x="1134434" y="3078956"/>
            <a:ext cx="4334128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venv — môi trường riêng mỗi dự 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4"/>
          <p:cNvSpPr/>
          <p:nvPr/>
        </p:nvSpPr>
        <p:spPr>
          <a:xfrm>
            <a:off x="5720953" y="2954073"/>
            <a:ext cx="542147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54"/>
          <p:cNvSpPr/>
          <p:nvPr/>
        </p:nvSpPr>
        <p:spPr>
          <a:xfrm>
            <a:off x="5941086" y="3078956"/>
            <a:ext cx="514385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requirements.txt — đảm bảo reproducibility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54"/>
          <p:cNvSpPr/>
          <p:nvPr/>
        </p:nvSpPr>
        <p:spPr>
          <a:xfrm>
            <a:off x="914301" y="3984790"/>
            <a:ext cx="4701315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54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54"/>
          <p:cNvSpPr/>
          <p:nvPr/>
        </p:nvSpPr>
        <p:spPr>
          <a:xfrm>
            <a:off x="1629668" y="4204891"/>
            <a:ext cx="3800303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Đọc/Ghi File &amp; Xử Lý Lỗi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55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5"/>
          <p:cNvSpPr/>
          <p:nvPr/>
        </p:nvSpPr>
        <p:spPr>
          <a:xfrm>
            <a:off x="1118030" y="4476750"/>
            <a:ext cx="16501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55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5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55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Đọc/Ghi File, Xử Lý Lỗi &amp; Context Manager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55"/>
          <p:cNvSpPr/>
          <p:nvPr/>
        </p:nvSpPr>
        <p:spPr>
          <a:xfrm>
            <a:off x="4667250" y="6063424"/>
            <a:ext cx="2015629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4849284" y="6131157"/>
            <a:ext cx="172776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open() / read / write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5"/>
          <p:cNvSpPr/>
          <p:nvPr/>
        </p:nvSpPr>
        <p:spPr>
          <a:xfrm>
            <a:off x="6797146" y="6063424"/>
            <a:ext cx="159213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55"/>
          <p:cNvSpPr/>
          <p:nvPr/>
        </p:nvSpPr>
        <p:spPr>
          <a:xfrm>
            <a:off x="6979179" y="6131157"/>
            <a:ext cx="130426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with statement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55"/>
          <p:cNvSpPr/>
          <p:nvPr/>
        </p:nvSpPr>
        <p:spPr>
          <a:xfrm>
            <a:off x="8503543" y="6063424"/>
            <a:ext cx="194138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55"/>
          <p:cNvSpPr/>
          <p:nvPr/>
        </p:nvSpPr>
        <p:spPr>
          <a:xfrm>
            <a:off x="8685576" y="6131157"/>
            <a:ext cx="165351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try / except / finally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5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5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Đọc &amp; Ghi File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6"/>
          <p:cNvSpPr/>
          <p:nvPr/>
        </p:nvSpPr>
        <p:spPr>
          <a:xfrm>
            <a:off x="1200051" y="2188766"/>
            <a:ext cx="2765557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56"/>
          <p:cNvSpPr/>
          <p:nvPr/>
        </p:nvSpPr>
        <p:spPr>
          <a:xfrm>
            <a:off x="1295301" y="2207816"/>
            <a:ext cx="265802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open(path, mode)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6"/>
          <p:cNvSpPr/>
          <p:nvPr/>
        </p:nvSpPr>
        <p:spPr>
          <a:xfrm>
            <a:off x="4156108" y="2231099"/>
            <a:ext cx="100439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mở file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6"/>
          <p:cNvSpPr/>
          <p:nvPr/>
        </p:nvSpPr>
        <p:spPr>
          <a:xfrm>
            <a:off x="1200051" y="2882470"/>
            <a:ext cx="9233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Mode: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56"/>
          <p:cNvSpPr/>
          <p:nvPr/>
        </p:nvSpPr>
        <p:spPr>
          <a:xfrm>
            <a:off x="2237714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56"/>
          <p:cNvSpPr/>
          <p:nvPr/>
        </p:nvSpPr>
        <p:spPr>
          <a:xfrm>
            <a:off x="2332964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56"/>
          <p:cNvSpPr/>
          <p:nvPr/>
        </p:nvSpPr>
        <p:spPr>
          <a:xfrm>
            <a:off x="3101578" y="2882470"/>
            <a:ext cx="567663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đọc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56"/>
          <p:cNvSpPr/>
          <p:nvPr/>
        </p:nvSpPr>
        <p:spPr>
          <a:xfrm>
            <a:off x="3853326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56"/>
          <p:cNvSpPr/>
          <p:nvPr/>
        </p:nvSpPr>
        <p:spPr>
          <a:xfrm>
            <a:off x="3948576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56"/>
          <p:cNvSpPr/>
          <p:nvPr/>
        </p:nvSpPr>
        <p:spPr>
          <a:xfrm>
            <a:off x="4717190" y="2882470"/>
            <a:ext cx="906661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ghi đè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56"/>
          <p:cNvSpPr/>
          <p:nvPr/>
        </p:nvSpPr>
        <p:spPr>
          <a:xfrm>
            <a:off x="5749727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56"/>
          <p:cNvSpPr/>
          <p:nvPr/>
        </p:nvSpPr>
        <p:spPr>
          <a:xfrm>
            <a:off x="5844977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56"/>
          <p:cNvSpPr/>
          <p:nvPr/>
        </p:nvSpPr>
        <p:spPr>
          <a:xfrm>
            <a:off x="6613592" y="2882470"/>
            <a:ext cx="75386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ghi thêm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56"/>
          <p:cNvSpPr/>
          <p:nvPr/>
        </p:nvSpPr>
        <p:spPr>
          <a:xfrm>
            <a:off x="1200051" y="3975695"/>
            <a:ext cx="123027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⚠️ Mode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56"/>
          <p:cNvSpPr/>
          <p:nvPr/>
        </p:nvSpPr>
        <p:spPr>
          <a:xfrm>
            <a:off x="2544630" y="3933362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56"/>
          <p:cNvSpPr/>
          <p:nvPr/>
        </p:nvSpPr>
        <p:spPr>
          <a:xfrm>
            <a:off x="2639880" y="3952412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56"/>
          <p:cNvSpPr/>
          <p:nvPr/>
        </p:nvSpPr>
        <p:spPr>
          <a:xfrm>
            <a:off x="3408495" y="3975695"/>
            <a:ext cx="335149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xoá toàn bộ nội dung cũ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56"/>
          <p:cNvSpPr/>
          <p:nvPr/>
        </p:nvSpPr>
        <p:spPr>
          <a:xfrm>
            <a:off x="1200051" y="4627067"/>
            <a:ext cx="85539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Thêm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56"/>
          <p:cNvSpPr/>
          <p:nvPr/>
        </p:nvSpPr>
        <p:spPr>
          <a:xfrm>
            <a:off x="2169749" y="4584733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6"/>
          <p:cNvSpPr/>
          <p:nvPr/>
        </p:nvSpPr>
        <p:spPr>
          <a:xfrm>
            <a:off x="2264999" y="4603783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56"/>
          <p:cNvSpPr/>
          <p:nvPr/>
        </p:nvSpPr>
        <p:spPr>
          <a:xfrm>
            <a:off x="3033613" y="4627067"/>
            <a:ext cx="390897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cho file nhị phân (ảnh, PDF)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56"/>
          <p:cNvSpPr/>
          <p:nvPr/>
        </p:nvSpPr>
        <p:spPr>
          <a:xfrm>
            <a:off x="8039034" y="2188766"/>
            <a:ext cx="9334666" cy="5199559"/>
          </a:xfrm>
          <a:prstGeom prst="roundRect">
            <a:avLst>
              <a:gd fmla="val 219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5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5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5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5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56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file_io.py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56"/>
          <p:cNvSpPr/>
          <p:nvPr/>
        </p:nvSpPr>
        <p:spPr>
          <a:xfrm>
            <a:off x="8354417" y="2857434"/>
            <a:ext cx="8983304" cy="43107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Đọc file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"data.txt"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noi_dung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toàn bộ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readlines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danh sách dòng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đóng file # Ghi file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"output.txt"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"Xin chào Data Science!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phải đóng!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5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5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Context Manager —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57"/>
          <p:cNvSpPr/>
          <p:nvPr/>
        </p:nvSpPr>
        <p:spPr>
          <a:xfrm>
            <a:off x="1200051" y="2188766"/>
            <a:ext cx="3288109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57"/>
          <p:cNvSpPr/>
          <p:nvPr/>
        </p:nvSpPr>
        <p:spPr>
          <a:xfrm>
            <a:off x="1295301" y="2207816"/>
            <a:ext cx="3196253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with open(...) as f: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57"/>
          <p:cNvSpPr/>
          <p:nvPr/>
        </p:nvSpPr>
        <p:spPr>
          <a:xfrm>
            <a:off x="4678660" y="2231099"/>
            <a:ext cx="241528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tự đóng file an toàn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57"/>
          <p:cNvSpPr/>
          <p:nvPr/>
        </p:nvSpPr>
        <p:spPr>
          <a:xfrm>
            <a:off x="914301" y="3281991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 có lỗi xảy ra, file vẫn được đóng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57"/>
          <p:cNvSpPr/>
          <p:nvPr/>
        </p:nvSpPr>
        <p:spPr>
          <a:xfrm>
            <a:off x="1200051" y="3933362"/>
            <a:ext cx="193638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Luôn dùng </a:t>
            </a:r>
            <a:r>
              <a:rPr b="1" i="0" lang="en-US" sz="2112" u="none" cap="none" strike="noStrike">
                <a:solidFill>
                  <a:srgbClr val="39D0D8"/>
                </a:solidFill>
                <a:highlight>
                  <a:srgbClr val="1A2235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57"/>
          <p:cNvSpPr/>
          <p:nvPr/>
        </p:nvSpPr>
        <p:spPr>
          <a:xfrm>
            <a:off x="3250737" y="3975695"/>
            <a:ext cx="406669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tránh quên đóng file, tránh memory leak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57"/>
          <p:cNvSpPr/>
          <p:nvPr/>
        </p:nvSpPr>
        <p:spPr>
          <a:xfrm>
            <a:off x="914301" y="5026587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Context manager hoạt động với database, lock, network...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57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57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57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57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57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57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57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context.py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57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❌ Không dùng with — dễ quên đóng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"data.txt"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noi_dung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quên → resource leak! # ✅ Dùng with — tự đóng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"data.txt"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noi_dung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file tự đóng khi thoát block # Đọc từng dòng (tiết kiệm RAM)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"big.csv"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xu_ly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strip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5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5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Xử Lý Lỗi — try / except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58"/>
          <p:cNvSpPr/>
          <p:nvPr/>
        </p:nvSpPr>
        <p:spPr>
          <a:xfrm>
            <a:off x="1200051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58"/>
          <p:cNvSpPr/>
          <p:nvPr/>
        </p:nvSpPr>
        <p:spPr>
          <a:xfrm>
            <a:off x="1295301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8"/>
          <p:cNvSpPr/>
          <p:nvPr/>
        </p:nvSpPr>
        <p:spPr>
          <a:xfrm>
            <a:off x="2063915" y="2231099"/>
            <a:ext cx="373541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thử chạy code có thể lỗi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58"/>
          <p:cNvSpPr/>
          <p:nvPr/>
        </p:nvSpPr>
        <p:spPr>
          <a:xfrm>
            <a:off x="1200051" y="2840137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58"/>
          <p:cNvSpPr/>
          <p:nvPr/>
        </p:nvSpPr>
        <p:spPr>
          <a:xfrm>
            <a:off x="1295301" y="2859187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58"/>
          <p:cNvSpPr/>
          <p:nvPr/>
        </p:nvSpPr>
        <p:spPr>
          <a:xfrm>
            <a:off x="2546780" y="2882470"/>
            <a:ext cx="4604751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bắt lỗi, không để chương trình crash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58"/>
          <p:cNvSpPr/>
          <p:nvPr/>
        </p:nvSpPr>
        <p:spPr>
          <a:xfrm>
            <a:off x="1200051" y="3933362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58"/>
          <p:cNvSpPr/>
          <p:nvPr/>
        </p:nvSpPr>
        <p:spPr>
          <a:xfrm>
            <a:off x="1295301" y="3952412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finally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58"/>
          <p:cNvSpPr/>
          <p:nvPr/>
        </p:nvSpPr>
        <p:spPr>
          <a:xfrm>
            <a:off x="2707680" y="3975695"/>
            <a:ext cx="453764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luôn chạy dù có lỗi hay không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58"/>
          <p:cNvSpPr/>
          <p:nvPr/>
        </p:nvSpPr>
        <p:spPr>
          <a:xfrm>
            <a:off x="1200051" y="4627067"/>
            <a:ext cx="1499658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Code production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58"/>
          <p:cNvSpPr/>
          <p:nvPr/>
        </p:nvSpPr>
        <p:spPr>
          <a:xfrm>
            <a:off x="3591058" y="4584733"/>
            <a:ext cx="2426362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không được sập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58"/>
          <p:cNvSpPr/>
          <p:nvPr/>
        </p:nvSpPr>
        <p:spPr>
          <a:xfrm>
            <a:off x="6131719" y="4627067"/>
            <a:ext cx="957263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vì 1 lỗi nhỏ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58"/>
          <p:cNvSpPr/>
          <p:nvPr/>
        </p:nvSpPr>
        <p:spPr>
          <a:xfrm>
            <a:off x="3438426" y="5792226"/>
            <a:ext cx="1619250" cy="499401"/>
          </a:xfrm>
          <a:prstGeom prst="roundRect">
            <a:avLst>
              <a:gd fmla="val 19073" name="adj"/>
            </a:avLst>
          </a:prstGeom>
          <a:solidFill>
            <a:srgbClr val="3776AB">
              <a:alpha val="14117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58"/>
          <p:cNvSpPr/>
          <p:nvPr/>
        </p:nvSpPr>
        <p:spPr>
          <a:xfrm>
            <a:off x="3639509" y="5936159"/>
            <a:ext cx="1217083" cy="249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try block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58"/>
          <p:cNvSpPr/>
          <p:nvPr/>
        </p:nvSpPr>
        <p:spPr>
          <a:xfrm>
            <a:off x="2538677" y="6386778"/>
            <a:ext cx="1494532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 thành công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58"/>
          <p:cNvSpPr/>
          <p:nvPr/>
        </p:nvSpPr>
        <p:spPr>
          <a:xfrm>
            <a:off x="2438301" y="6748529"/>
            <a:ext cx="1619250" cy="488818"/>
          </a:xfrm>
          <a:prstGeom prst="roundRect">
            <a:avLst>
              <a:gd fmla="val 19486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58"/>
          <p:cNvSpPr/>
          <p:nvPr/>
        </p:nvSpPr>
        <p:spPr>
          <a:xfrm>
            <a:off x="2639384" y="6892462"/>
            <a:ext cx="1217083" cy="239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tiếp tục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58"/>
          <p:cNvSpPr/>
          <p:nvPr/>
        </p:nvSpPr>
        <p:spPr>
          <a:xfrm>
            <a:off x="5027911" y="6386778"/>
            <a:ext cx="516731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 lỗi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58"/>
          <p:cNvSpPr/>
          <p:nvPr/>
        </p:nvSpPr>
        <p:spPr>
          <a:xfrm>
            <a:off x="4438551" y="6748529"/>
            <a:ext cx="1619250" cy="488818"/>
          </a:xfrm>
          <a:prstGeom prst="roundRect">
            <a:avLst>
              <a:gd fmla="val 19486" name="adj"/>
            </a:avLst>
          </a:prstGeom>
          <a:solidFill>
            <a:srgbClr val="F85149">
              <a:alpha val="10196"/>
            </a:srgbClr>
          </a:solidFill>
          <a:ln cap="flat" cmpd="sng" w="10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58"/>
          <p:cNvSpPr/>
          <p:nvPr/>
        </p:nvSpPr>
        <p:spPr>
          <a:xfrm>
            <a:off x="4639634" y="6892462"/>
            <a:ext cx="1217083" cy="239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except block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58"/>
          <p:cNvSpPr/>
          <p:nvPr/>
        </p:nvSpPr>
        <p:spPr>
          <a:xfrm>
            <a:off x="3917652" y="7332497"/>
            <a:ext cx="737162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 luôn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58"/>
          <p:cNvSpPr/>
          <p:nvPr/>
        </p:nvSpPr>
        <p:spPr>
          <a:xfrm>
            <a:off x="3438426" y="7713266"/>
            <a:ext cx="1619250" cy="488818"/>
          </a:xfrm>
          <a:prstGeom prst="roundRect">
            <a:avLst>
              <a:gd fmla="val 19486" name="adj"/>
            </a:avLst>
          </a:prstGeom>
          <a:solidFill>
            <a:srgbClr val="FFD43B">
              <a:alpha val="1019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58"/>
          <p:cNvSpPr/>
          <p:nvPr/>
        </p:nvSpPr>
        <p:spPr>
          <a:xfrm>
            <a:off x="3639509" y="7857199"/>
            <a:ext cx="1217083" cy="239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finally block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58"/>
          <p:cNvSpPr/>
          <p:nvPr/>
        </p:nvSpPr>
        <p:spPr>
          <a:xfrm>
            <a:off x="8039034" y="2188766"/>
            <a:ext cx="9334666" cy="5199559"/>
          </a:xfrm>
          <a:prstGeom prst="roundRect">
            <a:avLst>
              <a:gd fmla="val 219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58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58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58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58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58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58"/>
          <p:cNvSpPr/>
          <p:nvPr/>
        </p:nvSpPr>
        <p:spPr>
          <a:xfrm>
            <a:off x="8915467" y="2304025"/>
            <a:ext cx="18242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error_handling.py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8"/>
          <p:cNvSpPr/>
          <p:nvPr/>
        </p:nvSpPr>
        <p:spPr>
          <a:xfrm>
            <a:off x="8354417" y="2857434"/>
            <a:ext cx="8983304" cy="43107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"data.csv"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FileNotFoundError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"❌ Không tìm thấy file"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ValueError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"Giá trị sai:"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"Lỗi không xác định:"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finally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"✅ Luôn chạy — dọn dẹp"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5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5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Các Lỗi Thường Gặp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59"/>
          <p:cNvSpPr/>
          <p:nvPr/>
        </p:nvSpPr>
        <p:spPr>
          <a:xfrm>
            <a:off x="1200051" y="2188766"/>
            <a:ext cx="2926457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59"/>
          <p:cNvSpPr/>
          <p:nvPr/>
        </p:nvSpPr>
        <p:spPr>
          <a:xfrm>
            <a:off x="1295301" y="2207816"/>
            <a:ext cx="2823751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FileNotFoundError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59"/>
          <p:cNvSpPr/>
          <p:nvPr/>
        </p:nvSpPr>
        <p:spPr>
          <a:xfrm>
            <a:off x="4317008" y="2231099"/>
            <a:ext cx="268756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file không tồn tại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59"/>
          <p:cNvSpPr/>
          <p:nvPr/>
        </p:nvSpPr>
        <p:spPr>
          <a:xfrm>
            <a:off x="1200051" y="2840137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59"/>
          <p:cNvSpPr/>
          <p:nvPr/>
        </p:nvSpPr>
        <p:spPr>
          <a:xfrm>
            <a:off x="1295301" y="2859187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ValueError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59"/>
          <p:cNvSpPr/>
          <p:nvPr/>
        </p:nvSpPr>
        <p:spPr>
          <a:xfrm>
            <a:off x="3190544" y="2882470"/>
            <a:ext cx="372961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sai giá trị (vd: int("abc"))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9"/>
          <p:cNvSpPr/>
          <p:nvPr/>
        </p:nvSpPr>
        <p:spPr>
          <a:xfrm>
            <a:off x="1200051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59"/>
          <p:cNvSpPr/>
          <p:nvPr/>
        </p:nvSpPr>
        <p:spPr>
          <a:xfrm>
            <a:off x="1295301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KeyError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59"/>
          <p:cNvSpPr/>
          <p:nvPr/>
        </p:nvSpPr>
        <p:spPr>
          <a:xfrm>
            <a:off x="2868580" y="3533841"/>
            <a:ext cx="415338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key không tồn tại trong dict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59"/>
          <p:cNvSpPr/>
          <p:nvPr/>
        </p:nvSpPr>
        <p:spPr>
          <a:xfrm>
            <a:off x="1200051" y="4142879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59"/>
          <p:cNvSpPr/>
          <p:nvPr/>
        </p:nvSpPr>
        <p:spPr>
          <a:xfrm>
            <a:off x="1295301" y="4161929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TypeError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59"/>
          <p:cNvSpPr/>
          <p:nvPr/>
        </p:nvSpPr>
        <p:spPr>
          <a:xfrm>
            <a:off x="3029479" y="4185213"/>
            <a:ext cx="251665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sai kiểu 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9"/>
          <p:cNvSpPr/>
          <p:nvPr/>
        </p:nvSpPr>
        <p:spPr>
          <a:xfrm>
            <a:off x="1200051" y="4794250"/>
            <a:ext cx="267683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Đọc thông báo lỗi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59"/>
          <p:cNvSpPr/>
          <p:nvPr/>
        </p:nvSpPr>
        <p:spPr>
          <a:xfrm>
            <a:off x="3989421" y="4836584"/>
            <a:ext cx="301101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kỹ năng debug số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59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59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59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59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59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59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59"/>
          <p:cNvSpPr/>
          <p:nvPr/>
        </p:nvSpPr>
        <p:spPr>
          <a:xfrm>
            <a:off x="8915467" y="2304025"/>
            <a:ext cx="1721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common_errors.py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9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ValueError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"abc"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ValueError: invalid literal # KeyError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KeyError: 'b'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0 — an toàn # TypeError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TypeError: + str, int # IndexError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IndexError: out of range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60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09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0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File I/O, Xử Lý Lỗi &amp; Context Manager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60"/>
          <p:cNvSpPr/>
          <p:nvPr/>
        </p:nvSpPr>
        <p:spPr>
          <a:xfrm>
            <a:off x="914301" y="2247305"/>
            <a:ext cx="3395100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60"/>
          <p:cNvSpPr/>
          <p:nvPr/>
        </p:nvSpPr>
        <p:spPr>
          <a:xfrm>
            <a:off x="1134434" y="2372188"/>
            <a:ext cx="305668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open() với mode r / w /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60"/>
          <p:cNvSpPr/>
          <p:nvPr/>
        </p:nvSpPr>
        <p:spPr>
          <a:xfrm>
            <a:off x="4480719" y="2247305"/>
            <a:ext cx="389433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60"/>
          <p:cNvSpPr/>
          <p:nvPr/>
        </p:nvSpPr>
        <p:spPr>
          <a:xfrm>
            <a:off x="4700852" y="2372188"/>
            <a:ext cx="357090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with — luôn đóng file an toàn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60"/>
          <p:cNvSpPr/>
          <p:nvPr/>
        </p:nvSpPr>
        <p:spPr>
          <a:xfrm>
            <a:off x="8546373" y="2247305"/>
            <a:ext cx="482963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60"/>
          <p:cNvSpPr/>
          <p:nvPr/>
        </p:nvSpPr>
        <p:spPr>
          <a:xfrm>
            <a:off x="8766506" y="2372188"/>
            <a:ext cx="453426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try / except / finally — không để crash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60"/>
          <p:cNvSpPr/>
          <p:nvPr/>
        </p:nvSpPr>
        <p:spPr>
          <a:xfrm>
            <a:off x="914301" y="2954073"/>
            <a:ext cx="517475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0"/>
          <p:cNvSpPr/>
          <p:nvPr/>
        </p:nvSpPr>
        <p:spPr>
          <a:xfrm>
            <a:off x="1134434" y="3078956"/>
            <a:ext cx="488973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Đọc thông báo lỗi — kỹ năng debug số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60"/>
          <p:cNvSpPr/>
          <p:nvPr/>
        </p:nvSpPr>
        <p:spPr>
          <a:xfrm>
            <a:off x="914301" y="3984790"/>
            <a:ext cx="3669109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0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60"/>
          <p:cNvSpPr/>
          <p:nvPr/>
        </p:nvSpPr>
        <p:spPr>
          <a:xfrm>
            <a:off x="1629668" y="4204891"/>
            <a:ext cx="273713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Pandas Phần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61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61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61"/>
          <p:cNvSpPr/>
          <p:nvPr/>
        </p:nvSpPr>
        <p:spPr>
          <a:xfrm>
            <a:off x="1228659" y="4476750"/>
            <a:ext cx="142888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61"/>
          <p:cNvSpPr/>
          <p:nvPr/>
        </p:nvSpPr>
        <p:spPr>
          <a:xfrm>
            <a:off x="1538552" y="5905500"/>
            <a:ext cx="80893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~11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61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61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Pandas Phần 1 Series, DataFrame &amp; Indexing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61"/>
          <p:cNvSpPr/>
          <p:nvPr/>
        </p:nvSpPr>
        <p:spPr>
          <a:xfrm>
            <a:off x="4667250" y="6063424"/>
            <a:ext cx="903883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61"/>
          <p:cNvSpPr/>
          <p:nvPr/>
        </p:nvSpPr>
        <p:spPr>
          <a:xfrm>
            <a:off x="4849284" y="6131157"/>
            <a:ext cx="61601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61"/>
          <p:cNvSpPr/>
          <p:nvPr/>
        </p:nvSpPr>
        <p:spPr>
          <a:xfrm>
            <a:off x="5685400" y="6063424"/>
            <a:ext cx="1316633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61"/>
          <p:cNvSpPr/>
          <p:nvPr/>
        </p:nvSpPr>
        <p:spPr>
          <a:xfrm>
            <a:off x="5867433" y="6131157"/>
            <a:ext cx="102876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1"/>
          <p:cNvSpPr/>
          <p:nvPr/>
        </p:nvSpPr>
        <p:spPr>
          <a:xfrm>
            <a:off x="7116300" y="6063424"/>
            <a:ext cx="113688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61"/>
          <p:cNvSpPr/>
          <p:nvPr/>
        </p:nvSpPr>
        <p:spPr>
          <a:xfrm>
            <a:off x="7298333" y="6131157"/>
            <a:ext cx="84901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read_csv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61"/>
          <p:cNvSpPr/>
          <p:nvPr/>
        </p:nvSpPr>
        <p:spPr>
          <a:xfrm>
            <a:off x="8367449" y="6063424"/>
            <a:ext cx="105205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61"/>
          <p:cNvSpPr/>
          <p:nvPr/>
        </p:nvSpPr>
        <p:spPr>
          <a:xfrm>
            <a:off x="8549482" y="6131157"/>
            <a:ext cx="76418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loc / iloc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61"/>
          <p:cNvSpPr/>
          <p:nvPr/>
        </p:nvSpPr>
        <p:spPr>
          <a:xfrm>
            <a:off x="9533765" y="6063424"/>
            <a:ext cx="182562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61"/>
          <p:cNvSpPr/>
          <p:nvPr/>
        </p:nvSpPr>
        <p:spPr>
          <a:xfrm>
            <a:off x="9715798" y="6131157"/>
            <a:ext cx="153775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Boolean indexing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6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6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Series vs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62"/>
          <p:cNvSpPr/>
          <p:nvPr/>
        </p:nvSpPr>
        <p:spPr>
          <a:xfrm>
            <a:off x="914301" y="2548599"/>
            <a:ext cx="7962966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62"/>
          <p:cNvSpPr/>
          <p:nvPr/>
        </p:nvSpPr>
        <p:spPr>
          <a:xfrm>
            <a:off x="914301" y="2188766"/>
            <a:ext cx="8201855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SERIES — 1 CỘT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62"/>
          <p:cNvSpPr/>
          <p:nvPr/>
        </p:nvSpPr>
        <p:spPr>
          <a:xfrm>
            <a:off x="914301" y="2806733"/>
            <a:ext cx="7962966" cy="1592792"/>
          </a:xfrm>
          <a:prstGeom prst="roundRect">
            <a:avLst>
              <a:gd fmla="val 7176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62"/>
          <p:cNvSpPr/>
          <p:nvPr/>
        </p:nvSpPr>
        <p:spPr>
          <a:xfrm>
            <a:off x="924884" y="2817316"/>
            <a:ext cx="7941800" cy="390260"/>
          </a:xfrm>
          <a:prstGeom prst="rect">
            <a:avLst/>
          </a:prstGeom>
          <a:solidFill>
            <a:srgbClr val="3776AB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62"/>
          <p:cNvSpPr/>
          <p:nvPr/>
        </p:nvSpPr>
        <p:spPr>
          <a:xfrm>
            <a:off x="1077284" y="2893516"/>
            <a:ext cx="2917248" cy="2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62"/>
          <p:cNvSpPr/>
          <p:nvPr/>
        </p:nvSpPr>
        <p:spPr>
          <a:xfrm>
            <a:off x="4205486" y="2893516"/>
            <a:ext cx="4653206" cy="2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doanh_thu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62"/>
          <p:cNvSpPr/>
          <p:nvPr/>
        </p:nvSpPr>
        <p:spPr>
          <a:xfrm>
            <a:off x="924884" y="3207577"/>
            <a:ext cx="3128202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62"/>
          <p:cNvSpPr/>
          <p:nvPr/>
        </p:nvSpPr>
        <p:spPr>
          <a:xfrm>
            <a:off x="1077284" y="3294360"/>
            <a:ext cx="2917248" cy="270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62"/>
          <p:cNvSpPr/>
          <p:nvPr/>
        </p:nvSpPr>
        <p:spPr>
          <a:xfrm>
            <a:off x="4053086" y="3207577"/>
            <a:ext cx="4813598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62"/>
          <p:cNvSpPr/>
          <p:nvPr/>
        </p:nvSpPr>
        <p:spPr>
          <a:xfrm>
            <a:off x="4205486" y="3294360"/>
            <a:ext cx="4653206" cy="270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62"/>
          <p:cNvSpPr/>
          <p:nvPr/>
        </p:nvSpPr>
        <p:spPr>
          <a:xfrm>
            <a:off x="924884" y="3603129"/>
            <a:ext cx="3128202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62"/>
          <p:cNvSpPr/>
          <p:nvPr/>
        </p:nvSpPr>
        <p:spPr>
          <a:xfrm>
            <a:off x="1077284" y="3689913"/>
            <a:ext cx="2917248" cy="270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62"/>
          <p:cNvSpPr/>
          <p:nvPr/>
        </p:nvSpPr>
        <p:spPr>
          <a:xfrm>
            <a:off x="4053086" y="3603129"/>
            <a:ext cx="4813598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2"/>
          <p:cNvSpPr/>
          <p:nvPr/>
        </p:nvSpPr>
        <p:spPr>
          <a:xfrm>
            <a:off x="4205486" y="3689913"/>
            <a:ext cx="4653206" cy="270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62"/>
          <p:cNvSpPr/>
          <p:nvPr/>
        </p:nvSpPr>
        <p:spPr>
          <a:xfrm>
            <a:off x="924884" y="3998681"/>
            <a:ext cx="3128202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2"/>
          <p:cNvSpPr/>
          <p:nvPr/>
        </p:nvSpPr>
        <p:spPr>
          <a:xfrm>
            <a:off x="1077284" y="4085465"/>
            <a:ext cx="2917248" cy="26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62"/>
          <p:cNvSpPr/>
          <p:nvPr/>
        </p:nvSpPr>
        <p:spPr>
          <a:xfrm>
            <a:off x="4053086" y="3998681"/>
            <a:ext cx="4813598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2"/>
          <p:cNvSpPr/>
          <p:nvPr/>
        </p:nvSpPr>
        <p:spPr>
          <a:xfrm>
            <a:off x="4205486" y="4085465"/>
            <a:ext cx="4653206" cy="265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62"/>
          <p:cNvSpPr/>
          <p:nvPr/>
        </p:nvSpPr>
        <p:spPr>
          <a:xfrm>
            <a:off x="914301" y="4723309"/>
            <a:ext cx="7962966" cy="714210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62"/>
          <p:cNvSpPr/>
          <p:nvPr/>
        </p:nvSpPr>
        <p:spPr>
          <a:xfrm>
            <a:off x="914301" y="4723309"/>
            <a:ext cx="31750" cy="71421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62"/>
          <p:cNvSpPr/>
          <p:nvPr/>
        </p:nvSpPr>
        <p:spPr>
          <a:xfrm>
            <a:off x="1174651" y="4894759"/>
            <a:ext cx="7712905" cy="409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1 chiều · dtype đồng nhất · nhanh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62"/>
          <p:cNvSpPr/>
          <p:nvPr/>
        </p:nvSpPr>
        <p:spPr>
          <a:xfrm>
            <a:off x="9410568" y="2548599"/>
            <a:ext cx="7963132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62"/>
          <p:cNvSpPr/>
          <p:nvPr/>
        </p:nvSpPr>
        <p:spPr>
          <a:xfrm>
            <a:off x="9410568" y="2188766"/>
            <a:ext cx="8202026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DATAFRAME — BẢNG NHIỀU CỘT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62"/>
          <p:cNvSpPr/>
          <p:nvPr/>
        </p:nvSpPr>
        <p:spPr>
          <a:xfrm>
            <a:off x="9410568" y="2806733"/>
            <a:ext cx="7963132" cy="1508125"/>
          </a:xfrm>
          <a:prstGeom prst="roundRect">
            <a:avLst>
              <a:gd fmla="val 757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62"/>
          <p:cNvSpPr/>
          <p:nvPr/>
        </p:nvSpPr>
        <p:spPr>
          <a:xfrm>
            <a:off x="9421152" y="2817316"/>
            <a:ext cx="7941965" cy="369094"/>
          </a:xfrm>
          <a:prstGeom prst="rect">
            <a:avLst/>
          </a:prstGeom>
          <a:solidFill>
            <a:srgbClr val="3776AB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62"/>
          <p:cNvSpPr/>
          <p:nvPr/>
        </p:nvSpPr>
        <p:spPr>
          <a:xfrm>
            <a:off x="9535452" y="2893516"/>
            <a:ext cx="1088331" cy="25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idx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62"/>
          <p:cNvSpPr/>
          <p:nvPr/>
        </p:nvSpPr>
        <p:spPr>
          <a:xfrm>
            <a:off x="10776182" y="2893516"/>
            <a:ext cx="1336708" cy="25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vung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62"/>
          <p:cNvSpPr/>
          <p:nvPr/>
        </p:nvSpPr>
        <p:spPr>
          <a:xfrm>
            <a:off x="12265290" y="2893516"/>
            <a:ext cx="2583304" cy="25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doanh_thu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62"/>
          <p:cNvSpPr/>
          <p:nvPr/>
        </p:nvSpPr>
        <p:spPr>
          <a:xfrm>
            <a:off x="14995294" y="2893516"/>
            <a:ext cx="2329723" cy="25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don_hang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62"/>
          <p:cNvSpPr/>
          <p:nvPr/>
        </p:nvSpPr>
        <p:spPr>
          <a:xfrm>
            <a:off x="9421152" y="3186410"/>
            <a:ext cx="1240731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62"/>
          <p:cNvSpPr/>
          <p:nvPr/>
        </p:nvSpPr>
        <p:spPr>
          <a:xfrm>
            <a:off x="9535452" y="3273194"/>
            <a:ext cx="1088331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62"/>
          <p:cNvSpPr/>
          <p:nvPr/>
        </p:nvSpPr>
        <p:spPr>
          <a:xfrm>
            <a:off x="10661882" y="3186410"/>
            <a:ext cx="1489108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62"/>
          <p:cNvSpPr/>
          <p:nvPr/>
        </p:nvSpPr>
        <p:spPr>
          <a:xfrm>
            <a:off x="10776182" y="3273194"/>
            <a:ext cx="1336708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HCM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62"/>
          <p:cNvSpPr/>
          <p:nvPr/>
        </p:nvSpPr>
        <p:spPr>
          <a:xfrm>
            <a:off x="12150990" y="3186410"/>
            <a:ext cx="273000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62"/>
          <p:cNvSpPr/>
          <p:nvPr/>
        </p:nvSpPr>
        <p:spPr>
          <a:xfrm>
            <a:off x="12265290" y="3273194"/>
            <a:ext cx="2583304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62"/>
          <p:cNvSpPr/>
          <p:nvPr/>
        </p:nvSpPr>
        <p:spPr>
          <a:xfrm>
            <a:off x="14880994" y="3186410"/>
            <a:ext cx="2482123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62"/>
          <p:cNvSpPr/>
          <p:nvPr/>
        </p:nvSpPr>
        <p:spPr>
          <a:xfrm>
            <a:off x="14995294" y="3273194"/>
            <a:ext cx="2329723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1200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62"/>
          <p:cNvSpPr/>
          <p:nvPr/>
        </p:nvSpPr>
        <p:spPr>
          <a:xfrm>
            <a:off x="9421152" y="3560796"/>
            <a:ext cx="1240731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62"/>
          <p:cNvSpPr/>
          <p:nvPr/>
        </p:nvSpPr>
        <p:spPr>
          <a:xfrm>
            <a:off x="9535452" y="3647579"/>
            <a:ext cx="1088331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62"/>
          <p:cNvSpPr/>
          <p:nvPr/>
        </p:nvSpPr>
        <p:spPr>
          <a:xfrm>
            <a:off x="10661882" y="3560796"/>
            <a:ext cx="1489108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2"/>
          <p:cNvSpPr/>
          <p:nvPr/>
        </p:nvSpPr>
        <p:spPr>
          <a:xfrm>
            <a:off x="10776182" y="3647579"/>
            <a:ext cx="1336708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HN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62"/>
          <p:cNvSpPr/>
          <p:nvPr/>
        </p:nvSpPr>
        <p:spPr>
          <a:xfrm>
            <a:off x="12150990" y="3560796"/>
            <a:ext cx="273000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2"/>
          <p:cNvSpPr/>
          <p:nvPr/>
        </p:nvSpPr>
        <p:spPr>
          <a:xfrm>
            <a:off x="12265290" y="3647579"/>
            <a:ext cx="2583304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62"/>
          <p:cNvSpPr/>
          <p:nvPr/>
        </p:nvSpPr>
        <p:spPr>
          <a:xfrm>
            <a:off x="14880994" y="3560796"/>
            <a:ext cx="2482123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62"/>
          <p:cNvSpPr/>
          <p:nvPr/>
        </p:nvSpPr>
        <p:spPr>
          <a:xfrm>
            <a:off x="14995294" y="3647579"/>
            <a:ext cx="2329723" cy="24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800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2"/>
          <p:cNvSpPr/>
          <p:nvPr/>
        </p:nvSpPr>
        <p:spPr>
          <a:xfrm>
            <a:off x="9421152" y="3935181"/>
            <a:ext cx="1240731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62"/>
          <p:cNvSpPr/>
          <p:nvPr/>
        </p:nvSpPr>
        <p:spPr>
          <a:xfrm>
            <a:off x="9535452" y="4021965"/>
            <a:ext cx="1088331" cy="2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62"/>
          <p:cNvSpPr/>
          <p:nvPr/>
        </p:nvSpPr>
        <p:spPr>
          <a:xfrm>
            <a:off x="10661882" y="3935181"/>
            <a:ext cx="1489108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62"/>
          <p:cNvSpPr/>
          <p:nvPr/>
        </p:nvSpPr>
        <p:spPr>
          <a:xfrm>
            <a:off x="10776182" y="4021965"/>
            <a:ext cx="1336708" cy="2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DN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62"/>
          <p:cNvSpPr/>
          <p:nvPr/>
        </p:nvSpPr>
        <p:spPr>
          <a:xfrm>
            <a:off x="12150990" y="3935181"/>
            <a:ext cx="273000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62"/>
          <p:cNvSpPr/>
          <p:nvPr/>
        </p:nvSpPr>
        <p:spPr>
          <a:xfrm>
            <a:off x="12265290" y="4021965"/>
            <a:ext cx="2583304" cy="2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62"/>
          <p:cNvSpPr/>
          <p:nvPr/>
        </p:nvSpPr>
        <p:spPr>
          <a:xfrm>
            <a:off x="14880994" y="3935181"/>
            <a:ext cx="2482123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62"/>
          <p:cNvSpPr/>
          <p:nvPr/>
        </p:nvSpPr>
        <p:spPr>
          <a:xfrm>
            <a:off x="14995294" y="4021965"/>
            <a:ext cx="2329723" cy="2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350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62"/>
          <p:cNvSpPr/>
          <p:nvPr/>
        </p:nvSpPr>
        <p:spPr>
          <a:xfrm>
            <a:off x="9410568" y="4638642"/>
            <a:ext cx="7963132" cy="714210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62"/>
          <p:cNvSpPr/>
          <p:nvPr/>
        </p:nvSpPr>
        <p:spPr>
          <a:xfrm>
            <a:off x="9410568" y="4638642"/>
            <a:ext cx="31750" cy="71421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62"/>
          <p:cNvSpPr/>
          <p:nvPr/>
        </p:nvSpPr>
        <p:spPr>
          <a:xfrm>
            <a:off x="9670918" y="4810092"/>
            <a:ext cx="7713076" cy="409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2 chiều · nhiều kiểu cột · hình dung như Excel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6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6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Đọc Dữ Liệu &amp; Khám Phá Ban Đầu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1200051" y="2188766"/>
            <a:ext cx="22826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63"/>
          <p:cNvSpPr/>
          <p:nvPr/>
        </p:nvSpPr>
        <p:spPr>
          <a:xfrm>
            <a:off x="1295301" y="2207816"/>
            <a:ext cx="21683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pd.read_csv()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63"/>
          <p:cNvSpPr/>
          <p:nvPr/>
        </p:nvSpPr>
        <p:spPr>
          <a:xfrm>
            <a:off x="3673244" y="2231099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63"/>
          <p:cNvSpPr/>
          <p:nvPr/>
        </p:nvSpPr>
        <p:spPr>
          <a:xfrm>
            <a:off x="3948576" y="2188766"/>
            <a:ext cx="21217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3"/>
          <p:cNvSpPr/>
          <p:nvPr/>
        </p:nvSpPr>
        <p:spPr>
          <a:xfrm>
            <a:off x="4043826" y="2207816"/>
            <a:ext cx="20074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read_excel()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6260869" y="2231099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6536201" y="2188766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63"/>
          <p:cNvSpPr/>
          <p:nvPr/>
        </p:nvSpPr>
        <p:spPr>
          <a:xfrm>
            <a:off x="6631451" y="2207816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read_json()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1200051" y="2840137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63"/>
          <p:cNvSpPr/>
          <p:nvPr/>
        </p:nvSpPr>
        <p:spPr>
          <a:xfrm>
            <a:off x="1295301" y="2859187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.head(n)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2868580" y="2882470"/>
            <a:ext cx="380456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n dòng đầu (mặc định 5)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1200051" y="3491508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63"/>
          <p:cNvSpPr/>
          <p:nvPr/>
        </p:nvSpPr>
        <p:spPr>
          <a:xfrm>
            <a:off x="1295301" y="3510558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.info()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2707680" y="3533841"/>
            <a:ext cx="354311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kiểu dữ liệu, giá trị null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63"/>
          <p:cNvSpPr/>
          <p:nvPr/>
        </p:nvSpPr>
        <p:spPr>
          <a:xfrm>
            <a:off x="1200051" y="4142879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63"/>
          <p:cNvSpPr/>
          <p:nvPr/>
        </p:nvSpPr>
        <p:spPr>
          <a:xfrm>
            <a:off x="1295301" y="4161929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.describe()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63"/>
          <p:cNvSpPr/>
          <p:nvPr/>
        </p:nvSpPr>
        <p:spPr>
          <a:xfrm>
            <a:off x="3351444" y="4185213"/>
            <a:ext cx="248208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thống kê mô tả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63"/>
          <p:cNvSpPr/>
          <p:nvPr/>
        </p:nvSpPr>
        <p:spPr>
          <a:xfrm>
            <a:off x="1200051" y="4836584"/>
            <a:ext cx="258081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3 lệnh đầu tiên với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63"/>
          <p:cNvSpPr/>
          <p:nvPr/>
        </p:nvSpPr>
        <p:spPr>
          <a:xfrm>
            <a:off x="3895163" y="4794250"/>
            <a:ext cx="243909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mọi dataset mới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63"/>
          <p:cNvSpPr/>
          <p:nvPr/>
        </p:nvSpPr>
        <p:spPr>
          <a:xfrm>
            <a:off x="8954162" y="2188766"/>
            <a:ext cx="8419538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63"/>
          <p:cNvSpPr/>
          <p:nvPr/>
        </p:nvSpPr>
        <p:spPr>
          <a:xfrm>
            <a:off x="8964745" y="2199349"/>
            <a:ext cx="8398372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63"/>
          <p:cNvSpPr/>
          <p:nvPr/>
        </p:nvSpPr>
        <p:spPr>
          <a:xfrm>
            <a:off x="8964745" y="2599201"/>
            <a:ext cx="8398372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63"/>
          <p:cNvSpPr/>
          <p:nvPr/>
        </p:nvSpPr>
        <p:spPr>
          <a:xfrm>
            <a:off x="9136063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63"/>
          <p:cNvSpPr/>
          <p:nvPr/>
        </p:nvSpPr>
        <p:spPr>
          <a:xfrm>
            <a:off x="9335823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63"/>
          <p:cNvSpPr/>
          <p:nvPr/>
        </p:nvSpPr>
        <p:spPr>
          <a:xfrm>
            <a:off x="9535584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63"/>
          <p:cNvSpPr/>
          <p:nvPr/>
        </p:nvSpPr>
        <p:spPr>
          <a:xfrm>
            <a:off x="9830594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explore.py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63"/>
          <p:cNvSpPr/>
          <p:nvPr/>
        </p:nvSpPr>
        <p:spPr>
          <a:xfrm>
            <a:off x="9269545" y="2857434"/>
            <a:ext cx="8040723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 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"don_hang.csv"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10 dòng đầu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tail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5 dòng cuối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kiểu dữ liệu + null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describe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min, max, mean, std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(rows, cols)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danh sách cột # Chọn cột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 cột → Series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nhiều cột → DF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6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6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Boolean Indexing — Lọc Dữ Liệu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64"/>
          <p:cNvSpPr/>
          <p:nvPr/>
        </p:nvSpPr>
        <p:spPr>
          <a:xfrm>
            <a:off x="1200051" y="2231099"/>
            <a:ext cx="373523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Lọc dòng theo điều kiện 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64"/>
          <p:cNvSpPr/>
          <p:nvPr/>
        </p:nvSpPr>
        <p:spPr>
          <a:xfrm>
            <a:off x="5016996" y="2188766"/>
            <a:ext cx="261421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boolean indexing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64"/>
          <p:cNvSpPr/>
          <p:nvPr/>
        </p:nvSpPr>
        <p:spPr>
          <a:xfrm>
            <a:off x="1200051" y="2882470"/>
            <a:ext cx="124202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Kết hợp: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64"/>
          <p:cNvSpPr/>
          <p:nvPr/>
        </p:nvSpPr>
        <p:spPr>
          <a:xfrm>
            <a:off x="2556371" y="2840137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64"/>
          <p:cNvSpPr/>
          <p:nvPr/>
        </p:nvSpPr>
        <p:spPr>
          <a:xfrm>
            <a:off x="2651621" y="2859187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64"/>
          <p:cNvSpPr/>
          <p:nvPr/>
        </p:nvSpPr>
        <p:spPr>
          <a:xfrm>
            <a:off x="3098436" y="2882470"/>
            <a:ext cx="97396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(and)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64"/>
          <p:cNvSpPr/>
          <p:nvPr/>
        </p:nvSpPr>
        <p:spPr>
          <a:xfrm>
            <a:off x="4186701" y="2840137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64"/>
          <p:cNvSpPr/>
          <p:nvPr/>
        </p:nvSpPr>
        <p:spPr>
          <a:xfrm>
            <a:off x="4281951" y="2859187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64"/>
          <p:cNvSpPr/>
          <p:nvPr/>
        </p:nvSpPr>
        <p:spPr>
          <a:xfrm>
            <a:off x="4728766" y="2882470"/>
            <a:ext cx="73650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(or)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64"/>
          <p:cNvSpPr/>
          <p:nvPr/>
        </p:nvSpPr>
        <p:spPr>
          <a:xfrm>
            <a:off x="5579566" y="2840137"/>
            <a:ext cx="351565" cy="426806"/>
          </a:xfrm>
          <a:prstGeom prst="roundRect">
            <a:avLst>
              <a:gd fmla="val 16256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64"/>
          <p:cNvSpPr/>
          <p:nvPr/>
        </p:nvSpPr>
        <p:spPr>
          <a:xfrm>
            <a:off x="5674816" y="2859187"/>
            <a:ext cx="2372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~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64"/>
          <p:cNvSpPr/>
          <p:nvPr/>
        </p:nvSpPr>
        <p:spPr>
          <a:xfrm>
            <a:off x="6121632" y="2882470"/>
            <a:ext cx="7029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(not)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64"/>
          <p:cNvSpPr/>
          <p:nvPr/>
        </p:nvSpPr>
        <p:spPr>
          <a:xfrm>
            <a:off x="1200051" y="3491508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64"/>
          <p:cNvSpPr/>
          <p:nvPr/>
        </p:nvSpPr>
        <p:spPr>
          <a:xfrm>
            <a:off x="1295301" y="3510558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.isin()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64"/>
          <p:cNvSpPr/>
          <p:nvPr/>
        </p:nvSpPr>
        <p:spPr>
          <a:xfrm>
            <a:off x="2707680" y="3533841"/>
            <a:ext cx="389176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lọc theo danh sách giá trị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64"/>
          <p:cNvSpPr/>
          <p:nvPr/>
        </p:nvSpPr>
        <p:spPr>
          <a:xfrm>
            <a:off x="1200051" y="4185213"/>
            <a:ext cx="8049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64"/>
          <p:cNvSpPr/>
          <p:nvPr/>
        </p:nvSpPr>
        <p:spPr>
          <a:xfrm>
            <a:off x="2119313" y="4142879"/>
            <a:ext cx="153885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cực nhiều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64"/>
          <p:cNvSpPr/>
          <p:nvPr/>
        </p:nvSpPr>
        <p:spPr>
          <a:xfrm>
            <a:off x="3772462" y="4185213"/>
            <a:ext cx="319377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trong mọi bài phân tích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64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6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6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6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6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6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64"/>
          <p:cNvSpPr/>
          <p:nvPr/>
        </p:nvSpPr>
        <p:spPr>
          <a:xfrm>
            <a:off x="8915467" y="2304025"/>
            <a:ext cx="1001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filter.py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64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Lọc theo 1 điều kiện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cao_tuoi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Kết hợp điều kiện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vip_hcm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"chi_tieu"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10_000_000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&amp;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(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"HCM"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isin — lọc nhiều giá trị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mien_bac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"tinh"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isin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[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"Hà Nội"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"HP"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"QB"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Loại bỏ hàng null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sach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notna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6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6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loc </a:t>
            </a: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b="1" i="0" lang="en-US" sz="51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iloc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65"/>
          <p:cNvSpPr/>
          <p:nvPr/>
        </p:nvSpPr>
        <p:spPr>
          <a:xfrm>
            <a:off x="919592" y="2188766"/>
            <a:ext cx="3389974" cy="589359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65"/>
          <p:cNvSpPr/>
          <p:nvPr/>
        </p:nvSpPr>
        <p:spPr>
          <a:xfrm>
            <a:off x="1148192" y="2322116"/>
            <a:ext cx="3034473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Tiêu chí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65"/>
          <p:cNvSpPr/>
          <p:nvPr/>
        </p:nvSpPr>
        <p:spPr>
          <a:xfrm>
            <a:off x="4309567" y="2188766"/>
            <a:ext cx="6506105" cy="589359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65"/>
          <p:cNvSpPr/>
          <p:nvPr/>
        </p:nvSpPr>
        <p:spPr>
          <a:xfrm>
            <a:off x="4538167" y="2322116"/>
            <a:ext cx="62440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.loc[ 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65"/>
          <p:cNvSpPr/>
          <p:nvPr/>
        </p:nvSpPr>
        <p:spPr>
          <a:xfrm>
            <a:off x="10815671" y="2188766"/>
            <a:ext cx="6552737" cy="589359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65"/>
          <p:cNvSpPr/>
          <p:nvPr/>
        </p:nvSpPr>
        <p:spPr>
          <a:xfrm>
            <a:off x="11044271" y="2322116"/>
            <a:ext cx="629211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.iloc[ 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65"/>
          <p:cNvSpPr/>
          <p:nvPr/>
        </p:nvSpPr>
        <p:spPr>
          <a:xfrm>
            <a:off x="919592" y="2778125"/>
            <a:ext cx="3389974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65"/>
          <p:cNvSpPr/>
          <p:nvPr/>
        </p:nvSpPr>
        <p:spPr>
          <a:xfrm>
            <a:off x="1158776" y="2912534"/>
            <a:ext cx="3013307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Truy cập theo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65"/>
          <p:cNvSpPr/>
          <p:nvPr/>
        </p:nvSpPr>
        <p:spPr>
          <a:xfrm>
            <a:off x="4309567" y="2778125"/>
            <a:ext cx="6506105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65"/>
          <p:cNvSpPr/>
          <p:nvPr/>
        </p:nvSpPr>
        <p:spPr>
          <a:xfrm>
            <a:off x="4548750" y="2912534"/>
            <a:ext cx="6222921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Nhãn (label) </a:t>
            </a:r>
            <a:r>
              <a:rPr b="0" i="0" lang="en-US" sz="2400" u="none" cap="none" strike="noStrike">
                <a:solidFill>
                  <a:srgbClr val="DDE3F0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— tên cột/index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65"/>
          <p:cNvSpPr/>
          <p:nvPr/>
        </p:nvSpPr>
        <p:spPr>
          <a:xfrm>
            <a:off x="10815671" y="2778125"/>
            <a:ext cx="6552737" cy="699823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65"/>
          <p:cNvSpPr/>
          <p:nvPr/>
        </p:nvSpPr>
        <p:spPr>
          <a:xfrm>
            <a:off x="11054855" y="2912534"/>
            <a:ext cx="6270953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Vị trí số </a:t>
            </a:r>
            <a:r>
              <a:rPr b="0" i="0" lang="en-US" sz="2400" u="none" cap="none" strike="noStrike">
                <a:solidFill>
                  <a:srgbClr val="DDE3F0"/>
                </a:solidFill>
                <a:highlight>
                  <a:srgbClr val="1A2235"/>
                </a:highlight>
                <a:latin typeface="Arial"/>
                <a:ea typeface="Arial"/>
                <a:cs typeface="Arial"/>
                <a:sym typeface="Arial"/>
              </a:rPr>
              <a:t>— 0, 1, 2...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65"/>
          <p:cNvSpPr/>
          <p:nvPr/>
        </p:nvSpPr>
        <p:spPr>
          <a:xfrm>
            <a:off x="919592" y="3477948"/>
            <a:ext cx="3389974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65"/>
          <p:cNvSpPr/>
          <p:nvPr/>
        </p:nvSpPr>
        <p:spPr>
          <a:xfrm>
            <a:off x="1158776" y="3612356"/>
            <a:ext cx="3013307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Stop index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65"/>
          <p:cNvSpPr/>
          <p:nvPr/>
        </p:nvSpPr>
        <p:spPr>
          <a:xfrm>
            <a:off x="4309567" y="3477948"/>
            <a:ext cx="6506105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65"/>
          <p:cNvSpPr/>
          <p:nvPr/>
        </p:nvSpPr>
        <p:spPr>
          <a:xfrm>
            <a:off x="4548750" y="3612356"/>
            <a:ext cx="6222921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Bao gồm điểm dừng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65"/>
          <p:cNvSpPr/>
          <p:nvPr/>
        </p:nvSpPr>
        <p:spPr>
          <a:xfrm>
            <a:off x="10815671" y="3477948"/>
            <a:ext cx="6552737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65"/>
          <p:cNvSpPr/>
          <p:nvPr/>
        </p:nvSpPr>
        <p:spPr>
          <a:xfrm>
            <a:off x="11054855" y="3612356"/>
            <a:ext cx="6270953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bao gồm (như Python)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5"/>
          <p:cNvSpPr/>
          <p:nvPr/>
        </p:nvSpPr>
        <p:spPr>
          <a:xfrm>
            <a:off x="919592" y="4177771"/>
            <a:ext cx="3389974" cy="710241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65"/>
          <p:cNvSpPr/>
          <p:nvPr/>
        </p:nvSpPr>
        <p:spPr>
          <a:xfrm>
            <a:off x="1158776" y="4312179"/>
            <a:ext cx="3013307" cy="4795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Ví dụ hàng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5"/>
          <p:cNvSpPr/>
          <p:nvPr/>
        </p:nvSpPr>
        <p:spPr>
          <a:xfrm>
            <a:off x="4309567" y="4177771"/>
            <a:ext cx="6506105" cy="710241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65"/>
          <p:cNvSpPr/>
          <p:nvPr/>
        </p:nvSpPr>
        <p:spPr>
          <a:xfrm>
            <a:off x="4543392" y="4382989"/>
            <a:ext cx="3030141" cy="344951"/>
          </a:xfrm>
          <a:prstGeom prst="roundRect">
            <a:avLst>
              <a:gd fmla="val 11045" name="adj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65"/>
          <p:cNvSpPr/>
          <p:nvPr/>
        </p:nvSpPr>
        <p:spPr>
          <a:xfrm>
            <a:off x="4610067" y="4402039"/>
            <a:ext cx="2987695" cy="3449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df.loc[0:3, "ten"]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65"/>
          <p:cNvSpPr/>
          <p:nvPr/>
        </p:nvSpPr>
        <p:spPr>
          <a:xfrm>
            <a:off x="10815671" y="4177771"/>
            <a:ext cx="6552737" cy="710241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65"/>
          <p:cNvSpPr/>
          <p:nvPr/>
        </p:nvSpPr>
        <p:spPr>
          <a:xfrm>
            <a:off x="11049496" y="4382989"/>
            <a:ext cx="2547442" cy="344951"/>
          </a:xfrm>
          <a:prstGeom prst="roundRect">
            <a:avLst>
              <a:gd fmla="val 11045" name="adj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65"/>
          <p:cNvSpPr/>
          <p:nvPr/>
        </p:nvSpPr>
        <p:spPr>
          <a:xfrm>
            <a:off x="11116171" y="4402039"/>
            <a:ext cx="2490515" cy="3449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df.iloc[0:3, 2]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65"/>
          <p:cNvSpPr/>
          <p:nvPr/>
        </p:nvSpPr>
        <p:spPr>
          <a:xfrm>
            <a:off x="919592" y="4888012"/>
            <a:ext cx="3389974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65"/>
          <p:cNvSpPr/>
          <p:nvPr/>
        </p:nvSpPr>
        <p:spPr>
          <a:xfrm>
            <a:off x="1158776" y="5022420"/>
            <a:ext cx="3013307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khi nào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65"/>
          <p:cNvSpPr/>
          <p:nvPr/>
        </p:nvSpPr>
        <p:spPr>
          <a:xfrm>
            <a:off x="4309567" y="4888012"/>
            <a:ext cx="6506105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65"/>
          <p:cNvSpPr/>
          <p:nvPr/>
        </p:nvSpPr>
        <p:spPr>
          <a:xfrm>
            <a:off x="4548750" y="5022420"/>
            <a:ext cx="6222921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Biết tên cột/index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65"/>
          <p:cNvSpPr/>
          <p:nvPr/>
        </p:nvSpPr>
        <p:spPr>
          <a:xfrm>
            <a:off x="10815671" y="4888012"/>
            <a:ext cx="6552737" cy="699823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65"/>
          <p:cNvSpPr/>
          <p:nvPr/>
        </p:nvSpPr>
        <p:spPr>
          <a:xfrm>
            <a:off x="11054855" y="5022420"/>
            <a:ext cx="6270953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Cần vị trí số tuyệt đối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65"/>
          <p:cNvSpPr/>
          <p:nvPr/>
        </p:nvSpPr>
        <p:spPr>
          <a:xfrm>
            <a:off x="914301" y="5802643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65"/>
          <p:cNvSpPr/>
          <p:nvPr/>
        </p:nvSpPr>
        <p:spPr>
          <a:xfrm>
            <a:off x="1172435" y="5993970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65"/>
          <p:cNvSpPr/>
          <p:nvPr/>
        </p:nvSpPr>
        <p:spPr>
          <a:xfrm>
            <a:off x="1538552" y="5984545"/>
            <a:ext cx="12078806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Câu hỏi phỏng vấn kinh điển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— loc vs iloc: sự khác biệt quan trọng nhất là label-based vs position-based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6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6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Thêm / Sửa / Xoá Cột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66"/>
          <p:cNvSpPr/>
          <p:nvPr/>
        </p:nvSpPr>
        <p:spPr>
          <a:xfrm>
            <a:off x="1200051" y="2231099"/>
            <a:ext cx="298086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Tạo cột mới từ cột cũ 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66"/>
          <p:cNvSpPr/>
          <p:nvPr/>
        </p:nvSpPr>
        <p:spPr>
          <a:xfrm>
            <a:off x="4664108" y="2188766"/>
            <a:ext cx="3005394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66"/>
          <p:cNvSpPr/>
          <p:nvPr/>
        </p:nvSpPr>
        <p:spPr>
          <a:xfrm>
            <a:off x="1200051" y="3281991"/>
            <a:ext cx="4213986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66"/>
          <p:cNvSpPr/>
          <p:nvPr/>
        </p:nvSpPr>
        <p:spPr>
          <a:xfrm>
            <a:off x="1295301" y="3301041"/>
            <a:ext cx="414990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df["cot_moi"] = biểu_thức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66"/>
          <p:cNvSpPr/>
          <p:nvPr/>
        </p:nvSpPr>
        <p:spPr>
          <a:xfrm>
            <a:off x="1200051" y="3918314"/>
            <a:ext cx="3731121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66"/>
          <p:cNvSpPr/>
          <p:nvPr/>
        </p:nvSpPr>
        <p:spPr>
          <a:xfrm>
            <a:off x="1295301" y="3937364"/>
            <a:ext cx="365255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df.drop("cot", axis=1)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66"/>
          <p:cNvSpPr/>
          <p:nvPr/>
        </p:nvSpPr>
        <p:spPr>
          <a:xfrm>
            <a:off x="5121672" y="3960647"/>
            <a:ext cx="144839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xoá cột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66"/>
          <p:cNvSpPr/>
          <p:nvPr/>
        </p:nvSpPr>
        <p:spPr>
          <a:xfrm>
            <a:off x="1200051" y="4612018"/>
            <a:ext cx="292925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Đây là bước đầu của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66"/>
          <p:cNvSpPr/>
          <p:nvPr/>
        </p:nvSpPr>
        <p:spPr>
          <a:xfrm>
            <a:off x="4234491" y="4569685"/>
            <a:ext cx="301459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66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6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6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6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6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6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66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columns.py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66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Tạo cột tính toán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*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"gia_vat"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*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1.1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Cột phân loại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"phan_khuc"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"chi_tieu"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apply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"VIP"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10e6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"Std"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Đổi tên cột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rename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={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"old"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"new"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cột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drop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"cot_thua"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axis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67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10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67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Pandas Phần 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67"/>
          <p:cNvSpPr/>
          <p:nvPr/>
        </p:nvSpPr>
        <p:spPr>
          <a:xfrm>
            <a:off x="914301" y="2247305"/>
            <a:ext cx="458142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67"/>
          <p:cNvSpPr/>
          <p:nvPr/>
        </p:nvSpPr>
        <p:spPr>
          <a:xfrm>
            <a:off x="1134434" y="2372188"/>
            <a:ext cx="427860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Series (1 cột) vs DataFrame (bảng)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67"/>
          <p:cNvSpPr/>
          <p:nvPr/>
        </p:nvSpPr>
        <p:spPr>
          <a:xfrm>
            <a:off x="5667045" y="2247305"/>
            <a:ext cx="4251689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67"/>
          <p:cNvSpPr/>
          <p:nvPr/>
        </p:nvSpPr>
        <p:spPr>
          <a:xfrm>
            <a:off x="5887178" y="2372188"/>
            <a:ext cx="3938973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read_csv · head · info · describe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67"/>
          <p:cNvSpPr/>
          <p:nvPr/>
        </p:nvSpPr>
        <p:spPr>
          <a:xfrm>
            <a:off x="10090052" y="2247305"/>
            <a:ext cx="4913147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67"/>
          <p:cNvSpPr/>
          <p:nvPr/>
        </p:nvSpPr>
        <p:spPr>
          <a:xfrm>
            <a:off x="10310185" y="2372188"/>
            <a:ext cx="462027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Boolean indexing — lọc theo điều kiện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67"/>
          <p:cNvSpPr/>
          <p:nvPr/>
        </p:nvSpPr>
        <p:spPr>
          <a:xfrm>
            <a:off x="914301" y="2954073"/>
            <a:ext cx="325983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67"/>
          <p:cNvSpPr/>
          <p:nvPr/>
        </p:nvSpPr>
        <p:spPr>
          <a:xfrm>
            <a:off x="1134434" y="3078956"/>
            <a:ext cx="291736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loc (nhãn) vs iloc (vị trí)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67"/>
          <p:cNvSpPr/>
          <p:nvPr/>
        </p:nvSpPr>
        <p:spPr>
          <a:xfrm>
            <a:off x="4345451" y="2954073"/>
            <a:ext cx="521609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67"/>
          <p:cNvSpPr/>
          <p:nvPr/>
        </p:nvSpPr>
        <p:spPr>
          <a:xfrm>
            <a:off x="4565584" y="3078956"/>
            <a:ext cx="493231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Thêm/sửa/xoá cột — feature engineering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67"/>
          <p:cNvSpPr/>
          <p:nvPr/>
        </p:nvSpPr>
        <p:spPr>
          <a:xfrm>
            <a:off x="914301" y="3984790"/>
            <a:ext cx="6431194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67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67"/>
          <p:cNvSpPr/>
          <p:nvPr/>
        </p:nvSpPr>
        <p:spPr>
          <a:xfrm>
            <a:off x="1629668" y="4204891"/>
            <a:ext cx="5582078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Pandas Phần 2 — groupby, merge, pivot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68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68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68"/>
          <p:cNvSpPr/>
          <p:nvPr/>
        </p:nvSpPr>
        <p:spPr>
          <a:xfrm>
            <a:off x="1359297" y="4476750"/>
            <a:ext cx="116744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68"/>
          <p:cNvSpPr/>
          <p:nvPr/>
        </p:nvSpPr>
        <p:spPr>
          <a:xfrm>
            <a:off x="1531442" y="5905500"/>
            <a:ext cx="82315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~12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68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68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Pandas Phần 2 groupby, merge, pivot &amp; Missing Data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68"/>
          <p:cNvSpPr/>
          <p:nvPr/>
        </p:nvSpPr>
        <p:spPr>
          <a:xfrm>
            <a:off x="4667250" y="6063424"/>
            <a:ext cx="105238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68"/>
          <p:cNvSpPr/>
          <p:nvPr/>
        </p:nvSpPr>
        <p:spPr>
          <a:xfrm>
            <a:off x="4849284" y="6131157"/>
            <a:ext cx="76451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groupby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68"/>
          <p:cNvSpPr/>
          <p:nvPr/>
        </p:nvSpPr>
        <p:spPr>
          <a:xfrm>
            <a:off x="5833897" y="6063424"/>
            <a:ext cx="68179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68"/>
          <p:cNvSpPr/>
          <p:nvPr/>
        </p:nvSpPr>
        <p:spPr>
          <a:xfrm>
            <a:off x="6015931" y="6131157"/>
            <a:ext cx="39393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agg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68"/>
          <p:cNvSpPr/>
          <p:nvPr/>
        </p:nvSpPr>
        <p:spPr>
          <a:xfrm>
            <a:off x="6629963" y="6063424"/>
            <a:ext cx="135913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68"/>
          <p:cNvSpPr/>
          <p:nvPr/>
        </p:nvSpPr>
        <p:spPr>
          <a:xfrm>
            <a:off x="6811996" y="6131157"/>
            <a:ext cx="107126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merge / join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68"/>
          <p:cNvSpPr/>
          <p:nvPr/>
        </p:nvSpPr>
        <p:spPr>
          <a:xfrm>
            <a:off x="8103361" y="6063424"/>
            <a:ext cx="1285379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68"/>
          <p:cNvSpPr/>
          <p:nvPr/>
        </p:nvSpPr>
        <p:spPr>
          <a:xfrm>
            <a:off x="8285395" y="6131157"/>
            <a:ext cx="99751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pivot_table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68"/>
          <p:cNvSpPr/>
          <p:nvPr/>
        </p:nvSpPr>
        <p:spPr>
          <a:xfrm>
            <a:off x="9503007" y="6063424"/>
            <a:ext cx="755716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68"/>
          <p:cNvSpPr/>
          <p:nvPr/>
        </p:nvSpPr>
        <p:spPr>
          <a:xfrm>
            <a:off x="9685040" y="6131157"/>
            <a:ext cx="467850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fillna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6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6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groupby </a:t>
            </a: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Split · Apply · Combine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69"/>
          <p:cNvSpPr/>
          <p:nvPr/>
        </p:nvSpPr>
        <p:spPr>
          <a:xfrm>
            <a:off x="1200051" y="2231099"/>
            <a:ext cx="377492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Gom nhóm + tính tổng hợp 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69"/>
          <p:cNvSpPr/>
          <p:nvPr/>
        </p:nvSpPr>
        <p:spPr>
          <a:xfrm>
            <a:off x="5269839" y="2188766"/>
            <a:ext cx="2388328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cốt lõi phân tích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69"/>
          <p:cNvSpPr/>
          <p:nvPr/>
        </p:nvSpPr>
        <p:spPr>
          <a:xfrm>
            <a:off x="1200051" y="3324324"/>
            <a:ext cx="112725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Tư duy: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69"/>
          <p:cNvSpPr/>
          <p:nvPr/>
        </p:nvSpPr>
        <p:spPr>
          <a:xfrm>
            <a:off x="2441608" y="3281991"/>
            <a:ext cx="361192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Split → Apply → Combine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69"/>
          <p:cNvSpPr/>
          <p:nvPr/>
        </p:nvSpPr>
        <p:spPr>
          <a:xfrm>
            <a:off x="914301" y="3933362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Ví dụ: doanh thu trung bình theo vùng, tháng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69"/>
          <p:cNvSpPr/>
          <p:nvPr/>
        </p:nvSpPr>
        <p:spPr>
          <a:xfrm>
            <a:off x="1200051" y="4627067"/>
            <a:ext cx="20025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Tương đương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69"/>
          <p:cNvSpPr/>
          <p:nvPr/>
        </p:nvSpPr>
        <p:spPr>
          <a:xfrm>
            <a:off x="3316883" y="4584733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69"/>
          <p:cNvSpPr/>
          <p:nvPr/>
        </p:nvSpPr>
        <p:spPr>
          <a:xfrm>
            <a:off x="3412133" y="4603783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69"/>
          <p:cNvSpPr/>
          <p:nvPr/>
        </p:nvSpPr>
        <p:spPr>
          <a:xfrm>
            <a:off x="4985412" y="4627067"/>
            <a:ext cx="14655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trong 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69"/>
          <p:cNvSpPr/>
          <p:nvPr/>
        </p:nvSpPr>
        <p:spPr>
          <a:xfrm>
            <a:off x="914301" y="5388405"/>
            <a:ext cx="1619250" cy="711068"/>
          </a:xfrm>
          <a:prstGeom prst="roundRect">
            <a:avLst>
              <a:gd fmla="val 13395" name="adj"/>
            </a:avLst>
          </a:prstGeom>
          <a:solidFill>
            <a:srgbClr val="3776AB">
              <a:alpha val="14117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69"/>
          <p:cNvSpPr/>
          <p:nvPr/>
        </p:nvSpPr>
        <p:spPr>
          <a:xfrm>
            <a:off x="1115384" y="5532339"/>
            <a:ext cx="1217083" cy="4613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A9FD4"/>
                </a:solidFill>
                <a:highlight>
                  <a:srgbClr val="3776AB"/>
                </a:highlight>
                <a:latin typeface="Arial"/>
                <a:ea typeface="Arial"/>
                <a:cs typeface="Arial"/>
                <a:sym typeface="Arial"/>
              </a:rPr>
              <a:t>Split </a:t>
            </a:r>
            <a:r>
              <a:rPr b="0" i="0" lang="en-US" sz="11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chia nhóm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69"/>
          <p:cNvSpPr/>
          <p:nvPr/>
        </p:nvSpPr>
        <p:spPr>
          <a:xfrm>
            <a:off x="2762052" y="5601064"/>
            <a:ext cx="3236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69"/>
          <p:cNvSpPr/>
          <p:nvPr/>
        </p:nvSpPr>
        <p:spPr>
          <a:xfrm>
            <a:off x="3238004" y="5388405"/>
            <a:ext cx="1619250" cy="711068"/>
          </a:xfrm>
          <a:prstGeom prst="roundRect">
            <a:avLst>
              <a:gd fmla="val 13395" name="adj"/>
            </a:avLst>
          </a:prstGeom>
          <a:solidFill>
            <a:srgbClr val="FFD43B">
              <a:alpha val="1019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69"/>
          <p:cNvSpPr/>
          <p:nvPr/>
        </p:nvSpPr>
        <p:spPr>
          <a:xfrm>
            <a:off x="3439087" y="5532339"/>
            <a:ext cx="1217083" cy="4613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D43B"/>
                </a:solidFill>
                <a:highlight>
                  <a:srgbClr val="FFD43B"/>
                </a:highlight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b="0" i="0" lang="en-US" sz="11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tính toán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69"/>
          <p:cNvSpPr/>
          <p:nvPr/>
        </p:nvSpPr>
        <p:spPr>
          <a:xfrm>
            <a:off x="5085755" y="5601064"/>
            <a:ext cx="3236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69"/>
          <p:cNvSpPr/>
          <p:nvPr/>
        </p:nvSpPr>
        <p:spPr>
          <a:xfrm>
            <a:off x="5561707" y="5388405"/>
            <a:ext cx="1619250" cy="711068"/>
          </a:xfrm>
          <a:prstGeom prst="roundRect">
            <a:avLst>
              <a:gd fmla="val 13395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69"/>
          <p:cNvSpPr/>
          <p:nvPr/>
        </p:nvSpPr>
        <p:spPr>
          <a:xfrm>
            <a:off x="5762790" y="5532339"/>
            <a:ext cx="1217083" cy="4613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56D364"/>
                </a:solidFill>
                <a:highlight>
                  <a:srgbClr val="56D364"/>
                </a:highlight>
                <a:latin typeface="Arial"/>
                <a:ea typeface="Arial"/>
                <a:cs typeface="Arial"/>
                <a:sym typeface="Arial"/>
              </a:rPr>
              <a:t>Combine </a:t>
            </a:r>
            <a:r>
              <a:rPr b="0" i="0" lang="en-US" sz="112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gộp kết quả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69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69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69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69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69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69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69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groupby.py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69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Tổng doanh thu theo vùng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Nhiều thống kê cùng lúc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agg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[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"mean"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"count"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"max"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Nhóm theo nhiều cột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agg với hàm tự viết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"loai"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agg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"mean"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7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7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 Tổng Hợp —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agg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70"/>
          <p:cNvSpPr/>
          <p:nvPr/>
        </p:nvSpPr>
        <p:spPr>
          <a:xfrm>
            <a:off x="1200051" y="2231099"/>
            <a:ext cx="138109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sau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70"/>
          <p:cNvSpPr/>
          <p:nvPr/>
        </p:nvSpPr>
        <p:spPr>
          <a:xfrm>
            <a:off x="2695443" y="2188766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70"/>
          <p:cNvSpPr/>
          <p:nvPr/>
        </p:nvSpPr>
        <p:spPr>
          <a:xfrm>
            <a:off x="2790693" y="2207816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70"/>
          <p:cNvSpPr/>
          <p:nvPr/>
        </p:nvSpPr>
        <p:spPr>
          <a:xfrm>
            <a:off x="4203072" y="2231099"/>
            <a:ext cx="310724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để tính nhiều thống kê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70"/>
          <p:cNvSpPr/>
          <p:nvPr/>
        </p:nvSpPr>
        <p:spPr>
          <a:xfrm>
            <a:off x="1200051" y="2882470"/>
            <a:ext cx="75386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Các hàm: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70"/>
          <p:cNvSpPr/>
          <p:nvPr/>
        </p:nvSpPr>
        <p:spPr>
          <a:xfrm>
            <a:off x="2068215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70"/>
          <p:cNvSpPr/>
          <p:nvPr/>
        </p:nvSpPr>
        <p:spPr>
          <a:xfrm>
            <a:off x="2163465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70"/>
          <p:cNvSpPr/>
          <p:nvPr/>
        </p:nvSpPr>
        <p:spPr>
          <a:xfrm>
            <a:off x="2932079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70"/>
          <p:cNvSpPr/>
          <p:nvPr/>
        </p:nvSpPr>
        <p:spPr>
          <a:xfrm>
            <a:off x="3224113" y="2840137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70"/>
          <p:cNvSpPr/>
          <p:nvPr/>
        </p:nvSpPr>
        <p:spPr>
          <a:xfrm>
            <a:off x="3319363" y="2859187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70"/>
          <p:cNvSpPr/>
          <p:nvPr/>
        </p:nvSpPr>
        <p:spPr>
          <a:xfrm>
            <a:off x="4248878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70"/>
          <p:cNvSpPr/>
          <p:nvPr/>
        </p:nvSpPr>
        <p:spPr>
          <a:xfrm>
            <a:off x="4540912" y="2840137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70"/>
          <p:cNvSpPr/>
          <p:nvPr/>
        </p:nvSpPr>
        <p:spPr>
          <a:xfrm>
            <a:off x="4636162" y="2859187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70"/>
          <p:cNvSpPr/>
          <p:nvPr/>
        </p:nvSpPr>
        <p:spPr>
          <a:xfrm>
            <a:off x="5726741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70"/>
          <p:cNvSpPr/>
          <p:nvPr/>
        </p:nvSpPr>
        <p:spPr>
          <a:xfrm>
            <a:off x="6018775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70"/>
          <p:cNvSpPr/>
          <p:nvPr/>
        </p:nvSpPr>
        <p:spPr>
          <a:xfrm>
            <a:off x="6114025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70"/>
          <p:cNvSpPr/>
          <p:nvPr/>
        </p:nvSpPr>
        <p:spPr>
          <a:xfrm>
            <a:off x="6882640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70"/>
          <p:cNvSpPr/>
          <p:nvPr/>
        </p:nvSpPr>
        <p:spPr>
          <a:xfrm>
            <a:off x="7174674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70"/>
          <p:cNvSpPr/>
          <p:nvPr/>
        </p:nvSpPr>
        <p:spPr>
          <a:xfrm>
            <a:off x="7269924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70"/>
          <p:cNvSpPr/>
          <p:nvPr/>
        </p:nvSpPr>
        <p:spPr>
          <a:xfrm>
            <a:off x="8038538" y="2882470"/>
            <a:ext cx="17773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70"/>
          <p:cNvSpPr/>
          <p:nvPr/>
        </p:nvSpPr>
        <p:spPr>
          <a:xfrm>
            <a:off x="8330572" y="2840137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70"/>
          <p:cNvSpPr/>
          <p:nvPr/>
        </p:nvSpPr>
        <p:spPr>
          <a:xfrm>
            <a:off x="8425822" y="2859187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70"/>
          <p:cNvSpPr/>
          <p:nvPr/>
        </p:nvSpPr>
        <p:spPr>
          <a:xfrm>
            <a:off x="1200051" y="3933362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70"/>
          <p:cNvSpPr/>
          <p:nvPr/>
        </p:nvSpPr>
        <p:spPr>
          <a:xfrm>
            <a:off x="1295301" y="3952412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.agg()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70"/>
          <p:cNvSpPr/>
          <p:nvPr/>
        </p:nvSpPr>
        <p:spPr>
          <a:xfrm>
            <a:off x="2546780" y="3975695"/>
            <a:ext cx="312394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nhiều hàm cùng lúc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70"/>
          <p:cNvSpPr/>
          <p:nvPr/>
        </p:nvSpPr>
        <p:spPr>
          <a:xfrm>
            <a:off x="914301" y="4584733"/>
            <a:ext cx="833232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Ví dụ: doanh thu trung bình &amp; tổng theo vùng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70"/>
          <p:cNvSpPr/>
          <p:nvPr/>
        </p:nvSpPr>
        <p:spPr>
          <a:xfrm>
            <a:off x="9461004" y="2188766"/>
            <a:ext cx="791269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70"/>
          <p:cNvSpPr/>
          <p:nvPr/>
        </p:nvSpPr>
        <p:spPr>
          <a:xfrm>
            <a:off x="9471588" y="2199349"/>
            <a:ext cx="789152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70"/>
          <p:cNvSpPr/>
          <p:nvPr/>
        </p:nvSpPr>
        <p:spPr>
          <a:xfrm>
            <a:off x="9471588" y="2599201"/>
            <a:ext cx="789152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70"/>
          <p:cNvSpPr/>
          <p:nvPr/>
        </p:nvSpPr>
        <p:spPr>
          <a:xfrm>
            <a:off x="9642906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70"/>
          <p:cNvSpPr/>
          <p:nvPr/>
        </p:nvSpPr>
        <p:spPr>
          <a:xfrm>
            <a:off x="9842665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70"/>
          <p:cNvSpPr/>
          <p:nvPr/>
        </p:nvSpPr>
        <p:spPr>
          <a:xfrm>
            <a:off x="10042427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70"/>
          <p:cNvSpPr/>
          <p:nvPr/>
        </p:nvSpPr>
        <p:spPr>
          <a:xfrm>
            <a:off x="10337436" y="2304025"/>
            <a:ext cx="693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agg.py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70"/>
          <p:cNvSpPr/>
          <p:nvPr/>
        </p:nvSpPr>
        <p:spPr>
          <a:xfrm>
            <a:off x="9776388" y="2857434"/>
            <a:ext cx="7518675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Một hàm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Nhiều hàm cùng lúc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agg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[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"mean"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"count"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"std"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Đặt tên cột kết quả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agg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tong_dt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tb_dt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"mean"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so_don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"ma_dh"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  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"count"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7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7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merge &amp; join — Nối DataFrame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71"/>
          <p:cNvSpPr/>
          <p:nvPr/>
        </p:nvSpPr>
        <p:spPr>
          <a:xfrm>
            <a:off x="1200051" y="2231099"/>
            <a:ext cx="308868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Nối 2 DataFrame theo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71"/>
          <p:cNvSpPr/>
          <p:nvPr/>
        </p:nvSpPr>
        <p:spPr>
          <a:xfrm>
            <a:off x="4389272" y="2188766"/>
            <a:ext cx="161392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key chung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71"/>
          <p:cNvSpPr/>
          <p:nvPr/>
        </p:nvSpPr>
        <p:spPr>
          <a:xfrm>
            <a:off x="1200051" y="2882470"/>
            <a:ext cx="72013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how: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71"/>
          <p:cNvSpPr/>
          <p:nvPr/>
        </p:nvSpPr>
        <p:spPr>
          <a:xfrm>
            <a:off x="2034481" y="2840137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71"/>
          <p:cNvSpPr/>
          <p:nvPr/>
        </p:nvSpPr>
        <p:spPr>
          <a:xfrm>
            <a:off x="2129731" y="2859187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"inner"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71"/>
          <p:cNvSpPr/>
          <p:nvPr/>
        </p:nvSpPr>
        <p:spPr>
          <a:xfrm>
            <a:off x="3542110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71"/>
          <p:cNvSpPr/>
          <p:nvPr/>
        </p:nvSpPr>
        <p:spPr>
          <a:xfrm>
            <a:off x="3834143" y="2840137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71"/>
          <p:cNvSpPr/>
          <p:nvPr/>
        </p:nvSpPr>
        <p:spPr>
          <a:xfrm>
            <a:off x="3929393" y="2859187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"left"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71"/>
          <p:cNvSpPr/>
          <p:nvPr/>
        </p:nvSpPr>
        <p:spPr>
          <a:xfrm>
            <a:off x="5180873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71"/>
          <p:cNvSpPr/>
          <p:nvPr/>
        </p:nvSpPr>
        <p:spPr>
          <a:xfrm>
            <a:off x="5472907" y="2840137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71"/>
          <p:cNvSpPr/>
          <p:nvPr/>
        </p:nvSpPr>
        <p:spPr>
          <a:xfrm>
            <a:off x="5568157" y="2859187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"right"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71"/>
          <p:cNvSpPr/>
          <p:nvPr/>
        </p:nvSpPr>
        <p:spPr>
          <a:xfrm>
            <a:off x="6980536" y="2882470"/>
            <a:ext cx="17773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71"/>
          <p:cNvSpPr/>
          <p:nvPr/>
        </p:nvSpPr>
        <p:spPr>
          <a:xfrm>
            <a:off x="7272569" y="2840137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71"/>
          <p:cNvSpPr/>
          <p:nvPr/>
        </p:nvSpPr>
        <p:spPr>
          <a:xfrm>
            <a:off x="7367819" y="2859187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"outer"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71"/>
          <p:cNvSpPr/>
          <p:nvPr/>
        </p:nvSpPr>
        <p:spPr>
          <a:xfrm>
            <a:off x="1200051" y="3533841"/>
            <a:ext cx="20025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Tương đương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71"/>
          <p:cNvSpPr/>
          <p:nvPr/>
        </p:nvSpPr>
        <p:spPr>
          <a:xfrm>
            <a:off x="3316883" y="3491508"/>
            <a:ext cx="227786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JOIN trong 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1" name="Google Shape;191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01" y="4238129"/>
            <a:ext cx="342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71"/>
          <p:cNvSpPr/>
          <p:nvPr/>
        </p:nvSpPr>
        <p:spPr>
          <a:xfrm>
            <a:off x="9046766" y="2188766"/>
            <a:ext cx="8326934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71"/>
          <p:cNvSpPr/>
          <p:nvPr/>
        </p:nvSpPr>
        <p:spPr>
          <a:xfrm>
            <a:off x="9057349" y="2199349"/>
            <a:ext cx="8305767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71"/>
          <p:cNvSpPr/>
          <p:nvPr/>
        </p:nvSpPr>
        <p:spPr>
          <a:xfrm>
            <a:off x="9057349" y="2599201"/>
            <a:ext cx="8305767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71"/>
          <p:cNvSpPr/>
          <p:nvPr/>
        </p:nvSpPr>
        <p:spPr>
          <a:xfrm>
            <a:off x="9228667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71"/>
          <p:cNvSpPr/>
          <p:nvPr/>
        </p:nvSpPr>
        <p:spPr>
          <a:xfrm>
            <a:off x="9428427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71"/>
          <p:cNvSpPr/>
          <p:nvPr/>
        </p:nvSpPr>
        <p:spPr>
          <a:xfrm>
            <a:off x="9628188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71"/>
          <p:cNvSpPr/>
          <p:nvPr/>
        </p:nvSpPr>
        <p:spPr>
          <a:xfrm>
            <a:off x="9923199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merge.py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71"/>
          <p:cNvSpPr/>
          <p:nvPr/>
        </p:nvSpPr>
        <p:spPr>
          <a:xfrm>
            <a:off x="9362149" y="2857434"/>
            <a:ext cx="7945340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Inner join — chỉ hàng có ở cả 2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ket_qua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df_don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merge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df_kh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"ma_kh"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"inner"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Left join — giữ hết df trái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ket_qua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df_don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merge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df_kh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"ma_kh"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"left"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Merge trên nhiều key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ket_qua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merge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df2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"ma_sp"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"left"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7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7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pivot_table — Xoay Dữ Liệu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72"/>
          <p:cNvSpPr/>
          <p:nvPr/>
        </p:nvSpPr>
        <p:spPr>
          <a:xfrm>
            <a:off x="1200051" y="2231099"/>
            <a:ext cx="267087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Xoay dữ liệu dài → rộng 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72"/>
          <p:cNvSpPr/>
          <p:nvPr/>
        </p:nvSpPr>
        <p:spPr>
          <a:xfrm>
            <a:off x="4378689" y="2188766"/>
            <a:ext cx="329937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multidimensional summary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72"/>
          <p:cNvSpPr/>
          <p:nvPr/>
        </p:nvSpPr>
        <p:spPr>
          <a:xfrm>
            <a:off x="914301" y="3281991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Giống PivotTable trong Excel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72"/>
          <p:cNvSpPr/>
          <p:nvPr/>
        </p:nvSpPr>
        <p:spPr>
          <a:xfrm>
            <a:off x="1200051" y="3933362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72"/>
          <p:cNvSpPr/>
          <p:nvPr/>
        </p:nvSpPr>
        <p:spPr>
          <a:xfrm>
            <a:off x="1295301" y="3952412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72"/>
          <p:cNvSpPr/>
          <p:nvPr/>
        </p:nvSpPr>
        <p:spPr>
          <a:xfrm>
            <a:off x="2546780" y="3975695"/>
            <a:ext cx="77089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: cột tính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72"/>
          <p:cNvSpPr/>
          <p:nvPr/>
        </p:nvSpPr>
        <p:spPr>
          <a:xfrm>
            <a:off x="3613547" y="3933362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72"/>
          <p:cNvSpPr/>
          <p:nvPr/>
        </p:nvSpPr>
        <p:spPr>
          <a:xfrm>
            <a:off x="3708797" y="3952412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72"/>
          <p:cNvSpPr/>
          <p:nvPr/>
        </p:nvSpPr>
        <p:spPr>
          <a:xfrm>
            <a:off x="4799377" y="3975695"/>
            <a:ext cx="75436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: hàng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72"/>
          <p:cNvSpPr/>
          <p:nvPr/>
        </p:nvSpPr>
        <p:spPr>
          <a:xfrm>
            <a:off x="5667871" y="3933362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72"/>
          <p:cNvSpPr/>
          <p:nvPr/>
        </p:nvSpPr>
        <p:spPr>
          <a:xfrm>
            <a:off x="5763121" y="3952412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72"/>
          <p:cNvSpPr/>
          <p:nvPr/>
        </p:nvSpPr>
        <p:spPr>
          <a:xfrm>
            <a:off x="7175500" y="3975695"/>
            <a:ext cx="48283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: cột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72"/>
          <p:cNvSpPr/>
          <p:nvPr/>
        </p:nvSpPr>
        <p:spPr>
          <a:xfrm>
            <a:off x="914301" y="5468442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Nhanh thấy pattern nhiều chiều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72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72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72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72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72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72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72"/>
          <p:cNvSpPr/>
          <p:nvPr/>
        </p:nvSpPr>
        <p:spPr>
          <a:xfrm>
            <a:off x="8915467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pivot.py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72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Doanh thu theo vùng × tháng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pivot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pivot_table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aggfunc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fill_value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Kết quả: # thang    T1     T2     T3 # vung # HCM    500    620    580 # HN     300    280    320 # DN     150    130    160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7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7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Xử Lý Dữ Liệu Thiếu — Missing Values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73"/>
          <p:cNvSpPr/>
          <p:nvPr/>
        </p:nvSpPr>
        <p:spPr>
          <a:xfrm>
            <a:off x="1200051" y="2188766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73"/>
          <p:cNvSpPr/>
          <p:nvPr/>
        </p:nvSpPr>
        <p:spPr>
          <a:xfrm>
            <a:off x="1295301" y="2207816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df.isna()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73"/>
          <p:cNvSpPr/>
          <p:nvPr/>
        </p:nvSpPr>
        <p:spPr>
          <a:xfrm>
            <a:off x="3029479" y="2231099"/>
            <a:ext cx="312394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phát hiện giá trị null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73"/>
          <p:cNvSpPr/>
          <p:nvPr/>
        </p:nvSpPr>
        <p:spPr>
          <a:xfrm>
            <a:off x="1200051" y="2840137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73"/>
          <p:cNvSpPr/>
          <p:nvPr/>
        </p:nvSpPr>
        <p:spPr>
          <a:xfrm>
            <a:off x="1295301" y="2859187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df.dropna()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73"/>
          <p:cNvSpPr/>
          <p:nvPr/>
        </p:nvSpPr>
        <p:spPr>
          <a:xfrm>
            <a:off x="3351444" y="2882470"/>
            <a:ext cx="268773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xoá hàng có null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73"/>
          <p:cNvSpPr/>
          <p:nvPr/>
        </p:nvSpPr>
        <p:spPr>
          <a:xfrm>
            <a:off x="1200051" y="3491508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73"/>
          <p:cNvSpPr/>
          <p:nvPr/>
        </p:nvSpPr>
        <p:spPr>
          <a:xfrm>
            <a:off x="1295301" y="3510558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df.fillna()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3"/>
          <p:cNvSpPr/>
          <p:nvPr/>
        </p:nvSpPr>
        <p:spPr>
          <a:xfrm>
            <a:off x="3351444" y="3533841"/>
            <a:ext cx="305393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điền giá trị thay thế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73"/>
          <p:cNvSpPr/>
          <p:nvPr/>
        </p:nvSpPr>
        <p:spPr>
          <a:xfrm>
            <a:off x="1200051" y="4185213"/>
            <a:ext cx="70309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Điền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73"/>
          <p:cNvSpPr/>
          <p:nvPr/>
        </p:nvSpPr>
        <p:spPr>
          <a:xfrm>
            <a:off x="2017448" y="4142879"/>
            <a:ext cx="1151897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median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73"/>
          <p:cNvSpPr/>
          <p:nvPr/>
        </p:nvSpPr>
        <p:spPr>
          <a:xfrm>
            <a:off x="3283645" y="4185213"/>
            <a:ext cx="416837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tốt hơn mean cho dữ liệu lệch (income, price)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73"/>
          <p:cNvSpPr/>
          <p:nvPr/>
        </p:nvSpPr>
        <p:spPr>
          <a:xfrm>
            <a:off x="1200051" y="5278438"/>
            <a:ext cx="70309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Điền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73"/>
          <p:cNvSpPr/>
          <p:nvPr/>
        </p:nvSpPr>
        <p:spPr>
          <a:xfrm>
            <a:off x="2017448" y="5236104"/>
            <a:ext cx="89591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73"/>
          <p:cNvSpPr/>
          <p:nvPr/>
        </p:nvSpPr>
        <p:spPr>
          <a:xfrm>
            <a:off x="3027660" y="5278438"/>
            <a:ext cx="261773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cho cột categorical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73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73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73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73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73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73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73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missing.py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73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Kiểm tra null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isna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đếm null mỗi cột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isna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*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% null # Xoá hàng có null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dropna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subset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Điền median (cho số)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trung_vi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"thu_nhap"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median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"thu_nhap"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fillna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trung_vi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Điền mode (cho text)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"tinh"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"tinh"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fillna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74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11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74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Pandas Phần 2 — Thực Chiến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74"/>
          <p:cNvSpPr/>
          <p:nvPr/>
        </p:nvSpPr>
        <p:spPr>
          <a:xfrm>
            <a:off x="914301" y="2247305"/>
            <a:ext cx="488503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74"/>
          <p:cNvSpPr/>
          <p:nvPr/>
        </p:nvSpPr>
        <p:spPr>
          <a:xfrm>
            <a:off x="1134434" y="2372188"/>
            <a:ext cx="459132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groupby → agg — split/apply/combine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74"/>
          <p:cNvSpPr/>
          <p:nvPr/>
        </p:nvSpPr>
        <p:spPr>
          <a:xfrm>
            <a:off x="5970654" y="2247305"/>
            <a:ext cx="5022288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74"/>
          <p:cNvSpPr/>
          <p:nvPr/>
        </p:nvSpPr>
        <p:spPr>
          <a:xfrm>
            <a:off x="6190787" y="2372188"/>
            <a:ext cx="473269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merge / join — nối DataFrame theo key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74"/>
          <p:cNvSpPr/>
          <p:nvPr/>
        </p:nvSpPr>
        <p:spPr>
          <a:xfrm>
            <a:off x="11164259" y="2247305"/>
            <a:ext cx="4045479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74"/>
          <p:cNvSpPr/>
          <p:nvPr/>
        </p:nvSpPr>
        <p:spPr>
          <a:xfrm>
            <a:off x="11384393" y="2372188"/>
            <a:ext cx="372657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pivot_table — tóm tắt đa chiều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74"/>
          <p:cNvSpPr/>
          <p:nvPr/>
        </p:nvSpPr>
        <p:spPr>
          <a:xfrm>
            <a:off x="914301" y="2954073"/>
            <a:ext cx="4678660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74"/>
          <p:cNvSpPr/>
          <p:nvPr/>
        </p:nvSpPr>
        <p:spPr>
          <a:xfrm>
            <a:off x="1134434" y="3078956"/>
            <a:ext cx="4378754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isna / dropna / fillna — xử lý missing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74"/>
          <p:cNvSpPr/>
          <p:nvPr/>
        </p:nvSpPr>
        <p:spPr>
          <a:xfrm>
            <a:off x="5764279" y="2954073"/>
            <a:ext cx="5903847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74"/>
          <p:cNvSpPr/>
          <p:nvPr/>
        </p:nvSpPr>
        <p:spPr>
          <a:xfrm>
            <a:off x="5984412" y="3078956"/>
            <a:ext cx="564069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Điền median cho số lệch, mode cho categorical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74"/>
          <p:cNvSpPr/>
          <p:nvPr/>
        </p:nvSpPr>
        <p:spPr>
          <a:xfrm>
            <a:off x="914301" y="3984790"/>
            <a:ext cx="2787220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74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74"/>
          <p:cNvSpPr/>
          <p:nvPr/>
        </p:nvSpPr>
        <p:spPr>
          <a:xfrm>
            <a:off x="1629668" y="4204891"/>
            <a:ext cx="1851720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NumPy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75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75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75"/>
          <p:cNvSpPr/>
          <p:nvPr/>
        </p:nvSpPr>
        <p:spPr>
          <a:xfrm>
            <a:off x="1264708" y="4476750"/>
            <a:ext cx="135678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75"/>
          <p:cNvSpPr/>
          <p:nvPr/>
        </p:nvSpPr>
        <p:spPr>
          <a:xfrm>
            <a:off x="1531442" y="5905500"/>
            <a:ext cx="82315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~10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75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75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NumPy — Động Cơ Tính Toán Số Học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75"/>
          <p:cNvSpPr/>
          <p:nvPr/>
        </p:nvSpPr>
        <p:spPr>
          <a:xfrm>
            <a:off x="4667250" y="6063424"/>
            <a:ext cx="1009716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75"/>
          <p:cNvSpPr/>
          <p:nvPr/>
        </p:nvSpPr>
        <p:spPr>
          <a:xfrm>
            <a:off x="4849284" y="6131157"/>
            <a:ext cx="721850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ndarray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75"/>
          <p:cNvSpPr/>
          <p:nvPr/>
        </p:nvSpPr>
        <p:spPr>
          <a:xfrm>
            <a:off x="5791233" y="6063424"/>
            <a:ext cx="143338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75"/>
          <p:cNvSpPr/>
          <p:nvPr/>
        </p:nvSpPr>
        <p:spPr>
          <a:xfrm>
            <a:off x="5973266" y="6131157"/>
            <a:ext cx="114551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vectorization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75"/>
          <p:cNvSpPr/>
          <p:nvPr/>
        </p:nvSpPr>
        <p:spPr>
          <a:xfrm>
            <a:off x="7338881" y="6063424"/>
            <a:ext cx="145471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75"/>
          <p:cNvSpPr/>
          <p:nvPr/>
        </p:nvSpPr>
        <p:spPr>
          <a:xfrm>
            <a:off x="7520914" y="6131157"/>
            <a:ext cx="116684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broadcasting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75"/>
          <p:cNvSpPr/>
          <p:nvPr/>
        </p:nvSpPr>
        <p:spPr>
          <a:xfrm>
            <a:off x="8907860" y="6063424"/>
            <a:ext cx="1316964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75"/>
          <p:cNvSpPr/>
          <p:nvPr/>
        </p:nvSpPr>
        <p:spPr>
          <a:xfrm>
            <a:off x="9089893" y="6131157"/>
            <a:ext cx="1029097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dot product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7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7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ndarray vs Python list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76"/>
          <p:cNvSpPr/>
          <p:nvPr/>
        </p:nvSpPr>
        <p:spPr>
          <a:xfrm>
            <a:off x="914301" y="2548599"/>
            <a:ext cx="7962966" cy="10583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76"/>
          <p:cNvSpPr/>
          <p:nvPr/>
        </p:nvSpPr>
        <p:spPr>
          <a:xfrm>
            <a:off x="914301" y="2188766"/>
            <a:ext cx="8201855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PYTHON LIST — CHẬM, TỐN RAM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76"/>
          <p:cNvSpPr/>
          <p:nvPr/>
        </p:nvSpPr>
        <p:spPr>
          <a:xfrm>
            <a:off x="700941" y="2806733"/>
            <a:ext cx="8252526" cy="24340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Mỗi phần tử là object riêng biệt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Lưu pointer đến object — overhead lớn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thể tính toán vector trực tiếp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Tốt cho: dữ liệu hỗn hợp kiểu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76"/>
          <p:cNvSpPr/>
          <p:nvPr/>
        </p:nvSpPr>
        <p:spPr>
          <a:xfrm>
            <a:off x="9410568" y="2548599"/>
            <a:ext cx="7963132" cy="10583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76"/>
          <p:cNvSpPr/>
          <p:nvPr/>
        </p:nvSpPr>
        <p:spPr>
          <a:xfrm>
            <a:off x="9410568" y="2188766"/>
            <a:ext cx="8202026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NUMPY NDARRAY — NHANH, TIẾT KIỆM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76"/>
          <p:cNvSpPr/>
          <p:nvPr/>
        </p:nvSpPr>
        <p:spPr>
          <a:xfrm>
            <a:off x="9197208" y="2806733"/>
            <a:ext cx="8252692" cy="24340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Tất cả cùng 1 kiểu (dtype)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Lưu liên tục trong bộ nhớ — cache-friendly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Tính toán vector/ma trận cực nhanh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Tốt cho: số học, ML, deep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76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76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76"/>
          <p:cNvSpPr/>
          <p:nvPr/>
        </p:nvSpPr>
        <p:spPr>
          <a:xfrm>
            <a:off x="1538552" y="9047758"/>
            <a:ext cx="10521859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NumPy array nhanh hơn list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10–100x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cho phép toán số học · Pandas dùng NumPy bên dưới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7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7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Tạo &amp; Thao Tác Array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77"/>
          <p:cNvSpPr/>
          <p:nvPr/>
        </p:nvSpPr>
        <p:spPr>
          <a:xfrm>
            <a:off x="1200051" y="2188766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77"/>
          <p:cNvSpPr/>
          <p:nvPr/>
        </p:nvSpPr>
        <p:spPr>
          <a:xfrm>
            <a:off x="1295301" y="2207816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np.array()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77"/>
          <p:cNvSpPr/>
          <p:nvPr/>
        </p:nvSpPr>
        <p:spPr>
          <a:xfrm>
            <a:off x="3190544" y="2231099"/>
            <a:ext cx="224528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từ list 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77"/>
          <p:cNvSpPr/>
          <p:nvPr/>
        </p:nvSpPr>
        <p:spPr>
          <a:xfrm>
            <a:off x="1200051" y="2840137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77"/>
          <p:cNvSpPr/>
          <p:nvPr/>
        </p:nvSpPr>
        <p:spPr>
          <a:xfrm>
            <a:off x="1295301" y="2859187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np.zeros()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77"/>
          <p:cNvSpPr/>
          <p:nvPr/>
        </p:nvSpPr>
        <p:spPr>
          <a:xfrm>
            <a:off x="3190544" y="2882470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77"/>
          <p:cNvSpPr/>
          <p:nvPr/>
        </p:nvSpPr>
        <p:spPr>
          <a:xfrm>
            <a:off x="3465877" y="2840137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77"/>
          <p:cNvSpPr/>
          <p:nvPr/>
        </p:nvSpPr>
        <p:spPr>
          <a:xfrm>
            <a:off x="3561127" y="2859187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np.ones()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77"/>
          <p:cNvSpPr/>
          <p:nvPr/>
        </p:nvSpPr>
        <p:spPr>
          <a:xfrm>
            <a:off x="5295305" y="2882470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77"/>
          <p:cNvSpPr/>
          <p:nvPr/>
        </p:nvSpPr>
        <p:spPr>
          <a:xfrm>
            <a:off x="5570637" y="2840137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77"/>
          <p:cNvSpPr/>
          <p:nvPr/>
        </p:nvSpPr>
        <p:spPr>
          <a:xfrm>
            <a:off x="5665887" y="2859187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np.arange()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77"/>
          <p:cNvSpPr/>
          <p:nvPr/>
        </p:nvSpPr>
        <p:spPr>
          <a:xfrm>
            <a:off x="1200051" y="3491508"/>
            <a:ext cx="22826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77"/>
          <p:cNvSpPr/>
          <p:nvPr/>
        </p:nvSpPr>
        <p:spPr>
          <a:xfrm>
            <a:off x="1295301" y="3510558"/>
            <a:ext cx="21683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np.linspace()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77"/>
          <p:cNvSpPr/>
          <p:nvPr/>
        </p:nvSpPr>
        <p:spPr>
          <a:xfrm>
            <a:off x="3673244" y="3533841"/>
            <a:ext cx="303775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dãy đều từ a đến 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77"/>
          <p:cNvSpPr/>
          <p:nvPr/>
        </p:nvSpPr>
        <p:spPr>
          <a:xfrm>
            <a:off x="1200051" y="4142879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77"/>
          <p:cNvSpPr/>
          <p:nvPr/>
        </p:nvSpPr>
        <p:spPr>
          <a:xfrm>
            <a:off x="1295301" y="4161929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reshape()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77"/>
          <p:cNvSpPr/>
          <p:nvPr/>
        </p:nvSpPr>
        <p:spPr>
          <a:xfrm>
            <a:off x="3029479" y="4185213"/>
            <a:ext cx="298461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thay đổi hình dạng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77"/>
          <p:cNvSpPr/>
          <p:nvPr/>
        </p:nvSpPr>
        <p:spPr>
          <a:xfrm>
            <a:off x="914301" y="4794250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reshape dùng nhiều khi đưa dữ liệu vào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77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77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77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77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77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77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77"/>
          <p:cNvSpPr/>
          <p:nvPr/>
        </p:nvSpPr>
        <p:spPr>
          <a:xfrm>
            <a:off x="8915467" y="2304025"/>
            <a:ext cx="1618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numpy_basics.py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77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 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zeros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ma trận 3×4 toàn 0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ones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ma trận 2×5 toàn 1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[0,2,4,6,8]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linspace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100 điểm # Reshape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[[0,1,2,3],[4,5,6,7],[8,9,10,11]]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(3, 4)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dtype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int64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7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7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Vectorization — Không Cần for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78"/>
          <p:cNvSpPr/>
          <p:nvPr/>
        </p:nvSpPr>
        <p:spPr>
          <a:xfrm>
            <a:off x="1200051" y="2231099"/>
            <a:ext cx="197392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Tính toán trên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78"/>
          <p:cNvSpPr/>
          <p:nvPr/>
        </p:nvSpPr>
        <p:spPr>
          <a:xfrm>
            <a:off x="3288275" y="2188766"/>
            <a:ext cx="127906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cả array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78"/>
          <p:cNvSpPr/>
          <p:nvPr/>
        </p:nvSpPr>
        <p:spPr>
          <a:xfrm>
            <a:off x="4681637" y="2231099"/>
            <a:ext cx="231275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không cần for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78"/>
          <p:cNvSpPr/>
          <p:nvPr/>
        </p:nvSpPr>
        <p:spPr>
          <a:xfrm>
            <a:off x="914301" y="2840137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Nhanh hơn for hàng chục lần nhờ C/BLAS backend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78"/>
          <p:cNvSpPr/>
          <p:nvPr/>
        </p:nvSpPr>
        <p:spPr>
          <a:xfrm>
            <a:off x="1200051" y="3975695"/>
            <a:ext cx="75386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Thấy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78"/>
          <p:cNvSpPr/>
          <p:nvPr/>
        </p:nvSpPr>
        <p:spPr>
          <a:xfrm>
            <a:off x="2068215" y="3933362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78"/>
          <p:cNvSpPr/>
          <p:nvPr/>
        </p:nvSpPr>
        <p:spPr>
          <a:xfrm>
            <a:off x="2163465" y="3952412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78"/>
          <p:cNvSpPr/>
          <p:nvPr/>
        </p:nvSpPr>
        <p:spPr>
          <a:xfrm>
            <a:off x="2932079" y="3975695"/>
            <a:ext cx="362265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trên số liệu lớn → nghĩ tới vectorize ngay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78"/>
          <p:cNvSpPr/>
          <p:nvPr/>
        </p:nvSpPr>
        <p:spPr>
          <a:xfrm>
            <a:off x="914301" y="5178889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78"/>
          <p:cNvSpPr/>
          <p:nvPr/>
        </p:nvSpPr>
        <p:spPr>
          <a:xfrm>
            <a:off x="1172435" y="5370215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78"/>
          <p:cNvSpPr/>
          <p:nvPr/>
        </p:nvSpPr>
        <p:spPr>
          <a:xfrm>
            <a:off x="1538552" y="5360789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 triệu phép nhân: for loop ~200ms · vectorized ~1ms → </a:t>
            </a:r>
            <a:r>
              <a:rPr b="1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nhanh 200×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78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78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78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78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78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78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78"/>
          <p:cNvSpPr/>
          <p:nvPr/>
        </p:nvSpPr>
        <p:spPr>
          <a:xfrm>
            <a:off x="8915467" y="2304025"/>
            <a:ext cx="1310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vectorize.py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78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qtys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❌ For loop — chậm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revenue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[]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qtys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revenue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✅ Vectorized — nhanh hơn 200x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revenue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qtys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[500, 600, 2400] # Các hàm NumPy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sqrt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căn tất cả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log tất cả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prices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trung bình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7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7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Broadcasting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79"/>
          <p:cNvSpPr/>
          <p:nvPr/>
        </p:nvSpPr>
        <p:spPr>
          <a:xfrm>
            <a:off x="914301" y="2188766"/>
            <a:ext cx="820049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Tự động "nở" array kích thước nhỏ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79"/>
          <p:cNvSpPr/>
          <p:nvPr/>
        </p:nvSpPr>
        <p:spPr>
          <a:xfrm>
            <a:off x="1200051" y="2882470"/>
            <a:ext cx="525011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Tính toán array kích thước khác nhau 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79"/>
          <p:cNvSpPr/>
          <p:nvPr/>
        </p:nvSpPr>
        <p:spPr>
          <a:xfrm>
            <a:off x="6821455" y="2840137"/>
            <a:ext cx="2130690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không cần lặp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79"/>
          <p:cNvSpPr/>
          <p:nvPr/>
        </p:nvSpPr>
        <p:spPr>
          <a:xfrm>
            <a:off x="1200051" y="3975695"/>
            <a:ext cx="305461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Sẽ gặp lại nhiều trong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79"/>
          <p:cNvSpPr/>
          <p:nvPr/>
        </p:nvSpPr>
        <p:spPr>
          <a:xfrm>
            <a:off x="4356200" y="3933362"/>
            <a:ext cx="209877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79"/>
          <p:cNvSpPr/>
          <p:nvPr/>
        </p:nvSpPr>
        <p:spPr>
          <a:xfrm>
            <a:off x="876201" y="4737034"/>
            <a:ext cx="2094971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A (3×3)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79"/>
          <p:cNvSpPr/>
          <p:nvPr/>
        </p:nvSpPr>
        <p:spPr>
          <a:xfrm>
            <a:off x="914301" y="4995168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79"/>
          <p:cNvSpPr/>
          <p:nvPr/>
        </p:nvSpPr>
        <p:spPr>
          <a:xfrm>
            <a:off x="886784" y="5005752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79"/>
          <p:cNvSpPr/>
          <p:nvPr/>
        </p:nvSpPr>
        <p:spPr>
          <a:xfrm>
            <a:off x="1599902" y="4995168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79"/>
          <p:cNvSpPr/>
          <p:nvPr/>
        </p:nvSpPr>
        <p:spPr>
          <a:xfrm>
            <a:off x="1572386" y="5005752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79"/>
          <p:cNvSpPr/>
          <p:nvPr/>
        </p:nvSpPr>
        <p:spPr>
          <a:xfrm>
            <a:off x="2285504" y="4995168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79"/>
          <p:cNvSpPr/>
          <p:nvPr/>
        </p:nvSpPr>
        <p:spPr>
          <a:xfrm>
            <a:off x="2257987" y="5005752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79"/>
          <p:cNvSpPr/>
          <p:nvPr/>
        </p:nvSpPr>
        <p:spPr>
          <a:xfrm>
            <a:off x="914301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79"/>
          <p:cNvSpPr/>
          <p:nvPr/>
        </p:nvSpPr>
        <p:spPr>
          <a:xfrm>
            <a:off x="886784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79"/>
          <p:cNvSpPr/>
          <p:nvPr/>
        </p:nvSpPr>
        <p:spPr>
          <a:xfrm>
            <a:off x="1599902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79"/>
          <p:cNvSpPr/>
          <p:nvPr/>
        </p:nvSpPr>
        <p:spPr>
          <a:xfrm>
            <a:off x="1572386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79"/>
          <p:cNvSpPr/>
          <p:nvPr/>
        </p:nvSpPr>
        <p:spPr>
          <a:xfrm>
            <a:off x="2285504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79"/>
          <p:cNvSpPr/>
          <p:nvPr/>
        </p:nvSpPr>
        <p:spPr>
          <a:xfrm>
            <a:off x="2257987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9"/>
          <p:cNvSpPr/>
          <p:nvPr/>
        </p:nvSpPr>
        <p:spPr>
          <a:xfrm>
            <a:off x="914301" y="6366371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79"/>
          <p:cNvSpPr/>
          <p:nvPr/>
        </p:nvSpPr>
        <p:spPr>
          <a:xfrm>
            <a:off x="886784" y="6376955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79"/>
          <p:cNvSpPr/>
          <p:nvPr/>
        </p:nvSpPr>
        <p:spPr>
          <a:xfrm>
            <a:off x="1599902" y="6366371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79"/>
          <p:cNvSpPr/>
          <p:nvPr/>
        </p:nvSpPr>
        <p:spPr>
          <a:xfrm>
            <a:off x="1572386" y="6376955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79"/>
          <p:cNvSpPr/>
          <p:nvPr/>
        </p:nvSpPr>
        <p:spPr>
          <a:xfrm>
            <a:off x="2285504" y="6366371"/>
            <a:ext cx="647568" cy="647568"/>
          </a:xfrm>
          <a:prstGeom prst="roundRect">
            <a:avLst>
              <a:gd fmla="val 8825" name="adj"/>
            </a:avLst>
          </a:prstGeom>
          <a:solidFill>
            <a:srgbClr val="3776AB">
              <a:alpha val="25098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79"/>
          <p:cNvSpPr/>
          <p:nvPr/>
        </p:nvSpPr>
        <p:spPr>
          <a:xfrm>
            <a:off x="2257987" y="6376955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79"/>
          <p:cNvSpPr/>
          <p:nvPr/>
        </p:nvSpPr>
        <p:spPr>
          <a:xfrm>
            <a:off x="3275872" y="5616112"/>
            <a:ext cx="343264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79"/>
          <p:cNvSpPr/>
          <p:nvPr/>
        </p:nvSpPr>
        <p:spPr>
          <a:xfrm>
            <a:off x="3847637" y="5422636"/>
            <a:ext cx="2094971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B (1×3)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79"/>
          <p:cNvSpPr/>
          <p:nvPr/>
        </p:nvSpPr>
        <p:spPr>
          <a:xfrm>
            <a:off x="3885737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FFD43B">
              <a:alpha val="14901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79"/>
          <p:cNvSpPr/>
          <p:nvPr/>
        </p:nvSpPr>
        <p:spPr>
          <a:xfrm>
            <a:off x="3858221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79"/>
          <p:cNvSpPr/>
          <p:nvPr/>
        </p:nvSpPr>
        <p:spPr>
          <a:xfrm>
            <a:off x="4571339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FFD43B">
              <a:alpha val="14901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79"/>
          <p:cNvSpPr/>
          <p:nvPr/>
        </p:nvSpPr>
        <p:spPr>
          <a:xfrm>
            <a:off x="4543822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79"/>
          <p:cNvSpPr/>
          <p:nvPr/>
        </p:nvSpPr>
        <p:spPr>
          <a:xfrm>
            <a:off x="5256940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FFD43B">
              <a:alpha val="14901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79"/>
          <p:cNvSpPr/>
          <p:nvPr/>
        </p:nvSpPr>
        <p:spPr>
          <a:xfrm>
            <a:off x="5229423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79"/>
          <p:cNvSpPr/>
          <p:nvPr/>
        </p:nvSpPr>
        <p:spPr>
          <a:xfrm>
            <a:off x="6247309" y="5616112"/>
            <a:ext cx="343264" cy="556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79"/>
          <p:cNvSpPr/>
          <p:nvPr/>
        </p:nvSpPr>
        <p:spPr>
          <a:xfrm>
            <a:off x="6819073" y="4737034"/>
            <a:ext cx="2094971" cy="239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Kết quả (3×3)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9"/>
          <p:cNvSpPr/>
          <p:nvPr/>
        </p:nvSpPr>
        <p:spPr>
          <a:xfrm>
            <a:off x="6857173" y="4995168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79"/>
          <p:cNvSpPr/>
          <p:nvPr/>
        </p:nvSpPr>
        <p:spPr>
          <a:xfrm>
            <a:off x="6829657" y="5005752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79"/>
          <p:cNvSpPr/>
          <p:nvPr/>
        </p:nvSpPr>
        <p:spPr>
          <a:xfrm>
            <a:off x="7542775" y="4995168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79"/>
          <p:cNvSpPr/>
          <p:nvPr/>
        </p:nvSpPr>
        <p:spPr>
          <a:xfrm>
            <a:off x="7515258" y="5005752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79"/>
          <p:cNvSpPr/>
          <p:nvPr/>
        </p:nvSpPr>
        <p:spPr>
          <a:xfrm>
            <a:off x="8228377" y="4995168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79"/>
          <p:cNvSpPr/>
          <p:nvPr/>
        </p:nvSpPr>
        <p:spPr>
          <a:xfrm>
            <a:off x="8200860" y="5005752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79"/>
          <p:cNvSpPr/>
          <p:nvPr/>
        </p:nvSpPr>
        <p:spPr>
          <a:xfrm>
            <a:off x="6857173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79"/>
          <p:cNvSpPr/>
          <p:nvPr/>
        </p:nvSpPr>
        <p:spPr>
          <a:xfrm>
            <a:off x="6829657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79"/>
          <p:cNvSpPr/>
          <p:nvPr/>
        </p:nvSpPr>
        <p:spPr>
          <a:xfrm>
            <a:off x="7542775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79"/>
          <p:cNvSpPr/>
          <p:nvPr/>
        </p:nvSpPr>
        <p:spPr>
          <a:xfrm>
            <a:off x="7515258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79"/>
          <p:cNvSpPr/>
          <p:nvPr/>
        </p:nvSpPr>
        <p:spPr>
          <a:xfrm>
            <a:off x="8228377" y="5680770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79"/>
          <p:cNvSpPr/>
          <p:nvPr/>
        </p:nvSpPr>
        <p:spPr>
          <a:xfrm>
            <a:off x="8200860" y="5691353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79"/>
          <p:cNvSpPr/>
          <p:nvPr/>
        </p:nvSpPr>
        <p:spPr>
          <a:xfrm>
            <a:off x="6857173" y="6366371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79"/>
          <p:cNvSpPr/>
          <p:nvPr/>
        </p:nvSpPr>
        <p:spPr>
          <a:xfrm>
            <a:off x="6829657" y="6376955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79"/>
          <p:cNvSpPr/>
          <p:nvPr/>
        </p:nvSpPr>
        <p:spPr>
          <a:xfrm>
            <a:off x="7542775" y="6366371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79"/>
          <p:cNvSpPr/>
          <p:nvPr/>
        </p:nvSpPr>
        <p:spPr>
          <a:xfrm>
            <a:off x="7515258" y="6376955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79"/>
          <p:cNvSpPr/>
          <p:nvPr/>
        </p:nvSpPr>
        <p:spPr>
          <a:xfrm>
            <a:off x="8228377" y="6366371"/>
            <a:ext cx="647568" cy="647568"/>
          </a:xfrm>
          <a:prstGeom prst="roundRect">
            <a:avLst>
              <a:gd fmla="val 8825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79"/>
          <p:cNvSpPr/>
          <p:nvPr/>
        </p:nvSpPr>
        <p:spPr>
          <a:xfrm>
            <a:off x="8200860" y="6376955"/>
            <a:ext cx="702601" cy="66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DDE3F0"/>
                </a:solidFill>
                <a:latin typeface="Courier New"/>
                <a:ea typeface="Courier New"/>
                <a:cs typeface="Courier New"/>
                <a:sym typeface="Courier New"/>
              </a:rPr>
              <a:t>39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79"/>
          <p:cNvSpPr/>
          <p:nvPr/>
        </p:nvSpPr>
        <p:spPr>
          <a:xfrm>
            <a:off x="9333012" y="2188766"/>
            <a:ext cx="8040688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79"/>
          <p:cNvSpPr/>
          <p:nvPr/>
        </p:nvSpPr>
        <p:spPr>
          <a:xfrm>
            <a:off x="9343595" y="2199349"/>
            <a:ext cx="8019521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79"/>
          <p:cNvSpPr/>
          <p:nvPr/>
        </p:nvSpPr>
        <p:spPr>
          <a:xfrm>
            <a:off x="9343595" y="2599201"/>
            <a:ext cx="8019521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79"/>
          <p:cNvSpPr/>
          <p:nvPr/>
        </p:nvSpPr>
        <p:spPr>
          <a:xfrm>
            <a:off x="9514913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79"/>
          <p:cNvSpPr/>
          <p:nvPr/>
        </p:nvSpPr>
        <p:spPr>
          <a:xfrm>
            <a:off x="9714674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79"/>
          <p:cNvSpPr/>
          <p:nvPr/>
        </p:nvSpPr>
        <p:spPr>
          <a:xfrm>
            <a:off x="9914434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79"/>
          <p:cNvSpPr/>
          <p:nvPr/>
        </p:nvSpPr>
        <p:spPr>
          <a:xfrm>
            <a:off x="10209444" y="2304025"/>
            <a:ext cx="1618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broadcasting.py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79"/>
          <p:cNvSpPr/>
          <p:nvPr/>
        </p:nvSpPr>
        <p:spPr>
          <a:xfrm>
            <a:off x="9648395" y="2857434"/>
            <a:ext cx="7650507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[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[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1D # B tự "nở" thành 3×3 rồi cộng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Chuẩn hoá cột (mean subtraction)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X_norm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axis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/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axis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Broadcasting trong chuẩn hoá!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8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8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Dot Product &amp; Ma Trận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80"/>
          <p:cNvSpPr/>
          <p:nvPr/>
        </p:nvSpPr>
        <p:spPr>
          <a:xfrm>
            <a:off x="1200051" y="2188766"/>
            <a:ext cx="2061600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80"/>
          <p:cNvSpPr/>
          <p:nvPr/>
        </p:nvSpPr>
        <p:spPr>
          <a:xfrm>
            <a:off x="1295301" y="2207816"/>
            <a:ext cx="1947300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np.dot(A, B)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80"/>
          <p:cNvSpPr/>
          <p:nvPr/>
        </p:nvSpPr>
        <p:spPr>
          <a:xfrm>
            <a:off x="3452151" y="2231099"/>
            <a:ext cx="7371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hoặc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80"/>
          <p:cNvSpPr/>
          <p:nvPr/>
        </p:nvSpPr>
        <p:spPr>
          <a:xfrm>
            <a:off x="4303613" y="2188766"/>
            <a:ext cx="970359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80"/>
          <p:cNvSpPr/>
          <p:nvPr/>
        </p:nvSpPr>
        <p:spPr>
          <a:xfrm>
            <a:off x="4398863" y="2207816"/>
            <a:ext cx="856059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 @ B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80"/>
          <p:cNvSpPr/>
          <p:nvPr/>
        </p:nvSpPr>
        <p:spPr>
          <a:xfrm>
            <a:off x="5464473" y="2231099"/>
            <a:ext cx="1651959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nhân ma trận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80"/>
          <p:cNvSpPr/>
          <p:nvPr/>
        </p:nvSpPr>
        <p:spPr>
          <a:xfrm>
            <a:off x="1200051" y="3324324"/>
            <a:ext cx="188942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Nền tảng của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80"/>
          <p:cNvSpPr/>
          <p:nvPr/>
        </p:nvSpPr>
        <p:spPr>
          <a:xfrm>
            <a:off x="3203774" y="3281991"/>
            <a:ext cx="290371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mọi neural network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80"/>
          <p:cNvSpPr/>
          <p:nvPr/>
        </p:nvSpPr>
        <p:spPr>
          <a:xfrm>
            <a:off x="1200051" y="3933362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80"/>
          <p:cNvSpPr/>
          <p:nvPr/>
        </p:nvSpPr>
        <p:spPr>
          <a:xfrm>
            <a:off x="1295301" y="3952412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A.T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80"/>
          <p:cNvSpPr/>
          <p:nvPr/>
        </p:nvSpPr>
        <p:spPr>
          <a:xfrm>
            <a:off x="2063915" y="3975695"/>
            <a:ext cx="293147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transpose ma trận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80"/>
          <p:cNvSpPr/>
          <p:nvPr/>
        </p:nvSpPr>
        <p:spPr>
          <a:xfrm>
            <a:off x="914301" y="4584733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Cả deep learning = nhân ma trận lặp lại + activation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80"/>
          <p:cNvSpPr/>
          <p:nvPr/>
        </p:nvSpPr>
        <p:spPr>
          <a:xfrm>
            <a:off x="914301" y="5830259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80"/>
          <p:cNvSpPr/>
          <p:nvPr/>
        </p:nvSpPr>
        <p:spPr>
          <a:xfrm>
            <a:off x="1172435" y="6021586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80"/>
          <p:cNvSpPr/>
          <p:nvPr/>
        </p:nvSpPr>
        <p:spPr>
          <a:xfrm>
            <a:off x="1538552" y="6012160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Linear Regression: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 = X @ w + b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— chỉ là 1 phép nhân ma trận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80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80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80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80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80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80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80"/>
          <p:cNvSpPr/>
          <p:nvPr/>
        </p:nvSpPr>
        <p:spPr>
          <a:xfrm>
            <a:off x="8915467" y="2304025"/>
            <a:ext cx="1001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matrix.py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80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Nhân ma trận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[[19,22],[43,50]]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@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toán tử @ — rõ hơn # Transpose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[[1,3],[2,4]] # Linear Regression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y_pred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@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[1.1, 2.7, 4.3]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81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12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81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NumPy — Động Cơ Tính Toán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81"/>
          <p:cNvSpPr/>
          <p:nvPr/>
        </p:nvSpPr>
        <p:spPr>
          <a:xfrm>
            <a:off x="914301" y="2247305"/>
            <a:ext cx="620464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81"/>
          <p:cNvSpPr/>
          <p:nvPr/>
        </p:nvSpPr>
        <p:spPr>
          <a:xfrm>
            <a:off x="1134434" y="2372188"/>
            <a:ext cx="5950518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ndarray đồng nhất kiểu — nhanh hơn list 10–100x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81"/>
          <p:cNvSpPr/>
          <p:nvPr/>
        </p:nvSpPr>
        <p:spPr>
          <a:xfrm>
            <a:off x="7290263" y="2247305"/>
            <a:ext cx="524321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81"/>
          <p:cNvSpPr/>
          <p:nvPr/>
        </p:nvSpPr>
        <p:spPr>
          <a:xfrm>
            <a:off x="7510396" y="2372188"/>
            <a:ext cx="496024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zeros / ones / arange / linspace / reshape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81"/>
          <p:cNvSpPr/>
          <p:nvPr/>
        </p:nvSpPr>
        <p:spPr>
          <a:xfrm>
            <a:off x="914301" y="2954073"/>
            <a:ext cx="5929147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81"/>
          <p:cNvSpPr/>
          <p:nvPr/>
        </p:nvSpPr>
        <p:spPr>
          <a:xfrm>
            <a:off x="1134434" y="3078956"/>
            <a:ext cx="566675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Vectorization — không cần for, nhanh hơn 200x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81"/>
          <p:cNvSpPr/>
          <p:nvPr/>
        </p:nvSpPr>
        <p:spPr>
          <a:xfrm>
            <a:off x="7014766" y="2954073"/>
            <a:ext cx="567564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81"/>
          <p:cNvSpPr/>
          <p:nvPr/>
        </p:nvSpPr>
        <p:spPr>
          <a:xfrm>
            <a:off x="7234899" y="3078956"/>
            <a:ext cx="540564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Broadcasting — tự "nở" array kích thước nhỏ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81"/>
          <p:cNvSpPr/>
          <p:nvPr/>
        </p:nvSpPr>
        <p:spPr>
          <a:xfrm>
            <a:off x="914301" y="3660841"/>
            <a:ext cx="604556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81"/>
          <p:cNvSpPr/>
          <p:nvPr/>
        </p:nvSpPr>
        <p:spPr>
          <a:xfrm>
            <a:off x="1134434" y="3785725"/>
            <a:ext cx="5786664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A @ B — nhân ma trận, nền tảng Deep Learning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81"/>
          <p:cNvSpPr/>
          <p:nvPr/>
        </p:nvSpPr>
        <p:spPr>
          <a:xfrm>
            <a:off x="914301" y="4691559"/>
            <a:ext cx="3035267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81"/>
          <p:cNvSpPr/>
          <p:nvPr/>
        </p:nvSpPr>
        <p:spPr>
          <a:xfrm>
            <a:off x="1210634" y="4911659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81"/>
          <p:cNvSpPr/>
          <p:nvPr/>
        </p:nvSpPr>
        <p:spPr>
          <a:xfrm>
            <a:off x="1629668" y="4911659"/>
            <a:ext cx="2099766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Matplotlib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82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82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82"/>
          <p:cNvSpPr/>
          <p:nvPr/>
        </p:nvSpPr>
        <p:spPr>
          <a:xfrm>
            <a:off x="1255283" y="4476750"/>
            <a:ext cx="137547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82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~9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82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82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Matplotlib Line, Bar, Scatter &amp; Subplot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82"/>
          <p:cNvSpPr/>
          <p:nvPr/>
        </p:nvSpPr>
        <p:spPr>
          <a:xfrm>
            <a:off x="4667250" y="6063424"/>
            <a:ext cx="140163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82"/>
          <p:cNvSpPr/>
          <p:nvPr/>
        </p:nvSpPr>
        <p:spPr>
          <a:xfrm>
            <a:off x="4849284" y="6131157"/>
            <a:ext cx="111376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figure / axes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82"/>
          <p:cNvSpPr/>
          <p:nvPr/>
        </p:nvSpPr>
        <p:spPr>
          <a:xfrm>
            <a:off x="6183148" y="6063424"/>
            <a:ext cx="232238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82"/>
          <p:cNvSpPr/>
          <p:nvPr/>
        </p:nvSpPr>
        <p:spPr>
          <a:xfrm>
            <a:off x="6365181" y="6131157"/>
            <a:ext cx="203451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plot · bar · scatter · hist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82"/>
          <p:cNvSpPr/>
          <p:nvPr/>
        </p:nvSpPr>
        <p:spPr>
          <a:xfrm>
            <a:off x="8619795" y="6063424"/>
            <a:ext cx="97813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82"/>
          <p:cNvSpPr/>
          <p:nvPr/>
        </p:nvSpPr>
        <p:spPr>
          <a:xfrm>
            <a:off x="8801828" y="6131157"/>
            <a:ext cx="69026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subplot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8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8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Cấu Trúc Figure / Axes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83"/>
          <p:cNvSpPr/>
          <p:nvPr/>
        </p:nvSpPr>
        <p:spPr>
          <a:xfrm>
            <a:off x="1200051" y="2188766"/>
            <a:ext cx="991989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Figure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83"/>
          <p:cNvSpPr/>
          <p:nvPr/>
        </p:nvSpPr>
        <p:spPr>
          <a:xfrm>
            <a:off x="2306340" y="2231099"/>
            <a:ext cx="360476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khung tổng thể (cửa sổ)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83"/>
          <p:cNvSpPr/>
          <p:nvPr/>
        </p:nvSpPr>
        <p:spPr>
          <a:xfrm>
            <a:off x="1200051" y="2840137"/>
            <a:ext cx="77685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Axes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83"/>
          <p:cNvSpPr/>
          <p:nvPr/>
        </p:nvSpPr>
        <p:spPr>
          <a:xfrm>
            <a:off x="2091201" y="2882470"/>
            <a:ext cx="435488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vùng vẽ thực sự (có trục x, y)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83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1 Figure có thể chứa nhiều Axes (subplot)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83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Hiểu cấu trúc giúp tuỳ biến mọi thứ chính xác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83"/>
          <p:cNvSpPr/>
          <p:nvPr/>
        </p:nvSpPr>
        <p:spPr>
          <a:xfrm>
            <a:off x="10778794" y="2188766"/>
            <a:ext cx="3854979" cy="2539669"/>
          </a:xfrm>
          <a:prstGeom prst="roundRect">
            <a:avLst>
              <a:gd fmla="val 4501" name="adj"/>
            </a:avLst>
          </a:prstGeom>
          <a:solidFill>
            <a:srgbClr val="3776AB">
              <a:alpha val="5882"/>
            </a:srgbClr>
          </a:solidFill>
          <a:ln cap="flat" cmpd="sng" w="21150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83"/>
          <p:cNvSpPr/>
          <p:nvPr/>
        </p:nvSpPr>
        <p:spPr>
          <a:xfrm>
            <a:off x="11009478" y="2057632"/>
            <a:ext cx="733557" cy="257969"/>
          </a:xfrm>
          <a:prstGeom prst="roundRect">
            <a:avLst>
              <a:gd fmla="val 18462" name="adj"/>
            </a:avLst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83"/>
          <p:cNvSpPr/>
          <p:nvPr/>
        </p:nvSpPr>
        <p:spPr>
          <a:xfrm>
            <a:off x="11133303" y="2086207"/>
            <a:ext cx="562107" cy="2389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Figure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83"/>
          <p:cNvSpPr/>
          <p:nvPr/>
        </p:nvSpPr>
        <p:spPr>
          <a:xfrm>
            <a:off x="11276212" y="2590933"/>
            <a:ext cx="2860146" cy="1735336"/>
          </a:xfrm>
          <a:prstGeom prst="roundRect">
            <a:avLst>
              <a:gd fmla="val 4391" name="adj"/>
            </a:avLst>
          </a:prstGeom>
          <a:solidFill>
            <a:srgbClr val="FFD43B">
              <a:alpha val="5882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83"/>
          <p:cNvSpPr/>
          <p:nvPr/>
        </p:nvSpPr>
        <p:spPr>
          <a:xfrm>
            <a:off x="11458112" y="2477823"/>
            <a:ext cx="518418" cy="217951"/>
          </a:xfrm>
          <a:prstGeom prst="roundRect">
            <a:avLst>
              <a:gd fmla="val 17481" name="adj"/>
            </a:avLst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83"/>
          <p:cNvSpPr/>
          <p:nvPr/>
        </p:nvSpPr>
        <p:spPr>
          <a:xfrm>
            <a:off x="11515262" y="2496873"/>
            <a:ext cx="404118" cy="2179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Axes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83"/>
          <p:cNvSpPr/>
          <p:nvPr/>
        </p:nvSpPr>
        <p:spPr>
          <a:xfrm>
            <a:off x="11591496" y="2830050"/>
            <a:ext cx="2229578" cy="1295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title · xlabel · ylabel xlim · ylim · legend </a:t>
            </a: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plot · bar · scatter · hist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83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83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83"/>
          <p:cNvSpPr/>
          <p:nvPr/>
        </p:nvSpPr>
        <p:spPr>
          <a:xfrm>
            <a:off x="1538552" y="9047758"/>
            <a:ext cx="11032495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Cách OOP: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fig, ax = plt.subplots()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→ tuỳ biến qua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Courier New"/>
                <a:ea typeface="Courier New"/>
                <a:cs typeface="Courier New"/>
                <a:sym typeface="Courier New"/>
              </a:rPr>
              <a:t>ax.set_*()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— chuyên nghiệp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8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8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Các Loại Biểu Đồ Cơ Bản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84"/>
          <p:cNvSpPr/>
          <p:nvPr/>
        </p:nvSpPr>
        <p:spPr>
          <a:xfrm>
            <a:off x="1200051" y="2188766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84"/>
          <p:cNvSpPr/>
          <p:nvPr/>
        </p:nvSpPr>
        <p:spPr>
          <a:xfrm>
            <a:off x="1295301" y="2207816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84"/>
          <p:cNvSpPr/>
          <p:nvPr/>
        </p:nvSpPr>
        <p:spPr>
          <a:xfrm>
            <a:off x="2546780" y="2231099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84"/>
          <p:cNvSpPr/>
          <p:nvPr/>
        </p:nvSpPr>
        <p:spPr>
          <a:xfrm>
            <a:off x="3042212" y="2188766"/>
            <a:ext cx="149370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xu hướng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84"/>
          <p:cNvSpPr/>
          <p:nvPr/>
        </p:nvSpPr>
        <p:spPr>
          <a:xfrm>
            <a:off x="4650218" y="2231099"/>
            <a:ext cx="270153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theo thời gian (line)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84"/>
          <p:cNvSpPr/>
          <p:nvPr/>
        </p:nvSpPr>
        <p:spPr>
          <a:xfrm>
            <a:off x="1200051" y="2840137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84"/>
          <p:cNvSpPr/>
          <p:nvPr/>
        </p:nvSpPr>
        <p:spPr>
          <a:xfrm>
            <a:off x="1295301" y="2859187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bar()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84"/>
          <p:cNvSpPr/>
          <p:nvPr/>
        </p:nvSpPr>
        <p:spPr>
          <a:xfrm>
            <a:off x="2385880" y="2882470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84"/>
          <p:cNvSpPr/>
          <p:nvPr/>
        </p:nvSpPr>
        <p:spPr>
          <a:xfrm>
            <a:off x="2881313" y="2840137"/>
            <a:ext cx="121060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so sánh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84"/>
          <p:cNvSpPr/>
          <p:nvPr/>
        </p:nvSpPr>
        <p:spPr>
          <a:xfrm>
            <a:off x="4206214" y="2882470"/>
            <a:ext cx="209315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giữa các nhóm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84"/>
          <p:cNvSpPr/>
          <p:nvPr/>
        </p:nvSpPr>
        <p:spPr>
          <a:xfrm>
            <a:off x="1200051" y="3491508"/>
            <a:ext cx="1638928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84"/>
          <p:cNvSpPr/>
          <p:nvPr/>
        </p:nvSpPr>
        <p:spPr>
          <a:xfrm>
            <a:off x="1295301" y="3510558"/>
            <a:ext cx="1524628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scatter()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84"/>
          <p:cNvSpPr/>
          <p:nvPr/>
        </p:nvSpPr>
        <p:spPr>
          <a:xfrm>
            <a:off x="3029479" y="3533841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84"/>
          <p:cNvSpPr/>
          <p:nvPr/>
        </p:nvSpPr>
        <p:spPr>
          <a:xfrm>
            <a:off x="3524912" y="3491508"/>
            <a:ext cx="181319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tương quan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84"/>
          <p:cNvSpPr/>
          <p:nvPr/>
        </p:nvSpPr>
        <p:spPr>
          <a:xfrm>
            <a:off x="5452401" y="3533841"/>
            <a:ext cx="13132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2 biến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84"/>
          <p:cNvSpPr/>
          <p:nvPr/>
        </p:nvSpPr>
        <p:spPr>
          <a:xfrm>
            <a:off x="1200051" y="4142879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84"/>
          <p:cNvSpPr/>
          <p:nvPr/>
        </p:nvSpPr>
        <p:spPr>
          <a:xfrm>
            <a:off x="1295301" y="4161929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84"/>
          <p:cNvSpPr/>
          <p:nvPr/>
        </p:nvSpPr>
        <p:spPr>
          <a:xfrm>
            <a:off x="2546780" y="4185213"/>
            <a:ext cx="3811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84"/>
          <p:cNvSpPr/>
          <p:nvPr/>
        </p:nvSpPr>
        <p:spPr>
          <a:xfrm>
            <a:off x="3042212" y="4142879"/>
            <a:ext cx="154877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phân phối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84"/>
          <p:cNvSpPr/>
          <p:nvPr/>
        </p:nvSpPr>
        <p:spPr>
          <a:xfrm>
            <a:off x="4705284" y="4185213"/>
            <a:ext cx="148279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của 1 biến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84"/>
          <p:cNvSpPr/>
          <p:nvPr/>
        </p:nvSpPr>
        <p:spPr>
          <a:xfrm>
            <a:off x="914301" y="4794250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Mỗi loại trả lời 1 câu hỏi phân tích khác nhau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84"/>
          <p:cNvSpPr/>
          <p:nvPr/>
        </p:nvSpPr>
        <p:spPr>
          <a:xfrm>
            <a:off x="8039034" y="2188766"/>
            <a:ext cx="9334666" cy="7530207"/>
          </a:xfrm>
          <a:prstGeom prst="roundRect">
            <a:avLst>
              <a:gd fmla="val 1518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8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8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8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8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8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84"/>
          <p:cNvSpPr/>
          <p:nvPr/>
        </p:nvSpPr>
        <p:spPr>
          <a:xfrm>
            <a:off x="8915467" y="2304025"/>
            <a:ext cx="1001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charts.py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84"/>
          <p:cNvSpPr/>
          <p:nvPr/>
        </p:nvSpPr>
        <p:spPr>
          <a:xfrm>
            <a:off x="8354417" y="2857434"/>
            <a:ext cx="8983304" cy="66414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matplotlib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pyplot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 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subplots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Line — xu hướng doanh thu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doanh_thu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"#3776AB"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Bar — top 5 sản phẩm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san_pham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doanh_so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Scatter — chi tiêu vs thu nhập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scatter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thu_nhap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chi_tieu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alpha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Histogram — phân phối tuổi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8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8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Nhãn, Tiêu Đề &amp; Chú Thích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85"/>
          <p:cNvSpPr/>
          <p:nvPr/>
        </p:nvSpPr>
        <p:spPr>
          <a:xfrm>
            <a:off x="1200051" y="2188766"/>
            <a:ext cx="24435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85"/>
          <p:cNvSpPr/>
          <p:nvPr/>
        </p:nvSpPr>
        <p:spPr>
          <a:xfrm>
            <a:off x="1295301" y="2207816"/>
            <a:ext cx="23292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ax.set_title()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85"/>
          <p:cNvSpPr/>
          <p:nvPr/>
        </p:nvSpPr>
        <p:spPr>
          <a:xfrm>
            <a:off x="3834143" y="2231099"/>
            <a:ext cx="246555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tiêu đề biểu đồ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85"/>
          <p:cNvSpPr/>
          <p:nvPr/>
        </p:nvSpPr>
        <p:spPr>
          <a:xfrm>
            <a:off x="1200051" y="2840137"/>
            <a:ext cx="4655840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85"/>
          <p:cNvSpPr/>
          <p:nvPr/>
        </p:nvSpPr>
        <p:spPr>
          <a:xfrm>
            <a:off x="1295301" y="2859187"/>
            <a:ext cx="4605015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ax.set_xlabel() / set_ylabel()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85"/>
          <p:cNvSpPr/>
          <p:nvPr/>
        </p:nvSpPr>
        <p:spPr>
          <a:xfrm>
            <a:off x="6046391" y="2882470"/>
            <a:ext cx="114379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nhãn trục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85"/>
          <p:cNvSpPr/>
          <p:nvPr/>
        </p:nvSpPr>
        <p:spPr>
          <a:xfrm>
            <a:off x="1200051" y="3933362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85"/>
          <p:cNvSpPr/>
          <p:nvPr/>
        </p:nvSpPr>
        <p:spPr>
          <a:xfrm>
            <a:off x="1295301" y="3952412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ax.legend()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85"/>
          <p:cNvSpPr/>
          <p:nvPr/>
        </p:nvSpPr>
        <p:spPr>
          <a:xfrm>
            <a:off x="3351444" y="3975695"/>
            <a:ext cx="17027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chú thích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85"/>
          <p:cNvSpPr/>
          <p:nvPr/>
        </p:nvSpPr>
        <p:spPr>
          <a:xfrm>
            <a:off x="1200051" y="4584733"/>
            <a:ext cx="22826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85"/>
          <p:cNvSpPr/>
          <p:nvPr/>
        </p:nvSpPr>
        <p:spPr>
          <a:xfrm>
            <a:off x="1295301" y="4603783"/>
            <a:ext cx="21683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ax.grid(True)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85"/>
          <p:cNvSpPr/>
          <p:nvPr/>
        </p:nvSpPr>
        <p:spPr>
          <a:xfrm>
            <a:off x="3673244" y="4627067"/>
            <a:ext cx="159838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lưới nền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85"/>
          <p:cNvSpPr/>
          <p:nvPr/>
        </p:nvSpPr>
        <p:spPr>
          <a:xfrm>
            <a:off x="1200051" y="5278438"/>
            <a:ext cx="68639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Biểu đồ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85"/>
          <p:cNvSpPr/>
          <p:nvPr/>
        </p:nvSpPr>
        <p:spPr>
          <a:xfrm>
            <a:off x="2347350" y="5236104"/>
            <a:ext cx="3548221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không có nhãn = vô dụng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5"/>
          <p:cNvSpPr/>
          <p:nvPr/>
        </p:nvSpPr>
        <p:spPr>
          <a:xfrm>
            <a:off x="5982726" y="5278438"/>
            <a:ext cx="1042095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luôn thêm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5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85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85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85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85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85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85"/>
          <p:cNvSpPr/>
          <p:nvPr/>
        </p:nvSpPr>
        <p:spPr>
          <a:xfrm>
            <a:off x="8915467" y="2304025"/>
            <a:ext cx="10017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labels.py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85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subplots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figsize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dt_2023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"2023"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dt_2024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"2024"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 Thu Theo Tháng"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set_xlabel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"Tháng"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set_ylabel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 Thu (triệu đ)"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legend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grid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alpha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tight_layout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savefig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"chart.png"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dpi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8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8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Subplot — Nhiều Biểu Đồ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86"/>
          <p:cNvSpPr/>
          <p:nvPr/>
        </p:nvSpPr>
        <p:spPr>
          <a:xfrm>
            <a:off x="1200051" y="2188766"/>
            <a:ext cx="3820914" cy="815578"/>
          </a:xfrm>
          <a:prstGeom prst="roundRect">
            <a:avLst>
              <a:gd fmla="val 7007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86"/>
          <p:cNvSpPr/>
          <p:nvPr/>
        </p:nvSpPr>
        <p:spPr>
          <a:xfrm>
            <a:off x="1295301" y="2207816"/>
            <a:ext cx="3745042" cy="8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plt.subplots(rows, cols)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86"/>
          <p:cNvSpPr/>
          <p:nvPr/>
        </p:nvSpPr>
        <p:spPr>
          <a:xfrm>
            <a:off x="5211465" y="2231099"/>
            <a:ext cx="2174511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tạo lưới biểu đồ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86"/>
          <p:cNvSpPr/>
          <p:nvPr/>
        </p:nvSpPr>
        <p:spPr>
          <a:xfrm>
            <a:off x="1200051" y="3324324"/>
            <a:ext cx="92882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Trả về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86"/>
          <p:cNvSpPr/>
          <p:nvPr/>
        </p:nvSpPr>
        <p:spPr>
          <a:xfrm>
            <a:off x="2243171" y="3281991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86"/>
          <p:cNvSpPr/>
          <p:nvPr/>
        </p:nvSpPr>
        <p:spPr>
          <a:xfrm>
            <a:off x="2338421" y="3301041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86"/>
          <p:cNvSpPr/>
          <p:nvPr/>
        </p:nvSpPr>
        <p:spPr>
          <a:xfrm>
            <a:off x="3107035" y="3324324"/>
            <a:ext cx="124532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và mảng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86"/>
          <p:cNvSpPr/>
          <p:nvPr/>
        </p:nvSpPr>
        <p:spPr>
          <a:xfrm>
            <a:off x="4466663" y="3281991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86"/>
          <p:cNvSpPr/>
          <p:nvPr/>
        </p:nvSpPr>
        <p:spPr>
          <a:xfrm>
            <a:off x="4561913" y="3301041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86"/>
          <p:cNvSpPr/>
          <p:nvPr/>
        </p:nvSpPr>
        <p:spPr>
          <a:xfrm>
            <a:off x="914301" y="3933362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 khi cần so sánh nhiều chỉ số cùng lúc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86"/>
          <p:cNvSpPr/>
          <p:nvPr/>
        </p:nvSpPr>
        <p:spPr>
          <a:xfrm>
            <a:off x="914301" y="4584733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Tiết kiệm không gian, nhìn thấy toàn cảnh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86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8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8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8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8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8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86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subplot.py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86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subplots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figsize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Top-left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doanh_thu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 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Top-right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don_hang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"Đơn hàng"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Bottom-left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tight_layout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87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13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87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87"/>
          <p:cNvSpPr/>
          <p:nvPr/>
        </p:nvSpPr>
        <p:spPr>
          <a:xfrm>
            <a:off x="914301" y="2247305"/>
            <a:ext cx="4265745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87"/>
          <p:cNvSpPr/>
          <p:nvPr/>
        </p:nvSpPr>
        <p:spPr>
          <a:xfrm>
            <a:off x="1134434" y="2372188"/>
            <a:ext cx="395345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Figure = khung · Axes = vùng vẽ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87"/>
          <p:cNvSpPr/>
          <p:nvPr/>
        </p:nvSpPr>
        <p:spPr>
          <a:xfrm>
            <a:off x="5351363" y="2247305"/>
            <a:ext cx="5558730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87"/>
          <p:cNvSpPr/>
          <p:nvPr/>
        </p:nvSpPr>
        <p:spPr>
          <a:xfrm>
            <a:off x="5571497" y="2372188"/>
            <a:ext cx="528522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 · bar · scatter · hist — mỗi loại 1 câu hỏi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87"/>
          <p:cNvSpPr/>
          <p:nvPr/>
        </p:nvSpPr>
        <p:spPr>
          <a:xfrm>
            <a:off x="11081412" y="2247305"/>
            <a:ext cx="587623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87"/>
          <p:cNvSpPr/>
          <p:nvPr/>
        </p:nvSpPr>
        <p:spPr>
          <a:xfrm>
            <a:off x="11301545" y="2372188"/>
            <a:ext cx="561225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title · xlabel · ylabel · legend — luôn thêm nhãn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87"/>
          <p:cNvSpPr/>
          <p:nvPr/>
        </p:nvSpPr>
        <p:spPr>
          <a:xfrm>
            <a:off x="914301" y="2954073"/>
            <a:ext cx="5752207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87"/>
          <p:cNvSpPr/>
          <p:nvPr/>
        </p:nvSpPr>
        <p:spPr>
          <a:xfrm>
            <a:off x="1134434" y="3078956"/>
            <a:ext cx="548450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subplots(rows, cols) — nhiều biểu đồ cùng lúc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87"/>
          <p:cNvSpPr/>
          <p:nvPr/>
        </p:nvSpPr>
        <p:spPr>
          <a:xfrm>
            <a:off x="914301" y="3984790"/>
            <a:ext cx="5604537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87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87"/>
          <p:cNvSpPr/>
          <p:nvPr/>
        </p:nvSpPr>
        <p:spPr>
          <a:xfrm>
            <a:off x="1629668" y="4204891"/>
            <a:ext cx="4730622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Seaborn — đẹp hơn, ít code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88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88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88"/>
          <p:cNvSpPr/>
          <p:nvPr/>
        </p:nvSpPr>
        <p:spPr>
          <a:xfrm>
            <a:off x="1236596" y="4476750"/>
            <a:ext cx="141284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88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88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88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Seaborn — Phân Phối, Tương Quan &amp; Pairplot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88"/>
          <p:cNvSpPr/>
          <p:nvPr/>
        </p:nvSpPr>
        <p:spPr>
          <a:xfrm>
            <a:off x="4667250" y="6063424"/>
            <a:ext cx="174046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88"/>
          <p:cNvSpPr/>
          <p:nvPr/>
        </p:nvSpPr>
        <p:spPr>
          <a:xfrm>
            <a:off x="4849284" y="6131157"/>
            <a:ext cx="145259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histplot / boxplot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88"/>
          <p:cNvSpPr/>
          <p:nvPr/>
        </p:nvSpPr>
        <p:spPr>
          <a:xfrm>
            <a:off x="6521979" y="6063424"/>
            <a:ext cx="1105297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88"/>
          <p:cNvSpPr/>
          <p:nvPr/>
        </p:nvSpPr>
        <p:spPr>
          <a:xfrm>
            <a:off x="6704013" y="6131157"/>
            <a:ext cx="817430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heatmap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88"/>
          <p:cNvSpPr/>
          <p:nvPr/>
        </p:nvSpPr>
        <p:spPr>
          <a:xfrm>
            <a:off x="7741543" y="6063424"/>
            <a:ext cx="9887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88"/>
          <p:cNvSpPr/>
          <p:nvPr/>
        </p:nvSpPr>
        <p:spPr>
          <a:xfrm>
            <a:off x="7923576" y="6131157"/>
            <a:ext cx="7008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pairplot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8"/>
          <p:cNvSpPr/>
          <p:nvPr/>
        </p:nvSpPr>
        <p:spPr>
          <a:xfrm>
            <a:off x="8844525" y="6063424"/>
            <a:ext cx="132771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88"/>
          <p:cNvSpPr/>
          <p:nvPr/>
        </p:nvSpPr>
        <p:spPr>
          <a:xfrm>
            <a:off x="9026559" y="6131157"/>
            <a:ext cx="1039846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EDA nhanh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8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8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Vì Sao Dùng Seaborn?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89"/>
          <p:cNvSpPr/>
          <p:nvPr/>
        </p:nvSpPr>
        <p:spPr>
          <a:xfrm>
            <a:off x="914301" y="2548599"/>
            <a:ext cx="7962966" cy="10583"/>
          </a:xfrm>
          <a:prstGeom prst="rect">
            <a:avLst/>
          </a:prstGeom>
          <a:solidFill>
            <a:srgbClr val="6877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89"/>
          <p:cNvSpPr/>
          <p:nvPr/>
        </p:nvSpPr>
        <p:spPr>
          <a:xfrm>
            <a:off x="914301" y="2188766"/>
            <a:ext cx="8201855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89"/>
          <p:cNvSpPr/>
          <p:nvPr/>
        </p:nvSpPr>
        <p:spPr>
          <a:xfrm>
            <a:off x="700941" y="2806733"/>
            <a:ext cx="8252526" cy="17826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Nhiều code để làm đẹp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tích hợp sẵn với DataFrame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Cần tuỳ biến thủ công nhiều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89"/>
          <p:cNvSpPr/>
          <p:nvPr/>
        </p:nvSpPr>
        <p:spPr>
          <a:xfrm>
            <a:off x="914301" y="4875113"/>
            <a:ext cx="7962966" cy="2478815"/>
          </a:xfrm>
          <a:prstGeom prst="roundRect">
            <a:avLst>
              <a:gd fmla="val 4611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89"/>
          <p:cNvSpPr/>
          <p:nvPr/>
        </p:nvSpPr>
        <p:spPr>
          <a:xfrm>
            <a:off x="924884" y="4885697"/>
            <a:ext cx="7941800" cy="343628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89"/>
          <p:cNvSpPr/>
          <p:nvPr/>
        </p:nvSpPr>
        <p:spPr>
          <a:xfrm>
            <a:off x="924884" y="5218741"/>
            <a:ext cx="7941800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89"/>
          <p:cNvSpPr/>
          <p:nvPr/>
        </p:nvSpPr>
        <p:spPr>
          <a:xfrm>
            <a:off x="1096202" y="4990373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89"/>
          <p:cNvSpPr/>
          <p:nvPr/>
        </p:nvSpPr>
        <p:spPr>
          <a:xfrm>
            <a:off x="1295962" y="4990373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89"/>
          <p:cNvSpPr/>
          <p:nvPr/>
        </p:nvSpPr>
        <p:spPr>
          <a:xfrm>
            <a:off x="1495723" y="4990373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89"/>
          <p:cNvSpPr/>
          <p:nvPr/>
        </p:nvSpPr>
        <p:spPr>
          <a:xfrm>
            <a:off x="1229684" y="5476974"/>
            <a:ext cx="7570454" cy="1656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figure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figsize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5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5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5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bins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5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"Phân phối tuổi"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xlabel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"Tuổi"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89"/>
          <p:cNvSpPr/>
          <p:nvPr/>
        </p:nvSpPr>
        <p:spPr>
          <a:xfrm>
            <a:off x="9410568" y="2548599"/>
            <a:ext cx="7963132" cy="10583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89"/>
          <p:cNvSpPr/>
          <p:nvPr/>
        </p:nvSpPr>
        <p:spPr>
          <a:xfrm>
            <a:off x="9410568" y="2188766"/>
            <a:ext cx="8202026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89"/>
          <p:cNvSpPr/>
          <p:nvPr/>
        </p:nvSpPr>
        <p:spPr>
          <a:xfrm>
            <a:off x="9696318" y="2806733"/>
            <a:ext cx="207182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Đẹp mặc định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89"/>
          <p:cNvSpPr/>
          <p:nvPr/>
        </p:nvSpPr>
        <p:spPr>
          <a:xfrm>
            <a:off x="11882438" y="2849067"/>
            <a:ext cx="200435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ít code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89"/>
          <p:cNvSpPr/>
          <p:nvPr/>
        </p:nvSpPr>
        <p:spPr>
          <a:xfrm>
            <a:off x="9696318" y="3500438"/>
            <a:ext cx="237344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Tích hợp sẵn với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89"/>
          <p:cNvSpPr/>
          <p:nvPr/>
        </p:nvSpPr>
        <p:spPr>
          <a:xfrm>
            <a:off x="12184063" y="3458104"/>
            <a:ext cx="2808498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Pandas DataFrame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89"/>
          <p:cNvSpPr/>
          <p:nvPr/>
        </p:nvSpPr>
        <p:spPr>
          <a:xfrm>
            <a:off x="9410568" y="4109475"/>
            <a:ext cx="820202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Nhiều chart thống kê sẵn có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89"/>
          <p:cNvSpPr/>
          <p:nvPr/>
        </p:nvSpPr>
        <p:spPr>
          <a:xfrm>
            <a:off x="9410568" y="4875113"/>
            <a:ext cx="7963132" cy="2155031"/>
          </a:xfrm>
          <a:prstGeom prst="roundRect">
            <a:avLst>
              <a:gd fmla="val 5304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89"/>
          <p:cNvSpPr/>
          <p:nvPr/>
        </p:nvSpPr>
        <p:spPr>
          <a:xfrm>
            <a:off x="9421152" y="4885697"/>
            <a:ext cx="7941965" cy="343628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89"/>
          <p:cNvSpPr/>
          <p:nvPr/>
        </p:nvSpPr>
        <p:spPr>
          <a:xfrm>
            <a:off x="9421152" y="5218741"/>
            <a:ext cx="7941965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89"/>
          <p:cNvSpPr/>
          <p:nvPr/>
        </p:nvSpPr>
        <p:spPr>
          <a:xfrm>
            <a:off x="9592469" y="4990373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89"/>
          <p:cNvSpPr/>
          <p:nvPr/>
        </p:nvSpPr>
        <p:spPr>
          <a:xfrm>
            <a:off x="9792230" y="4990373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89"/>
          <p:cNvSpPr/>
          <p:nvPr/>
        </p:nvSpPr>
        <p:spPr>
          <a:xfrm>
            <a:off x="9991990" y="4990373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89"/>
          <p:cNvSpPr/>
          <p:nvPr/>
        </p:nvSpPr>
        <p:spPr>
          <a:xfrm>
            <a:off x="9725952" y="5476974"/>
            <a:ext cx="7570624" cy="13330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seaborn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5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 sns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5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histplot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5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 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kde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5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5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9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9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Biểu Đồ Phân Phối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90"/>
          <p:cNvSpPr/>
          <p:nvPr/>
        </p:nvSpPr>
        <p:spPr>
          <a:xfrm>
            <a:off x="1200051" y="2188766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90"/>
          <p:cNvSpPr/>
          <p:nvPr/>
        </p:nvSpPr>
        <p:spPr>
          <a:xfrm>
            <a:off x="1295301" y="2207816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histplot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90"/>
          <p:cNvSpPr/>
          <p:nvPr/>
        </p:nvSpPr>
        <p:spPr>
          <a:xfrm>
            <a:off x="2868580" y="2231099"/>
            <a:ext cx="278294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histogram + KDE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90"/>
          <p:cNvSpPr/>
          <p:nvPr/>
        </p:nvSpPr>
        <p:spPr>
          <a:xfrm>
            <a:off x="1200051" y="2840137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90"/>
          <p:cNvSpPr/>
          <p:nvPr/>
        </p:nvSpPr>
        <p:spPr>
          <a:xfrm>
            <a:off x="1295301" y="2859187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kdeplot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90"/>
          <p:cNvSpPr/>
          <p:nvPr/>
        </p:nvSpPr>
        <p:spPr>
          <a:xfrm>
            <a:off x="2707680" y="2882470"/>
            <a:ext cx="364445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đường mật độ xác suất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90"/>
          <p:cNvSpPr/>
          <p:nvPr/>
        </p:nvSpPr>
        <p:spPr>
          <a:xfrm>
            <a:off x="1200051" y="3491508"/>
            <a:ext cx="13171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90"/>
          <p:cNvSpPr/>
          <p:nvPr/>
        </p:nvSpPr>
        <p:spPr>
          <a:xfrm>
            <a:off x="1295301" y="3510558"/>
            <a:ext cx="12028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boxplot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90"/>
          <p:cNvSpPr/>
          <p:nvPr/>
        </p:nvSpPr>
        <p:spPr>
          <a:xfrm>
            <a:off x="2707680" y="3533841"/>
            <a:ext cx="171992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phát hiện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90"/>
          <p:cNvSpPr/>
          <p:nvPr/>
        </p:nvSpPr>
        <p:spPr>
          <a:xfrm>
            <a:off x="4541904" y="3491508"/>
            <a:ext cx="204900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outlier nhanh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90"/>
          <p:cNvSpPr/>
          <p:nvPr/>
        </p:nvSpPr>
        <p:spPr>
          <a:xfrm>
            <a:off x="1200051" y="4142879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90"/>
          <p:cNvSpPr/>
          <p:nvPr/>
        </p:nvSpPr>
        <p:spPr>
          <a:xfrm>
            <a:off x="1295301" y="4161929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violinplot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90"/>
          <p:cNvSpPr/>
          <p:nvPr/>
        </p:nvSpPr>
        <p:spPr>
          <a:xfrm>
            <a:off x="3190544" y="4185213"/>
            <a:ext cx="356525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boxplot + KDE kết hợp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90"/>
          <p:cNvSpPr/>
          <p:nvPr/>
        </p:nvSpPr>
        <p:spPr>
          <a:xfrm>
            <a:off x="914301" y="4794250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Boxplot là chart đầu tiên nên vẽ khi khám phá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90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90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90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90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90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90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90"/>
          <p:cNvSpPr/>
          <p:nvPr/>
        </p:nvSpPr>
        <p:spPr>
          <a:xfrm>
            <a:off x="8915467" y="2304025"/>
            <a:ext cx="1618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90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seaborn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Histogram + đường KDE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histplot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"thu_nhap"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kde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Boxplot theo nhóm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boxplot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"chi_tieu"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Violin plot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violinplot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"phan_khuc"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"thu_nhap"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Đặt theme đẹp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set_theme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"darkgrid"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9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9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Heatmap Tương Quan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91"/>
          <p:cNvSpPr/>
          <p:nvPr/>
        </p:nvSpPr>
        <p:spPr>
          <a:xfrm>
            <a:off x="1200051" y="2188766"/>
            <a:ext cx="304661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Ma trận tương quan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91"/>
          <p:cNvSpPr/>
          <p:nvPr/>
        </p:nvSpPr>
        <p:spPr>
          <a:xfrm>
            <a:off x="4348427" y="2231099"/>
            <a:ext cx="312360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Pearson correlation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91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Giá trị từ -1 đến +1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91"/>
          <p:cNvSpPr/>
          <p:nvPr/>
        </p:nvSpPr>
        <p:spPr>
          <a:xfrm>
            <a:off x="1200051" y="3533841"/>
            <a:ext cx="256692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Tìm nhanh feature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91"/>
          <p:cNvSpPr/>
          <p:nvPr/>
        </p:nvSpPr>
        <p:spPr>
          <a:xfrm>
            <a:off x="3881272" y="3491508"/>
            <a:ext cx="293641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liên quan tới target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91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Tìm multicollinearity trước khi đưa vào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91"/>
          <p:cNvSpPr/>
          <p:nvPr/>
        </p:nvSpPr>
        <p:spPr>
          <a:xfrm>
            <a:off x="914301" y="4927534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91"/>
          <p:cNvSpPr/>
          <p:nvPr/>
        </p:nvSpPr>
        <p:spPr>
          <a:xfrm>
            <a:off x="1172435" y="5118861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91"/>
          <p:cNvSpPr/>
          <p:nvPr/>
        </p:nvSpPr>
        <p:spPr>
          <a:xfrm>
            <a:off x="1538552" y="5109435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|r| &gt; 0.7 = tương quan cao · |r| &lt; 0.3 = tương quan yếu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91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91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91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91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91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91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91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heatmap.py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91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Tính ma trận tương quan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corr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corr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numeric_only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Vẽ heatmap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heatmap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corr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annot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hiện số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fmt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".2f"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 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2 chữ số thập phân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cmap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"coolwarm"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màu sắc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vmin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=-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vmax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"Correlation Matrix"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466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p9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9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Pairplot — Khám Phá Toàn Bộ Dataset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92"/>
          <p:cNvSpPr/>
          <p:nvPr/>
        </p:nvSpPr>
        <p:spPr>
          <a:xfrm>
            <a:off x="1200051" y="2231099"/>
            <a:ext cx="44909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92"/>
          <p:cNvSpPr/>
          <p:nvPr/>
        </p:nvSpPr>
        <p:spPr>
          <a:xfrm>
            <a:off x="1763448" y="2188766"/>
            <a:ext cx="1947962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mọi cặp biến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92"/>
          <p:cNvSpPr/>
          <p:nvPr/>
        </p:nvSpPr>
        <p:spPr>
          <a:xfrm>
            <a:off x="3825710" y="2231099"/>
            <a:ext cx="180426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cùng một lúc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92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Đường chéo = phân phối từng biến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92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Màu phân biệt nhóm (hue)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92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1 lệnh → thấy toàn bộ bức tranh 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92"/>
          <p:cNvSpPr/>
          <p:nvPr/>
        </p:nvSpPr>
        <p:spPr>
          <a:xfrm>
            <a:off x="914301" y="4927534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92"/>
          <p:cNvSpPr/>
          <p:nvPr/>
        </p:nvSpPr>
        <p:spPr>
          <a:xfrm>
            <a:off x="1172435" y="5118861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92"/>
          <p:cNvSpPr/>
          <p:nvPr/>
        </p:nvSpPr>
        <p:spPr>
          <a:xfrm>
            <a:off x="1538552" y="5109435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Dùng cuối bước EDA để có cái nhìn tổng quan trước khi build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92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92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92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92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92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92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92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pairplot.py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92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Pairplot cơ bản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pairplot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Pairplot với màu theo nhóm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pairplot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"tuoi"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"thu_nhap"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"chi_tieu"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"phan_khuc"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hue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"phan_khuc"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diag_kind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"kde"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Chỉ chọn 1 vài cột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pairplot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corner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93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14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93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93"/>
          <p:cNvSpPr/>
          <p:nvPr/>
        </p:nvSpPr>
        <p:spPr>
          <a:xfrm>
            <a:off x="914301" y="2247305"/>
            <a:ext cx="562504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93"/>
          <p:cNvSpPr/>
          <p:nvPr/>
        </p:nvSpPr>
        <p:spPr>
          <a:xfrm>
            <a:off x="1134434" y="2372188"/>
            <a:ext cx="5353527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Đẹp mặc định · ít code · tích hợp DataFrame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93"/>
          <p:cNvSpPr/>
          <p:nvPr/>
        </p:nvSpPr>
        <p:spPr>
          <a:xfrm>
            <a:off x="6710661" y="2247305"/>
            <a:ext cx="516053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93"/>
          <p:cNvSpPr/>
          <p:nvPr/>
        </p:nvSpPr>
        <p:spPr>
          <a:xfrm>
            <a:off x="6930794" y="2372188"/>
            <a:ext cx="487508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histplot · boxplot · violinplot — phân phối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93"/>
          <p:cNvSpPr/>
          <p:nvPr/>
        </p:nvSpPr>
        <p:spPr>
          <a:xfrm>
            <a:off x="12042511" y="2247305"/>
            <a:ext cx="5212953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93"/>
          <p:cNvSpPr/>
          <p:nvPr/>
        </p:nvSpPr>
        <p:spPr>
          <a:xfrm>
            <a:off x="12262645" y="2372188"/>
            <a:ext cx="492907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heatmap(df.corr()) — tương quan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93"/>
          <p:cNvSpPr/>
          <p:nvPr/>
        </p:nvSpPr>
        <p:spPr>
          <a:xfrm>
            <a:off x="914301" y="2954073"/>
            <a:ext cx="550515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93"/>
          <p:cNvSpPr/>
          <p:nvPr/>
        </p:nvSpPr>
        <p:spPr>
          <a:xfrm>
            <a:off x="1134434" y="3078956"/>
            <a:ext cx="523004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pairplot — khám phá toàn bộ dataset 1 lệnh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93"/>
          <p:cNvSpPr/>
          <p:nvPr/>
        </p:nvSpPr>
        <p:spPr>
          <a:xfrm>
            <a:off x="914301" y="3984790"/>
            <a:ext cx="4919100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93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93"/>
          <p:cNvSpPr/>
          <p:nvPr/>
        </p:nvSpPr>
        <p:spPr>
          <a:xfrm>
            <a:off x="1629668" y="4204891"/>
            <a:ext cx="4024622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Plotly — biểu đồ tương tác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94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94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94"/>
          <p:cNvSpPr/>
          <p:nvPr/>
        </p:nvSpPr>
        <p:spPr>
          <a:xfrm>
            <a:off x="1260574" y="4476750"/>
            <a:ext cx="136488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94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94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94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— Biểu Đồ Tương Tác &amp; Dashboard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94"/>
          <p:cNvSpPr/>
          <p:nvPr/>
        </p:nvSpPr>
        <p:spPr>
          <a:xfrm>
            <a:off x="4667250" y="6063424"/>
            <a:ext cx="157079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94"/>
          <p:cNvSpPr/>
          <p:nvPr/>
        </p:nvSpPr>
        <p:spPr>
          <a:xfrm>
            <a:off x="4849284" y="6131157"/>
            <a:ext cx="128293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Plotly Express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94"/>
          <p:cNvSpPr/>
          <p:nvPr/>
        </p:nvSpPr>
        <p:spPr>
          <a:xfrm>
            <a:off x="6352315" y="6063424"/>
            <a:ext cx="20047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94"/>
          <p:cNvSpPr/>
          <p:nvPr/>
        </p:nvSpPr>
        <p:spPr>
          <a:xfrm>
            <a:off x="6534348" y="6131157"/>
            <a:ext cx="17168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hover · zoom · filter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94"/>
          <p:cNvSpPr/>
          <p:nvPr/>
        </p:nvSpPr>
        <p:spPr>
          <a:xfrm>
            <a:off x="8471297" y="6063424"/>
            <a:ext cx="171896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94"/>
          <p:cNvSpPr/>
          <p:nvPr/>
        </p:nvSpPr>
        <p:spPr>
          <a:xfrm>
            <a:off x="8653331" y="6131157"/>
            <a:ext cx="143109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Streamlit / Dash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9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9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Vì Sao Cần Biểu Đồ Tương Tác?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95"/>
          <p:cNvSpPr/>
          <p:nvPr/>
        </p:nvSpPr>
        <p:spPr>
          <a:xfrm>
            <a:off x="914301" y="2548599"/>
            <a:ext cx="7962966" cy="10583"/>
          </a:xfrm>
          <a:prstGeom prst="rect">
            <a:avLst/>
          </a:prstGeom>
          <a:solidFill>
            <a:srgbClr val="6877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95"/>
          <p:cNvSpPr/>
          <p:nvPr/>
        </p:nvSpPr>
        <p:spPr>
          <a:xfrm>
            <a:off x="914301" y="2188766"/>
            <a:ext cx="8201855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STATIC CHART (MATPLOTLIB/SEABORN)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95"/>
          <p:cNvSpPr/>
          <p:nvPr/>
        </p:nvSpPr>
        <p:spPr>
          <a:xfrm>
            <a:off x="700941" y="2806733"/>
            <a:ext cx="8252526" cy="24340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Ảnh tĩnh — không tương tác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zoom/filter được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Không thấy giá trị khi hover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Tốt cho: báo cáo PDF, publication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95"/>
          <p:cNvSpPr/>
          <p:nvPr/>
        </p:nvSpPr>
        <p:spPr>
          <a:xfrm>
            <a:off x="9410568" y="2548599"/>
            <a:ext cx="7963132" cy="10583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95"/>
          <p:cNvSpPr/>
          <p:nvPr/>
        </p:nvSpPr>
        <p:spPr>
          <a:xfrm>
            <a:off x="9410568" y="2188766"/>
            <a:ext cx="8202026" cy="302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INTERACTIVE CHART (PLOTLY)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3" name="Google Shape;2533;p95"/>
          <p:cNvSpPr/>
          <p:nvPr/>
        </p:nvSpPr>
        <p:spPr>
          <a:xfrm>
            <a:off x="9197208" y="2806733"/>
            <a:ext cx="8252692" cy="24340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Hover để xem giá trị chính xác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Zoom/pan/filter trực tiếp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Bật/tắt series bằng click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Tốt cho: trình bày stakeholder, dashboard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95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95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💼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95"/>
          <p:cNvSpPr/>
          <p:nvPr/>
        </p:nvSpPr>
        <p:spPr>
          <a:xfrm>
            <a:off x="1538552" y="9047758"/>
            <a:ext cx="9635145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Sếp và stakeholder thích biểu đồ tương tác hơn ảnh tĩnh — trông chuyên nghiệp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p9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9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Express — API Ngắn Gọn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96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Express = API cấp cao của Plotly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96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1 dòng code = 1 biểu đồ đẹp, tương tác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96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Tương tự Seaborn nhưng interactive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96"/>
          <p:cNvSpPr/>
          <p:nvPr/>
        </p:nvSpPr>
        <p:spPr>
          <a:xfrm>
            <a:off x="1200051" y="4185213"/>
            <a:ext cx="8049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96"/>
          <p:cNvSpPr/>
          <p:nvPr/>
        </p:nvSpPr>
        <p:spPr>
          <a:xfrm>
            <a:off x="2119313" y="4142879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96"/>
          <p:cNvSpPr/>
          <p:nvPr/>
        </p:nvSpPr>
        <p:spPr>
          <a:xfrm>
            <a:off x="2214563" y="4161929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96"/>
          <p:cNvSpPr/>
          <p:nvPr/>
        </p:nvSpPr>
        <p:spPr>
          <a:xfrm>
            <a:off x="2822277" y="4185213"/>
            <a:ext cx="39798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cho 90% nhu cầu hàng ngày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1" name="Google Shape;2551;p96"/>
          <p:cNvSpPr/>
          <p:nvPr/>
        </p:nvSpPr>
        <p:spPr>
          <a:xfrm>
            <a:off x="8039034" y="2188766"/>
            <a:ext cx="9334666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9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9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9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9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9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96"/>
          <p:cNvSpPr/>
          <p:nvPr/>
        </p:nvSpPr>
        <p:spPr>
          <a:xfrm>
            <a:off x="8915467" y="2304025"/>
            <a:ext cx="18242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plotly_express.py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96"/>
          <p:cNvSpPr/>
          <p:nvPr/>
        </p:nvSpPr>
        <p:spPr>
          <a:xfrm>
            <a:off x="8354417" y="2857434"/>
            <a:ext cx="8983304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plotly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express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Line chart tương tác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 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Scatter với bubble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scatter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"thu_nhap"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"chi_tieu"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"so_don"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"phan_khuc"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hover_name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"ten"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Bar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9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9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Các Biểu Đồ Phổ Biến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97"/>
          <p:cNvSpPr/>
          <p:nvPr/>
        </p:nvSpPr>
        <p:spPr>
          <a:xfrm>
            <a:off x="914301" y="2188766"/>
            <a:ext cx="5346734" cy="6315274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97"/>
          <p:cNvSpPr/>
          <p:nvPr/>
        </p:nvSpPr>
        <p:spPr>
          <a:xfrm>
            <a:off x="914301" y="8493456"/>
            <a:ext cx="534673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97"/>
          <p:cNvSpPr/>
          <p:nvPr/>
        </p:nvSpPr>
        <p:spPr>
          <a:xfrm>
            <a:off x="914301" y="2188766"/>
            <a:ext cx="5346734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97"/>
          <p:cNvSpPr/>
          <p:nvPr/>
        </p:nvSpPr>
        <p:spPr>
          <a:xfrm>
            <a:off x="914301" y="2188766"/>
            <a:ext cx="10583" cy="6315274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97"/>
          <p:cNvSpPr/>
          <p:nvPr/>
        </p:nvSpPr>
        <p:spPr>
          <a:xfrm>
            <a:off x="6250451" y="2188766"/>
            <a:ext cx="10583" cy="6315274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97"/>
          <p:cNvSpPr/>
          <p:nvPr/>
        </p:nvSpPr>
        <p:spPr>
          <a:xfrm>
            <a:off x="1191452" y="2438466"/>
            <a:ext cx="493620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Thống kê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97"/>
          <p:cNvSpPr/>
          <p:nvPr/>
        </p:nvSpPr>
        <p:spPr>
          <a:xfrm>
            <a:off x="1044767" y="2910417"/>
            <a:ext cx="5015316" cy="21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px.bar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px.line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px.scatter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px.histogram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px.box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97"/>
          <p:cNvSpPr/>
          <p:nvPr/>
        </p:nvSpPr>
        <p:spPr>
          <a:xfrm>
            <a:off x="1191452" y="5201709"/>
            <a:ext cx="49362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Dùng hàng ngày trong EDA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97"/>
          <p:cNvSpPr/>
          <p:nvPr/>
        </p:nvSpPr>
        <p:spPr>
          <a:xfrm>
            <a:off x="6470551" y="2188766"/>
            <a:ext cx="5346734" cy="6315274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97"/>
          <p:cNvSpPr/>
          <p:nvPr/>
        </p:nvSpPr>
        <p:spPr>
          <a:xfrm>
            <a:off x="6470551" y="8493456"/>
            <a:ext cx="534673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97"/>
          <p:cNvSpPr/>
          <p:nvPr/>
        </p:nvSpPr>
        <p:spPr>
          <a:xfrm>
            <a:off x="6470551" y="2188766"/>
            <a:ext cx="5346734" cy="21167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97"/>
          <p:cNvSpPr/>
          <p:nvPr/>
        </p:nvSpPr>
        <p:spPr>
          <a:xfrm>
            <a:off x="6470551" y="2188766"/>
            <a:ext cx="10583" cy="6315274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97"/>
          <p:cNvSpPr/>
          <p:nvPr/>
        </p:nvSpPr>
        <p:spPr>
          <a:xfrm>
            <a:off x="11806701" y="2188766"/>
            <a:ext cx="10583" cy="6315274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97"/>
          <p:cNvSpPr/>
          <p:nvPr/>
        </p:nvSpPr>
        <p:spPr>
          <a:xfrm>
            <a:off x="6747702" y="2438466"/>
            <a:ext cx="493620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Địa lý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97"/>
          <p:cNvSpPr/>
          <p:nvPr/>
        </p:nvSpPr>
        <p:spPr>
          <a:xfrm>
            <a:off x="6601017" y="2910417"/>
            <a:ext cx="5015316" cy="1290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px.choropleth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px.scatter_map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px.density_map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97"/>
          <p:cNvSpPr/>
          <p:nvPr/>
        </p:nvSpPr>
        <p:spPr>
          <a:xfrm>
            <a:off x="6747702" y="4296172"/>
            <a:ext cx="49362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Bản đồ dữ liệu — Plotly rất mạnh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97"/>
          <p:cNvSpPr/>
          <p:nvPr/>
        </p:nvSpPr>
        <p:spPr>
          <a:xfrm>
            <a:off x="12026801" y="2188766"/>
            <a:ext cx="5346899" cy="6315274"/>
          </a:xfrm>
          <a:prstGeom prst="rect">
            <a:avLst/>
          </a:prstGeom>
          <a:solidFill>
            <a:srgbClr val="1319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97"/>
          <p:cNvSpPr/>
          <p:nvPr/>
        </p:nvSpPr>
        <p:spPr>
          <a:xfrm>
            <a:off x="12026801" y="8493456"/>
            <a:ext cx="53468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97"/>
          <p:cNvSpPr/>
          <p:nvPr/>
        </p:nvSpPr>
        <p:spPr>
          <a:xfrm>
            <a:off x="12026801" y="2188766"/>
            <a:ext cx="5346899" cy="21167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97"/>
          <p:cNvSpPr/>
          <p:nvPr/>
        </p:nvSpPr>
        <p:spPr>
          <a:xfrm>
            <a:off x="12026801" y="2188766"/>
            <a:ext cx="10583" cy="6315274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97"/>
          <p:cNvSpPr/>
          <p:nvPr/>
        </p:nvSpPr>
        <p:spPr>
          <a:xfrm>
            <a:off x="17363116" y="2188766"/>
            <a:ext cx="10583" cy="6315274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97"/>
          <p:cNvSpPr/>
          <p:nvPr/>
        </p:nvSpPr>
        <p:spPr>
          <a:xfrm>
            <a:off x="12303952" y="2438466"/>
            <a:ext cx="493637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Nâng cao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8" name="Google Shape;2588;p97"/>
          <p:cNvSpPr/>
          <p:nvPr/>
        </p:nvSpPr>
        <p:spPr>
          <a:xfrm>
            <a:off x="12157267" y="2910417"/>
            <a:ext cx="5015482" cy="1743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px.treemap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px.sunburst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px.funnel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px.scatter_3d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97"/>
          <p:cNvSpPr/>
          <p:nvPr/>
        </p:nvSpPr>
        <p:spPr>
          <a:xfrm>
            <a:off x="12303952" y="4748940"/>
            <a:ext cx="493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Trình bày ấn tượng cho stakeholder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97"/>
          <p:cNvSpPr/>
          <p:nvPr/>
        </p:nvSpPr>
        <p:spPr>
          <a:xfrm>
            <a:off x="914301" y="8865857"/>
            <a:ext cx="16459399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97"/>
          <p:cNvSpPr/>
          <p:nvPr/>
        </p:nvSpPr>
        <p:spPr>
          <a:xfrm>
            <a:off x="1172435" y="905718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97"/>
          <p:cNvSpPr/>
          <p:nvPr/>
        </p:nvSpPr>
        <p:spPr>
          <a:xfrm>
            <a:off x="1538552" y="9047758"/>
            <a:ext cx="7401325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Plotly mạnh nhất ở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bản đồ và 3D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— không thư viện nào sánh kịp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9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9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Hướng Tới </a:t>
            </a:r>
            <a:r>
              <a:rPr b="1" i="0" lang="en-US" sz="5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98"/>
          <p:cNvSpPr/>
          <p:nvPr/>
        </p:nvSpPr>
        <p:spPr>
          <a:xfrm>
            <a:off x="1200051" y="2231099"/>
            <a:ext cx="82166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98"/>
          <p:cNvSpPr/>
          <p:nvPr/>
        </p:nvSpPr>
        <p:spPr>
          <a:xfrm>
            <a:off x="2385550" y="2188766"/>
            <a:ext cx="1426567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98"/>
          <p:cNvSpPr/>
          <p:nvPr/>
        </p:nvSpPr>
        <p:spPr>
          <a:xfrm>
            <a:off x="3926417" y="2231099"/>
            <a:ext cx="3116106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web app data nhanh nhất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98"/>
          <p:cNvSpPr/>
          <p:nvPr/>
        </p:nvSpPr>
        <p:spPr>
          <a:xfrm>
            <a:off x="1200051" y="3324324"/>
            <a:ext cx="10842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98"/>
          <p:cNvSpPr/>
          <p:nvPr/>
        </p:nvSpPr>
        <p:spPr>
          <a:xfrm>
            <a:off x="2398613" y="3281991"/>
            <a:ext cx="80132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Dash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98"/>
          <p:cNvSpPr/>
          <p:nvPr/>
        </p:nvSpPr>
        <p:spPr>
          <a:xfrm>
            <a:off x="3314237" y="3324324"/>
            <a:ext cx="323754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dashboard enterprise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98"/>
          <p:cNvSpPr/>
          <p:nvPr/>
        </p:nvSpPr>
        <p:spPr>
          <a:xfrm>
            <a:off x="914301" y="3933362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Deploy lên Streamlit Cloud — miễn phí, dễ chia sẻ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98"/>
          <p:cNvSpPr/>
          <p:nvPr/>
        </p:nvSpPr>
        <p:spPr>
          <a:xfrm>
            <a:off x="1200051" y="5068921"/>
            <a:ext cx="434193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Gặp lại khi deploy POC ở phần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98"/>
          <p:cNvSpPr/>
          <p:nvPr/>
        </p:nvSpPr>
        <p:spPr>
          <a:xfrm>
            <a:off x="5606025" y="5026587"/>
            <a:ext cx="106260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MLOps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98"/>
          <p:cNvSpPr/>
          <p:nvPr/>
        </p:nvSpPr>
        <p:spPr>
          <a:xfrm>
            <a:off x="914301" y="5811242"/>
            <a:ext cx="6667666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98"/>
          <p:cNvSpPr/>
          <p:nvPr/>
        </p:nvSpPr>
        <p:spPr>
          <a:xfrm>
            <a:off x="1172435" y="6002569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98"/>
          <p:cNvSpPr/>
          <p:nvPr/>
        </p:nvSpPr>
        <p:spPr>
          <a:xfrm>
            <a:off x="1538552" y="5993143"/>
            <a:ext cx="5445648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Streamlit: từ notebook → web app trong 10 phút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98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98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98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98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98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98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98"/>
          <p:cNvSpPr/>
          <p:nvPr/>
        </p:nvSpPr>
        <p:spPr>
          <a:xfrm>
            <a:off x="8915467" y="2304025"/>
            <a:ext cx="1721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streamlit_app.py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98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streamlit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st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plotly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express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 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"📊 Dashboard TMĐT"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"don_hang.csv"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selectbox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"Chọn vùng"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"vung"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]==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vung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plotly_chart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99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15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99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99"/>
          <p:cNvSpPr/>
          <p:nvPr/>
        </p:nvSpPr>
        <p:spPr>
          <a:xfrm>
            <a:off x="914301" y="2247305"/>
            <a:ext cx="500823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99"/>
          <p:cNvSpPr/>
          <p:nvPr/>
        </p:nvSpPr>
        <p:spPr>
          <a:xfrm>
            <a:off x="1134434" y="2372188"/>
            <a:ext cx="4718212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Interactive: hover · zoom · filter · toggle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99"/>
          <p:cNvSpPr/>
          <p:nvPr/>
        </p:nvSpPr>
        <p:spPr>
          <a:xfrm>
            <a:off x="6093851" y="2247305"/>
            <a:ext cx="564703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99"/>
          <p:cNvSpPr/>
          <p:nvPr/>
        </p:nvSpPr>
        <p:spPr>
          <a:xfrm>
            <a:off x="6313984" y="2372188"/>
            <a:ext cx="537618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Express — 1 dòng = biểu đồ tương tác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99"/>
          <p:cNvSpPr/>
          <p:nvPr/>
        </p:nvSpPr>
        <p:spPr>
          <a:xfrm>
            <a:off x="11912203" y="2247305"/>
            <a:ext cx="4431109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99"/>
          <p:cNvSpPr/>
          <p:nvPr/>
        </p:nvSpPr>
        <p:spPr>
          <a:xfrm>
            <a:off x="12132336" y="2372188"/>
            <a:ext cx="4123776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Mạnh nhất: bản đồ, 3D, animation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99"/>
          <p:cNvSpPr/>
          <p:nvPr/>
        </p:nvSpPr>
        <p:spPr>
          <a:xfrm>
            <a:off x="914301" y="2954073"/>
            <a:ext cx="586283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99"/>
          <p:cNvSpPr/>
          <p:nvPr/>
        </p:nvSpPr>
        <p:spPr>
          <a:xfrm>
            <a:off x="1134434" y="3078956"/>
            <a:ext cx="559845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Plotly + Streamlit = web app data trong 10 phút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99"/>
          <p:cNvSpPr/>
          <p:nvPr/>
        </p:nvSpPr>
        <p:spPr>
          <a:xfrm>
            <a:off x="914301" y="3984790"/>
            <a:ext cx="4902564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99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7" name="Google Shape;2637;p99"/>
          <p:cNvSpPr/>
          <p:nvPr/>
        </p:nvSpPr>
        <p:spPr>
          <a:xfrm>
            <a:off x="1629668" y="4204891"/>
            <a:ext cx="4007590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Ngày Tháng &amp; Time-series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p100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100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p100"/>
          <p:cNvSpPr/>
          <p:nvPr/>
        </p:nvSpPr>
        <p:spPr>
          <a:xfrm>
            <a:off x="1248668" y="4476750"/>
            <a:ext cx="138886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100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~8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7" name="Google Shape;2647;p100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100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Ngày Tháng &amp; Time-series trong Pandas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100"/>
          <p:cNvSpPr/>
          <p:nvPr/>
        </p:nvSpPr>
        <p:spPr>
          <a:xfrm>
            <a:off x="4667250" y="6063424"/>
            <a:ext cx="109454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100"/>
          <p:cNvSpPr/>
          <p:nvPr/>
        </p:nvSpPr>
        <p:spPr>
          <a:xfrm>
            <a:off x="4849284" y="6131157"/>
            <a:ext cx="80668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datetime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100"/>
          <p:cNvSpPr/>
          <p:nvPr/>
        </p:nvSpPr>
        <p:spPr>
          <a:xfrm>
            <a:off x="5876065" y="6063424"/>
            <a:ext cx="1390882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100"/>
          <p:cNvSpPr/>
          <p:nvPr/>
        </p:nvSpPr>
        <p:spPr>
          <a:xfrm>
            <a:off x="6058098" y="6131157"/>
            <a:ext cx="110301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.dt accessor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p100"/>
          <p:cNvSpPr/>
          <p:nvPr/>
        </p:nvSpPr>
        <p:spPr>
          <a:xfrm>
            <a:off x="7381214" y="6063424"/>
            <a:ext cx="114730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100"/>
          <p:cNvSpPr/>
          <p:nvPr/>
        </p:nvSpPr>
        <p:spPr>
          <a:xfrm>
            <a:off x="7563247" y="6131157"/>
            <a:ext cx="85943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resample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100"/>
          <p:cNvSpPr/>
          <p:nvPr/>
        </p:nvSpPr>
        <p:spPr>
          <a:xfrm>
            <a:off x="8642781" y="6063424"/>
            <a:ext cx="156038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100"/>
          <p:cNvSpPr/>
          <p:nvPr/>
        </p:nvSpPr>
        <p:spPr>
          <a:xfrm>
            <a:off x="8824814" y="6131157"/>
            <a:ext cx="127251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rolling window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101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01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Kiểu Datetime trong Pandas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101"/>
          <p:cNvSpPr/>
          <p:nvPr/>
        </p:nvSpPr>
        <p:spPr>
          <a:xfrm>
            <a:off x="1200051" y="2188766"/>
            <a:ext cx="2765557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101"/>
          <p:cNvSpPr/>
          <p:nvPr/>
        </p:nvSpPr>
        <p:spPr>
          <a:xfrm>
            <a:off x="1295301" y="2207816"/>
            <a:ext cx="265802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pd.to_datetime()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Google Shape;2666;p101"/>
          <p:cNvSpPr/>
          <p:nvPr/>
        </p:nvSpPr>
        <p:spPr>
          <a:xfrm>
            <a:off x="4156108" y="2231099"/>
            <a:ext cx="3141314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chuyển string thành datetime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101"/>
          <p:cNvSpPr/>
          <p:nvPr/>
        </p:nvSpPr>
        <p:spPr>
          <a:xfrm>
            <a:off x="914301" y="3281991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Đặt cột thời gian làm index cho time-series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101"/>
          <p:cNvSpPr/>
          <p:nvPr/>
        </p:nvSpPr>
        <p:spPr>
          <a:xfrm>
            <a:off x="914301" y="3933362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⚠️ Sai kiểu datetime → mọi phân tích sau đều sai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101"/>
          <p:cNvSpPr/>
          <p:nvPr/>
        </p:nvSpPr>
        <p:spPr>
          <a:xfrm>
            <a:off x="914301" y="5026587"/>
            <a:ext cx="6867696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Doanh số, log server, giá cổ phiếu — đều là time-series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101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101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101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101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101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101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101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datetime.py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101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 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"don_hang.csv"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Kiểm tra kiểu ban đầu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dtypes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ngay_dat: object (string) # Chuyển sang datetime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"ngay_dat"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to_datetime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"ngay_dat"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Đặt làm index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set_index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"ngay_dat"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sort_index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Lọc theo khoảng thời gian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q1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"2024-01"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"2024-03"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02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102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.dt Accessor — Trích Thành Phần Thời Gian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102"/>
          <p:cNvSpPr/>
          <p:nvPr/>
        </p:nvSpPr>
        <p:spPr>
          <a:xfrm>
            <a:off x="1200051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102"/>
          <p:cNvSpPr/>
          <p:nvPr/>
        </p:nvSpPr>
        <p:spPr>
          <a:xfrm>
            <a:off x="1295301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.dt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p102"/>
          <p:cNvSpPr/>
          <p:nvPr/>
        </p:nvSpPr>
        <p:spPr>
          <a:xfrm>
            <a:off x="2063915" y="2231099"/>
            <a:ext cx="451090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= accessor cho datetime column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102"/>
          <p:cNvSpPr/>
          <p:nvPr/>
        </p:nvSpPr>
        <p:spPr>
          <a:xfrm>
            <a:off x="1200051" y="2882470"/>
            <a:ext cx="84398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Trích: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102"/>
          <p:cNvSpPr/>
          <p:nvPr/>
        </p:nvSpPr>
        <p:spPr>
          <a:xfrm>
            <a:off x="2158339" y="2840137"/>
            <a:ext cx="99533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102"/>
          <p:cNvSpPr/>
          <p:nvPr/>
        </p:nvSpPr>
        <p:spPr>
          <a:xfrm>
            <a:off x="2253589" y="2859187"/>
            <a:ext cx="881030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.year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02"/>
          <p:cNvSpPr/>
          <p:nvPr/>
        </p:nvSpPr>
        <p:spPr>
          <a:xfrm>
            <a:off x="3344168" y="2882470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02"/>
          <p:cNvSpPr/>
          <p:nvPr/>
        </p:nvSpPr>
        <p:spPr>
          <a:xfrm>
            <a:off x="3619500" y="2840137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102"/>
          <p:cNvSpPr/>
          <p:nvPr/>
        </p:nvSpPr>
        <p:spPr>
          <a:xfrm>
            <a:off x="3714750" y="2859187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.month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02"/>
          <p:cNvSpPr/>
          <p:nvPr/>
        </p:nvSpPr>
        <p:spPr>
          <a:xfrm>
            <a:off x="4966229" y="2882470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102"/>
          <p:cNvSpPr/>
          <p:nvPr/>
        </p:nvSpPr>
        <p:spPr>
          <a:xfrm>
            <a:off x="5241561" y="2840137"/>
            <a:ext cx="83426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02"/>
          <p:cNvSpPr/>
          <p:nvPr/>
        </p:nvSpPr>
        <p:spPr>
          <a:xfrm>
            <a:off x="5336811" y="2859187"/>
            <a:ext cx="71996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.day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102"/>
          <p:cNvSpPr/>
          <p:nvPr/>
        </p:nvSpPr>
        <p:spPr>
          <a:xfrm>
            <a:off x="6266326" y="2882470"/>
            <a:ext cx="16103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102"/>
          <p:cNvSpPr/>
          <p:nvPr/>
        </p:nvSpPr>
        <p:spPr>
          <a:xfrm>
            <a:off x="6541658" y="2840137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102"/>
          <p:cNvSpPr/>
          <p:nvPr/>
        </p:nvSpPr>
        <p:spPr>
          <a:xfrm>
            <a:off x="6636908" y="2859187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.dayofweek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102"/>
          <p:cNvSpPr/>
          <p:nvPr/>
        </p:nvSpPr>
        <p:spPr>
          <a:xfrm>
            <a:off x="1200051" y="3533841"/>
            <a:ext cx="60156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Tạo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102"/>
          <p:cNvSpPr/>
          <p:nvPr/>
        </p:nvSpPr>
        <p:spPr>
          <a:xfrm>
            <a:off x="1915914" y="3491508"/>
            <a:ext cx="2558323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feature thời gian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102"/>
          <p:cNvSpPr/>
          <p:nvPr/>
        </p:nvSpPr>
        <p:spPr>
          <a:xfrm>
            <a:off x="4588537" y="3533841"/>
            <a:ext cx="19906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cho model ML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102"/>
          <p:cNvSpPr/>
          <p:nvPr/>
        </p:nvSpPr>
        <p:spPr>
          <a:xfrm>
            <a:off x="914301" y="4142879"/>
            <a:ext cx="7650171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weekday() = 0 (Thứ 2) đến 6 (Chủ nhật)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102"/>
          <p:cNvSpPr/>
          <p:nvPr/>
        </p:nvSpPr>
        <p:spPr>
          <a:xfrm>
            <a:off x="8798719" y="2188766"/>
            <a:ext cx="8574981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102"/>
          <p:cNvSpPr/>
          <p:nvPr/>
        </p:nvSpPr>
        <p:spPr>
          <a:xfrm>
            <a:off x="8809302" y="2199349"/>
            <a:ext cx="8553814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102"/>
          <p:cNvSpPr/>
          <p:nvPr/>
        </p:nvSpPr>
        <p:spPr>
          <a:xfrm>
            <a:off x="8809302" y="2599201"/>
            <a:ext cx="855381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102"/>
          <p:cNvSpPr/>
          <p:nvPr/>
        </p:nvSpPr>
        <p:spPr>
          <a:xfrm>
            <a:off x="8980620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102"/>
          <p:cNvSpPr/>
          <p:nvPr/>
        </p:nvSpPr>
        <p:spPr>
          <a:xfrm>
            <a:off x="9180381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102"/>
          <p:cNvSpPr/>
          <p:nvPr/>
        </p:nvSpPr>
        <p:spPr>
          <a:xfrm>
            <a:off x="9380141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102"/>
          <p:cNvSpPr/>
          <p:nvPr/>
        </p:nvSpPr>
        <p:spPr>
          <a:xfrm>
            <a:off x="9675151" y="2304025"/>
            <a:ext cx="1515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dt_accessor.py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102"/>
          <p:cNvSpPr/>
          <p:nvPr/>
        </p:nvSpPr>
        <p:spPr>
          <a:xfrm>
            <a:off x="9114102" y="2857434"/>
            <a:ext cx="8200828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Trích thành phần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"nam"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year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month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"ngay_so"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day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dayofweek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"quy"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quarter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Cuối tuần hay không?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"cuoi_tuan"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dayofweek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&gt;=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Giờ cao điểm?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"gio"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hour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"cao_diem"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"gio"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10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10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Resample — Đổi Tần Suất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03"/>
          <p:cNvSpPr/>
          <p:nvPr/>
        </p:nvSpPr>
        <p:spPr>
          <a:xfrm>
            <a:off x="1200051" y="2231099"/>
            <a:ext cx="736832" cy="302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Gom dữ liệu theo chu kỳ mới: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103"/>
          <p:cNvSpPr/>
          <p:nvPr/>
        </p:nvSpPr>
        <p:spPr>
          <a:xfrm>
            <a:off x="2051182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103"/>
          <p:cNvSpPr/>
          <p:nvPr/>
        </p:nvSpPr>
        <p:spPr>
          <a:xfrm>
            <a:off x="2146432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"D"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103"/>
          <p:cNvSpPr/>
          <p:nvPr/>
        </p:nvSpPr>
        <p:spPr>
          <a:xfrm>
            <a:off x="2915047" y="2231099"/>
            <a:ext cx="737162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ngày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103"/>
          <p:cNvSpPr/>
          <p:nvPr/>
        </p:nvSpPr>
        <p:spPr>
          <a:xfrm>
            <a:off x="3766509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103"/>
          <p:cNvSpPr/>
          <p:nvPr/>
        </p:nvSpPr>
        <p:spPr>
          <a:xfrm>
            <a:off x="3861759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103"/>
          <p:cNvSpPr/>
          <p:nvPr/>
        </p:nvSpPr>
        <p:spPr>
          <a:xfrm>
            <a:off x="4630374" y="2231099"/>
            <a:ext cx="669528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tuần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103"/>
          <p:cNvSpPr/>
          <p:nvPr/>
        </p:nvSpPr>
        <p:spPr>
          <a:xfrm>
            <a:off x="5414202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103"/>
          <p:cNvSpPr/>
          <p:nvPr/>
        </p:nvSpPr>
        <p:spPr>
          <a:xfrm>
            <a:off x="5509452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103"/>
          <p:cNvSpPr/>
          <p:nvPr/>
        </p:nvSpPr>
        <p:spPr>
          <a:xfrm>
            <a:off x="6278067" y="2231099"/>
            <a:ext cx="839027" cy="81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tháng 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103"/>
          <p:cNvSpPr/>
          <p:nvPr/>
        </p:nvSpPr>
        <p:spPr>
          <a:xfrm>
            <a:off x="7231393" y="2188766"/>
            <a:ext cx="6733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103"/>
          <p:cNvSpPr/>
          <p:nvPr/>
        </p:nvSpPr>
        <p:spPr>
          <a:xfrm>
            <a:off x="7326643" y="2207816"/>
            <a:ext cx="5590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"Q"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103"/>
          <p:cNvSpPr/>
          <p:nvPr/>
        </p:nvSpPr>
        <p:spPr>
          <a:xfrm>
            <a:off x="8095258" y="2231099"/>
            <a:ext cx="56766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quý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103"/>
          <p:cNvSpPr/>
          <p:nvPr/>
        </p:nvSpPr>
        <p:spPr>
          <a:xfrm>
            <a:off x="914301" y="5491262"/>
            <a:ext cx="7902594" cy="921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Dữ liệu giờ → dữ liệu ngày/tháng — đổi tần suất dễ dàng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103"/>
          <p:cNvSpPr/>
          <p:nvPr/>
        </p:nvSpPr>
        <p:spPr>
          <a:xfrm>
            <a:off x="914301" y="6584487"/>
            <a:ext cx="790259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Cực tiện cho phân tích xu hướng theo thời gian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103"/>
          <p:cNvSpPr/>
          <p:nvPr/>
        </p:nvSpPr>
        <p:spPr>
          <a:xfrm>
            <a:off x="9043789" y="2188766"/>
            <a:ext cx="8329911" cy="6364883"/>
          </a:xfrm>
          <a:prstGeom prst="roundRect">
            <a:avLst>
              <a:gd fmla="val 1796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103"/>
          <p:cNvSpPr/>
          <p:nvPr/>
        </p:nvSpPr>
        <p:spPr>
          <a:xfrm>
            <a:off x="9054373" y="2199349"/>
            <a:ext cx="8308744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103"/>
          <p:cNvSpPr/>
          <p:nvPr/>
        </p:nvSpPr>
        <p:spPr>
          <a:xfrm>
            <a:off x="9054373" y="2599201"/>
            <a:ext cx="8308744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103"/>
          <p:cNvSpPr/>
          <p:nvPr/>
        </p:nvSpPr>
        <p:spPr>
          <a:xfrm>
            <a:off x="9225690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103"/>
          <p:cNvSpPr/>
          <p:nvPr/>
        </p:nvSpPr>
        <p:spPr>
          <a:xfrm>
            <a:off x="9425451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103"/>
          <p:cNvSpPr/>
          <p:nvPr/>
        </p:nvSpPr>
        <p:spPr>
          <a:xfrm>
            <a:off x="9625211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103"/>
          <p:cNvSpPr/>
          <p:nvPr/>
        </p:nvSpPr>
        <p:spPr>
          <a:xfrm>
            <a:off x="9920222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resample.py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103"/>
          <p:cNvSpPr/>
          <p:nvPr/>
        </p:nvSpPr>
        <p:spPr>
          <a:xfrm>
            <a:off x="9359173" y="2857434"/>
            <a:ext cx="7948406" cy="5476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Tổng doanh thu theo tháng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df_monthly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resample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Trung bình theo tuần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df_weekly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resample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Nhiều cột cùng lúc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resample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agg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"so_don"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"count"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Quý — rất hay dùng báo cáo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df_q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resample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"Q"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10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10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Rolling Window — Trung Bình Trượt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9" name="Google Shape;2749;p104"/>
          <p:cNvSpPr/>
          <p:nvPr/>
        </p:nvSpPr>
        <p:spPr>
          <a:xfrm>
            <a:off x="1200051" y="2231099"/>
            <a:ext cx="212605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Tính giá trị trên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104"/>
          <p:cNvSpPr/>
          <p:nvPr/>
        </p:nvSpPr>
        <p:spPr>
          <a:xfrm>
            <a:off x="3440410" y="2188766"/>
            <a:ext cx="1940520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cửa sổ trượt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104"/>
          <p:cNvSpPr/>
          <p:nvPr/>
        </p:nvSpPr>
        <p:spPr>
          <a:xfrm>
            <a:off x="1200051" y="2840137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104"/>
          <p:cNvSpPr/>
          <p:nvPr/>
        </p:nvSpPr>
        <p:spPr>
          <a:xfrm>
            <a:off x="1295301" y="2859187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.rolling(n)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3" name="Google Shape;2753;p104"/>
          <p:cNvSpPr/>
          <p:nvPr/>
        </p:nvSpPr>
        <p:spPr>
          <a:xfrm>
            <a:off x="3351444" y="2882470"/>
            <a:ext cx="204205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cửa sổ n kỳ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104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Làm mượt nhiễu — thấy xu hướng rõ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104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Phổ biến trong tài chính: MA7, MA20, MA200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104"/>
          <p:cNvSpPr/>
          <p:nvPr/>
        </p:nvSpPr>
        <p:spPr>
          <a:xfrm>
            <a:off x="914301" y="4927534"/>
            <a:ext cx="6667666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104"/>
          <p:cNvSpPr/>
          <p:nvPr/>
        </p:nvSpPr>
        <p:spPr>
          <a:xfrm>
            <a:off x="1172435" y="5118861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104"/>
          <p:cNvSpPr/>
          <p:nvPr/>
        </p:nvSpPr>
        <p:spPr>
          <a:xfrm>
            <a:off x="1538552" y="5109435"/>
            <a:ext cx="4801306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n đầu tiên = NaN (chưa đủ dữ liệu để tính)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104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10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10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10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10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10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04"/>
          <p:cNvSpPr/>
          <p:nvPr/>
        </p:nvSpPr>
        <p:spPr>
          <a:xfrm>
            <a:off x="8915467" y="2304025"/>
            <a:ext cx="1104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rolling.py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104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Trung bình trượt 7 ngày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"ma7"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rolling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MA 30 ngày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"ma30"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rolling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Rolling sum và std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"sum7d"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rolling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"std7d"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rolling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Vẽ so sánh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alpha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"Ngày"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"ma7"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"MA7"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77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105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16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105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Ngày Tháng &amp; Time-series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105"/>
          <p:cNvSpPr/>
          <p:nvPr/>
        </p:nvSpPr>
        <p:spPr>
          <a:xfrm>
            <a:off x="914301" y="2247305"/>
            <a:ext cx="6069046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105"/>
          <p:cNvSpPr/>
          <p:nvPr/>
        </p:nvSpPr>
        <p:spPr>
          <a:xfrm>
            <a:off x="1134434" y="2372188"/>
            <a:ext cx="581085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pd.to_datetime() — chuyển string thành datetime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p105"/>
          <p:cNvSpPr/>
          <p:nvPr/>
        </p:nvSpPr>
        <p:spPr>
          <a:xfrm>
            <a:off x="7154664" y="2247305"/>
            <a:ext cx="576527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105"/>
          <p:cNvSpPr/>
          <p:nvPr/>
        </p:nvSpPr>
        <p:spPr>
          <a:xfrm>
            <a:off x="7374798" y="2372188"/>
            <a:ext cx="5497963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.dt accessor — trích year · month · dayofweek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105"/>
          <p:cNvSpPr/>
          <p:nvPr/>
        </p:nvSpPr>
        <p:spPr>
          <a:xfrm>
            <a:off x="914301" y="2954073"/>
            <a:ext cx="475820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105"/>
          <p:cNvSpPr/>
          <p:nvPr/>
        </p:nvSpPr>
        <p:spPr>
          <a:xfrm>
            <a:off x="1134434" y="3078956"/>
            <a:ext cx="446068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resample("M") — đổi tần suất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p105"/>
          <p:cNvSpPr/>
          <p:nvPr/>
        </p:nvSpPr>
        <p:spPr>
          <a:xfrm>
            <a:off x="5843819" y="2954073"/>
            <a:ext cx="6518011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105"/>
          <p:cNvSpPr/>
          <p:nvPr/>
        </p:nvSpPr>
        <p:spPr>
          <a:xfrm>
            <a:off x="6063953" y="3078956"/>
            <a:ext cx="627328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rolling(7).mean() — trung bình trượt, làm mượt nhiễu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2" name="Google Shape;2782;p105"/>
          <p:cNvSpPr/>
          <p:nvPr/>
        </p:nvSpPr>
        <p:spPr>
          <a:xfrm>
            <a:off x="914301" y="3984790"/>
            <a:ext cx="4936133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105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4" name="Google Shape;2784;p105"/>
          <p:cNvSpPr/>
          <p:nvPr/>
        </p:nvSpPr>
        <p:spPr>
          <a:xfrm>
            <a:off x="1629668" y="4204891"/>
            <a:ext cx="4042166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Regex cho dữ liệu văn bản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789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106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106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106"/>
          <p:cNvSpPr/>
          <p:nvPr/>
        </p:nvSpPr>
        <p:spPr>
          <a:xfrm>
            <a:off x="1291332" y="4476750"/>
            <a:ext cx="13035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106"/>
          <p:cNvSpPr/>
          <p:nvPr/>
        </p:nvSpPr>
        <p:spPr>
          <a:xfrm>
            <a:off x="1584523" y="5905500"/>
            <a:ext cx="717153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~7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4" name="Google Shape;2794;p106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106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Regex — Săn Mẫu Trong Văn Bản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106"/>
          <p:cNvSpPr/>
          <p:nvPr/>
        </p:nvSpPr>
        <p:spPr>
          <a:xfrm>
            <a:off x="4667250" y="6063424"/>
            <a:ext cx="95696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106"/>
          <p:cNvSpPr/>
          <p:nvPr/>
        </p:nvSpPr>
        <p:spPr>
          <a:xfrm>
            <a:off x="4849284" y="6131157"/>
            <a:ext cx="66909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106"/>
          <p:cNvSpPr/>
          <p:nvPr/>
        </p:nvSpPr>
        <p:spPr>
          <a:xfrm>
            <a:off x="5738482" y="6063424"/>
            <a:ext cx="108396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106"/>
          <p:cNvSpPr/>
          <p:nvPr/>
        </p:nvSpPr>
        <p:spPr>
          <a:xfrm>
            <a:off x="5920516" y="6131157"/>
            <a:ext cx="79609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re.findall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106"/>
          <p:cNvSpPr/>
          <p:nvPr/>
        </p:nvSpPr>
        <p:spPr>
          <a:xfrm>
            <a:off x="6936714" y="6063424"/>
            <a:ext cx="89330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106"/>
          <p:cNvSpPr/>
          <p:nvPr/>
        </p:nvSpPr>
        <p:spPr>
          <a:xfrm>
            <a:off x="7118747" y="6131157"/>
            <a:ext cx="605433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re.sub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106"/>
          <p:cNvSpPr/>
          <p:nvPr/>
        </p:nvSpPr>
        <p:spPr>
          <a:xfrm>
            <a:off x="7944280" y="6063424"/>
            <a:ext cx="1433546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p106"/>
          <p:cNvSpPr/>
          <p:nvPr/>
        </p:nvSpPr>
        <p:spPr>
          <a:xfrm>
            <a:off x="8126314" y="6131157"/>
            <a:ext cx="1145679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text cleaning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10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10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Regex Là Gì?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107"/>
          <p:cNvSpPr/>
          <p:nvPr/>
        </p:nvSpPr>
        <p:spPr>
          <a:xfrm>
            <a:off x="1200051" y="2231099"/>
            <a:ext cx="232945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Mẫu (pattern) để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107"/>
          <p:cNvSpPr/>
          <p:nvPr/>
        </p:nvSpPr>
        <p:spPr>
          <a:xfrm>
            <a:off x="3643809" y="2188766"/>
            <a:ext cx="284307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tìm/thay thế chuỗi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107"/>
          <p:cNvSpPr/>
          <p:nvPr/>
        </p:nvSpPr>
        <p:spPr>
          <a:xfrm>
            <a:off x="1200051" y="2882470"/>
            <a:ext cx="127988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107"/>
          <p:cNvSpPr/>
          <p:nvPr/>
        </p:nvSpPr>
        <p:spPr>
          <a:xfrm>
            <a:off x="2594240" y="2840137"/>
            <a:ext cx="512465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5" name="Google Shape;2815;p107"/>
          <p:cNvSpPr/>
          <p:nvPr/>
        </p:nvSpPr>
        <p:spPr>
          <a:xfrm>
            <a:off x="2689490" y="2859187"/>
            <a:ext cx="398165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107"/>
          <p:cNvSpPr/>
          <p:nvPr/>
        </p:nvSpPr>
        <p:spPr>
          <a:xfrm>
            <a:off x="3297205" y="2882470"/>
            <a:ext cx="360919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tích hợp sẵn trong Python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107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Ứng dụng: email, số điện thoại, mã đơn hàng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07"/>
          <p:cNvSpPr/>
          <p:nvPr/>
        </p:nvSpPr>
        <p:spPr>
          <a:xfrm>
            <a:off x="1200051" y="4185213"/>
            <a:ext cx="4325928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Bước tiền xử lý quan trọng cho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9" name="Google Shape;2819;p107"/>
          <p:cNvSpPr/>
          <p:nvPr/>
        </p:nvSpPr>
        <p:spPr>
          <a:xfrm>
            <a:off x="5590481" y="4142879"/>
            <a:ext cx="62934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NLP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107"/>
          <p:cNvSpPr/>
          <p:nvPr/>
        </p:nvSpPr>
        <p:spPr>
          <a:xfrm>
            <a:off x="914301" y="4794250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Trông đáng sợ nhưng chỉ cần nhớ vài ký hiệu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07"/>
          <p:cNvSpPr/>
          <p:nvPr/>
        </p:nvSpPr>
        <p:spPr>
          <a:xfrm>
            <a:off x="11047843" y="2474516"/>
            <a:ext cx="3317048" cy="531151"/>
          </a:xfrm>
          <a:prstGeom prst="roundRect">
            <a:avLst>
              <a:gd fmla="val 17933" name="adj"/>
            </a:avLst>
          </a:prstGeom>
          <a:solidFill>
            <a:srgbClr val="3776AB">
              <a:alpha val="14117"/>
            </a:srgbClr>
          </a:solidFill>
          <a:ln cap="flat" cmpd="sng" w="10575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2" name="Google Shape;2822;p107"/>
          <p:cNvSpPr/>
          <p:nvPr/>
        </p:nvSpPr>
        <p:spPr>
          <a:xfrm>
            <a:off x="11237271" y="2618449"/>
            <a:ext cx="2938193" cy="281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Input: "Liên hệ: 0909-123-456"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07"/>
          <p:cNvSpPr/>
          <p:nvPr/>
        </p:nvSpPr>
        <p:spPr>
          <a:xfrm>
            <a:off x="12644439" y="3234267"/>
            <a:ext cx="2000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07"/>
          <p:cNvSpPr/>
          <p:nvPr/>
        </p:nvSpPr>
        <p:spPr>
          <a:xfrm>
            <a:off x="10707523" y="3748485"/>
            <a:ext cx="3997524" cy="520568"/>
          </a:xfrm>
          <a:prstGeom prst="roundRect">
            <a:avLst>
              <a:gd fmla="val 18297" name="adj"/>
            </a:avLst>
          </a:prstGeom>
          <a:solidFill>
            <a:srgbClr val="FFD43B">
              <a:alpha val="10196"/>
            </a:srgbClr>
          </a:solidFill>
          <a:ln cap="flat" cmpd="sng" w="10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5" name="Google Shape;2825;p107"/>
          <p:cNvSpPr/>
          <p:nvPr/>
        </p:nvSpPr>
        <p:spPr>
          <a:xfrm>
            <a:off x="10886744" y="3892418"/>
            <a:ext cx="3639083" cy="2708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Pattern: r"09d{2}-d{3}-d{3}"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07"/>
          <p:cNvSpPr/>
          <p:nvPr/>
        </p:nvSpPr>
        <p:spPr>
          <a:xfrm>
            <a:off x="12644439" y="4497652"/>
            <a:ext cx="2000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07"/>
          <p:cNvSpPr/>
          <p:nvPr/>
        </p:nvSpPr>
        <p:spPr>
          <a:xfrm>
            <a:off x="11277535" y="5011870"/>
            <a:ext cx="2857500" cy="531151"/>
          </a:xfrm>
          <a:prstGeom prst="roundRect">
            <a:avLst>
              <a:gd fmla="val 17933" name="adj"/>
            </a:avLst>
          </a:prstGeom>
          <a:solidFill>
            <a:srgbClr val="56D364">
              <a:alpha val="10196"/>
            </a:srgbClr>
          </a:solidFill>
          <a:ln cap="flat" cmpd="sng" w="10575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8" name="Google Shape;2828;p107"/>
          <p:cNvSpPr/>
          <p:nvPr/>
        </p:nvSpPr>
        <p:spPr>
          <a:xfrm>
            <a:off x="11473856" y="5155804"/>
            <a:ext cx="2464858" cy="281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D36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6D364"/>
                </a:solidFill>
                <a:latin typeface="Arial"/>
                <a:ea typeface="Arial"/>
                <a:cs typeface="Arial"/>
                <a:sym typeface="Arial"/>
              </a:rPr>
              <a:t>Match: "0909-123-456"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108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p108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Ký Hiệu Cốt Lõi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08"/>
          <p:cNvSpPr/>
          <p:nvPr/>
        </p:nvSpPr>
        <p:spPr>
          <a:xfrm>
            <a:off x="919592" y="2194057"/>
            <a:ext cx="1238250" cy="442185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p108"/>
          <p:cNvSpPr/>
          <p:nvPr/>
        </p:nvSpPr>
        <p:spPr>
          <a:xfrm>
            <a:off x="1101626" y="2309416"/>
            <a:ext cx="950383" cy="249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KÝ HIỆU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08"/>
          <p:cNvSpPr/>
          <p:nvPr/>
        </p:nvSpPr>
        <p:spPr>
          <a:xfrm>
            <a:off x="2157843" y="2194057"/>
            <a:ext cx="6425076" cy="442185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108"/>
          <p:cNvSpPr/>
          <p:nvPr/>
        </p:nvSpPr>
        <p:spPr>
          <a:xfrm>
            <a:off x="2339876" y="2309416"/>
            <a:ext cx="6253761" cy="249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Ý NGHĨA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108"/>
          <p:cNvSpPr/>
          <p:nvPr/>
        </p:nvSpPr>
        <p:spPr>
          <a:xfrm>
            <a:off x="8582919" y="2194057"/>
            <a:ext cx="8785490" cy="442185"/>
          </a:xfrm>
          <a:prstGeom prst="rect">
            <a:avLst/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p108"/>
          <p:cNvSpPr/>
          <p:nvPr/>
        </p:nvSpPr>
        <p:spPr>
          <a:xfrm>
            <a:off x="8764952" y="2309416"/>
            <a:ext cx="8684988" cy="249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VÍ DỤ MATCH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108"/>
          <p:cNvSpPr/>
          <p:nvPr/>
        </p:nvSpPr>
        <p:spPr>
          <a:xfrm>
            <a:off x="919592" y="2636242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108"/>
          <p:cNvSpPr/>
          <p:nvPr/>
        </p:nvSpPr>
        <p:spPr>
          <a:xfrm>
            <a:off x="1101626" y="2751601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108"/>
          <p:cNvSpPr/>
          <p:nvPr/>
        </p:nvSpPr>
        <p:spPr>
          <a:xfrm>
            <a:off x="2157843" y="2636242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108"/>
          <p:cNvSpPr/>
          <p:nvPr/>
        </p:nvSpPr>
        <p:spPr>
          <a:xfrm>
            <a:off x="2339876" y="2751601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Một chữ số 0–9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108"/>
          <p:cNvSpPr/>
          <p:nvPr/>
        </p:nvSpPr>
        <p:spPr>
          <a:xfrm>
            <a:off x="8582919" y="2636242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108"/>
          <p:cNvSpPr/>
          <p:nvPr/>
        </p:nvSpPr>
        <p:spPr>
          <a:xfrm>
            <a:off x="8764952" y="2751601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ddd → "123"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08"/>
          <p:cNvSpPr/>
          <p:nvPr/>
        </p:nvSpPr>
        <p:spPr>
          <a:xfrm>
            <a:off x="919592" y="3131344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108"/>
          <p:cNvSpPr/>
          <p:nvPr/>
        </p:nvSpPr>
        <p:spPr>
          <a:xfrm>
            <a:off x="1101626" y="3246702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108"/>
          <p:cNvSpPr/>
          <p:nvPr/>
        </p:nvSpPr>
        <p:spPr>
          <a:xfrm>
            <a:off x="2157843" y="3131344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108"/>
          <p:cNvSpPr/>
          <p:nvPr/>
        </p:nvSpPr>
        <p:spPr>
          <a:xfrm>
            <a:off x="2339876" y="3246702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Chữ cái / số / _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108"/>
          <p:cNvSpPr/>
          <p:nvPr/>
        </p:nvSpPr>
        <p:spPr>
          <a:xfrm>
            <a:off x="8582919" y="3131344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108"/>
          <p:cNvSpPr/>
          <p:nvPr/>
        </p:nvSpPr>
        <p:spPr>
          <a:xfrm>
            <a:off x="8764952" y="3246702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w+ → "hello_1"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108"/>
          <p:cNvSpPr/>
          <p:nvPr/>
        </p:nvSpPr>
        <p:spPr>
          <a:xfrm>
            <a:off x="919592" y="3626446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108"/>
          <p:cNvSpPr/>
          <p:nvPr/>
        </p:nvSpPr>
        <p:spPr>
          <a:xfrm>
            <a:off x="1101626" y="3741804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108"/>
          <p:cNvSpPr/>
          <p:nvPr/>
        </p:nvSpPr>
        <p:spPr>
          <a:xfrm>
            <a:off x="2157843" y="3626446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108"/>
          <p:cNvSpPr/>
          <p:nvPr/>
        </p:nvSpPr>
        <p:spPr>
          <a:xfrm>
            <a:off x="2339876" y="3741804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Khoảng trắng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08"/>
          <p:cNvSpPr/>
          <p:nvPr/>
        </p:nvSpPr>
        <p:spPr>
          <a:xfrm>
            <a:off x="8582919" y="3626446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108"/>
          <p:cNvSpPr/>
          <p:nvPr/>
        </p:nvSpPr>
        <p:spPr>
          <a:xfrm>
            <a:off x="8764952" y="3741804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s+ → " 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08"/>
          <p:cNvSpPr/>
          <p:nvPr/>
        </p:nvSpPr>
        <p:spPr>
          <a:xfrm>
            <a:off x="919592" y="4121547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108"/>
          <p:cNvSpPr/>
          <p:nvPr/>
        </p:nvSpPr>
        <p:spPr>
          <a:xfrm>
            <a:off x="1101626" y="4236905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08"/>
          <p:cNvSpPr/>
          <p:nvPr/>
        </p:nvSpPr>
        <p:spPr>
          <a:xfrm>
            <a:off x="2157843" y="4121547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108"/>
          <p:cNvSpPr/>
          <p:nvPr/>
        </p:nvSpPr>
        <p:spPr>
          <a:xfrm>
            <a:off x="2339876" y="4236905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Bất kỳ ký tự nào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4" name="Google Shape;2864;p108"/>
          <p:cNvSpPr/>
          <p:nvPr/>
        </p:nvSpPr>
        <p:spPr>
          <a:xfrm>
            <a:off x="8582919" y="4121547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108"/>
          <p:cNvSpPr/>
          <p:nvPr/>
        </p:nvSpPr>
        <p:spPr>
          <a:xfrm>
            <a:off x="8764952" y="4236905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a.c → "abc", "a1c"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108"/>
          <p:cNvSpPr/>
          <p:nvPr/>
        </p:nvSpPr>
        <p:spPr>
          <a:xfrm>
            <a:off x="919592" y="4616649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108"/>
          <p:cNvSpPr/>
          <p:nvPr/>
        </p:nvSpPr>
        <p:spPr>
          <a:xfrm>
            <a:off x="1101626" y="4732007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108"/>
          <p:cNvSpPr/>
          <p:nvPr/>
        </p:nvSpPr>
        <p:spPr>
          <a:xfrm>
            <a:off x="2157843" y="4616649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108"/>
          <p:cNvSpPr/>
          <p:nvPr/>
        </p:nvSpPr>
        <p:spPr>
          <a:xfrm>
            <a:off x="2339876" y="4732007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1 lần trở lên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108"/>
          <p:cNvSpPr/>
          <p:nvPr/>
        </p:nvSpPr>
        <p:spPr>
          <a:xfrm>
            <a:off x="8582919" y="4616649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108"/>
          <p:cNvSpPr/>
          <p:nvPr/>
        </p:nvSpPr>
        <p:spPr>
          <a:xfrm>
            <a:off x="8764952" y="4732007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d+ → "1", "123"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108"/>
          <p:cNvSpPr/>
          <p:nvPr/>
        </p:nvSpPr>
        <p:spPr>
          <a:xfrm>
            <a:off x="919592" y="5111750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108"/>
          <p:cNvSpPr/>
          <p:nvPr/>
        </p:nvSpPr>
        <p:spPr>
          <a:xfrm>
            <a:off x="1101626" y="5227109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108"/>
          <p:cNvSpPr/>
          <p:nvPr/>
        </p:nvSpPr>
        <p:spPr>
          <a:xfrm>
            <a:off x="2157843" y="5111750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108"/>
          <p:cNvSpPr/>
          <p:nvPr/>
        </p:nvSpPr>
        <p:spPr>
          <a:xfrm>
            <a:off x="2339876" y="5227109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0 lần trở lên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108"/>
          <p:cNvSpPr/>
          <p:nvPr/>
        </p:nvSpPr>
        <p:spPr>
          <a:xfrm>
            <a:off x="8582919" y="5111750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108"/>
          <p:cNvSpPr/>
          <p:nvPr/>
        </p:nvSpPr>
        <p:spPr>
          <a:xfrm>
            <a:off x="8764952" y="5227109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d* → "", "5", "99"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p108"/>
          <p:cNvSpPr/>
          <p:nvPr/>
        </p:nvSpPr>
        <p:spPr>
          <a:xfrm>
            <a:off x="919592" y="5606852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p108"/>
          <p:cNvSpPr/>
          <p:nvPr/>
        </p:nvSpPr>
        <p:spPr>
          <a:xfrm>
            <a:off x="1101626" y="5722210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{n}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108"/>
          <p:cNvSpPr/>
          <p:nvPr/>
        </p:nvSpPr>
        <p:spPr>
          <a:xfrm>
            <a:off x="2157843" y="5606852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108"/>
          <p:cNvSpPr/>
          <p:nvPr/>
        </p:nvSpPr>
        <p:spPr>
          <a:xfrm>
            <a:off x="2339876" y="5722210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Đúng n lần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p108"/>
          <p:cNvSpPr/>
          <p:nvPr/>
        </p:nvSpPr>
        <p:spPr>
          <a:xfrm>
            <a:off x="8582919" y="5606852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108"/>
          <p:cNvSpPr/>
          <p:nvPr/>
        </p:nvSpPr>
        <p:spPr>
          <a:xfrm>
            <a:off x="8764952" y="5722210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d{4} → "2024"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108"/>
          <p:cNvSpPr/>
          <p:nvPr/>
        </p:nvSpPr>
        <p:spPr>
          <a:xfrm>
            <a:off x="919592" y="6101954"/>
            <a:ext cx="1238250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108"/>
          <p:cNvSpPr/>
          <p:nvPr/>
        </p:nvSpPr>
        <p:spPr>
          <a:xfrm>
            <a:off x="1101626" y="6217312"/>
            <a:ext cx="950383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[abc]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108"/>
          <p:cNvSpPr/>
          <p:nvPr/>
        </p:nvSpPr>
        <p:spPr>
          <a:xfrm>
            <a:off x="2157843" y="6101954"/>
            <a:ext cx="6425076" cy="495102"/>
          </a:xfrm>
          <a:prstGeom prst="rect">
            <a:avLst/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p108"/>
          <p:cNvSpPr/>
          <p:nvPr/>
        </p:nvSpPr>
        <p:spPr>
          <a:xfrm>
            <a:off x="2339876" y="6217312"/>
            <a:ext cx="6253761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Một trong a, b, 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108"/>
          <p:cNvSpPr/>
          <p:nvPr/>
        </p:nvSpPr>
        <p:spPr>
          <a:xfrm>
            <a:off x="8582919" y="6101954"/>
            <a:ext cx="8785490" cy="495102"/>
          </a:xfrm>
          <a:prstGeom prst="rect">
            <a:avLst/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9" name="Google Shape;2889;p108"/>
          <p:cNvSpPr/>
          <p:nvPr/>
        </p:nvSpPr>
        <p:spPr>
          <a:xfrm>
            <a:off x="8764952" y="6217312"/>
            <a:ext cx="8684988" cy="302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657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[aeiou] → nguyên âm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p109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109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Hàm re — Tìm &amp; Thay Thế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09"/>
          <p:cNvSpPr/>
          <p:nvPr/>
        </p:nvSpPr>
        <p:spPr>
          <a:xfrm>
            <a:off x="1200051" y="2188766"/>
            <a:ext cx="19608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109"/>
          <p:cNvSpPr/>
          <p:nvPr/>
        </p:nvSpPr>
        <p:spPr>
          <a:xfrm>
            <a:off x="1295301" y="2207816"/>
            <a:ext cx="18465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re.search()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09"/>
          <p:cNvSpPr/>
          <p:nvPr/>
        </p:nvSpPr>
        <p:spPr>
          <a:xfrm>
            <a:off x="3351444" y="2231099"/>
            <a:ext cx="334706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tìm lần khớp đầu tiên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0" name="Google Shape;2900;p109"/>
          <p:cNvSpPr/>
          <p:nvPr/>
        </p:nvSpPr>
        <p:spPr>
          <a:xfrm>
            <a:off x="1200051" y="2840137"/>
            <a:ext cx="2121793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1" name="Google Shape;2901;p109"/>
          <p:cNvSpPr/>
          <p:nvPr/>
        </p:nvSpPr>
        <p:spPr>
          <a:xfrm>
            <a:off x="1295301" y="2859187"/>
            <a:ext cx="200749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re.findall()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109"/>
          <p:cNvSpPr/>
          <p:nvPr/>
        </p:nvSpPr>
        <p:spPr>
          <a:xfrm>
            <a:off x="3512344" y="2882470"/>
            <a:ext cx="299772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tìm tất cả lần khớp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109"/>
          <p:cNvSpPr/>
          <p:nvPr/>
        </p:nvSpPr>
        <p:spPr>
          <a:xfrm>
            <a:off x="1200051" y="3491508"/>
            <a:ext cx="14780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109"/>
          <p:cNvSpPr/>
          <p:nvPr/>
        </p:nvSpPr>
        <p:spPr>
          <a:xfrm>
            <a:off x="1295301" y="3510558"/>
            <a:ext cx="13637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re.sub()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109"/>
          <p:cNvSpPr/>
          <p:nvPr/>
        </p:nvSpPr>
        <p:spPr>
          <a:xfrm>
            <a:off x="2868580" y="3533841"/>
            <a:ext cx="367886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thay thế tất cả lần khớp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09"/>
          <p:cNvSpPr/>
          <p:nvPr/>
        </p:nvSpPr>
        <p:spPr>
          <a:xfrm>
            <a:off x="1200051" y="4142879"/>
            <a:ext cx="1799994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109"/>
          <p:cNvSpPr/>
          <p:nvPr/>
        </p:nvSpPr>
        <p:spPr>
          <a:xfrm>
            <a:off x="1295301" y="4161929"/>
            <a:ext cx="1685694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re.match()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09"/>
          <p:cNvSpPr/>
          <p:nvPr/>
        </p:nvSpPr>
        <p:spPr>
          <a:xfrm>
            <a:off x="3190544" y="4185213"/>
            <a:ext cx="294663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— khớp từ đầu chuỗi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09"/>
          <p:cNvSpPr/>
          <p:nvPr/>
        </p:nvSpPr>
        <p:spPr>
          <a:xfrm>
            <a:off x="1200051" y="4836584"/>
            <a:ext cx="804962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09"/>
          <p:cNvSpPr/>
          <p:nvPr/>
        </p:nvSpPr>
        <p:spPr>
          <a:xfrm>
            <a:off x="2119313" y="4794250"/>
            <a:ext cx="1156229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1" name="Google Shape;2911;p109"/>
          <p:cNvSpPr/>
          <p:nvPr/>
        </p:nvSpPr>
        <p:spPr>
          <a:xfrm>
            <a:off x="2214563" y="4813300"/>
            <a:ext cx="1041929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r"..."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109"/>
          <p:cNvSpPr/>
          <p:nvPr/>
        </p:nvSpPr>
        <p:spPr>
          <a:xfrm>
            <a:off x="3466042" y="4836584"/>
            <a:ext cx="301884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raw string cho pattern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109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109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109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109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7" name="Google Shape;2917;p109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109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109"/>
          <p:cNvSpPr/>
          <p:nvPr/>
        </p:nvSpPr>
        <p:spPr>
          <a:xfrm>
            <a:off x="8915467" y="2304025"/>
            <a:ext cx="8988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regex.py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109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 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"Email: an@gmail.com, binh@yahoo.com"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findall — tìm tất cả email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emails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findall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r"[w.]+@[w.]+.w+"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['an@gmail.com', 'binh@yahoo.com'] # sub — xoá số trong văn bản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sach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r"d+"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"Order123: 4500đ"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"Order: đ" # search — kiểm tra có match không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r"09d{8}"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"Có số điện thoại"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110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110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Ví Dụ Thực Tế — Làm Sạch Text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8" name="Google Shape;2928;p110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Tách số điện thoại Việt Nam từ văn bản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110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Chuẩn hoá text trước khi làm NLP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p110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Trích thông tin từ chuỗi lộn xộn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110"/>
          <p:cNvSpPr/>
          <p:nvPr/>
        </p:nvSpPr>
        <p:spPr>
          <a:xfrm>
            <a:off x="1200051" y="4185213"/>
            <a:ext cx="1194726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Kết hợp với Pandas: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110"/>
          <p:cNvSpPr/>
          <p:nvPr/>
        </p:nvSpPr>
        <p:spPr>
          <a:xfrm>
            <a:off x="2724216" y="4142879"/>
            <a:ext cx="4857750" cy="426806"/>
          </a:xfrm>
          <a:prstGeom prst="roundRect">
            <a:avLst>
              <a:gd fmla="val 13390" name="adj"/>
            </a:avLst>
          </a:prstGeom>
          <a:solidFill>
            <a:srgbClr val="1A22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110"/>
          <p:cNvSpPr/>
          <p:nvPr/>
        </p:nvSpPr>
        <p:spPr>
          <a:xfrm>
            <a:off x="2819466" y="4161929"/>
            <a:ext cx="4812983" cy="426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2112"/>
              <a:buFont typeface="Courier New"/>
              <a:buNone/>
            </a:pPr>
            <a:r>
              <a:rPr b="0" i="0" lang="en-US" sz="2112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df["col"].str.findall(r"...")</a:t>
            </a:r>
            <a:endParaRPr b="0" i="0" sz="21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10"/>
          <p:cNvSpPr/>
          <p:nvPr/>
        </p:nvSpPr>
        <p:spPr>
          <a:xfrm>
            <a:off x="8039034" y="2188766"/>
            <a:ext cx="9334666" cy="5976442"/>
          </a:xfrm>
          <a:prstGeom prst="roundRect">
            <a:avLst>
              <a:gd fmla="val 1913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110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6" name="Google Shape;2936;p110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110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110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110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0" name="Google Shape;2940;p110"/>
          <p:cNvSpPr/>
          <p:nvPr/>
        </p:nvSpPr>
        <p:spPr>
          <a:xfrm>
            <a:off x="8915467" y="2304025"/>
            <a:ext cx="17214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text_cleaning.py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p110"/>
          <p:cNvSpPr/>
          <p:nvPr/>
        </p:nvSpPr>
        <p:spPr>
          <a:xfrm>
            <a:off x="8354417" y="2857434"/>
            <a:ext cx="8983304" cy="50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lam_sach_text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ký tự đặc biệt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r"[^ws]"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số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r"d+"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Xoá khoảng trắng thừa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sub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r"s+"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strip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lower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Dùng với Pandas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"review_sach"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"review"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apply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lam_sach_text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111"/>
          <p:cNvSpPr/>
          <p:nvPr/>
        </p:nvSpPr>
        <p:spPr>
          <a:xfrm>
            <a:off x="914301" y="762000"/>
            <a:ext cx="16953181" cy="281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LECTURE 17 — TÓM TẮT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111"/>
          <p:cNvSpPr/>
          <p:nvPr/>
        </p:nvSpPr>
        <p:spPr>
          <a:xfrm>
            <a:off x="914301" y="1233951"/>
            <a:ext cx="16953181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11"/>
          <p:cNvSpPr/>
          <p:nvPr/>
        </p:nvSpPr>
        <p:spPr>
          <a:xfrm>
            <a:off x="914301" y="2247305"/>
            <a:ext cx="4837080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p111"/>
          <p:cNvSpPr/>
          <p:nvPr/>
        </p:nvSpPr>
        <p:spPr>
          <a:xfrm>
            <a:off x="1134434" y="2372188"/>
            <a:ext cx="4541925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Regex = pattern để tìm/thay thế chuỗi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11"/>
          <p:cNvSpPr/>
          <p:nvPr/>
        </p:nvSpPr>
        <p:spPr>
          <a:xfrm>
            <a:off x="5922698" y="2247305"/>
            <a:ext cx="5580724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111"/>
          <p:cNvSpPr/>
          <p:nvPr/>
        </p:nvSpPr>
        <p:spPr>
          <a:xfrm>
            <a:off x="6142832" y="2372188"/>
            <a:ext cx="5307880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 số · w chữ/số · . bất kỳ · + nhiều · {n} n lần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111"/>
          <p:cNvSpPr/>
          <p:nvPr/>
        </p:nvSpPr>
        <p:spPr>
          <a:xfrm>
            <a:off x="11674740" y="2247305"/>
            <a:ext cx="521477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4" name="Google Shape;2954;p111"/>
          <p:cNvSpPr/>
          <p:nvPr/>
        </p:nvSpPr>
        <p:spPr>
          <a:xfrm>
            <a:off x="11894873" y="2372188"/>
            <a:ext cx="4930949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re.findall — tìm tất cả · re.sub — thay thế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111"/>
          <p:cNvSpPr/>
          <p:nvPr/>
        </p:nvSpPr>
        <p:spPr>
          <a:xfrm>
            <a:off x="914301" y="2954073"/>
            <a:ext cx="4672542" cy="535451"/>
          </a:xfrm>
          <a:prstGeom prst="roundRect">
            <a:avLst>
              <a:gd fmla="val 17789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6" name="Google Shape;2956;p111"/>
          <p:cNvSpPr/>
          <p:nvPr/>
        </p:nvSpPr>
        <p:spPr>
          <a:xfrm>
            <a:off x="1134434" y="3078956"/>
            <a:ext cx="4372451" cy="32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Kết hợp Pandas: df["col"].str.findall()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111"/>
          <p:cNvSpPr/>
          <p:nvPr/>
        </p:nvSpPr>
        <p:spPr>
          <a:xfrm>
            <a:off x="914301" y="3984790"/>
            <a:ext cx="6544634" cy="725951"/>
          </a:xfrm>
          <a:prstGeom prst="roundRect">
            <a:avLst>
              <a:gd fmla="val 15745" name="adj"/>
            </a:avLst>
          </a:prstGeom>
          <a:solidFill>
            <a:srgbClr val="3776AB">
              <a:alpha val="10196"/>
            </a:srgbClr>
          </a:solidFill>
          <a:ln cap="flat" cmpd="sng" w="10575">
            <a:solidFill>
              <a:srgbClr val="3776A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111"/>
          <p:cNvSpPr/>
          <p:nvPr/>
        </p:nvSpPr>
        <p:spPr>
          <a:xfrm>
            <a:off x="1210634" y="4204891"/>
            <a:ext cx="3239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p111"/>
          <p:cNvSpPr/>
          <p:nvPr/>
        </p:nvSpPr>
        <p:spPr>
          <a:xfrm>
            <a:off x="1629668" y="4204891"/>
            <a:ext cx="5698922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Bài tiếp: Mini-Project — Phân tích TMĐT Việt Nam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p112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112"/>
          <p:cNvSpPr/>
          <p:nvPr/>
        </p:nvSpPr>
        <p:spPr>
          <a:xfrm>
            <a:off x="1413867" y="4159250"/>
            <a:ext cx="1058300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112"/>
          <p:cNvSpPr/>
          <p:nvPr/>
        </p:nvSpPr>
        <p:spPr>
          <a:xfrm>
            <a:off x="1260574" y="4476750"/>
            <a:ext cx="136488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112"/>
          <p:cNvSpPr/>
          <p:nvPr/>
        </p:nvSpPr>
        <p:spPr>
          <a:xfrm>
            <a:off x="1531442" y="5905500"/>
            <a:ext cx="82315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~14 phút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112"/>
          <p:cNvSpPr/>
          <p:nvPr/>
        </p:nvSpPr>
        <p:spPr>
          <a:xfrm>
            <a:off x="4667250" y="3866059"/>
            <a:ext cx="13048299" cy="2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SECTION 2 — PYTHON CHO DATA SCIENCE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112"/>
          <p:cNvSpPr/>
          <p:nvPr/>
        </p:nvSpPr>
        <p:spPr>
          <a:xfrm>
            <a:off x="4667250" y="4365460"/>
            <a:ext cx="13048299" cy="1431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Mini-Project Phân Tích Dataset TMĐT Việt Nam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12"/>
          <p:cNvSpPr/>
          <p:nvPr/>
        </p:nvSpPr>
        <p:spPr>
          <a:xfrm>
            <a:off x="4667250" y="6063424"/>
            <a:ext cx="755551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112"/>
          <p:cNvSpPr/>
          <p:nvPr/>
        </p:nvSpPr>
        <p:spPr>
          <a:xfrm>
            <a:off x="4849284" y="6131157"/>
            <a:ext cx="46768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112"/>
          <p:cNvSpPr/>
          <p:nvPr/>
        </p:nvSpPr>
        <p:spPr>
          <a:xfrm>
            <a:off x="5537068" y="6063424"/>
            <a:ext cx="1571129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112"/>
          <p:cNvSpPr/>
          <p:nvPr/>
        </p:nvSpPr>
        <p:spPr>
          <a:xfrm>
            <a:off x="5719101" y="6131157"/>
            <a:ext cx="128326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112"/>
          <p:cNvSpPr/>
          <p:nvPr/>
        </p:nvSpPr>
        <p:spPr>
          <a:xfrm>
            <a:off x="7222464" y="6063424"/>
            <a:ext cx="1052380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112"/>
          <p:cNvSpPr/>
          <p:nvPr/>
        </p:nvSpPr>
        <p:spPr>
          <a:xfrm>
            <a:off x="7404497" y="6131157"/>
            <a:ext cx="764514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groupby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112"/>
          <p:cNvSpPr/>
          <p:nvPr/>
        </p:nvSpPr>
        <p:spPr>
          <a:xfrm>
            <a:off x="8389111" y="6063424"/>
            <a:ext cx="1429908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112"/>
          <p:cNvSpPr/>
          <p:nvPr/>
        </p:nvSpPr>
        <p:spPr>
          <a:xfrm>
            <a:off x="8571145" y="6131157"/>
            <a:ext cx="1142041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112"/>
          <p:cNvSpPr/>
          <p:nvPr/>
        </p:nvSpPr>
        <p:spPr>
          <a:xfrm>
            <a:off x="9933286" y="6063424"/>
            <a:ext cx="925215" cy="357518"/>
          </a:xfrm>
          <a:prstGeom prst="roundRect">
            <a:avLst>
              <a:gd fmla="val 50000" name="adj"/>
            </a:avLst>
          </a:prstGeom>
          <a:solidFill>
            <a:srgbClr val="1A2235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112"/>
          <p:cNvSpPr/>
          <p:nvPr/>
        </p:nvSpPr>
        <p:spPr>
          <a:xfrm>
            <a:off x="10115319" y="6131157"/>
            <a:ext cx="637348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113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113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Bài Toán &amp; Dataset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13"/>
          <p:cNvSpPr/>
          <p:nvPr/>
        </p:nvSpPr>
        <p:spPr>
          <a:xfrm>
            <a:off x="700941" y="2188766"/>
            <a:ext cx="6957226" cy="352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Dataset: đơn hàng sàn TMĐT 12 tháng — ~50,000 dòng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Câu hỏi kinh doanh cần trả lời: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Danh mục nào doanh thu cao nhất?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Xu hướng doanh thu theo tháng?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Khách hàng nào có giá trị cao nhất?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13"/>
          <p:cNvSpPr/>
          <p:nvPr/>
        </p:nvSpPr>
        <p:spPr>
          <a:xfrm>
            <a:off x="914301" y="6020759"/>
            <a:ext cx="6667666" cy="1106951"/>
          </a:xfrm>
          <a:prstGeom prst="roundRect">
            <a:avLst>
              <a:gd fmla="val 10326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113"/>
          <p:cNvSpPr/>
          <p:nvPr/>
        </p:nvSpPr>
        <p:spPr>
          <a:xfrm>
            <a:off x="1172435" y="6212087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113"/>
          <p:cNvSpPr/>
          <p:nvPr/>
        </p:nvSpPr>
        <p:spPr>
          <a:xfrm>
            <a:off x="1538552" y="6202660"/>
            <a:ext cx="5958838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Đặt câu hỏi trước khi phân tích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— không phải ngược lại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113"/>
          <p:cNvSpPr/>
          <p:nvPr/>
        </p:nvSpPr>
        <p:spPr>
          <a:xfrm>
            <a:off x="8039034" y="2188766"/>
            <a:ext cx="9334666" cy="5588000"/>
          </a:xfrm>
          <a:prstGeom prst="roundRect">
            <a:avLst>
              <a:gd fmla="val 2045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p113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113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113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113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113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113"/>
          <p:cNvSpPr/>
          <p:nvPr/>
        </p:nvSpPr>
        <p:spPr>
          <a:xfrm>
            <a:off x="8915467" y="2304025"/>
            <a:ext cx="1413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01_explore.py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13"/>
          <p:cNvSpPr/>
          <p:nvPr/>
        </p:nvSpPr>
        <p:spPr>
          <a:xfrm>
            <a:off x="8354417" y="2857434"/>
            <a:ext cx="8983304" cy="46991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 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"tmdt_vn.csv"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ma_dh  ngay_dat  ma_kh  san_pham  danh_muc  gia  sl  tinh # DH001  2024-01-05  KH123  Laptop  Điện tử  15M   1  HCM # DH002  2024-01-05  KH456  iPhone  Điện tử  25M   1  HN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50,000 rows × 9 cols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describe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thống kê mô tả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isna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đếm null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114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114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Làm Sạch Dữ Liệu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114"/>
          <p:cNvSpPr/>
          <p:nvPr/>
        </p:nvSpPr>
        <p:spPr>
          <a:xfrm>
            <a:off x="700941" y="2188766"/>
            <a:ext cx="6957226" cy="3527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Xử lý missing values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Sửa sai kiểu 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Xoá hàng trùng lặp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Chuẩn hoá text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80% thời gian phân tích là làm sạch — bình thường!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8" name="Google Shape;3008;p114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114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114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Google Shape;3011;p114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114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3" name="Google Shape;3013;p114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114"/>
          <p:cNvSpPr/>
          <p:nvPr/>
        </p:nvSpPr>
        <p:spPr>
          <a:xfrm>
            <a:off x="8915467" y="2304025"/>
            <a:ext cx="12072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02_clean.py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114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1. Sửa kiểu datetime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"ngay_dat"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to_datetime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"ngay_dat"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2. Xử lý missing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dropna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subset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"tinh"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fillna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"Khác"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3. Xoá trùng lặp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drop_duplicates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subset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"ma_dh"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4. Tạo cột tính toán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"gia"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*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"so_luong"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"ngay_dat"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dt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month 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"Còn:"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115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115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Phân Tích Bằng groupby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115"/>
          <p:cNvSpPr/>
          <p:nvPr/>
        </p:nvSpPr>
        <p:spPr>
          <a:xfrm>
            <a:off x="1200051" y="2231099"/>
            <a:ext cx="216078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Doanh thu theo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115"/>
          <p:cNvSpPr/>
          <p:nvPr/>
        </p:nvSpPr>
        <p:spPr>
          <a:xfrm>
            <a:off x="3475137" y="2188766"/>
            <a:ext cx="1527605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danh mục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115"/>
          <p:cNvSpPr/>
          <p:nvPr/>
        </p:nvSpPr>
        <p:spPr>
          <a:xfrm>
            <a:off x="1200051" y="2882470"/>
            <a:ext cx="359318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Xu hướng doanh thu theo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115"/>
          <p:cNvSpPr/>
          <p:nvPr/>
        </p:nvSpPr>
        <p:spPr>
          <a:xfrm>
            <a:off x="4879082" y="2840137"/>
            <a:ext cx="961397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tháng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115"/>
          <p:cNvSpPr/>
          <p:nvPr/>
        </p:nvSpPr>
        <p:spPr>
          <a:xfrm>
            <a:off x="1200051" y="3533841"/>
            <a:ext cx="991493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Top 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115"/>
          <p:cNvSpPr/>
          <p:nvPr/>
        </p:nvSpPr>
        <p:spPr>
          <a:xfrm>
            <a:off x="2305844" y="3491508"/>
            <a:ext cx="1796984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khách hàng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115"/>
          <p:cNvSpPr/>
          <p:nvPr/>
        </p:nvSpPr>
        <p:spPr>
          <a:xfrm>
            <a:off x="4217128" y="3533841"/>
            <a:ext cx="2075624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giá trị cao nhất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115"/>
          <p:cNvSpPr/>
          <p:nvPr/>
        </p:nvSpPr>
        <p:spPr>
          <a:xfrm>
            <a:off x="914301" y="4142879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Mỗi groupby trả lời 1 câu hỏi kinh doanh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115"/>
          <p:cNvSpPr/>
          <p:nvPr/>
        </p:nvSpPr>
        <p:spPr>
          <a:xfrm>
            <a:off x="8039034" y="2188766"/>
            <a:ext cx="9334666" cy="7141766"/>
          </a:xfrm>
          <a:prstGeom prst="roundRect">
            <a:avLst>
              <a:gd fmla="val 1600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115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115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p115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115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115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115"/>
          <p:cNvSpPr/>
          <p:nvPr/>
        </p:nvSpPr>
        <p:spPr>
          <a:xfrm>
            <a:off x="8915467" y="2304025"/>
            <a:ext cx="1413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03_analyze.py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115"/>
          <p:cNvSpPr/>
          <p:nvPr/>
        </p:nvSpPr>
        <p:spPr>
          <a:xfrm>
            <a:off x="8354417" y="2857434"/>
            <a:ext cx="8983304" cy="62529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Doanh thu theo danh mục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dt_dm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"danh_muc"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sort_values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ascending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False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800"/>
              <a:buFont typeface="Courier New"/>
              <a:buNone/>
            </a:pP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Xu hướng theo tháng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dt_thang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Top 10 khách hàng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top_kh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groupby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"ma_kh"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agg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tong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"sum"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so_don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=(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"ma_dh"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"count"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9D0D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nlargest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"tong"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116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116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Trực Quan Hoá Kết Quả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116"/>
          <p:cNvSpPr/>
          <p:nvPr/>
        </p:nvSpPr>
        <p:spPr>
          <a:xfrm>
            <a:off x="914301" y="2188766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Bar chart: doanh thu theo danh mục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116"/>
          <p:cNvSpPr/>
          <p:nvPr/>
        </p:nvSpPr>
        <p:spPr>
          <a:xfrm>
            <a:off x="914301" y="2840137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Line chart: xu hướng theo tháng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116"/>
          <p:cNvSpPr/>
          <p:nvPr/>
        </p:nvSpPr>
        <p:spPr>
          <a:xfrm>
            <a:off x="914301" y="3491508"/>
            <a:ext cx="686769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Heatmap: doanh thu theo tháng × vùng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p116"/>
          <p:cNvSpPr/>
          <p:nvPr/>
        </p:nvSpPr>
        <p:spPr>
          <a:xfrm>
            <a:off x="1200051" y="4185213"/>
            <a:ext cx="2312591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Mỗi biểu đồ kèm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116"/>
          <p:cNvSpPr/>
          <p:nvPr/>
        </p:nvSpPr>
        <p:spPr>
          <a:xfrm>
            <a:off x="3626942" y="4142879"/>
            <a:ext cx="1754816" cy="4799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 nhận định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1" name="Google Shape;3051;p116"/>
          <p:cNvSpPr/>
          <p:nvPr/>
        </p:nvSpPr>
        <p:spPr>
          <a:xfrm>
            <a:off x="5496058" y="4185213"/>
            <a:ext cx="104209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rõ ràng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116"/>
          <p:cNvSpPr/>
          <p:nvPr/>
        </p:nvSpPr>
        <p:spPr>
          <a:xfrm>
            <a:off x="8039034" y="2188766"/>
            <a:ext cx="9334666" cy="6753324"/>
          </a:xfrm>
          <a:prstGeom prst="roundRect">
            <a:avLst>
              <a:gd fmla="val 1692" name="adj"/>
            </a:avLst>
          </a:prstGeom>
          <a:solidFill>
            <a:srgbClr val="0D1117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116"/>
          <p:cNvSpPr/>
          <p:nvPr/>
        </p:nvSpPr>
        <p:spPr>
          <a:xfrm>
            <a:off x="8049617" y="2199349"/>
            <a:ext cx="9313499" cy="410435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116"/>
          <p:cNvSpPr/>
          <p:nvPr/>
        </p:nvSpPr>
        <p:spPr>
          <a:xfrm>
            <a:off x="8049617" y="2599201"/>
            <a:ext cx="9313499" cy="10583"/>
          </a:xfrm>
          <a:prstGeom prst="rect">
            <a:avLst/>
          </a:prstGeom>
          <a:solidFill>
            <a:srgbClr val="263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116"/>
          <p:cNvSpPr/>
          <p:nvPr/>
        </p:nvSpPr>
        <p:spPr>
          <a:xfrm>
            <a:off x="8220935" y="2337429"/>
            <a:ext cx="123693" cy="123693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6" name="Google Shape;3056;p116"/>
          <p:cNvSpPr/>
          <p:nvPr/>
        </p:nvSpPr>
        <p:spPr>
          <a:xfrm>
            <a:off x="8420696" y="2337429"/>
            <a:ext cx="123693" cy="123693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116"/>
          <p:cNvSpPr/>
          <p:nvPr/>
        </p:nvSpPr>
        <p:spPr>
          <a:xfrm>
            <a:off x="8620456" y="2337429"/>
            <a:ext cx="123693" cy="123693"/>
          </a:xfrm>
          <a:prstGeom prst="ellipse">
            <a:avLst/>
          </a:prstGeom>
          <a:solidFill>
            <a:srgbClr val="56D3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116"/>
          <p:cNvSpPr/>
          <p:nvPr/>
        </p:nvSpPr>
        <p:spPr>
          <a:xfrm>
            <a:off x="8915467" y="2304025"/>
            <a:ext cx="16185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68778F"/>
                </a:solidFill>
                <a:latin typeface="Courier New"/>
                <a:ea typeface="Courier New"/>
                <a:cs typeface="Courier New"/>
                <a:sym typeface="Courier New"/>
              </a:rPr>
              <a:t>04_visualize.py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p116"/>
          <p:cNvSpPr/>
          <p:nvPr/>
        </p:nvSpPr>
        <p:spPr>
          <a:xfrm>
            <a:off x="8354417" y="2857434"/>
            <a:ext cx="8983304" cy="5864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plotly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express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seaborn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Bar — top danh mục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bar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dt_dm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A657"/>
                </a:solidFill>
                <a:latin typeface="Courier New"/>
                <a:ea typeface="Courier New"/>
                <a:cs typeface="Courier New"/>
                <a:sym typeface="Courier New"/>
              </a:rPr>
              <a:t>10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"Top 10 Danh Mục"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fig1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Line — xu hướng tháng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fig2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dt_thang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reset_index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"thang"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"doanh_thu" 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56D364"/>
                </a:solidFill>
                <a:latin typeface="Courier New"/>
                <a:ea typeface="Courier New"/>
                <a:cs typeface="Courier New"/>
                <a:sym typeface="Courier New"/>
              </a:rPr>
              <a:t>"Xu Hướng Doanh Thu"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800" u="none" cap="none" strike="noStrike">
                <a:solidFill>
                  <a:srgbClr val="5A6472"/>
                </a:solidFill>
                <a:latin typeface="Courier New"/>
                <a:ea typeface="Courier New"/>
                <a:cs typeface="Courier New"/>
                <a:sym typeface="Courier New"/>
              </a:rPr>
              <a:t># Heatmap tương quan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sns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heatmap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800" u="none" cap="none" strike="noStrike">
                <a:solidFill>
                  <a:srgbClr val="39D0D8"/>
                </a:solidFill>
                <a:latin typeface="Courier New"/>
                <a:ea typeface="Courier New"/>
                <a:cs typeface="Courier New"/>
                <a:sym typeface="Courier New"/>
              </a:rPr>
              <a:t>corr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numeric_only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b="0" i="0" lang="en-US" sz="18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annot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800" u="none" cap="none" strike="noStrike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A"/>
        </a:solidFill>
      </p:bgPr>
    </p:bg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117"/>
          <p:cNvSpPr/>
          <p:nvPr/>
        </p:nvSpPr>
        <p:spPr>
          <a:xfrm>
            <a:off x="914301" y="1710531"/>
            <a:ext cx="16459399" cy="21167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117"/>
          <p:cNvSpPr/>
          <p:nvPr/>
        </p:nvSpPr>
        <p:spPr>
          <a:xfrm>
            <a:off x="914301" y="762000"/>
            <a:ext cx="16953181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Insight &amp; Kết Luận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117"/>
          <p:cNvSpPr/>
          <p:nvPr/>
        </p:nvSpPr>
        <p:spPr>
          <a:xfrm>
            <a:off x="914301" y="2188766"/>
            <a:ext cx="6667666" cy="1327547"/>
          </a:xfrm>
          <a:prstGeom prst="roundRect">
            <a:avLst>
              <a:gd fmla="val 8610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8" name="Google Shape;3068;p117"/>
          <p:cNvSpPr/>
          <p:nvPr/>
        </p:nvSpPr>
        <p:spPr>
          <a:xfrm>
            <a:off x="1172435" y="2389849"/>
            <a:ext cx="438051" cy="438051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117"/>
          <p:cNvSpPr/>
          <p:nvPr/>
        </p:nvSpPr>
        <p:spPr>
          <a:xfrm>
            <a:off x="1134335" y="2389849"/>
            <a:ext cx="514251" cy="476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117"/>
          <p:cNvSpPr/>
          <p:nvPr/>
        </p:nvSpPr>
        <p:spPr>
          <a:xfrm>
            <a:off x="1800986" y="2389849"/>
            <a:ext cx="5688532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Điện tử chiếm 42% doanh thu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117"/>
          <p:cNvSpPr/>
          <p:nvPr/>
        </p:nvSpPr>
        <p:spPr>
          <a:xfrm>
            <a:off x="1800986" y="2754974"/>
            <a:ext cx="5688532" cy="598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Danh mục Điện tử dẫn đầu, đặc biệt tháng 11–12 tăng đột biến do mùa lễ hội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117"/>
          <p:cNvSpPr/>
          <p:nvPr/>
        </p:nvSpPr>
        <p:spPr>
          <a:xfrm>
            <a:off x="914301" y="3725830"/>
            <a:ext cx="6667666" cy="1327547"/>
          </a:xfrm>
          <a:prstGeom prst="roundRect">
            <a:avLst>
              <a:gd fmla="val 8610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3" name="Google Shape;3073;p117"/>
          <p:cNvSpPr/>
          <p:nvPr/>
        </p:nvSpPr>
        <p:spPr>
          <a:xfrm>
            <a:off x="1172435" y="3926913"/>
            <a:ext cx="438051" cy="438051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p117"/>
          <p:cNvSpPr/>
          <p:nvPr/>
        </p:nvSpPr>
        <p:spPr>
          <a:xfrm>
            <a:off x="1134335" y="3926913"/>
            <a:ext cx="514251" cy="476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117"/>
          <p:cNvSpPr/>
          <p:nvPr/>
        </p:nvSpPr>
        <p:spPr>
          <a:xfrm>
            <a:off x="1800986" y="3926913"/>
            <a:ext cx="5688532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HCM + HN chiếm 68% tổng đơn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117"/>
          <p:cNvSpPr/>
          <p:nvPr/>
        </p:nvSpPr>
        <p:spPr>
          <a:xfrm>
            <a:off x="1800986" y="4292038"/>
            <a:ext cx="5688532" cy="598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2 thành phố lớn áp đảo — cơ hội phát triển ở miền Trung còn lớn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p117"/>
          <p:cNvSpPr/>
          <p:nvPr/>
        </p:nvSpPr>
        <p:spPr>
          <a:xfrm>
            <a:off x="914301" y="5262893"/>
            <a:ext cx="6667666" cy="1047419"/>
          </a:xfrm>
          <a:prstGeom prst="roundRect">
            <a:avLst>
              <a:gd fmla="val 10913" name="adj"/>
            </a:avLst>
          </a:prstGeom>
          <a:solidFill>
            <a:srgbClr val="131926"/>
          </a:solidFill>
          <a:ln cap="flat" cmpd="sng" w="10575">
            <a:solidFill>
              <a:srgbClr val="26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117"/>
          <p:cNvSpPr/>
          <p:nvPr/>
        </p:nvSpPr>
        <p:spPr>
          <a:xfrm>
            <a:off x="1172435" y="5463977"/>
            <a:ext cx="438051" cy="438051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117"/>
          <p:cNvSpPr/>
          <p:nvPr/>
        </p:nvSpPr>
        <p:spPr>
          <a:xfrm>
            <a:off x="1134335" y="5463977"/>
            <a:ext cx="514251" cy="476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117"/>
          <p:cNvSpPr/>
          <p:nvPr/>
        </p:nvSpPr>
        <p:spPr>
          <a:xfrm>
            <a:off x="1800986" y="5463977"/>
            <a:ext cx="45660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F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DDE3F0"/>
                </a:solidFill>
                <a:latin typeface="Arial"/>
                <a:ea typeface="Arial"/>
                <a:cs typeface="Arial"/>
                <a:sym typeface="Arial"/>
              </a:rPr>
              <a:t>Top 100 KH đóng góp 35% doanh thu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17"/>
          <p:cNvSpPr/>
          <p:nvPr/>
        </p:nvSpPr>
        <p:spPr>
          <a:xfrm>
            <a:off x="1800986" y="5829102"/>
            <a:ext cx="4566087" cy="318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8778F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68778F"/>
                </a:solidFill>
                <a:latin typeface="Arial"/>
                <a:ea typeface="Arial"/>
                <a:cs typeface="Arial"/>
                <a:sym typeface="Arial"/>
              </a:rPr>
              <a:t>Tập trung giữ chân nhóm VIP — tỷ lệ ROI tốt nhất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2" name="Google Shape;3082;p117"/>
          <p:cNvSpPr/>
          <p:nvPr/>
        </p:nvSpPr>
        <p:spPr>
          <a:xfrm>
            <a:off x="8039034" y="2188766"/>
            <a:ext cx="9334666" cy="1106951"/>
          </a:xfrm>
          <a:prstGeom prst="roundRect">
            <a:avLst>
              <a:gd fmla="val 10326" name="adj"/>
            </a:avLst>
          </a:prstGeom>
          <a:solidFill>
            <a:srgbClr val="FFD43B">
              <a:alpha val="7058"/>
            </a:srgbClr>
          </a:solidFill>
          <a:ln cap="flat" cmpd="sng" w="10575">
            <a:solidFill>
              <a:srgbClr val="FFD43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117"/>
          <p:cNvSpPr/>
          <p:nvPr/>
        </p:nvSpPr>
        <p:spPr>
          <a:xfrm>
            <a:off x="8297169" y="2380093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117"/>
          <p:cNvSpPr/>
          <p:nvPr/>
        </p:nvSpPr>
        <p:spPr>
          <a:xfrm>
            <a:off x="8663286" y="2370667"/>
            <a:ext cx="8705849" cy="78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Đây là kỹ năng Storytelling bằng dữ liệu </a:t>
            </a:r>
            <a:r>
              <a:rPr b="0" i="0" lang="en-US" sz="19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— insight phải dẫn đến hành động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5" name="Google Shape;3085;p117"/>
          <p:cNvSpPr/>
          <p:nvPr/>
        </p:nvSpPr>
        <p:spPr>
          <a:xfrm>
            <a:off x="8039034" y="3448017"/>
            <a:ext cx="9334666" cy="735376"/>
          </a:xfrm>
          <a:prstGeom prst="roundRect">
            <a:avLst>
              <a:gd fmla="val 15543" name="adj"/>
            </a:avLst>
          </a:prstGeom>
          <a:solidFill>
            <a:srgbClr val="3776AB">
              <a:alpha val="7843"/>
            </a:srgbClr>
          </a:solidFill>
          <a:ln cap="flat" cmpd="sng" w="10575">
            <a:solidFill>
              <a:srgbClr val="3776A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p117"/>
          <p:cNvSpPr/>
          <p:nvPr/>
        </p:nvSpPr>
        <p:spPr>
          <a:xfrm>
            <a:off x="8297169" y="3639344"/>
            <a:ext cx="309033" cy="3522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7" name="Google Shape;3087;p117"/>
          <p:cNvSpPr/>
          <p:nvPr/>
        </p:nvSpPr>
        <p:spPr>
          <a:xfrm>
            <a:off x="8663286" y="3629918"/>
            <a:ext cx="6771803" cy="4096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9FD4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Mỗi insight đi kèm </a:t>
            </a:r>
            <a:r>
              <a:rPr b="1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đề xuất hành động </a:t>
            </a:r>
            <a:r>
              <a:rPr b="0" i="0" lang="en-US" sz="1950" u="none" cap="none" strike="noStrike">
                <a:solidFill>
                  <a:srgbClr val="5A9FD4"/>
                </a:solidFill>
                <a:latin typeface="Arial"/>
                <a:ea typeface="Arial"/>
                <a:cs typeface="Arial"/>
                <a:sym typeface="Arial"/>
              </a:rPr>
              <a:t>cụ thể cho business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p118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118"/>
          <p:cNvSpPr/>
          <p:nvPr/>
        </p:nvSpPr>
        <p:spPr>
          <a:xfrm>
            <a:off x="6354749" y="3509863"/>
            <a:ext cx="5578502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Section 2 ✓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118"/>
          <p:cNvSpPr/>
          <p:nvPr/>
        </p:nvSpPr>
        <p:spPr>
          <a:xfrm>
            <a:off x="5869492" y="4824181"/>
            <a:ext cx="6549016" cy="4296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cho Data Science — Hoàn Thành!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p118"/>
          <p:cNvSpPr/>
          <p:nvPr/>
        </p:nvSpPr>
        <p:spPr>
          <a:xfrm>
            <a:off x="3990909" y="5558400"/>
            <a:ext cx="1755841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118"/>
          <p:cNvSpPr/>
          <p:nvPr/>
        </p:nvSpPr>
        <p:spPr>
          <a:xfrm>
            <a:off x="4172942" y="5645184"/>
            <a:ext cx="1391775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syntax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118"/>
          <p:cNvSpPr/>
          <p:nvPr/>
        </p:nvSpPr>
        <p:spPr>
          <a:xfrm>
            <a:off x="5861017" y="5558400"/>
            <a:ext cx="1150607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118"/>
          <p:cNvSpPr/>
          <p:nvPr/>
        </p:nvSpPr>
        <p:spPr>
          <a:xfrm>
            <a:off x="6043051" y="5645184"/>
            <a:ext cx="786540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118"/>
          <p:cNvSpPr/>
          <p:nvPr/>
        </p:nvSpPr>
        <p:spPr>
          <a:xfrm>
            <a:off x="7125891" y="5558400"/>
            <a:ext cx="1126960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118"/>
          <p:cNvSpPr/>
          <p:nvPr/>
        </p:nvSpPr>
        <p:spPr>
          <a:xfrm>
            <a:off x="7307925" y="5645184"/>
            <a:ext cx="762893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p118"/>
          <p:cNvSpPr/>
          <p:nvPr/>
        </p:nvSpPr>
        <p:spPr>
          <a:xfrm>
            <a:off x="8367118" y="5558400"/>
            <a:ext cx="905867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118"/>
          <p:cNvSpPr/>
          <p:nvPr/>
        </p:nvSpPr>
        <p:spPr>
          <a:xfrm>
            <a:off x="8549151" y="5645184"/>
            <a:ext cx="541801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OOP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118"/>
          <p:cNvSpPr/>
          <p:nvPr/>
        </p:nvSpPr>
        <p:spPr>
          <a:xfrm>
            <a:off x="9387252" y="5558400"/>
            <a:ext cx="1336642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p118"/>
          <p:cNvSpPr/>
          <p:nvPr/>
        </p:nvSpPr>
        <p:spPr>
          <a:xfrm>
            <a:off x="9569285" y="5645184"/>
            <a:ext cx="972575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p118"/>
          <p:cNvSpPr/>
          <p:nvPr/>
        </p:nvSpPr>
        <p:spPr>
          <a:xfrm>
            <a:off x="10838161" y="5558400"/>
            <a:ext cx="1232132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118"/>
          <p:cNvSpPr/>
          <p:nvPr/>
        </p:nvSpPr>
        <p:spPr>
          <a:xfrm>
            <a:off x="11020194" y="5645184"/>
            <a:ext cx="868065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118"/>
          <p:cNvSpPr/>
          <p:nvPr/>
        </p:nvSpPr>
        <p:spPr>
          <a:xfrm>
            <a:off x="12184559" y="5558400"/>
            <a:ext cx="952500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118"/>
          <p:cNvSpPr/>
          <p:nvPr/>
        </p:nvSpPr>
        <p:spPr>
          <a:xfrm>
            <a:off x="12366592" y="5645184"/>
            <a:ext cx="588433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118"/>
          <p:cNvSpPr/>
          <p:nvPr/>
        </p:nvSpPr>
        <p:spPr>
          <a:xfrm>
            <a:off x="13251326" y="5558400"/>
            <a:ext cx="1045766" cy="416719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057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118"/>
          <p:cNvSpPr/>
          <p:nvPr/>
        </p:nvSpPr>
        <p:spPr>
          <a:xfrm>
            <a:off x="13433359" y="5645184"/>
            <a:ext cx="681699" cy="281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118"/>
          <p:cNvSpPr/>
          <p:nvPr/>
        </p:nvSpPr>
        <p:spPr>
          <a:xfrm>
            <a:off x="6758120" y="6241686"/>
            <a:ext cx="4771761" cy="535451"/>
          </a:xfrm>
          <a:prstGeom prst="roundRect">
            <a:avLst>
              <a:gd fmla="val 50000" name="adj"/>
            </a:avLst>
          </a:prstGeom>
          <a:noFill/>
          <a:ln cap="flat" cmpd="sng" w="10575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118"/>
          <p:cNvSpPr/>
          <p:nvPr/>
        </p:nvSpPr>
        <p:spPr>
          <a:xfrm>
            <a:off x="6963827" y="6366570"/>
            <a:ext cx="436034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Section 3: SQL &amp; Truy Vấn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