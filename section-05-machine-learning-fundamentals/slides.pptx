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  <p:sldId id="352" r:id="rId101"/>
    <p:sldId id="353" r:id="rId102"/>
    <p:sldId id="354" r:id="rId103"/>
    <p:sldId id="355" r:id="rId104"/>
    <p:sldId id="356" r:id="rId105"/>
    <p:sldId id="357" r:id="rId106"/>
    <p:sldId id="358" r:id="rId107"/>
    <p:sldId id="359" r:id="rId108"/>
    <p:sldId id="360" r:id="rId109"/>
    <p:sldId id="361" r:id="rId110"/>
    <p:sldId id="362" r:id="rId111"/>
    <p:sldId id="363" r:id="rId112"/>
    <p:sldId id="364" r:id="rId113"/>
    <p:sldId id="365" r:id="rId114"/>
    <p:sldId id="366" r:id="rId115"/>
    <p:sldId id="367" r:id="rId116"/>
    <p:sldId id="368" r:id="rId117"/>
    <p:sldId id="369" r:id="rId118"/>
    <p:sldId id="370" r:id="rId119"/>
    <p:sldId id="371" r:id="rId120"/>
    <p:sldId id="372" r:id="rId121"/>
    <p:sldId id="373" r:id="rId122"/>
    <p:sldId id="374" r:id="rId123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07" Type="http://schemas.openxmlformats.org/officeDocument/2006/relationships/slide" Target="slides/slide103.xml"/><Relationship Id="rId106" Type="http://schemas.openxmlformats.org/officeDocument/2006/relationships/slide" Target="slides/slide102.xml"/><Relationship Id="rId105" Type="http://schemas.openxmlformats.org/officeDocument/2006/relationships/slide" Target="slides/slide101.xml"/><Relationship Id="rId104" Type="http://schemas.openxmlformats.org/officeDocument/2006/relationships/slide" Target="slides/slide100.xml"/><Relationship Id="rId109" Type="http://schemas.openxmlformats.org/officeDocument/2006/relationships/slide" Target="slides/slide105.xml"/><Relationship Id="rId108" Type="http://schemas.openxmlformats.org/officeDocument/2006/relationships/slide" Target="slides/slide104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103" Type="http://schemas.openxmlformats.org/officeDocument/2006/relationships/slide" Target="slides/slide99.xml"/><Relationship Id="rId102" Type="http://schemas.openxmlformats.org/officeDocument/2006/relationships/slide" Target="slides/slide98.xml"/><Relationship Id="rId101" Type="http://schemas.openxmlformats.org/officeDocument/2006/relationships/slide" Target="slides/slide97.xml"/><Relationship Id="rId100" Type="http://schemas.openxmlformats.org/officeDocument/2006/relationships/slide" Target="slides/slide96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121" Type="http://schemas.openxmlformats.org/officeDocument/2006/relationships/slide" Target="slides/slide117.xml"/><Relationship Id="rId25" Type="http://schemas.openxmlformats.org/officeDocument/2006/relationships/slide" Target="slides/slide21.xml"/><Relationship Id="rId120" Type="http://schemas.openxmlformats.org/officeDocument/2006/relationships/slide" Target="slides/slide116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23" Type="http://schemas.openxmlformats.org/officeDocument/2006/relationships/slide" Target="slides/slide119.xml"/><Relationship Id="rId122" Type="http://schemas.openxmlformats.org/officeDocument/2006/relationships/slide" Target="slides/slide118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11" Type="http://schemas.openxmlformats.org/officeDocument/2006/relationships/slide" Target="slides/slide7.xml"/><Relationship Id="rId99" Type="http://schemas.openxmlformats.org/officeDocument/2006/relationships/slide" Target="slides/slide95.xml"/><Relationship Id="rId10" Type="http://schemas.openxmlformats.org/officeDocument/2006/relationships/slide" Target="slides/slide6.xml"/><Relationship Id="rId98" Type="http://schemas.openxmlformats.org/officeDocument/2006/relationships/slide" Target="slides/slide94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118" Type="http://schemas.openxmlformats.org/officeDocument/2006/relationships/slide" Target="slides/slide114.xml"/><Relationship Id="rId117" Type="http://schemas.openxmlformats.org/officeDocument/2006/relationships/slide" Target="slides/slide113.xml"/><Relationship Id="rId116" Type="http://schemas.openxmlformats.org/officeDocument/2006/relationships/slide" Target="slides/slide112.xml"/><Relationship Id="rId115" Type="http://schemas.openxmlformats.org/officeDocument/2006/relationships/slide" Target="slides/slide111.xml"/><Relationship Id="rId119" Type="http://schemas.openxmlformats.org/officeDocument/2006/relationships/slide" Target="slides/slide115.xml"/><Relationship Id="rId15" Type="http://schemas.openxmlformats.org/officeDocument/2006/relationships/slide" Target="slides/slide11.xml"/><Relationship Id="rId110" Type="http://schemas.openxmlformats.org/officeDocument/2006/relationships/slide" Target="slides/slide106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14" Type="http://schemas.openxmlformats.org/officeDocument/2006/relationships/slide" Target="slides/slide110.xml"/><Relationship Id="rId18" Type="http://schemas.openxmlformats.org/officeDocument/2006/relationships/slide" Target="slides/slide14.xml"/><Relationship Id="rId113" Type="http://schemas.openxmlformats.org/officeDocument/2006/relationships/slide" Target="slides/slide109.xml"/><Relationship Id="rId112" Type="http://schemas.openxmlformats.org/officeDocument/2006/relationships/slide" Target="slides/slide108.xml"/><Relationship Id="rId111" Type="http://schemas.openxmlformats.org/officeDocument/2006/relationships/slide" Target="slides/slide107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9" Type="http://schemas.openxmlformats.org/officeDocument/2006/relationships/slide" Target="slides/slide85.xml"/><Relationship Id="rId80" Type="http://schemas.openxmlformats.org/officeDocument/2006/relationships/slide" Target="slides/slide76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69" Type="http://schemas.openxmlformats.org/officeDocument/2006/relationships/slide" Target="slides/slide6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9" Type="http://schemas.openxmlformats.org/officeDocument/2006/relationships/slide" Target="slides/slide55.xml"/><Relationship Id="rId58" Type="http://schemas.openxmlformats.org/officeDocument/2006/relationships/slide" Target="slides/slide5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8" name="Google Shape;51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4" name="Google Shape;53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7" name="Google Shape;55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7" name="Google Shape;56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5" name="Google Shape;58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" name="Google Shape;60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" name="Google Shape;61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9" name="Google Shape;629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2" name="Google Shape;65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5" name="Google Shape;675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1" name="Google Shape;691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0" name="Google Shape;710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5" name="Google Shape;725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8" name="Google Shape;748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8" name="Google Shape;758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6" name="Google Shape;786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0" name="Google Shape;800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9" name="Google Shape;819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3" name="Google Shape;833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6" name="Google Shape;856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6" name="Google Shape;866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1" name="Google Shape;881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2" name="Google Shape;902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6" name="Google Shape;916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5" name="Google Shape;945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8" name="Google Shape;968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8" name="Google Shape;978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4" name="Google Shape;994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7" name="Google Shape;1017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7" name="Google Shape;1037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3" name="Google Shape;1053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5" name="Google Shape;1075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8" name="Google Shape;1098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8" name="Google Shape;1108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1" name="Google Shape;1121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5" name="Google Shape;1135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2" name="Google Shape;1152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5" name="Google Shape;1165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8" name="Google Shape;1188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8" name="Google Shape;1198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2" name="Google Shape;1212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6" name="Google Shape;1226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5" name="Google Shape;1245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8" name="Google Shape;1268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8" name="Google Shape;1278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1" name="Google Shape;1291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2" name="Google Shape;1312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5" name="Google Shape;1325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9" name="Google Shape;1339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2" name="Google Shape;1362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2" name="Google Shape;1372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5" name="Google Shape;1385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4" name="Google Shape;1404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7" name="Google Shape;1417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p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0" name="Google Shape;1440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0" name="Google Shape;1450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" name="Google Shape;1451;p8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9" name="Google Shape;1469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2" name="Google Shape;1482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3" name="Google Shape;1483;p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8" name="Google Shape;1498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9" name="Google Shape;1499;p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4" name="Google Shape;1514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5" name="Google Shape;1515;p8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7" name="Google Shape;1537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5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Google Shape;1546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7" name="Google Shape;1547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8" name="Google Shape;1548;p8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5" name="Google Shape;1565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p8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4" name="Google Shape;1584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5" name="Google Shape;1585;p8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3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5" name="Google Shape;1605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6" name="Google Shape;1606;p9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8" name="Google Shape;1628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Google Shape;1629;p9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6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8" name="Google Shape;1638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9" name="Google Shape;1639;p9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p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9" name="Google Shape;1659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0" name="Google Shape;1660;p9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0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p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2" name="Google Shape;1702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3" name="Google Shape;1703;p9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4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p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6" name="Google Shape;1716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7" name="Google Shape;1717;p9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p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3" name="Google Shape;1733;p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9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4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p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6" name="Google Shape;1756;p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7" name="Google Shape;1757;p9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p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6" name="Google Shape;1766;p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7" name="Google Shape;1767;p9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2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p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4" name="Google Shape;1784;p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5" name="Google Shape;1785;p9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1" name="Shape 1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Google Shape;1802;p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3" name="Google Shape;1803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4" name="Google Shape;1804;p10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8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p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0" name="Google Shape;1820;p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1" name="Google Shape;1821;p10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p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3" name="Google Shape;1833;p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4" name="Google Shape;1834;p10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p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6" name="Google Shape;1856;p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7" name="Google Shape;1857;p10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4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p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6" name="Google Shape;1866;p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Google Shape;1867;p10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3" name="Google Shape;1883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4" name="Google Shape;1884;p10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0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Google Shape;1901;p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2" name="Google Shape;1902;p1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3" name="Google Shape;1903;p10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2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Google Shape;1923;p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4" name="Google Shape;1924;p1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5" name="Google Shape;1925;p10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5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7" name="Google Shape;1947;p10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8" name="Google Shape;1948;p10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5" name="Shape 1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p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7" name="Google Shape;1957;p1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8" name="Google Shape;1958;p10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p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3" name="Google Shape;1973;p1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4" name="Google Shape;1974;p1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7" name="Shape 1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8" name="Google Shape;1988;p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9" name="Google Shape;1989;p1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0" name="Google Shape;1990;p1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6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p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8" name="Google Shape;2008;p1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9" name="Google Shape;2009;p1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9" name="Shape 2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0" name="Google Shape;2030;p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1" name="Google Shape;2031;p1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2" name="Google Shape;2032;p1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9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Google Shape;2040;p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1" name="Google Shape;2041;p1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2" name="Google Shape;2042;p1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5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p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7" name="Google Shape;2057;p1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8" name="Google Shape;2058;p1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0" name="Shape 2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1" name="Google Shape;2071;p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2" name="Google Shape;2072;p1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3" name="Google Shape;2073;p1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4" name="Shape 2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5" name="Google Shape;2115;p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6" name="Google Shape;2116;p1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7" name="Google Shape;2117;p1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8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" name="Google Shape;2129;p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0" name="Google Shape;2130;p1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1" name="Google Shape;2131;p1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6" name="Shape 2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" name="Google Shape;2157;p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8" name="Google Shape;2158;p1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9" name="Google Shape;2159;p1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0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4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8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3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9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0F1A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143000" y="2357851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MASTERING AI &amp; DATA SCIENCE · BATCH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143000" y="2792760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SECTION 05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143000" y="3170535"/>
            <a:ext cx="12753976" cy="22410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850"/>
              <a:buFont typeface="Arial"/>
              <a:buNone/>
            </a:pPr>
            <a:r>
              <a:rPr b="1" i="0" lang="en-US" sz="8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Machine Learning </a:t>
            </a:r>
            <a:r>
              <a:rPr b="1" i="0" lang="en-US" sz="88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Fundamentals</a:t>
            </a:r>
            <a:endParaRPr b="0" i="0" sz="8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143000" y="5735423"/>
            <a:ext cx="11576685" cy="14095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Triển khai &amp; đánh giá các thuật toán ML cốt lõi — hồi quy, phân lớp, phân cụm, ensemble, recommender — tinh chỉnh hyperparameter và hoàn thành Capstone churn.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143000" y="7545007"/>
            <a:ext cx="2038863" cy="479392"/>
          </a:xfrm>
          <a:prstGeom prst="roundRect">
            <a:avLst>
              <a:gd fmla="val 50000" name="adj"/>
            </a:avLst>
          </a:prstGeom>
          <a:solidFill>
            <a:srgbClr val="22D3EE">
              <a:alpha val="5098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357842" y="7655074"/>
            <a:ext cx="1685379" cy="2973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20 LECTURES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334246" y="7545007"/>
            <a:ext cx="2038863" cy="479392"/>
          </a:xfrm>
          <a:prstGeom prst="roundRect">
            <a:avLst>
              <a:gd fmla="val 50000" name="adj"/>
            </a:avLst>
          </a:prstGeom>
          <a:solidFill>
            <a:srgbClr val="22D3EE">
              <a:alpha val="5098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3549088" y="7655074"/>
            <a:ext cx="1685379" cy="2973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~119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525492" y="7545007"/>
            <a:ext cx="1746333" cy="479392"/>
          </a:xfrm>
          <a:prstGeom prst="roundRect">
            <a:avLst>
              <a:gd fmla="val 50000" name="adj"/>
            </a:avLst>
          </a:prstGeom>
          <a:solidFill>
            <a:srgbClr val="22D3EE">
              <a:alpha val="5098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5740334" y="7655074"/>
            <a:ext cx="1392849" cy="2973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~170 PHÚT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0E1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1143000" y="3314816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LECTURE 01 · ~8 PHÚT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143000" y="3902191"/>
            <a:ext cx="16482061" cy="1332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50"/>
              <a:buFont typeface="Courier New"/>
              <a:buNone/>
            </a:pPr>
            <a:r>
              <a:rPr b="1" i="0" lang="en-US" sz="118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1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143000" y="5329701"/>
            <a:ext cx="12753976" cy="810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ML là gì?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143000" y="6292784"/>
            <a:ext cx="16482061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2850"/>
              <a:buFont typeface="Courier New"/>
              <a:buNone/>
            </a:pPr>
            <a:r>
              <a:rPr b="0" i="0" lang="en-US" sz="285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Supervised vs Unsupervised vs Reinforcement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L01 · ML FUNDAMENTALS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Lập trình truyền thống vs Machine Learning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1143000" y="4378937"/>
            <a:ext cx="3126879" cy="1248668"/>
          </a:xfrm>
          <a:prstGeom prst="roundRect">
            <a:avLst>
              <a:gd fmla="val 12205" name="adj"/>
            </a:avLst>
          </a:prstGeom>
          <a:noFill/>
          <a:ln cap="flat" cmpd="sng" w="9525">
            <a:solidFill>
              <a:srgbClr val="FFFFFF">
                <a:alpha val="9019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1472076" y="4626571"/>
            <a:ext cx="2054126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Truyền thống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1472076" y="5088930"/>
            <a:ext cx="254492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if / else thủ công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4555629" y="4378937"/>
            <a:ext cx="1892515" cy="1248668"/>
          </a:xfrm>
          <a:prstGeom prst="roundRect">
            <a:avLst>
              <a:gd fmla="val 12205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4884705" y="4626571"/>
            <a:ext cx="1077813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Dữ liệu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4884705" y="5088930"/>
            <a:ext cx="13105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+ Quy tắc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6733894" y="4784163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7457860" y="4559846"/>
            <a:ext cx="1831661" cy="886768"/>
          </a:xfrm>
          <a:prstGeom prst="roundRect">
            <a:avLst>
              <a:gd fmla="val 17186" name="adj"/>
            </a:avLst>
          </a:prstGeom>
          <a:solidFill>
            <a:srgbClr val="11161F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16200000" dist="50800">
              <a:srgbClr val="22D3EE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7787002" y="4812787"/>
            <a:ext cx="1249578" cy="418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Kết quả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1143000" y="6199105"/>
            <a:ext cx="3321513" cy="1248668"/>
          </a:xfrm>
          <a:prstGeom prst="roundRect">
            <a:avLst>
              <a:gd fmla="val 12205" name="adj"/>
            </a:avLst>
          </a:prstGeom>
          <a:noFill/>
          <a:ln cap="flat" cmpd="sng" w="9525">
            <a:solidFill>
              <a:srgbClr val="C792EA">
                <a:alpha val="50196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1472076" y="6446738"/>
            <a:ext cx="2743263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Machine Learning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1472076" y="6909098"/>
            <a:ext cx="274326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máy tự tìm quy luật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750263" y="6199105"/>
            <a:ext cx="1892515" cy="1248668"/>
          </a:xfrm>
          <a:prstGeom prst="roundRect">
            <a:avLst>
              <a:gd fmla="val 12205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5079339" y="6446738"/>
            <a:ext cx="1077813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Dữ liệu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079339" y="6909098"/>
            <a:ext cx="13105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+ Kết quả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6928528" y="6604331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7652495" y="6199105"/>
            <a:ext cx="1852662" cy="1248668"/>
          </a:xfrm>
          <a:prstGeom prst="roundRect">
            <a:avLst>
              <a:gd fmla="val 12205" name="adj"/>
            </a:avLst>
          </a:prstGeom>
          <a:solidFill>
            <a:srgbClr val="11161F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16200000" dist="50800">
              <a:srgbClr val="22D3EE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7981570" y="6446738"/>
            <a:ext cx="1270711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Quy tắc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7981570" y="6909098"/>
            <a:ext cx="127071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model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L01 · SUPERVISED LEARNING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Học từ dữ liệu </a:t>
            </a:r>
            <a:r>
              <a:rPr b="1" i="0" lang="en-US" sz="37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có nhãn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1581134" y="4651540"/>
            <a:ext cx="6466494" cy="947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Mỗi mẫu dữ liệu đi kèm một nhãn đúng (label)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1581134" y="5693586"/>
            <a:ext cx="7495430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Model học ánh xạ input → label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1581134" y="6340823"/>
            <a:ext cx="3108866" cy="440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Hai bài toán chính: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4699992" y="6309072"/>
            <a:ext cx="1395561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hồi quy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6119896" y="6340823"/>
            <a:ext cx="317715" cy="440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6461952" y="6309072"/>
            <a:ext cx="1658656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phân lớp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1581134" y="6876108"/>
            <a:ext cx="7495430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Phổ biến nhất trong doanh nghiệp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9429751" y="3364095"/>
            <a:ext cx="7715251" cy="1248668"/>
          </a:xfrm>
          <a:prstGeom prst="roundRect">
            <a:avLst>
              <a:gd fmla="val 12205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9758826" y="3611728"/>
            <a:ext cx="841589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9758826" y="4074087"/>
            <a:ext cx="72688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features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9429751" y="4822279"/>
            <a:ext cx="7946708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9429751" y="5469930"/>
            <a:ext cx="7715251" cy="1248668"/>
          </a:xfrm>
          <a:prstGeom prst="roundRect">
            <a:avLst>
              <a:gd fmla="val 12205" name="adj"/>
            </a:avLst>
          </a:prstGeom>
          <a:solidFill>
            <a:srgbClr val="11161F"/>
          </a:solidFill>
          <a:ln cap="flat" cmpd="sng" w="9525">
            <a:solidFill>
              <a:srgbClr val="C792EA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9758826" y="5717563"/>
            <a:ext cx="1178437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+ Label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9758826" y="6179923"/>
            <a:ext cx="72688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đáp án đúng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9429751" y="6928115"/>
            <a:ext cx="7946708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9429751" y="7575765"/>
            <a:ext cx="7715251" cy="886768"/>
          </a:xfrm>
          <a:prstGeom prst="roundRect">
            <a:avLst>
              <a:gd fmla="val 17186" name="adj"/>
            </a:avLst>
          </a:prstGeom>
          <a:solidFill>
            <a:srgbClr val="11161F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16200000" dist="50800">
              <a:srgbClr val="22D3EE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9758892" y="7828707"/>
            <a:ext cx="7288425" cy="418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L01 · UNSUPERVISED LEARNING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Học từ dữ liệu </a:t>
            </a:r>
            <a:r>
              <a:rPr b="1" i="0" lang="en-US" sz="3750" u="none" cap="none" strike="noStrike">
                <a:solidFill>
                  <a:srgbClr val="C792EA"/>
                </a:solidFill>
                <a:latin typeface="Arial"/>
                <a:ea typeface="Arial"/>
                <a:cs typeface="Arial"/>
                <a:sym typeface="Arial"/>
              </a:rPr>
              <a:t>không nhãn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1581134" y="4904879"/>
            <a:ext cx="7129486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Không có đáp án — máy tự tìm cấu trúc ẩn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1581134" y="5440164"/>
            <a:ext cx="7495430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Tìm quy luật trong dữ liệu thô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1581134" y="6087401"/>
            <a:ext cx="2714733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Hai nhóm chính: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4317339" y="6055651"/>
            <a:ext cx="1844030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phân cụm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6185711" y="6087401"/>
            <a:ext cx="317715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6527767" y="6055651"/>
            <a:ext cx="2060823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giảm chiều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1581134" y="6622686"/>
            <a:ext cx="7495430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Clustering · dimensionality reduction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9429751" y="4236062"/>
            <a:ext cx="7715251" cy="1248668"/>
          </a:xfrm>
          <a:prstGeom prst="roundRect">
            <a:avLst>
              <a:gd fmla="val 12205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9758826" y="4483696"/>
            <a:ext cx="1658160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Dữ liệu thô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9758826" y="4946055"/>
            <a:ext cx="72688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không nhãn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9429751" y="5694247"/>
            <a:ext cx="7946708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9429751" y="6341897"/>
            <a:ext cx="7715251" cy="1248668"/>
          </a:xfrm>
          <a:prstGeom prst="roundRect">
            <a:avLst>
              <a:gd fmla="val 12205" name="adj"/>
            </a:avLst>
          </a:prstGeom>
          <a:solidFill>
            <a:srgbClr val="11161F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16200000" dist="50800">
              <a:srgbClr val="22D3EE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9758826" y="6589531"/>
            <a:ext cx="2088852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Tự gom nhóm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9758826" y="7051890"/>
            <a:ext cx="72688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cấu trúc ẩn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L01 · REINFORCEMENT LEARNING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Học qua </a:t>
            </a:r>
            <a:r>
              <a:rPr b="1" i="0" lang="en-US" sz="37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thử – sai </a:t>
            </a: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&amp; phần thưởng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3555918" y="5069913"/>
            <a:ext cx="1560380" cy="886768"/>
          </a:xfrm>
          <a:prstGeom prst="roundRect">
            <a:avLst>
              <a:gd fmla="val 17186" name="adj"/>
            </a:avLst>
          </a:prstGeom>
          <a:solidFill>
            <a:srgbClr val="11161F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16200000" dist="50800">
              <a:srgbClr val="22D3EE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"/>
          <p:cNvSpPr/>
          <p:nvPr/>
        </p:nvSpPr>
        <p:spPr>
          <a:xfrm>
            <a:off x="3885059" y="5322855"/>
            <a:ext cx="978297" cy="418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5402048" y="5294230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6126014" y="4889004"/>
            <a:ext cx="1892515" cy="1248668"/>
          </a:xfrm>
          <a:prstGeom prst="roundRect">
            <a:avLst>
              <a:gd fmla="val 12205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"/>
          <p:cNvSpPr/>
          <p:nvPr/>
        </p:nvSpPr>
        <p:spPr>
          <a:xfrm>
            <a:off x="6455090" y="5136638"/>
            <a:ext cx="1075663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6455090" y="5598997"/>
            <a:ext cx="13105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hành động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8304279" y="5294230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9028245" y="5069913"/>
            <a:ext cx="2527184" cy="886768"/>
          </a:xfrm>
          <a:prstGeom prst="roundRect">
            <a:avLst>
              <a:gd fmla="val 17186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"/>
          <p:cNvSpPr/>
          <p:nvPr/>
        </p:nvSpPr>
        <p:spPr>
          <a:xfrm>
            <a:off x="9357387" y="5322855"/>
            <a:ext cx="1945101" cy="418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Environment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11841180" y="5294230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12565146" y="4889004"/>
            <a:ext cx="2166855" cy="1248668"/>
          </a:xfrm>
          <a:prstGeom prst="roundRect">
            <a:avLst>
              <a:gd fmla="val 12205" name="adj"/>
            </a:avLst>
          </a:prstGeom>
          <a:solidFill>
            <a:srgbClr val="11161F"/>
          </a:solidFill>
          <a:ln cap="flat" cmpd="sng" w="9525">
            <a:solidFill>
              <a:srgbClr val="C792EA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"/>
          <p:cNvSpPr/>
          <p:nvPr/>
        </p:nvSpPr>
        <p:spPr>
          <a:xfrm>
            <a:off x="12894221" y="5136638"/>
            <a:ext cx="1217133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Reward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12894221" y="5598997"/>
            <a:ext cx="158490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phần thưởng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902970" y="6651956"/>
            <a:ext cx="1648206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Ví dụ: chơi game · điều khiển robot · hệ gợi ý — sẽ đào sâu ở section riêng.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L01 · TÓM TẮT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Ba loại Machine Learning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1143000" y="3389809"/>
            <a:ext cx="533433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000"/>
              <a:buFont typeface="Courier New"/>
              <a:buNone/>
            </a:pPr>
            <a:r>
              <a:rPr b="1" i="0" lang="en-US" sz="30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1866884" y="3310434"/>
            <a:ext cx="2311350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Supervised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1866884" y="3882430"/>
            <a:ext cx="5131482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Học từ dữ liệu có nhãn — hồi quy &amp; phân lớp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1143000" y="4528840"/>
            <a:ext cx="533433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000"/>
              <a:buFont typeface="Courier New"/>
              <a:buNone/>
            </a:pPr>
            <a:r>
              <a:rPr b="1" i="0" lang="en-US" sz="30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1866884" y="4449465"/>
            <a:ext cx="2794190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Unsupervised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1866884" y="5021461"/>
            <a:ext cx="6084198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Học từ dữ liệu không nhãn — phân cụm &amp; giảm chiều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1143000" y="5667871"/>
            <a:ext cx="533433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000"/>
              <a:buFont typeface="Courier New"/>
              <a:buNone/>
            </a:pPr>
            <a:r>
              <a:rPr b="1" i="0" lang="en-US" sz="30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1866884" y="5588496"/>
            <a:ext cx="3003521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Reinforcement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1866884" y="6160493"/>
            <a:ext cx="3798855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Học qua thử – sai &amp; phần thưởng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1143000" y="8468817"/>
            <a:ext cx="16002001" cy="1037167"/>
          </a:xfrm>
          <a:prstGeom prst="roundRect">
            <a:avLst>
              <a:gd fmla="val 16531" name="adj"/>
            </a:avLst>
          </a:prstGeom>
          <a:solidFill>
            <a:srgbClr val="22D3EE">
              <a:alpha val="3921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1510192" y="8857754"/>
            <a:ext cx="1429461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3091987" y="8759858"/>
            <a:ext cx="6206918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Pipeline ML — quy trình một dự án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16339592" y="8768292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0E1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"/>
          <p:cNvSpPr/>
          <p:nvPr/>
        </p:nvSpPr>
        <p:spPr>
          <a:xfrm>
            <a:off x="1143000" y="3314816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LECTURE 02 · ~9 PHÚT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1143000" y="3902191"/>
            <a:ext cx="16482061" cy="1332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50"/>
              <a:buFont typeface="Courier New"/>
              <a:buNone/>
            </a:pPr>
            <a:r>
              <a:rPr b="1" i="0" lang="en-US" sz="118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1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1143000" y="5329701"/>
            <a:ext cx="12753976" cy="810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Pipeline ML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1143000" y="6292784"/>
            <a:ext cx="16482061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2850"/>
              <a:buFont typeface="Courier New"/>
              <a:buNone/>
            </a:pPr>
            <a:r>
              <a:rPr b="0" i="0" lang="en-US" sz="285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data → feature → model → eval → deploy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L02 · BƯỚC 1–2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Data &amp; Feature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1143000" y="2320727"/>
            <a:ext cx="2758529" cy="1077268"/>
          </a:xfrm>
          <a:prstGeom prst="roundRect">
            <a:avLst>
              <a:gd fmla="val 12379" name="adj"/>
            </a:avLst>
          </a:prstGeom>
          <a:solidFill>
            <a:srgbClr val="22D3EE">
              <a:alpha val="5882"/>
            </a:srgbClr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16200000" dist="50800">
              <a:srgbClr val="22D3EE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"/>
          <p:cNvSpPr/>
          <p:nvPr/>
        </p:nvSpPr>
        <p:spPr>
          <a:xfrm>
            <a:off x="1262575" y="2535535"/>
            <a:ext cx="251937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2217953" y="2870977"/>
            <a:ext cx="684742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4034813" y="2716444"/>
            <a:ext cx="361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4453847" y="2320727"/>
            <a:ext cx="2758612" cy="1077268"/>
          </a:xfrm>
          <a:prstGeom prst="roundRect">
            <a:avLst>
              <a:gd fmla="val 12379" name="adj"/>
            </a:avLst>
          </a:prstGeom>
          <a:solidFill>
            <a:srgbClr val="22D3EE">
              <a:alpha val="5882"/>
            </a:srgbClr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16200000" dist="50800">
              <a:srgbClr val="22D3EE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1"/>
          <p:cNvSpPr/>
          <p:nvPr/>
        </p:nvSpPr>
        <p:spPr>
          <a:xfrm>
            <a:off x="4573422" y="2535535"/>
            <a:ext cx="2519462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5356903" y="2870977"/>
            <a:ext cx="1028700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7345743" y="2716444"/>
            <a:ext cx="361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7764777" y="2320727"/>
            <a:ext cx="2758529" cy="1077268"/>
          </a:xfrm>
          <a:prstGeom prst="roundRect">
            <a:avLst>
              <a:gd fmla="val 12379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"/>
          <p:cNvSpPr/>
          <p:nvPr/>
        </p:nvSpPr>
        <p:spPr>
          <a:xfrm>
            <a:off x="7884352" y="2535535"/>
            <a:ext cx="251937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8764820" y="2870977"/>
            <a:ext cx="834562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10656590" y="2716444"/>
            <a:ext cx="361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11075624" y="2320727"/>
            <a:ext cx="2758529" cy="1077268"/>
          </a:xfrm>
          <a:prstGeom prst="roundRect">
            <a:avLst>
              <a:gd fmla="val 12379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"/>
          <p:cNvSpPr/>
          <p:nvPr/>
        </p:nvSpPr>
        <p:spPr>
          <a:xfrm>
            <a:off x="11195199" y="2535535"/>
            <a:ext cx="251937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11912121" y="2870977"/>
            <a:ext cx="1161654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13967437" y="2716444"/>
            <a:ext cx="361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14386472" y="2320727"/>
            <a:ext cx="2758529" cy="1077268"/>
          </a:xfrm>
          <a:prstGeom prst="roundRect">
            <a:avLst>
              <a:gd fmla="val 12379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"/>
          <p:cNvSpPr/>
          <p:nvPr/>
        </p:nvSpPr>
        <p:spPr>
          <a:xfrm>
            <a:off x="14506046" y="2535535"/>
            <a:ext cx="251937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15333019" y="2870977"/>
            <a:ext cx="941553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Deploy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1581134" y="5674734"/>
            <a:ext cx="5285457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Thu thập &amp; làm sạch dữ liệu thô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1581134" y="6210019"/>
            <a:ext cx="8290084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Raw → clean → feature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1581134" y="6851964"/>
            <a:ext cx="5554145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Tạo feature có ý nghĩa cho model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1581134" y="7387250"/>
            <a:ext cx="8290084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Biến dữ liệu thành tín hiệu học được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10201259" y="5343260"/>
            <a:ext cx="6943742" cy="2674524"/>
          </a:xfrm>
          <a:prstGeom prst="roundRect">
            <a:avLst>
              <a:gd fmla="val 6410" name="adj"/>
            </a:avLst>
          </a:prstGeom>
          <a:solidFill>
            <a:srgbClr val="22D3EE">
              <a:alpha val="5098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1"/>
          <p:cNvSpPr/>
          <p:nvPr/>
        </p:nvSpPr>
        <p:spPr>
          <a:xfrm>
            <a:off x="10606568" y="5710453"/>
            <a:ext cx="6317118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GHI CHÚ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10606568" y="6445912"/>
            <a:ext cx="6317118" cy="9189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80% công sức của một dự án ML nằm ở bước này.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L02 · BƯỚC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1143000" y="2320727"/>
            <a:ext cx="2758529" cy="1077268"/>
          </a:xfrm>
          <a:prstGeom prst="roundRect">
            <a:avLst>
              <a:gd fmla="val 12379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2"/>
          <p:cNvSpPr/>
          <p:nvPr/>
        </p:nvSpPr>
        <p:spPr>
          <a:xfrm>
            <a:off x="1262575" y="2535535"/>
            <a:ext cx="251937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2217953" y="2870977"/>
            <a:ext cx="684742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4034813" y="2716444"/>
            <a:ext cx="361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4453847" y="2320727"/>
            <a:ext cx="2758612" cy="1077268"/>
          </a:xfrm>
          <a:prstGeom prst="roundRect">
            <a:avLst>
              <a:gd fmla="val 12379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"/>
          <p:cNvSpPr/>
          <p:nvPr/>
        </p:nvSpPr>
        <p:spPr>
          <a:xfrm>
            <a:off x="4573422" y="2535535"/>
            <a:ext cx="2519462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5356903" y="2870977"/>
            <a:ext cx="1028700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7345743" y="2716444"/>
            <a:ext cx="361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7764777" y="2320727"/>
            <a:ext cx="2758529" cy="1077268"/>
          </a:xfrm>
          <a:prstGeom prst="roundRect">
            <a:avLst>
              <a:gd fmla="val 12379" name="adj"/>
            </a:avLst>
          </a:prstGeom>
          <a:solidFill>
            <a:srgbClr val="22D3EE">
              <a:alpha val="5882"/>
            </a:srgbClr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16200000" dist="50800">
              <a:srgbClr val="22D3EE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"/>
          <p:cNvSpPr/>
          <p:nvPr/>
        </p:nvSpPr>
        <p:spPr>
          <a:xfrm>
            <a:off x="7884352" y="2535535"/>
            <a:ext cx="251937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8764820" y="2870977"/>
            <a:ext cx="834562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10656590" y="2716444"/>
            <a:ext cx="361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11075624" y="2320727"/>
            <a:ext cx="2758529" cy="1077268"/>
          </a:xfrm>
          <a:prstGeom prst="roundRect">
            <a:avLst>
              <a:gd fmla="val 12379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"/>
          <p:cNvSpPr/>
          <p:nvPr/>
        </p:nvSpPr>
        <p:spPr>
          <a:xfrm>
            <a:off x="11195199" y="2535535"/>
            <a:ext cx="251937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11912121" y="2870977"/>
            <a:ext cx="1161654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13967437" y="2716444"/>
            <a:ext cx="361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14386472" y="2320727"/>
            <a:ext cx="2758529" cy="1077268"/>
          </a:xfrm>
          <a:prstGeom prst="roundRect">
            <a:avLst>
              <a:gd fmla="val 12379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"/>
          <p:cNvSpPr/>
          <p:nvPr/>
        </p:nvSpPr>
        <p:spPr>
          <a:xfrm>
            <a:off x="14506046" y="2535535"/>
            <a:ext cx="251937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15333019" y="2870977"/>
            <a:ext cx="941553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Deploy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1581134" y="6263349"/>
            <a:ext cx="4933223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Chọn &amp; huấn luyện thuật toán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1581134" y="6798634"/>
            <a:ext cx="8290084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Feature → model học quy luật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10201259" y="5343260"/>
            <a:ext cx="6943742" cy="2674524"/>
          </a:xfrm>
          <a:prstGeom prst="roundRect">
            <a:avLst>
              <a:gd fmla="val 6410" name="adj"/>
            </a:avLst>
          </a:prstGeom>
          <a:solidFill>
            <a:srgbClr val="22D3EE">
              <a:alpha val="5098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2"/>
          <p:cNvSpPr/>
          <p:nvPr/>
        </p:nvSpPr>
        <p:spPr>
          <a:xfrm>
            <a:off x="10606568" y="5710453"/>
            <a:ext cx="6317118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GHI CHÚ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10606568" y="6445912"/>
            <a:ext cx="6317118" cy="9189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Phần "ML" thực ra chỉ là một mắt xích trong cả quy trình.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L02 · BƯỚC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1143000" y="2320727"/>
            <a:ext cx="2758529" cy="1077268"/>
          </a:xfrm>
          <a:prstGeom prst="roundRect">
            <a:avLst>
              <a:gd fmla="val 12379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3"/>
          <p:cNvSpPr/>
          <p:nvPr/>
        </p:nvSpPr>
        <p:spPr>
          <a:xfrm>
            <a:off x="1262575" y="2535535"/>
            <a:ext cx="251937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2217953" y="2870977"/>
            <a:ext cx="684742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4034813" y="2716444"/>
            <a:ext cx="361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4453847" y="2320727"/>
            <a:ext cx="2758612" cy="1077268"/>
          </a:xfrm>
          <a:prstGeom prst="roundRect">
            <a:avLst>
              <a:gd fmla="val 12379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3"/>
          <p:cNvSpPr/>
          <p:nvPr/>
        </p:nvSpPr>
        <p:spPr>
          <a:xfrm>
            <a:off x="4573422" y="2535535"/>
            <a:ext cx="2519462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5356903" y="2870977"/>
            <a:ext cx="1028700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7345743" y="2716444"/>
            <a:ext cx="361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7764777" y="2320727"/>
            <a:ext cx="2758529" cy="1077268"/>
          </a:xfrm>
          <a:prstGeom prst="roundRect">
            <a:avLst>
              <a:gd fmla="val 12379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3"/>
          <p:cNvSpPr/>
          <p:nvPr/>
        </p:nvSpPr>
        <p:spPr>
          <a:xfrm>
            <a:off x="7884352" y="2535535"/>
            <a:ext cx="251937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8764820" y="2870977"/>
            <a:ext cx="834562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10656590" y="2716444"/>
            <a:ext cx="361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11075624" y="2320727"/>
            <a:ext cx="2758529" cy="1077268"/>
          </a:xfrm>
          <a:prstGeom prst="roundRect">
            <a:avLst>
              <a:gd fmla="val 12379" name="adj"/>
            </a:avLst>
          </a:prstGeom>
          <a:solidFill>
            <a:srgbClr val="22D3EE">
              <a:alpha val="5882"/>
            </a:srgbClr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16200000" dist="50800">
              <a:srgbClr val="22D3EE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3"/>
          <p:cNvSpPr/>
          <p:nvPr/>
        </p:nvSpPr>
        <p:spPr>
          <a:xfrm>
            <a:off x="11195199" y="2535535"/>
            <a:ext cx="251937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11912121" y="2870977"/>
            <a:ext cx="1161654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13967437" y="2716444"/>
            <a:ext cx="361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14386472" y="2320727"/>
            <a:ext cx="2758529" cy="1077268"/>
          </a:xfrm>
          <a:prstGeom prst="roundRect">
            <a:avLst>
              <a:gd fmla="val 12379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3"/>
          <p:cNvSpPr/>
          <p:nvPr/>
        </p:nvSpPr>
        <p:spPr>
          <a:xfrm>
            <a:off x="14506046" y="2535535"/>
            <a:ext cx="251937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15333019" y="2870977"/>
            <a:ext cx="941553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Deploy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1581134" y="5672088"/>
            <a:ext cx="3373723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Đo model tốt cỡ nào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1581134" y="6207373"/>
            <a:ext cx="8290084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Bằng metric phù hợp bài toán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1581134" y="6854610"/>
            <a:ext cx="3482731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Đánh giá trên dữ liệu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5062968" y="6822860"/>
            <a:ext cx="2812160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chưa từng thấy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1581134" y="7389895"/>
            <a:ext cx="8290084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Mô phỏng thực tế khi deploy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10201259" y="5563526"/>
            <a:ext cx="6943742" cy="2234076"/>
          </a:xfrm>
          <a:prstGeom prst="roundRect">
            <a:avLst>
              <a:gd fmla="val 7674" name="adj"/>
            </a:avLst>
          </a:prstGeom>
          <a:solidFill>
            <a:srgbClr val="22D3EE">
              <a:alpha val="5098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3"/>
          <p:cNvSpPr/>
          <p:nvPr/>
        </p:nvSpPr>
        <p:spPr>
          <a:xfrm>
            <a:off x="10606568" y="5930718"/>
            <a:ext cx="6317118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GHI CHÚ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10606568" y="6666177"/>
            <a:ext cx="6317118" cy="4785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Đánh giá sai = ảo tưởng thành công.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L02 · BƯỚC 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Deploy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1143000" y="2320727"/>
            <a:ext cx="2758529" cy="1077268"/>
          </a:xfrm>
          <a:prstGeom prst="roundRect">
            <a:avLst>
              <a:gd fmla="val 12379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4"/>
          <p:cNvSpPr/>
          <p:nvPr/>
        </p:nvSpPr>
        <p:spPr>
          <a:xfrm>
            <a:off x="1262575" y="2535535"/>
            <a:ext cx="251937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2217953" y="2870977"/>
            <a:ext cx="684742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4034813" y="2716444"/>
            <a:ext cx="361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4453847" y="2320727"/>
            <a:ext cx="2758612" cy="1077268"/>
          </a:xfrm>
          <a:prstGeom prst="roundRect">
            <a:avLst>
              <a:gd fmla="val 12379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4"/>
          <p:cNvSpPr/>
          <p:nvPr/>
        </p:nvSpPr>
        <p:spPr>
          <a:xfrm>
            <a:off x="4573422" y="2535535"/>
            <a:ext cx="2519462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5356903" y="2870977"/>
            <a:ext cx="1028700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7345743" y="2716444"/>
            <a:ext cx="361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4"/>
          <p:cNvSpPr/>
          <p:nvPr/>
        </p:nvSpPr>
        <p:spPr>
          <a:xfrm>
            <a:off x="7764777" y="2320727"/>
            <a:ext cx="2758529" cy="1077268"/>
          </a:xfrm>
          <a:prstGeom prst="roundRect">
            <a:avLst>
              <a:gd fmla="val 12379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4"/>
          <p:cNvSpPr/>
          <p:nvPr/>
        </p:nvSpPr>
        <p:spPr>
          <a:xfrm>
            <a:off x="7884352" y="2535535"/>
            <a:ext cx="251937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4"/>
          <p:cNvSpPr/>
          <p:nvPr/>
        </p:nvSpPr>
        <p:spPr>
          <a:xfrm>
            <a:off x="8764820" y="2870977"/>
            <a:ext cx="834562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10656590" y="2716444"/>
            <a:ext cx="361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4"/>
          <p:cNvSpPr/>
          <p:nvPr/>
        </p:nvSpPr>
        <p:spPr>
          <a:xfrm>
            <a:off x="11075624" y="2320727"/>
            <a:ext cx="2758529" cy="1077268"/>
          </a:xfrm>
          <a:prstGeom prst="roundRect">
            <a:avLst>
              <a:gd fmla="val 12379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4"/>
          <p:cNvSpPr/>
          <p:nvPr/>
        </p:nvSpPr>
        <p:spPr>
          <a:xfrm>
            <a:off x="11195199" y="2535535"/>
            <a:ext cx="251937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4"/>
          <p:cNvSpPr/>
          <p:nvPr/>
        </p:nvSpPr>
        <p:spPr>
          <a:xfrm>
            <a:off x="11912121" y="2870977"/>
            <a:ext cx="1161654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4"/>
          <p:cNvSpPr/>
          <p:nvPr/>
        </p:nvSpPr>
        <p:spPr>
          <a:xfrm>
            <a:off x="13967437" y="2716444"/>
            <a:ext cx="361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4"/>
          <p:cNvSpPr/>
          <p:nvPr/>
        </p:nvSpPr>
        <p:spPr>
          <a:xfrm>
            <a:off x="14386472" y="2320727"/>
            <a:ext cx="2758529" cy="1077268"/>
          </a:xfrm>
          <a:prstGeom prst="roundRect">
            <a:avLst>
              <a:gd fmla="val 12379" name="adj"/>
            </a:avLst>
          </a:prstGeom>
          <a:solidFill>
            <a:srgbClr val="22D3EE">
              <a:alpha val="5882"/>
            </a:srgbClr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16200000" dist="50800">
              <a:srgbClr val="22D3EE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4"/>
          <p:cNvSpPr/>
          <p:nvPr/>
        </p:nvSpPr>
        <p:spPr>
          <a:xfrm>
            <a:off x="14506046" y="2535535"/>
            <a:ext cx="251937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4"/>
          <p:cNvSpPr/>
          <p:nvPr/>
        </p:nvSpPr>
        <p:spPr>
          <a:xfrm>
            <a:off x="15333019" y="2870977"/>
            <a:ext cx="941553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Deploy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1581134" y="5674734"/>
            <a:ext cx="3938522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Đưa model ra dùng thật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1581134" y="6210019"/>
            <a:ext cx="8290084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Phục vụ người dùng / hệ thống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1581134" y="6851964"/>
            <a:ext cx="5097417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Giám sát liên tục sau triển khai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1581134" y="7387250"/>
            <a:ext cx="8290084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Phát hiện model "trôi" theo thời gian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10201259" y="5343260"/>
            <a:ext cx="6943742" cy="2674524"/>
          </a:xfrm>
          <a:prstGeom prst="roundRect">
            <a:avLst>
              <a:gd fmla="val 6410" name="adj"/>
            </a:avLst>
          </a:prstGeom>
          <a:solidFill>
            <a:srgbClr val="C792EA">
              <a:alpha val="5882"/>
            </a:srgbClr>
          </a:solidFill>
          <a:ln cap="flat" cmpd="sng" w="9525">
            <a:solidFill>
              <a:srgbClr val="C792E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4"/>
          <p:cNvSpPr/>
          <p:nvPr/>
        </p:nvSpPr>
        <p:spPr>
          <a:xfrm>
            <a:off x="10606568" y="5710453"/>
            <a:ext cx="6317118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C792EA"/>
                </a:solidFill>
                <a:latin typeface="Courier New"/>
                <a:ea typeface="Courier New"/>
                <a:cs typeface="Courier New"/>
                <a:sym typeface="Courier New"/>
              </a:rPr>
              <a:t>ĐIỂM KHÁC BIỆT CỦA KHOÁ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10606568" y="6445912"/>
            <a:ext cx="6317118" cy="9189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Bước này sẽ được học sâu ở phần MLOps.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L02 · TÓM TẮT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Năm bước của một dự án ML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1143000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5"/>
          <p:cNvSpPr/>
          <p:nvPr/>
        </p:nvSpPr>
        <p:spPr>
          <a:xfrm>
            <a:off x="1510192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5"/>
          <p:cNvSpPr/>
          <p:nvPr/>
        </p:nvSpPr>
        <p:spPr>
          <a:xfrm>
            <a:off x="1510192" y="4559432"/>
            <a:ext cx="2367740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Data &amp; Feature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5"/>
          <p:cNvSpPr/>
          <p:nvPr/>
        </p:nvSpPr>
        <p:spPr>
          <a:xfrm>
            <a:off x="1510192" y="5011870"/>
            <a:ext cx="3530678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Thu thập, làm sạch, tạo feature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6572251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5"/>
          <p:cNvSpPr/>
          <p:nvPr/>
        </p:nvSpPr>
        <p:spPr>
          <a:xfrm>
            <a:off x="6939442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5"/>
          <p:cNvSpPr/>
          <p:nvPr/>
        </p:nvSpPr>
        <p:spPr>
          <a:xfrm>
            <a:off x="6939442" y="4559432"/>
            <a:ext cx="1009518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5"/>
          <p:cNvSpPr/>
          <p:nvPr/>
        </p:nvSpPr>
        <p:spPr>
          <a:xfrm>
            <a:off x="6939442" y="5011870"/>
            <a:ext cx="3375341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Chọn &amp; huấn luyện thuật toán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5"/>
          <p:cNvSpPr/>
          <p:nvPr/>
        </p:nvSpPr>
        <p:spPr>
          <a:xfrm>
            <a:off x="12001500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5"/>
          <p:cNvSpPr/>
          <p:nvPr/>
        </p:nvSpPr>
        <p:spPr>
          <a:xfrm>
            <a:off x="12368693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5"/>
          <p:cNvSpPr/>
          <p:nvPr/>
        </p:nvSpPr>
        <p:spPr>
          <a:xfrm>
            <a:off x="12368693" y="4559432"/>
            <a:ext cx="2854400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Evaluate &amp; Deploy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5"/>
          <p:cNvSpPr/>
          <p:nvPr/>
        </p:nvSpPr>
        <p:spPr>
          <a:xfrm>
            <a:off x="12368693" y="5011870"/>
            <a:ext cx="3460589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Đánh giá rồi đưa ra production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5"/>
          <p:cNvSpPr/>
          <p:nvPr/>
        </p:nvSpPr>
        <p:spPr>
          <a:xfrm>
            <a:off x="1143000" y="8468817"/>
            <a:ext cx="16002001" cy="1037167"/>
          </a:xfrm>
          <a:prstGeom prst="roundRect">
            <a:avLst>
              <a:gd fmla="val 16531" name="adj"/>
            </a:avLst>
          </a:prstGeom>
          <a:solidFill>
            <a:srgbClr val="22D3EE">
              <a:alpha val="3921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5"/>
          <p:cNvSpPr/>
          <p:nvPr/>
        </p:nvSpPr>
        <p:spPr>
          <a:xfrm>
            <a:off x="1510192" y="8857754"/>
            <a:ext cx="1429461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5"/>
          <p:cNvSpPr/>
          <p:nvPr/>
        </p:nvSpPr>
        <p:spPr>
          <a:xfrm>
            <a:off x="3091987" y="8759858"/>
            <a:ext cx="8720752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Train / validation / test split + cross-validation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5"/>
          <p:cNvSpPr/>
          <p:nvPr/>
        </p:nvSpPr>
        <p:spPr>
          <a:xfrm>
            <a:off x="16339592" y="8768292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6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0E1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6"/>
          <p:cNvSpPr/>
          <p:nvPr/>
        </p:nvSpPr>
        <p:spPr>
          <a:xfrm>
            <a:off x="1143000" y="3314816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LECTURE 03 · ~8 PHÚT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1143000" y="3902191"/>
            <a:ext cx="16482061" cy="1332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50"/>
              <a:buFont typeface="Courier New"/>
              <a:buNone/>
            </a:pPr>
            <a:r>
              <a:rPr b="1" i="0" lang="en-US" sz="118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1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6"/>
          <p:cNvSpPr/>
          <p:nvPr/>
        </p:nvSpPr>
        <p:spPr>
          <a:xfrm>
            <a:off x="1143000" y="5329701"/>
            <a:ext cx="12753976" cy="810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Train / Validation / Test split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6"/>
          <p:cNvSpPr/>
          <p:nvPr/>
        </p:nvSpPr>
        <p:spPr>
          <a:xfrm>
            <a:off x="1143000" y="6292784"/>
            <a:ext cx="16482061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2850"/>
              <a:buFont typeface="Courier New"/>
              <a:buNone/>
            </a:pPr>
            <a:r>
              <a:rPr b="0" i="0" lang="en-US" sz="285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+ cross-validation &amp; chống data leakage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7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L03 · VÌ SAO PHẢI CHIA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7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Học bài rồi thi </a:t>
            </a:r>
            <a:r>
              <a:rPr b="1" i="0" lang="en-US" sz="37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đúng đề </a:t>
            </a: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= gian lận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7"/>
          <p:cNvSpPr/>
          <p:nvPr/>
        </p:nvSpPr>
        <p:spPr>
          <a:xfrm>
            <a:off x="1581134" y="4398119"/>
            <a:ext cx="7316588" cy="947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Đánh giá model trên chính dữ liệu đã học → điểm ảo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1581134" y="5440164"/>
            <a:ext cx="7495430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Giống học thuộc lòng thay vì hiểu thật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/>
          <p:nvPr/>
        </p:nvSpPr>
        <p:spPr>
          <a:xfrm>
            <a:off x="1581134" y="6087401"/>
            <a:ext cx="1948375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Cần dữ liệu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7"/>
          <p:cNvSpPr/>
          <p:nvPr/>
        </p:nvSpPr>
        <p:spPr>
          <a:xfrm>
            <a:off x="3553851" y="6055651"/>
            <a:ext cx="2812160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chưa từng thấy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7"/>
          <p:cNvSpPr/>
          <p:nvPr/>
        </p:nvSpPr>
        <p:spPr>
          <a:xfrm>
            <a:off x="1581134" y="6087401"/>
            <a:ext cx="7289592" cy="947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để chấm công bằng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1581134" y="7129446"/>
            <a:ext cx="7495430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Mới biết model có "tổng quát hoá" được không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7"/>
          <p:cNvSpPr/>
          <p:nvPr/>
        </p:nvSpPr>
        <p:spPr>
          <a:xfrm>
            <a:off x="9429751" y="5311759"/>
            <a:ext cx="7715251" cy="1203193"/>
          </a:xfrm>
          <a:prstGeom prst="roundRect">
            <a:avLst>
              <a:gd fmla="val 14250" name="adj"/>
            </a:avLst>
          </a:prstGeom>
          <a:solidFill>
            <a:srgbClr val="0E131C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7"/>
          <p:cNvSpPr/>
          <p:nvPr/>
        </p:nvSpPr>
        <p:spPr>
          <a:xfrm>
            <a:off x="10286260" y="5317050"/>
            <a:ext cx="6002232" cy="4038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AI IMAGE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7"/>
          <p:cNvSpPr/>
          <p:nvPr/>
        </p:nvSpPr>
        <p:spPr>
          <a:xfrm>
            <a:off x="10043666" y="5831003"/>
            <a:ext cx="6681957" cy="663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Học sinh ngồi thi với một đề hoàn toàn lạ — ẩn dụ cho việc đánh giá trên dữ liệu mới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8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L03 · TRAIN / VALIDATION / TEST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8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Ba vai trò của dữ liệu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1143000" y="4128244"/>
            <a:ext cx="16002001" cy="1238250"/>
          </a:xfrm>
          <a:prstGeom prst="roundRect">
            <a:avLst>
              <a:gd fmla="val 12308" name="adj"/>
            </a:avLst>
          </a:prstGeom>
          <a:noFill/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8"/>
          <p:cNvSpPr/>
          <p:nvPr/>
        </p:nvSpPr>
        <p:spPr>
          <a:xfrm>
            <a:off x="1148292" y="4133536"/>
            <a:ext cx="10329168" cy="1227667"/>
          </a:xfrm>
          <a:prstGeom prst="rect">
            <a:avLst/>
          </a:prstGeom>
          <a:solidFill>
            <a:srgbClr val="22D3EE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8"/>
          <p:cNvSpPr/>
          <p:nvPr/>
        </p:nvSpPr>
        <p:spPr>
          <a:xfrm>
            <a:off x="1453059" y="4395969"/>
            <a:ext cx="848287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8"/>
          <p:cNvSpPr/>
          <p:nvPr/>
        </p:nvSpPr>
        <p:spPr>
          <a:xfrm>
            <a:off x="1453059" y="4839395"/>
            <a:ext cx="1001122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~70% · để học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8"/>
          <p:cNvSpPr/>
          <p:nvPr/>
        </p:nvSpPr>
        <p:spPr>
          <a:xfrm>
            <a:off x="11477460" y="4133536"/>
            <a:ext cx="2831125" cy="1227667"/>
          </a:xfrm>
          <a:prstGeom prst="rect">
            <a:avLst/>
          </a:prstGeom>
          <a:solidFill>
            <a:srgbClr val="C792E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8"/>
          <p:cNvSpPr/>
          <p:nvPr/>
        </p:nvSpPr>
        <p:spPr>
          <a:xfrm>
            <a:off x="11782227" y="4266324"/>
            <a:ext cx="1645345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8"/>
          <p:cNvSpPr/>
          <p:nvPr/>
        </p:nvSpPr>
        <p:spPr>
          <a:xfrm>
            <a:off x="11782227" y="4709749"/>
            <a:ext cx="2297791" cy="556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~15% · tinh chỉnh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8"/>
          <p:cNvSpPr/>
          <p:nvPr/>
        </p:nvSpPr>
        <p:spPr>
          <a:xfrm>
            <a:off x="14308585" y="4133536"/>
            <a:ext cx="2831125" cy="1227667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8"/>
          <p:cNvSpPr/>
          <p:nvPr/>
        </p:nvSpPr>
        <p:spPr>
          <a:xfrm>
            <a:off x="14613351" y="4395969"/>
            <a:ext cx="727902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8"/>
          <p:cNvSpPr/>
          <p:nvPr/>
        </p:nvSpPr>
        <p:spPr>
          <a:xfrm>
            <a:off x="14613351" y="4839395"/>
            <a:ext cx="2297791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~15% · chấm cuối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8"/>
          <p:cNvSpPr/>
          <p:nvPr/>
        </p:nvSpPr>
        <p:spPr>
          <a:xfrm>
            <a:off x="1143000" y="5842745"/>
            <a:ext cx="5105384" cy="1855639"/>
          </a:xfrm>
          <a:prstGeom prst="roundRect">
            <a:avLst>
              <a:gd fmla="val 9239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8"/>
          <p:cNvSpPr/>
          <p:nvPr/>
        </p:nvSpPr>
        <p:spPr>
          <a:xfrm>
            <a:off x="1529292" y="6190920"/>
            <a:ext cx="446278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TRAIN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1529292" y="6621612"/>
            <a:ext cx="4462784" cy="7561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Model học quy luật từ phần dữ liệu này.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8"/>
          <p:cNvSpPr/>
          <p:nvPr/>
        </p:nvSpPr>
        <p:spPr>
          <a:xfrm>
            <a:off x="6591267" y="5842745"/>
            <a:ext cx="5105384" cy="1855639"/>
          </a:xfrm>
          <a:prstGeom prst="roundRect">
            <a:avLst>
              <a:gd fmla="val 9239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8"/>
          <p:cNvSpPr/>
          <p:nvPr/>
        </p:nvSpPr>
        <p:spPr>
          <a:xfrm>
            <a:off x="6977559" y="6190920"/>
            <a:ext cx="446278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VALIDATION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8"/>
          <p:cNvSpPr/>
          <p:nvPr/>
        </p:nvSpPr>
        <p:spPr>
          <a:xfrm>
            <a:off x="6977559" y="6621612"/>
            <a:ext cx="4462784" cy="7561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Tinh chỉnh tham số &amp; chọn model tốt nhất.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8"/>
          <p:cNvSpPr/>
          <p:nvPr/>
        </p:nvSpPr>
        <p:spPr>
          <a:xfrm>
            <a:off x="12039535" y="5842745"/>
            <a:ext cx="5105384" cy="1855639"/>
          </a:xfrm>
          <a:prstGeom prst="roundRect">
            <a:avLst>
              <a:gd fmla="val 9239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8"/>
          <p:cNvSpPr/>
          <p:nvPr/>
        </p:nvSpPr>
        <p:spPr>
          <a:xfrm>
            <a:off x="12425826" y="6190920"/>
            <a:ext cx="446278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TEST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8"/>
          <p:cNvSpPr/>
          <p:nvPr/>
        </p:nvSpPr>
        <p:spPr>
          <a:xfrm>
            <a:off x="12425826" y="6621612"/>
            <a:ext cx="4462784" cy="7666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Chỉ dùng </a:t>
            </a:r>
            <a:r>
              <a:rPr b="1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một lần </a:t>
            </a: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, cuối cùng, để chấm điểm thật.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9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L03 · CROSS-VALIDATION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9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K-fold — luân phiên train &amp; test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9"/>
          <p:cNvSpPr/>
          <p:nvPr/>
        </p:nvSpPr>
        <p:spPr>
          <a:xfrm>
            <a:off x="1143000" y="4602758"/>
            <a:ext cx="121920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Fold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9"/>
          <p:cNvSpPr/>
          <p:nvPr/>
        </p:nvSpPr>
        <p:spPr>
          <a:xfrm>
            <a:off x="2419284" y="4503870"/>
            <a:ext cx="1335402" cy="457150"/>
          </a:xfrm>
          <a:prstGeom prst="roundRect">
            <a:avLst>
              <a:gd fmla="val 18752" name="adj"/>
            </a:avLst>
          </a:prstGeom>
          <a:solidFill>
            <a:srgbClr val="C792EA">
              <a:alpha val="32156"/>
            </a:srgbClr>
          </a:solidFill>
          <a:ln cap="flat" cmpd="sng" w="9525">
            <a:solidFill>
              <a:srgbClr val="C79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9"/>
          <p:cNvSpPr/>
          <p:nvPr/>
        </p:nvSpPr>
        <p:spPr>
          <a:xfrm>
            <a:off x="3887970" y="4503870"/>
            <a:ext cx="1335484" cy="457150"/>
          </a:xfrm>
          <a:prstGeom prst="roundRect">
            <a:avLst>
              <a:gd fmla="val 18752" name="adj"/>
            </a:avLst>
          </a:prstGeom>
          <a:solidFill>
            <a:srgbClr val="22D3EE">
              <a:alpha val="10196"/>
            </a:srgbClr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9"/>
          <p:cNvSpPr/>
          <p:nvPr/>
        </p:nvSpPr>
        <p:spPr>
          <a:xfrm>
            <a:off x="5356738" y="4503870"/>
            <a:ext cx="1335484" cy="457150"/>
          </a:xfrm>
          <a:prstGeom prst="roundRect">
            <a:avLst>
              <a:gd fmla="val 18752" name="adj"/>
            </a:avLst>
          </a:prstGeom>
          <a:solidFill>
            <a:srgbClr val="22D3EE">
              <a:alpha val="10196"/>
            </a:srgbClr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9"/>
          <p:cNvSpPr/>
          <p:nvPr/>
        </p:nvSpPr>
        <p:spPr>
          <a:xfrm>
            <a:off x="6825506" y="4503870"/>
            <a:ext cx="1335484" cy="457150"/>
          </a:xfrm>
          <a:prstGeom prst="roundRect">
            <a:avLst>
              <a:gd fmla="val 18752" name="adj"/>
            </a:avLst>
          </a:prstGeom>
          <a:solidFill>
            <a:srgbClr val="22D3EE">
              <a:alpha val="10196"/>
            </a:srgbClr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9"/>
          <p:cNvSpPr/>
          <p:nvPr/>
        </p:nvSpPr>
        <p:spPr>
          <a:xfrm>
            <a:off x="8294275" y="4503870"/>
            <a:ext cx="1335484" cy="457150"/>
          </a:xfrm>
          <a:prstGeom prst="roundRect">
            <a:avLst>
              <a:gd fmla="val 18752" name="adj"/>
            </a:avLst>
          </a:prstGeom>
          <a:solidFill>
            <a:srgbClr val="22D3EE">
              <a:alpha val="10196"/>
            </a:srgbClr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9"/>
          <p:cNvSpPr/>
          <p:nvPr/>
        </p:nvSpPr>
        <p:spPr>
          <a:xfrm>
            <a:off x="1143000" y="5193192"/>
            <a:ext cx="121920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Fold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9"/>
          <p:cNvSpPr/>
          <p:nvPr/>
        </p:nvSpPr>
        <p:spPr>
          <a:xfrm>
            <a:off x="2419284" y="5094304"/>
            <a:ext cx="1335402" cy="457150"/>
          </a:xfrm>
          <a:prstGeom prst="roundRect">
            <a:avLst>
              <a:gd fmla="val 18752" name="adj"/>
            </a:avLst>
          </a:prstGeom>
          <a:solidFill>
            <a:srgbClr val="22D3EE">
              <a:alpha val="10196"/>
            </a:srgbClr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9"/>
          <p:cNvSpPr/>
          <p:nvPr/>
        </p:nvSpPr>
        <p:spPr>
          <a:xfrm>
            <a:off x="3887970" y="5094304"/>
            <a:ext cx="1335484" cy="457150"/>
          </a:xfrm>
          <a:prstGeom prst="roundRect">
            <a:avLst>
              <a:gd fmla="val 18752" name="adj"/>
            </a:avLst>
          </a:prstGeom>
          <a:solidFill>
            <a:srgbClr val="C792EA">
              <a:alpha val="32156"/>
            </a:srgbClr>
          </a:solidFill>
          <a:ln cap="flat" cmpd="sng" w="9525">
            <a:solidFill>
              <a:srgbClr val="C79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9"/>
          <p:cNvSpPr/>
          <p:nvPr/>
        </p:nvSpPr>
        <p:spPr>
          <a:xfrm>
            <a:off x="5356738" y="5094304"/>
            <a:ext cx="1335484" cy="457150"/>
          </a:xfrm>
          <a:prstGeom prst="roundRect">
            <a:avLst>
              <a:gd fmla="val 18752" name="adj"/>
            </a:avLst>
          </a:prstGeom>
          <a:solidFill>
            <a:srgbClr val="22D3EE">
              <a:alpha val="10196"/>
            </a:srgbClr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9"/>
          <p:cNvSpPr/>
          <p:nvPr/>
        </p:nvSpPr>
        <p:spPr>
          <a:xfrm>
            <a:off x="6825506" y="5094304"/>
            <a:ext cx="1335484" cy="457150"/>
          </a:xfrm>
          <a:prstGeom prst="roundRect">
            <a:avLst>
              <a:gd fmla="val 18752" name="adj"/>
            </a:avLst>
          </a:prstGeom>
          <a:solidFill>
            <a:srgbClr val="22D3EE">
              <a:alpha val="10196"/>
            </a:srgbClr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9"/>
          <p:cNvSpPr/>
          <p:nvPr/>
        </p:nvSpPr>
        <p:spPr>
          <a:xfrm>
            <a:off x="8294275" y="5094304"/>
            <a:ext cx="1335484" cy="457150"/>
          </a:xfrm>
          <a:prstGeom prst="roundRect">
            <a:avLst>
              <a:gd fmla="val 18752" name="adj"/>
            </a:avLst>
          </a:prstGeom>
          <a:solidFill>
            <a:srgbClr val="22D3EE">
              <a:alpha val="10196"/>
            </a:srgbClr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9"/>
          <p:cNvSpPr/>
          <p:nvPr/>
        </p:nvSpPr>
        <p:spPr>
          <a:xfrm>
            <a:off x="1143000" y="5783627"/>
            <a:ext cx="121920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Fold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9"/>
          <p:cNvSpPr/>
          <p:nvPr/>
        </p:nvSpPr>
        <p:spPr>
          <a:xfrm>
            <a:off x="2419284" y="5684738"/>
            <a:ext cx="1335402" cy="457150"/>
          </a:xfrm>
          <a:prstGeom prst="roundRect">
            <a:avLst>
              <a:gd fmla="val 18752" name="adj"/>
            </a:avLst>
          </a:prstGeom>
          <a:solidFill>
            <a:srgbClr val="22D3EE">
              <a:alpha val="10196"/>
            </a:srgbClr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9"/>
          <p:cNvSpPr/>
          <p:nvPr/>
        </p:nvSpPr>
        <p:spPr>
          <a:xfrm>
            <a:off x="3887970" y="5684738"/>
            <a:ext cx="1335484" cy="457150"/>
          </a:xfrm>
          <a:prstGeom prst="roundRect">
            <a:avLst>
              <a:gd fmla="val 18752" name="adj"/>
            </a:avLst>
          </a:prstGeom>
          <a:solidFill>
            <a:srgbClr val="22D3EE">
              <a:alpha val="10196"/>
            </a:srgbClr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9"/>
          <p:cNvSpPr/>
          <p:nvPr/>
        </p:nvSpPr>
        <p:spPr>
          <a:xfrm>
            <a:off x="5356738" y="5684738"/>
            <a:ext cx="1335484" cy="457150"/>
          </a:xfrm>
          <a:prstGeom prst="roundRect">
            <a:avLst>
              <a:gd fmla="val 18752" name="adj"/>
            </a:avLst>
          </a:prstGeom>
          <a:solidFill>
            <a:srgbClr val="C792EA">
              <a:alpha val="32156"/>
            </a:srgbClr>
          </a:solidFill>
          <a:ln cap="flat" cmpd="sng" w="9525">
            <a:solidFill>
              <a:srgbClr val="C79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9"/>
          <p:cNvSpPr/>
          <p:nvPr/>
        </p:nvSpPr>
        <p:spPr>
          <a:xfrm>
            <a:off x="6825506" y="5684738"/>
            <a:ext cx="1335484" cy="457150"/>
          </a:xfrm>
          <a:prstGeom prst="roundRect">
            <a:avLst>
              <a:gd fmla="val 18752" name="adj"/>
            </a:avLst>
          </a:prstGeom>
          <a:solidFill>
            <a:srgbClr val="22D3EE">
              <a:alpha val="10196"/>
            </a:srgbClr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9"/>
          <p:cNvSpPr/>
          <p:nvPr/>
        </p:nvSpPr>
        <p:spPr>
          <a:xfrm>
            <a:off x="8294275" y="5684738"/>
            <a:ext cx="1335484" cy="457150"/>
          </a:xfrm>
          <a:prstGeom prst="roundRect">
            <a:avLst>
              <a:gd fmla="val 18752" name="adj"/>
            </a:avLst>
          </a:prstGeom>
          <a:solidFill>
            <a:srgbClr val="22D3EE">
              <a:alpha val="10196"/>
            </a:srgbClr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9"/>
          <p:cNvSpPr/>
          <p:nvPr/>
        </p:nvSpPr>
        <p:spPr>
          <a:xfrm>
            <a:off x="1143000" y="6374061"/>
            <a:ext cx="121920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Fold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9"/>
          <p:cNvSpPr/>
          <p:nvPr/>
        </p:nvSpPr>
        <p:spPr>
          <a:xfrm>
            <a:off x="2419284" y="6275173"/>
            <a:ext cx="1335402" cy="457150"/>
          </a:xfrm>
          <a:prstGeom prst="roundRect">
            <a:avLst>
              <a:gd fmla="val 18752" name="adj"/>
            </a:avLst>
          </a:prstGeom>
          <a:solidFill>
            <a:srgbClr val="22D3EE">
              <a:alpha val="10196"/>
            </a:srgbClr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9"/>
          <p:cNvSpPr/>
          <p:nvPr/>
        </p:nvSpPr>
        <p:spPr>
          <a:xfrm>
            <a:off x="3887970" y="6275173"/>
            <a:ext cx="1335484" cy="457150"/>
          </a:xfrm>
          <a:prstGeom prst="roundRect">
            <a:avLst>
              <a:gd fmla="val 18752" name="adj"/>
            </a:avLst>
          </a:prstGeom>
          <a:solidFill>
            <a:srgbClr val="22D3EE">
              <a:alpha val="10196"/>
            </a:srgbClr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9"/>
          <p:cNvSpPr/>
          <p:nvPr/>
        </p:nvSpPr>
        <p:spPr>
          <a:xfrm>
            <a:off x="5356738" y="6275173"/>
            <a:ext cx="1335484" cy="457150"/>
          </a:xfrm>
          <a:prstGeom prst="roundRect">
            <a:avLst>
              <a:gd fmla="val 18752" name="adj"/>
            </a:avLst>
          </a:prstGeom>
          <a:solidFill>
            <a:srgbClr val="22D3EE">
              <a:alpha val="10196"/>
            </a:srgbClr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9"/>
          <p:cNvSpPr/>
          <p:nvPr/>
        </p:nvSpPr>
        <p:spPr>
          <a:xfrm>
            <a:off x="6825506" y="6275173"/>
            <a:ext cx="1335484" cy="457150"/>
          </a:xfrm>
          <a:prstGeom prst="roundRect">
            <a:avLst>
              <a:gd fmla="val 18752" name="adj"/>
            </a:avLst>
          </a:prstGeom>
          <a:solidFill>
            <a:srgbClr val="C792EA">
              <a:alpha val="32156"/>
            </a:srgbClr>
          </a:solidFill>
          <a:ln cap="flat" cmpd="sng" w="9525">
            <a:solidFill>
              <a:srgbClr val="C79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9"/>
          <p:cNvSpPr/>
          <p:nvPr/>
        </p:nvSpPr>
        <p:spPr>
          <a:xfrm>
            <a:off x="8294275" y="6275173"/>
            <a:ext cx="1335484" cy="457150"/>
          </a:xfrm>
          <a:prstGeom prst="roundRect">
            <a:avLst>
              <a:gd fmla="val 18752" name="adj"/>
            </a:avLst>
          </a:prstGeom>
          <a:solidFill>
            <a:srgbClr val="22D3EE">
              <a:alpha val="10196"/>
            </a:srgbClr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9"/>
          <p:cNvSpPr/>
          <p:nvPr/>
        </p:nvSpPr>
        <p:spPr>
          <a:xfrm>
            <a:off x="1143000" y="6964495"/>
            <a:ext cx="121920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Fold 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9"/>
          <p:cNvSpPr/>
          <p:nvPr/>
        </p:nvSpPr>
        <p:spPr>
          <a:xfrm>
            <a:off x="2419284" y="6865607"/>
            <a:ext cx="1335402" cy="457150"/>
          </a:xfrm>
          <a:prstGeom prst="roundRect">
            <a:avLst>
              <a:gd fmla="val 18752" name="adj"/>
            </a:avLst>
          </a:prstGeom>
          <a:solidFill>
            <a:srgbClr val="22D3EE">
              <a:alpha val="10196"/>
            </a:srgbClr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9"/>
          <p:cNvSpPr/>
          <p:nvPr/>
        </p:nvSpPr>
        <p:spPr>
          <a:xfrm>
            <a:off x="3887970" y="6865607"/>
            <a:ext cx="1335484" cy="457150"/>
          </a:xfrm>
          <a:prstGeom prst="roundRect">
            <a:avLst>
              <a:gd fmla="val 18752" name="adj"/>
            </a:avLst>
          </a:prstGeom>
          <a:solidFill>
            <a:srgbClr val="22D3EE">
              <a:alpha val="10196"/>
            </a:srgbClr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9"/>
          <p:cNvSpPr/>
          <p:nvPr/>
        </p:nvSpPr>
        <p:spPr>
          <a:xfrm>
            <a:off x="5356738" y="6865607"/>
            <a:ext cx="1335484" cy="457150"/>
          </a:xfrm>
          <a:prstGeom prst="roundRect">
            <a:avLst>
              <a:gd fmla="val 18752" name="adj"/>
            </a:avLst>
          </a:prstGeom>
          <a:solidFill>
            <a:srgbClr val="22D3EE">
              <a:alpha val="10196"/>
            </a:srgbClr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9"/>
          <p:cNvSpPr/>
          <p:nvPr/>
        </p:nvSpPr>
        <p:spPr>
          <a:xfrm>
            <a:off x="6825506" y="6865607"/>
            <a:ext cx="1335484" cy="457150"/>
          </a:xfrm>
          <a:prstGeom prst="roundRect">
            <a:avLst>
              <a:gd fmla="val 18752" name="adj"/>
            </a:avLst>
          </a:prstGeom>
          <a:solidFill>
            <a:srgbClr val="22D3EE">
              <a:alpha val="10196"/>
            </a:srgbClr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9"/>
          <p:cNvSpPr/>
          <p:nvPr/>
        </p:nvSpPr>
        <p:spPr>
          <a:xfrm>
            <a:off x="8294275" y="6865607"/>
            <a:ext cx="1335484" cy="457150"/>
          </a:xfrm>
          <a:prstGeom prst="roundRect">
            <a:avLst>
              <a:gd fmla="val 18752" name="adj"/>
            </a:avLst>
          </a:prstGeom>
          <a:solidFill>
            <a:srgbClr val="C792EA">
              <a:alpha val="32156"/>
            </a:srgbClr>
          </a:solidFill>
          <a:ln cap="flat" cmpd="sng" w="9525">
            <a:solidFill>
              <a:srgbClr val="C79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9"/>
          <p:cNvSpPr/>
          <p:nvPr/>
        </p:nvSpPr>
        <p:spPr>
          <a:xfrm>
            <a:off x="10639392" y="4654187"/>
            <a:ext cx="6136488" cy="440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Chia dữ liệu thành k phần bằng nhau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9"/>
          <p:cNvSpPr/>
          <p:nvPr/>
        </p:nvSpPr>
        <p:spPr>
          <a:xfrm>
            <a:off x="10639392" y="5189472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Lần lượt mỗi phần làm tập test (màu tím)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9"/>
          <p:cNvSpPr/>
          <p:nvPr/>
        </p:nvSpPr>
        <p:spPr>
          <a:xfrm>
            <a:off x="10639392" y="5831417"/>
            <a:ext cx="6545100" cy="947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Đánh giá ổn định hơn, ít phụ thuộc may rủi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9"/>
          <p:cNvSpPr/>
          <p:nvPr/>
        </p:nvSpPr>
        <p:spPr>
          <a:xfrm>
            <a:off x="10639392" y="6873462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Đặc biệt hữu ích khi dữ liệu ít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0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L03 · DATA LEAKAGE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0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Rò rỉ thông tin — lỗi nguy hiểm &amp; khó thấy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0"/>
          <p:cNvSpPr/>
          <p:nvPr/>
        </p:nvSpPr>
        <p:spPr>
          <a:xfrm>
            <a:off x="1581134" y="4654187"/>
            <a:ext cx="7145837" cy="440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Thông tin từ tập test "rò" vào quá trình train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0"/>
          <p:cNvSpPr/>
          <p:nvPr/>
        </p:nvSpPr>
        <p:spPr>
          <a:xfrm>
            <a:off x="1581134" y="5189472"/>
            <a:ext cx="7495430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Model vô tình thấy trước đáp án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0"/>
          <p:cNvSpPr/>
          <p:nvPr/>
        </p:nvSpPr>
        <p:spPr>
          <a:xfrm>
            <a:off x="1581134" y="5831417"/>
            <a:ext cx="5741418" cy="947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Kết quả đẹp giả tạo, sụp đổ khi lên production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0"/>
          <p:cNvSpPr/>
          <p:nvPr/>
        </p:nvSpPr>
        <p:spPr>
          <a:xfrm>
            <a:off x="1581134" y="6873462"/>
            <a:ext cx="7495430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Rất khó phát hiện nếu không cẩn thận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0"/>
          <p:cNvSpPr/>
          <p:nvPr/>
        </p:nvSpPr>
        <p:spPr>
          <a:xfrm>
            <a:off x="9429751" y="4576052"/>
            <a:ext cx="7715251" cy="2674524"/>
          </a:xfrm>
          <a:prstGeom prst="roundRect">
            <a:avLst>
              <a:gd fmla="val 6410" name="adj"/>
            </a:avLst>
          </a:prstGeom>
          <a:solidFill>
            <a:srgbClr val="C792EA">
              <a:alpha val="5882"/>
            </a:srgbClr>
          </a:solidFill>
          <a:ln cap="flat" cmpd="sng" w="9525">
            <a:solidFill>
              <a:srgbClr val="C792E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0"/>
          <p:cNvSpPr/>
          <p:nvPr/>
        </p:nvSpPr>
        <p:spPr>
          <a:xfrm>
            <a:off x="9835059" y="4943244"/>
            <a:ext cx="7111772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C792EA"/>
                </a:solidFill>
                <a:latin typeface="Courier New"/>
                <a:ea typeface="Courier New"/>
                <a:cs typeface="Courier New"/>
                <a:sym typeface="Courier New"/>
              </a:rPr>
              <a:t>QUY TẮC VÀNG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0"/>
          <p:cNvSpPr/>
          <p:nvPr/>
        </p:nvSpPr>
        <p:spPr>
          <a:xfrm>
            <a:off x="9835059" y="5678703"/>
            <a:ext cx="7111772" cy="9189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Scale &amp; encode phải </a:t>
            </a:r>
            <a:r>
              <a:rPr b="1" i="0" lang="en-US" sz="25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fit trên tập train trước </a:t>
            </a:r>
            <a:r>
              <a:rPr b="0" i="0" lang="en-US" sz="25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, rồi mới transform tập test.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1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L03 · TÓM TẮT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1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Chia dữ liệu đúng cách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1"/>
          <p:cNvSpPr/>
          <p:nvPr/>
        </p:nvSpPr>
        <p:spPr>
          <a:xfrm>
            <a:off x="1143000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1"/>
          <p:cNvSpPr/>
          <p:nvPr/>
        </p:nvSpPr>
        <p:spPr>
          <a:xfrm>
            <a:off x="1510192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1"/>
          <p:cNvSpPr/>
          <p:nvPr/>
        </p:nvSpPr>
        <p:spPr>
          <a:xfrm>
            <a:off x="1510192" y="4559432"/>
            <a:ext cx="780322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Split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1"/>
          <p:cNvSpPr/>
          <p:nvPr/>
        </p:nvSpPr>
        <p:spPr>
          <a:xfrm>
            <a:off x="1510192" y="5011870"/>
            <a:ext cx="3662850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Train / validation / test tách bạch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1"/>
          <p:cNvSpPr/>
          <p:nvPr/>
        </p:nvSpPr>
        <p:spPr>
          <a:xfrm>
            <a:off x="6572251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1"/>
          <p:cNvSpPr/>
          <p:nvPr/>
        </p:nvSpPr>
        <p:spPr>
          <a:xfrm>
            <a:off x="6939442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1"/>
          <p:cNvSpPr/>
          <p:nvPr/>
        </p:nvSpPr>
        <p:spPr>
          <a:xfrm>
            <a:off x="6939442" y="4559432"/>
            <a:ext cx="2671726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Cross-validation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1"/>
          <p:cNvSpPr/>
          <p:nvPr/>
        </p:nvSpPr>
        <p:spPr>
          <a:xfrm>
            <a:off x="6939442" y="5011870"/>
            <a:ext cx="3105801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K-fold cho đánh giá ổn định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1"/>
          <p:cNvSpPr/>
          <p:nvPr/>
        </p:nvSpPr>
        <p:spPr>
          <a:xfrm>
            <a:off x="12001500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1"/>
          <p:cNvSpPr/>
          <p:nvPr/>
        </p:nvSpPr>
        <p:spPr>
          <a:xfrm>
            <a:off x="12368693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1"/>
          <p:cNvSpPr/>
          <p:nvPr/>
        </p:nvSpPr>
        <p:spPr>
          <a:xfrm>
            <a:off x="12368693" y="4559432"/>
            <a:ext cx="1392088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Leakage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1"/>
          <p:cNvSpPr/>
          <p:nvPr/>
        </p:nvSpPr>
        <p:spPr>
          <a:xfrm>
            <a:off x="12368693" y="5011870"/>
            <a:ext cx="3541494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Fit trên train trước — tránh rò rỉ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1"/>
          <p:cNvSpPr/>
          <p:nvPr/>
        </p:nvSpPr>
        <p:spPr>
          <a:xfrm>
            <a:off x="1143000" y="8468817"/>
            <a:ext cx="16002001" cy="1037167"/>
          </a:xfrm>
          <a:prstGeom prst="roundRect">
            <a:avLst>
              <a:gd fmla="val 16531" name="adj"/>
            </a:avLst>
          </a:prstGeom>
          <a:solidFill>
            <a:srgbClr val="22D3EE">
              <a:alpha val="3921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1"/>
          <p:cNvSpPr/>
          <p:nvPr/>
        </p:nvSpPr>
        <p:spPr>
          <a:xfrm>
            <a:off x="1510192" y="8857754"/>
            <a:ext cx="1429461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1"/>
          <p:cNvSpPr/>
          <p:nvPr/>
        </p:nvSpPr>
        <p:spPr>
          <a:xfrm>
            <a:off x="3091987" y="8759858"/>
            <a:ext cx="6560343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Linear Regression — model đầu tiên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1"/>
          <p:cNvSpPr/>
          <p:nvPr/>
        </p:nvSpPr>
        <p:spPr>
          <a:xfrm>
            <a:off x="16339592" y="8768292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2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0E1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2"/>
          <p:cNvSpPr/>
          <p:nvPr/>
        </p:nvSpPr>
        <p:spPr>
          <a:xfrm>
            <a:off x="1143000" y="3314816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LECTURE 04 · ~10 PHÚT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2"/>
          <p:cNvSpPr/>
          <p:nvPr/>
        </p:nvSpPr>
        <p:spPr>
          <a:xfrm>
            <a:off x="1143000" y="3902191"/>
            <a:ext cx="16482061" cy="1332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50"/>
              <a:buFont typeface="Courier New"/>
              <a:buNone/>
            </a:pPr>
            <a:r>
              <a:rPr b="1" i="0" lang="en-US" sz="118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1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2"/>
          <p:cNvSpPr/>
          <p:nvPr/>
        </p:nvSpPr>
        <p:spPr>
          <a:xfrm>
            <a:off x="1143000" y="5329701"/>
            <a:ext cx="12753976" cy="810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Linear Regression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2"/>
          <p:cNvSpPr/>
          <p:nvPr/>
        </p:nvSpPr>
        <p:spPr>
          <a:xfrm>
            <a:off x="1143000" y="6292784"/>
            <a:ext cx="16482061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2850"/>
              <a:buFont typeface="Courier New"/>
              <a:buNone/>
            </a:pPr>
            <a:r>
              <a:rPr b="0" i="0" lang="en-US" sz="285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toán · code · diễn giải — model đầu tiên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3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L04 · BÀI TOÁN HỒI QUY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3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Dự đoán một giá trị </a:t>
            </a:r>
            <a:r>
              <a:rPr b="1" i="0" lang="en-US" sz="37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liên tục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3"/>
          <p:cNvSpPr/>
          <p:nvPr/>
        </p:nvSpPr>
        <p:spPr>
          <a:xfrm>
            <a:off x="1581134" y="4907525"/>
            <a:ext cx="5824792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Đầu ra là số thực, không phải nhãn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3"/>
          <p:cNvSpPr/>
          <p:nvPr/>
        </p:nvSpPr>
        <p:spPr>
          <a:xfrm>
            <a:off x="1581134" y="5442810"/>
            <a:ext cx="7495430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Ví dụ: giá nhà, doanh thu, nhiệt độ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3"/>
          <p:cNvSpPr/>
          <p:nvPr/>
        </p:nvSpPr>
        <p:spPr>
          <a:xfrm>
            <a:off x="1581134" y="6084755"/>
            <a:ext cx="6889327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Khác với phân lớp (dự đoán nhãn rời rạc)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3"/>
          <p:cNvSpPr/>
          <p:nvPr/>
        </p:nvSpPr>
        <p:spPr>
          <a:xfrm>
            <a:off x="1581134" y="6620041"/>
            <a:ext cx="7495430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Hồi quy → số · Phân lớp → loại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3"/>
          <p:cNvSpPr/>
          <p:nvPr/>
        </p:nvSpPr>
        <p:spPr>
          <a:xfrm>
            <a:off x="9429751" y="4236062"/>
            <a:ext cx="7715251" cy="1248668"/>
          </a:xfrm>
          <a:prstGeom prst="roundRect">
            <a:avLst>
              <a:gd fmla="val 12205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3"/>
          <p:cNvSpPr/>
          <p:nvPr/>
        </p:nvSpPr>
        <p:spPr>
          <a:xfrm>
            <a:off x="9758826" y="4483696"/>
            <a:ext cx="841589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3"/>
          <p:cNvSpPr/>
          <p:nvPr/>
        </p:nvSpPr>
        <p:spPr>
          <a:xfrm>
            <a:off x="9758826" y="4946055"/>
            <a:ext cx="72688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diện tích, vị trí…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3"/>
          <p:cNvSpPr/>
          <p:nvPr/>
        </p:nvSpPr>
        <p:spPr>
          <a:xfrm>
            <a:off x="9429751" y="5694247"/>
            <a:ext cx="7946708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3"/>
          <p:cNvSpPr/>
          <p:nvPr/>
        </p:nvSpPr>
        <p:spPr>
          <a:xfrm>
            <a:off x="9429751" y="6341897"/>
            <a:ext cx="7715251" cy="1248668"/>
          </a:xfrm>
          <a:prstGeom prst="roundRect">
            <a:avLst>
              <a:gd fmla="val 12205" name="adj"/>
            </a:avLst>
          </a:prstGeom>
          <a:solidFill>
            <a:srgbClr val="11161F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16200000" dist="50800">
              <a:srgbClr val="22D3EE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3"/>
          <p:cNvSpPr/>
          <p:nvPr/>
        </p:nvSpPr>
        <p:spPr>
          <a:xfrm>
            <a:off x="9758826" y="6589531"/>
            <a:ext cx="1223168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Số thực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3"/>
          <p:cNvSpPr/>
          <p:nvPr/>
        </p:nvSpPr>
        <p:spPr>
          <a:xfrm>
            <a:off x="9758826" y="7051890"/>
            <a:ext cx="72688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vd: 4.2 tỉ đồng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4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L04 · MÔ HÌNH TUYẾN TÍNH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4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Tìm đường thẳng khớp dữ liệu nhất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4"/>
          <p:cNvSpPr/>
          <p:nvPr/>
        </p:nvSpPr>
        <p:spPr>
          <a:xfrm>
            <a:off x="1143000" y="4458147"/>
            <a:ext cx="16002001" cy="2123033"/>
          </a:xfrm>
          <a:prstGeom prst="roundRect">
            <a:avLst>
              <a:gd fmla="val 8076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4"/>
          <p:cNvSpPr/>
          <p:nvPr/>
        </p:nvSpPr>
        <p:spPr>
          <a:xfrm>
            <a:off x="7257687" y="4949197"/>
            <a:ext cx="1105098" cy="6836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500"/>
              <a:buFont typeface="Courier New"/>
              <a:buNone/>
            </a:pPr>
            <a:r>
              <a:rPr b="0" i="0" lang="en-US" sz="45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y =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4"/>
          <p:cNvSpPr/>
          <p:nvPr/>
        </p:nvSpPr>
        <p:spPr>
          <a:xfrm>
            <a:off x="8591451" y="4949197"/>
            <a:ext cx="419166" cy="683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4500"/>
              <a:buFont typeface="Courier New"/>
              <a:buNone/>
            </a:pPr>
            <a:r>
              <a:rPr b="0" i="0" lang="en-US" sz="45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w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4"/>
          <p:cNvSpPr/>
          <p:nvPr/>
        </p:nvSpPr>
        <p:spPr>
          <a:xfrm>
            <a:off x="8972517" y="4949197"/>
            <a:ext cx="1448065" cy="6836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500"/>
              <a:buFont typeface="Courier New"/>
              <a:buNone/>
            </a:pPr>
            <a:r>
              <a:rPr b="0" i="0" lang="en-US" sz="45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·x +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4"/>
          <p:cNvSpPr/>
          <p:nvPr/>
        </p:nvSpPr>
        <p:spPr>
          <a:xfrm>
            <a:off x="10649248" y="4949197"/>
            <a:ext cx="419166" cy="683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4500"/>
              <a:buFont typeface="Courier New"/>
              <a:buNone/>
            </a:pPr>
            <a:r>
              <a:rPr b="0" i="0" lang="en-US" sz="4500" u="none" cap="none" strike="noStrike">
                <a:solidFill>
                  <a:srgbClr val="C792EA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4"/>
          <p:cNvSpPr/>
          <p:nvPr/>
        </p:nvSpPr>
        <p:spPr>
          <a:xfrm>
            <a:off x="1457805" y="5815873"/>
            <a:ext cx="15372390" cy="3599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w </a:t>
            </a: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= trọng số (slope) · </a:t>
            </a:r>
            <a:r>
              <a:rPr b="0" i="0" lang="en-US" sz="1950" u="none" cap="none" strike="noStrike">
                <a:solidFill>
                  <a:srgbClr val="C792EA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= bias (intercept)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4"/>
          <p:cNvSpPr/>
          <p:nvPr/>
        </p:nvSpPr>
        <p:spPr>
          <a:xfrm>
            <a:off x="902970" y="7019313"/>
            <a:ext cx="16482061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Huấn luyện = tìm cặp </a:t>
            </a:r>
            <a:r>
              <a:rPr b="0" i="0" lang="en-US" sz="24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i="0" lang="en-US" sz="240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2400" u="none" cap="none" strike="noStrike">
                <a:solidFill>
                  <a:srgbClr val="C792EA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r>
              <a:rPr b="0" i="0" lang="en-US" sz="240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sao cho đường đi qua đám điểm "khít" nhất.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5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L04 · HÀM MẤT MÁT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5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MSE — sai số bình phương trung bình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5"/>
          <p:cNvSpPr/>
          <p:nvPr/>
        </p:nvSpPr>
        <p:spPr>
          <a:xfrm>
            <a:off x="1143000" y="5077602"/>
            <a:ext cx="8486759" cy="1671423"/>
          </a:xfrm>
          <a:prstGeom prst="roundRect">
            <a:avLst>
              <a:gd fmla="val 10258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5"/>
          <p:cNvSpPr/>
          <p:nvPr/>
        </p:nvSpPr>
        <p:spPr>
          <a:xfrm>
            <a:off x="2745548" y="5438428"/>
            <a:ext cx="1276581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150"/>
              <a:buFont typeface="Courier New"/>
              <a:buNone/>
            </a:pPr>
            <a:r>
              <a:rPr b="0" i="0" lang="en-US" sz="31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MSE =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5"/>
          <p:cNvSpPr/>
          <p:nvPr/>
        </p:nvSpPr>
        <p:spPr>
          <a:xfrm>
            <a:off x="4147939" y="5438428"/>
            <a:ext cx="796445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150"/>
              <a:buFont typeface="Courier New"/>
              <a:buNone/>
            </a:pPr>
            <a:r>
              <a:rPr b="0" i="0" lang="en-US" sz="31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1/n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5"/>
          <p:cNvSpPr/>
          <p:nvPr/>
        </p:nvSpPr>
        <p:spPr>
          <a:xfrm>
            <a:off x="5146311" y="5438428"/>
            <a:ext cx="2967326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150"/>
              <a:buFont typeface="Courier New"/>
              <a:buNone/>
            </a:pPr>
            <a:r>
              <a:rPr b="0" i="0" lang="en-US" sz="31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Σ (yᵢ − ŷᵢ)²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5"/>
          <p:cNvSpPr/>
          <p:nvPr/>
        </p:nvSpPr>
        <p:spPr>
          <a:xfrm>
            <a:off x="1452754" y="6098067"/>
            <a:ext cx="7867251" cy="3599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Trung bình bình phương khoảng cách điểm → đường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5"/>
          <p:cNvSpPr/>
          <p:nvPr/>
        </p:nvSpPr>
        <p:spPr>
          <a:xfrm>
            <a:off x="10639392" y="4395474"/>
            <a:ext cx="6520743" cy="947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Đo tổng mức "lệch" của dự đoán so với thực tế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5"/>
          <p:cNvSpPr/>
          <p:nvPr/>
        </p:nvSpPr>
        <p:spPr>
          <a:xfrm>
            <a:off x="10639392" y="5437519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Bình phương → phạt nặng lỗi lớn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5"/>
          <p:cNvSpPr/>
          <p:nvPr/>
        </p:nvSpPr>
        <p:spPr>
          <a:xfrm>
            <a:off x="10639392" y="6084755"/>
            <a:ext cx="3440321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Mục tiêu huấn luyện: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5"/>
          <p:cNvSpPr/>
          <p:nvPr/>
        </p:nvSpPr>
        <p:spPr>
          <a:xfrm>
            <a:off x="10639392" y="6053006"/>
            <a:ext cx="5846764" cy="10052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cực tiểu hoá MSE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5"/>
          <p:cNvSpPr/>
          <p:nvPr/>
        </p:nvSpPr>
        <p:spPr>
          <a:xfrm>
            <a:off x="10639392" y="7132092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Nối lại gradient descent đã học ở Section 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6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L04 · HUẤN LUYỆN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6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Gradient Descent cập nhật w, b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6"/>
          <p:cNvSpPr/>
          <p:nvPr/>
        </p:nvSpPr>
        <p:spPr>
          <a:xfrm>
            <a:off x="1143000" y="5311759"/>
            <a:ext cx="8486759" cy="1203193"/>
          </a:xfrm>
          <a:prstGeom prst="roundRect">
            <a:avLst>
              <a:gd fmla="val 14250" name="adj"/>
            </a:avLst>
          </a:prstGeom>
          <a:solidFill>
            <a:srgbClr val="0E131C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6"/>
          <p:cNvSpPr/>
          <p:nvPr/>
        </p:nvSpPr>
        <p:spPr>
          <a:xfrm>
            <a:off x="1987937" y="5317050"/>
            <a:ext cx="6796886" cy="4038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SCREEN RECORDING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6"/>
          <p:cNvSpPr/>
          <p:nvPr/>
        </p:nvSpPr>
        <p:spPr>
          <a:xfrm>
            <a:off x="1690109" y="5831003"/>
            <a:ext cx="7614318" cy="663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Vòng lặp train: đường hồi quy dịch dần tới vị trí khớp nhất, MSE giảm qua từng bước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6"/>
          <p:cNvSpPr/>
          <p:nvPr/>
        </p:nvSpPr>
        <p:spPr>
          <a:xfrm>
            <a:off x="10639392" y="4400765"/>
            <a:ext cx="5937463" cy="947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Mỗi bước, w &amp; b dịch ngược hướng gradient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6"/>
          <p:cNvSpPr/>
          <p:nvPr/>
        </p:nvSpPr>
        <p:spPr>
          <a:xfrm>
            <a:off x="10639392" y="5442810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Đi xuống "dốc" của hàm mất mát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6"/>
          <p:cNvSpPr/>
          <p:nvPr/>
        </p:nvSpPr>
        <p:spPr>
          <a:xfrm>
            <a:off x="10639392" y="6084755"/>
            <a:ext cx="6172511" cy="947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Lặp tới khi MSE gần như không giảm nữa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6"/>
          <p:cNvSpPr/>
          <p:nvPr/>
        </p:nvSpPr>
        <p:spPr>
          <a:xfrm>
            <a:off x="10639392" y="7126800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Lý thuyết toán "sống dậy" thành đường khớp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7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L04 · CODE &amp; DIỄN GIẢI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7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sklearn LinearRegression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7"/>
          <p:cNvSpPr/>
          <p:nvPr/>
        </p:nvSpPr>
        <p:spPr>
          <a:xfrm>
            <a:off x="1143000" y="2320727"/>
            <a:ext cx="16002001" cy="4484440"/>
          </a:xfrm>
          <a:prstGeom prst="roundRect">
            <a:avLst>
              <a:gd fmla="val 3398" name="adj"/>
            </a:avLst>
          </a:prstGeom>
          <a:solidFill>
            <a:srgbClr val="0C121B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7"/>
          <p:cNvSpPr/>
          <p:nvPr/>
        </p:nvSpPr>
        <p:spPr>
          <a:xfrm>
            <a:off x="1148292" y="2326018"/>
            <a:ext cx="15991417" cy="569350"/>
          </a:xfrm>
          <a:prstGeom prst="rect">
            <a:avLst/>
          </a:prstGeom>
          <a:solidFill>
            <a:srgbClr val="0A0F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7"/>
          <p:cNvSpPr/>
          <p:nvPr/>
        </p:nvSpPr>
        <p:spPr>
          <a:xfrm>
            <a:off x="1148292" y="2890077"/>
            <a:ext cx="15991417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7"/>
          <p:cNvSpPr/>
          <p:nvPr/>
        </p:nvSpPr>
        <p:spPr>
          <a:xfrm>
            <a:off x="1357809" y="2546119"/>
            <a:ext cx="123775" cy="123775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7"/>
          <p:cNvSpPr/>
          <p:nvPr/>
        </p:nvSpPr>
        <p:spPr>
          <a:xfrm>
            <a:off x="1567243" y="2546119"/>
            <a:ext cx="123775" cy="123775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7"/>
          <p:cNvSpPr/>
          <p:nvPr/>
        </p:nvSpPr>
        <p:spPr>
          <a:xfrm>
            <a:off x="1776677" y="2546119"/>
            <a:ext cx="123775" cy="123775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7"/>
          <p:cNvSpPr/>
          <p:nvPr/>
        </p:nvSpPr>
        <p:spPr>
          <a:xfrm>
            <a:off x="2100378" y="2478402"/>
            <a:ext cx="282536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linear_regression.py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7"/>
          <p:cNvSpPr/>
          <p:nvPr/>
        </p:nvSpPr>
        <p:spPr>
          <a:xfrm>
            <a:off x="1472142" y="3181119"/>
            <a:ext cx="15823459" cy="33711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C792EA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sklearn.linear_model </a:t>
            </a:r>
            <a:r>
              <a:rPr b="0" i="0" lang="en-US" sz="1800" u="none" cap="none" strike="noStrike">
                <a:solidFill>
                  <a:srgbClr val="C792EA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LinearRegression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model =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LinearRegression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model.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fit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(X_train, y_train)         </a:t>
            </a:r>
            <a:r>
              <a:rPr b="0" i="1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# học w, b # diễn giải hệ số cho stakeholder </a:t>
            </a:r>
            <a:r>
              <a:rPr b="0" i="0" lang="en-US" sz="1800" u="none" cap="none" strike="noStrike">
                <a:solidFill>
                  <a:srgbClr val="82AA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(model.coef_)                 </a:t>
            </a:r>
            <a:r>
              <a:rPr b="0" i="1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# w — ảnh hưởng từng feature </a:t>
            </a:r>
            <a:r>
              <a:rPr b="0" i="0" lang="en-US" sz="1800" u="none" cap="none" strike="noStrike">
                <a:solidFill>
                  <a:srgbClr val="82AA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(model.intercept_)            </a:t>
            </a:r>
            <a:r>
              <a:rPr b="0" i="1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# b — giá trị nền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y_pred = model.</a:t>
            </a: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predict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(X_test)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7"/>
          <p:cNvSpPr/>
          <p:nvPr/>
        </p:nvSpPr>
        <p:spPr>
          <a:xfrm>
            <a:off x="1143000" y="7071817"/>
            <a:ext cx="1648206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Hệ số dương/âm &amp; độ lớn cho biết mỗi feature kéo dự đoán lên hay xuống — rất dễ diễn giải.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8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L04 · TÓM TẮT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8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Linear Regression từ đầu đến cuối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8"/>
          <p:cNvSpPr/>
          <p:nvPr/>
        </p:nvSpPr>
        <p:spPr>
          <a:xfrm>
            <a:off x="1143000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8"/>
          <p:cNvSpPr/>
          <p:nvPr/>
        </p:nvSpPr>
        <p:spPr>
          <a:xfrm>
            <a:off x="1510192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8"/>
          <p:cNvSpPr/>
          <p:nvPr/>
        </p:nvSpPr>
        <p:spPr>
          <a:xfrm>
            <a:off x="1510192" y="4559432"/>
            <a:ext cx="1247560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Mô hình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8"/>
          <p:cNvSpPr/>
          <p:nvPr/>
        </p:nvSpPr>
        <p:spPr>
          <a:xfrm>
            <a:off x="1510192" y="5011870"/>
            <a:ext cx="1287413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y = w·x + 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8"/>
          <p:cNvSpPr/>
          <p:nvPr/>
        </p:nvSpPr>
        <p:spPr>
          <a:xfrm>
            <a:off x="6572251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8"/>
          <p:cNvSpPr/>
          <p:nvPr/>
        </p:nvSpPr>
        <p:spPr>
          <a:xfrm>
            <a:off x="6939442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8"/>
          <p:cNvSpPr/>
          <p:nvPr/>
        </p:nvSpPr>
        <p:spPr>
          <a:xfrm>
            <a:off x="6939442" y="4559432"/>
            <a:ext cx="736749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MSE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8"/>
          <p:cNvSpPr/>
          <p:nvPr/>
        </p:nvSpPr>
        <p:spPr>
          <a:xfrm>
            <a:off x="6939442" y="5011870"/>
            <a:ext cx="2991768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Hàm mất mát cần cực tiểu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8"/>
          <p:cNvSpPr/>
          <p:nvPr/>
        </p:nvSpPr>
        <p:spPr>
          <a:xfrm>
            <a:off x="12001500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8"/>
          <p:cNvSpPr/>
          <p:nvPr/>
        </p:nvSpPr>
        <p:spPr>
          <a:xfrm>
            <a:off x="12368693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8"/>
          <p:cNvSpPr/>
          <p:nvPr/>
        </p:nvSpPr>
        <p:spPr>
          <a:xfrm>
            <a:off x="12368693" y="4559432"/>
            <a:ext cx="2482916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Train + diễn giải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8"/>
          <p:cNvSpPr/>
          <p:nvPr/>
        </p:nvSpPr>
        <p:spPr>
          <a:xfrm>
            <a:off x="12368693" y="5011870"/>
            <a:ext cx="3360693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Gradient descent &amp; đọc hệ số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8"/>
          <p:cNvSpPr/>
          <p:nvPr/>
        </p:nvSpPr>
        <p:spPr>
          <a:xfrm>
            <a:off x="1143000" y="8468817"/>
            <a:ext cx="16002001" cy="1037167"/>
          </a:xfrm>
          <a:prstGeom prst="roundRect">
            <a:avLst>
              <a:gd fmla="val 16531" name="adj"/>
            </a:avLst>
          </a:prstGeom>
          <a:solidFill>
            <a:srgbClr val="22D3EE">
              <a:alpha val="3921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8"/>
          <p:cNvSpPr/>
          <p:nvPr/>
        </p:nvSpPr>
        <p:spPr>
          <a:xfrm>
            <a:off x="1510192" y="8857754"/>
            <a:ext cx="1429461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8"/>
          <p:cNvSpPr/>
          <p:nvPr/>
        </p:nvSpPr>
        <p:spPr>
          <a:xfrm>
            <a:off x="3091987" y="8759858"/>
            <a:ext cx="9435864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Logistic Regression — từ dự đoán số sang phân loại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8"/>
          <p:cNvSpPr/>
          <p:nvPr/>
        </p:nvSpPr>
        <p:spPr>
          <a:xfrm>
            <a:off x="16339592" y="8768292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9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0E1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9"/>
          <p:cNvSpPr/>
          <p:nvPr/>
        </p:nvSpPr>
        <p:spPr>
          <a:xfrm>
            <a:off x="1143000" y="3314816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LECTURE 05 · ~9 PHÚT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9"/>
          <p:cNvSpPr/>
          <p:nvPr/>
        </p:nvSpPr>
        <p:spPr>
          <a:xfrm>
            <a:off x="1143000" y="3902191"/>
            <a:ext cx="16482061" cy="1332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50"/>
              <a:buFont typeface="Courier New"/>
              <a:buNone/>
            </a:pPr>
            <a:r>
              <a:rPr b="1" i="0" lang="en-US" sz="118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 b="0" i="0" sz="1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9"/>
          <p:cNvSpPr/>
          <p:nvPr/>
        </p:nvSpPr>
        <p:spPr>
          <a:xfrm>
            <a:off x="1143000" y="5329701"/>
            <a:ext cx="12753976" cy="810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Logistic Regression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9"/>
          <p:cNvSpPr/>
          <p:nvPr/>
        </p:nvSpPr>
        <p:spPr>
          <a:xfrm>
            <a:off x="1143000" y="6292784"/>
            <a:ext cx="16482061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2850"/>
              <a:buFont typeface="Courier New"/>
              <a:buNone/>
            </a:pPr>
            <a:r>
              <a:rPr b="0" i="0" lang="en-US" sz="285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sigmoid · decision boundary · log-loss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0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L05 · BÀI TOÁN PHÂN LOẠI NHỊ PHÂN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30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Dự đoán </a:t>
            </a:r>
            <a:r>
              <a:rPr b="1" i="0" lang="en-US" sz="37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có / không </a:t>
            </a: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(0 / 1)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0"/>
          <p:cNvSpPr/>
          <p:nvPr/>
        </p:nvSpPr>
        <p:spPr>
          <a:xfrm>
            <a:off x="1581134" y="4907525"/>
            <a:ext cx="5606946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Đầu ra là một trong hai lớp rời rạc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0"/>
          <p:cNvSpPr/>
          <p:nvPr/>
        </p:nvSpPr>
        <p:spPr>
          <a:xfrm>
            <a:off x="1581134" y="5442810"/>
            <a:ext cx="7495430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Tên có "regression" nhưng dùng để phân loại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0"/>
          <p:cNvSpPr/>
          <p:nvPr/>
        </p:nvSpPr>
        <p:spPr>
          <a:xfrm>
            <a:off x="1581134" y="6084755"/>
            <a:ext cx="5120326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Cực phổ biến trong kinh doanh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30"/>
          <p:cNvSpPr/>
          <p:nvPr/>
        </p:nvSpPr>
        <p:spPr>
          <a:xfrm>
            <a:off x="1581134" y="6620041"/>
            <a:ext cx="7495430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Spam · gian lận · churn (rời bỏ)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0"/>
          <p:cNvSpPr/>
          <p:nvPr/>
        </p:nvSpPr>
        <p:spPr>
          <a:xfrm>
            <a:off x="9429751" y="4236062"/>
            <a:ext cx="7715251" cy="1248668"/>
          </a:xfrm>
          <a:prstGeom prst="roundRect">
            <a:avLst>
              <a:gd fmla="val 12205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30"/>
          <p:cNvSpPr/>
          <p:nvPr/>
        </p:nvSpPr>
        <p:spPr>
          <a:xfrm>
            <a:off x="9758826" y="4483696"/>
            <a:ext cx="841589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30"/>
          <p:cNvSpPr/>
          <p:nvPr/>
        </p:nvSpPr>
        <p:spPr>
          <a:xfrm>
            <a:off x="9758826" y="4946055"/>
            <a:ext cx="72688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features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30"/>
          <p:cNvSpPr/>
          <p:nvPr/>
        </p:nvSpPr>
        <p:spPr>
          <a:xfrm>
            <a:off x="9429751" y="5694247"/>
            <a:ext cx="7946708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30"/>
          <p:cNvSpPr/>
          <p:nvPr/>
        </p:nvSpPr>
        <p:spPr>
          <a:xfrm>
            <a:off x="9429751" y="6341897"/>
            <a:ext cx="7715251" cy="1248668"/>
          </a:xfrm>
          <a:prstGeom prst="roundRect">
            <a:avLst>
              <a:gd fmla="val 12205" name="adj"/>
            </a:avLst>
          </a:prstGeom>
          <a:solidFill>
            <a:srgbClr val="11161F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16200000" dist="50800">
              <a:srgbClr val="22D3EE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0"/>
          <p:cNvSpPr/>
          <p:nvPr/>
        </p:nvSpPr>
        <p:spPr>
          <a:xfrm>
            <a:off x="9758826" y="6589531"/>
            <a:ext cx="1311886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0 hoặc 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30"/>
          <p:cNvSpPr/>
          <p:nvPr/>
        </p:nvSpPr>
        <p:spPr>
          <a:xfrm>
            <a:off x="9758826" y="7051890"/>
            <a:ext cx="72688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nhãn lớp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1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L05 · HÀM SIGMOID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1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Ép mọi giá trị về khoảng </a:t>
            </a:r>
            <a:r>
              <a:rPr b="1" i="0" lang="en-US" sz="37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[0, 1] </a:t>
            </a: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= xác suất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1"/>
          <p:cNvSpPr/>
          <p:nvPr/>
        </p:nvSpPr>
        <p:spPr>
          <a:xfrm>
            <a:off x="1143000" y="3516974"/>
            <a:ext cx="8486759" cy="4792679"/>
          </a:xfrm>
          <a:prstGeom prst="roundRect">
            <a:avLst>
              <a:gd fmla="val 3577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1" name="Google Shape;59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0192" y="3846050"/>
            <a:ext cx="7752374" cy="4134528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31"/>
          <p:cNvSpPr/>
          <p:nvPr/>
        </p:nvSpPr>
        <p:spPr>
          <a:xfrm>
            <a:off x="10639392" y="4398119"/>
            <a:ext cx="6316267" cy="947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Hàm S "bóp" đầu ra của hồi quy tuyến tính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31"/>
          <p:cNvSpPr/>
          <p:nvPr/>
        </p:nvSpPr>
        <p:spPr>
          <a:xfrm>
            <a:off x="10639392" y="5440164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σ(z) = 1 / (1 + e⁻ᶻ)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31"/>
          <p:cNvSpPr/>
          <p:nvPr/>
        </p:nvSpPr>
        <p:spPr>
          <a:xfrm>
            <a:off x="10639392" y="6087401"/>
            <a:ext cx="1545051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Output là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31"/>
          <p:cNvSpPr/>
          <p:nvPr/>
        </p:nvSpPr>
        <p:spPr>
          <a:xfrm>
            <a:off x="12208785" y="6055651"/>
            <a:ext cx="1642037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xác suất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31"/>
          <p:cNvSpPr/>
          <p:nvPr/>
        </p:nvSpPr>
        <p:spPr>
          <a:xfrm>
            <a:off x="10639392" y="6087401"/>
            <a:ext cx="6193632" cy="947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, không phải nhãn cứng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31"/>
          <p:cNvSpPr/>
          <p:nvPr/>
        </p:nvSpPr>
        <p:spPr>
          <a:xfrm>
            <a:off x="10639392" y="7129446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Vd: 0.82 → 82% khả năng thuộc lớp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2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L05 · DECISION BOUNDARY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32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Ngưỡng chia xác suất thành hai lớp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2"/>
          <p:cNvSpPr/>
          <p:nvPr/>
        </p:nvSpPr>
        <p:spPr>
          <a:xfrm>
            <a:off x="1143000" y="3516974"/>
            <a:ext cx="8486759" cy="4792679"/>
          </a:xfrm>
          <a:prstGeom prst="roundRect">
            <a:avLst>
              <a:gd fmla="val 3577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6" name="Google Shape;60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0192" y="3846050"/>
            <a:ext cx="7752374" cy="4134528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32"/>
          <p:cNvSpPr/>
          <p:nvPr/>
        </p:nvSpPr>
        <p:spPr>
          <a:xfrm>
            <a:off x="10639392" y="4651540"/>
            <a:ext cx="6390187" cy="947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Xác suất ≥ ngưỡng → lớp 1, ngược lại → lớp 0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32"/>
          <p:cNvSpPr/>
          <p:nvPr/>
        </p:nvSpPr>
        <p:spPr>
          <a:xfrm>
            <a:off x="10639392" y="5693586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Ngưỡng mặc định thường là 0.5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2"/>
          <p:cNvSpPr/>
          <p:nvPr/>
        </p:nvSpPr>
        <p:spPr>
          <a:xfrm>
            <a:off x="10639392" y="6340823"/>
            <a:ext cx="1142636" cy="440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Có thể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32"/>
          <p:cNvSpPr/>
          <p:nvPr/>
        </p:nvSpPr>
        <p:spPr>
          <a:xfrm>
            <a:off x="11806370" y="6309072"/>
            <a:ext cx="2508548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chỉnh ngưỡng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32"/>
          <p:cNvSpPr/>
          <p:nvPr/>
        </p:nvSpPr>
        <p:spPr>
          <a:xfrm>
            <a:off x="14339260" y="6340823"/>
            <a:ext cx="2169302" cy="440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theo bài toán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32"/>
          <p:cNvSpPr/>
          <p:nvPr/>
        </p:nvSpPr>
        <p:spPr>
          <a:xfrm>
            <a:off x="10639392" y="6876108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Vd: y tế cần "thà báo nhầm còn hơn bỏ sót"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3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L05 · LOG-LOSS (CROSS-ENTROPY)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3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Phạt nặng dự đoán </a:t>
            </a:r>
            <a:r>
              <a:rPr b="1" i="0" lang="en-US" sz="3750" u="none" cap="none" strike="noStrike">
                <a:solidFill>
                  <a:srgbClr val="C792EA"/>
                </a:solidFill>
                <a:latin typeface="Arial"/>
                <a:ea typeface="Arial"/>
                <a:cs typeface="Arial"/>
                <a:sym typeface="Arial"/>
              </a:rPr>
              <a:t>sai mà tự tin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33"/>
          <p:cNvSpPr/>
          <p:nvPr/>
        </p:nvSpPr>
        <p:spPr>
          <a:xfrm>
            <a:off x="1581134" y="4907525"/>
            <a:ext cx="5988986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Hàm mất mát cho bài toán phân loại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33"/>
          <p:cNvSpPr/>
          <p:nvPr/>
        </p:nvSpPr>
        <p:spPr>
          <a:xfrm>
            <a:off x="1581134" y="5442810"/>
            <a:ext cx="7495430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Đoán sai với xác suất cao → phạt rất lớn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33"/>
          <p:cNvSpPr/>
          <p:nvPr/>
        </p:nvSpPr>
        <p:spPr>
          <a:xfrm>
            <a:off x="1581134" y="6084755"/>
            <a:ext cx="6549527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Vì sao không dùng MSE cho phân loại?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33"/>
          <p:cNvSpPr/>
          <p:nvPr/>
        </p:nvSpPr>
        <p:spPr>
          <a:xfrm>
            <a:off x="1581134" y="6620041"/>
            <a:ext cx="7495430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MSE tạo mặt mất mát không lồi, khó tối ưu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33"/>
          <p:cNvSpPr/>
          <p:nvPr/>
        </p:nvSpPr>
        <p:spPr>
          <a:xfrm>
            <a:off x="9429751" y="4576052"/>
            <a:ext cx="7715251" cy="2674524"/>
          </a:xfrm>
          <a:prstGeom prst="roundRect">
            <a:avLst>
              <a:gd fmla="val 6410" name="adj"/>
            </a:avLst>
          </a:prstGeom>
          <a:solidFill>
            <a:srgbClr val="22D3EE">
              <a:alpha val="5098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33"/>
          <p:cNvSpPr/>
          <p:nvPr/>
        </p:nvSpPr>
        <p:spPr>
          <a:xfrm>
            <a:off x="9835059" y="4943244"/>
            <a:ext cx="7111772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TRỰC GIÁC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33"/>
          <p:cNvSpPr/>
          <p:nvPr/>
        </p:nvSpPr>
        <p:spPr>
          <a:xfrm>
            <a:off x="9835059" y="5678703"/>
            <a:ext cx="7111772" cy="9189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"Tự tin 99% mà sai" bị phạt nặng hơn nhiều so với "lưỡng lự 55% mà sai".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34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L05 · TÓM TẮT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4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Logistic Regression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4"/>
          <p:cNvSpPr/>
          <p:nvPr/>
        </p:nvSpPr>
        <p:spPr>
          <a:xfrm>
            <a:off x="1143000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34"/>
          <p:cNvSpPr/>
          <p:nvPr/>
        </p:nvSpPr>
        <p:spPr>
          <a:xfrm>
            <a:off x="1510192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4"/>
          <p:cNvSpPr/>
          <p:nvPr/>
        </p:nvSpPr>
        <p:spPr>
          <a:xfrm>
            <a:off x="1510192" y="4559432"/>
            <a:ext cx="1321313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Sigmoid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4"/>
          <p:cNvSpPr/>
          <p:nvPr/>
        </p:nvSpPr>
        <p:spPr>
          <a:xfrm>
            <a:off x="1510192" y="5011870"/>
            <a:ext cx="3601959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Biến đầu ra thành xác suất [0,1]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4"/>
          <p:cNvSpPr/>
          <p:nvPr/>
        </p:nvSpPr>
        <p:spPr>
          <a:xfrm>
            <a:off x="6572251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34"/>
          <p:cNvSpPr/>
          <p:nvPr/>
        </p:nvSpPr>
        <p:spPr>
          <a:xfrm>
            <a:off x="6939442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34"/>
          <p:cNvSpPr/>
          <p:nvPr/>
        </p:nvSpPr>
        <p:spPr>
          <a:xfrm>
            <a:off x="6939442" y="4559432"/>
            <a:ext cx="2931047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Decision boundary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34"/>
          <p:cNvSpPr/>
          <p:nvPr/>
        </p:nvSpPr>
        <p:spPr>
          <a:xfrm>
            <a:off x="6939442" y="5011870"/>
            <a:ext cx="2931047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Ngưỡng chia hai lớp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4"/>
          <p:cNvSpPr/>
          <p:nvPr/>
        </p:nvSpPr>
        <p:spPr>
          <a:xfrm>
            <a:off x="12001500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34"/>
          <p:cNvSpPr/>
          <p:nvPr/>
        </p:nvSpPr>
        <p:spPr>
          <a:xfrm>
            <a:off x="12368693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34"/>
          <p:cNvSpPr/>
          <p:nvPr/>
        </p:nvSpPr>
        <p:spPr>
          <a:xfrm>
            <a:off x="12368693" y="4559432"/>
            <a:ext cx="1444178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Log-loss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34"/>
          <p:cNvSpPr/>
          <p:nvPr/>
        </p:nvSpPr>
        <p:spPr>
          <a:xfrm>
            <a:off x="12368693" y="5011870"/>
            <a:ext cx="3234652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Phạt nặng dự đoán sai tự tin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4"/>
          <p:cNvSpPr/>
          <p:nvPr/>
        </p:nvSpPr>
        <p:spPr>
          <a:xfrm>
            <a:off x="1143000" y="8468817"/>
            <a:ext cx="16002001" cy="1037167"/>
          </a:xfrm>
          <a:prstGeom prst="roundRect">
            <a:avLst>
              <a:gd fmla="val 16531" name="adj"/>
            </a:avLst>
          </a:prstGeom>
          <a:solidFill>
            <a:srgbClr val="22D3EE">
              <a:alpha val="3921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34"/>
          <p:cNvSpPr/>
          <p:nvPr/>
        </p:nvSpPr>
        <p:spPr>
          <a:xfrm>
            <a:off x="1510192" y="8857754"/>
            <a:ext cx="1429461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34"/>
          <p:cNvSpPr/>
          <p:nvPr/>
        </p:nvSpPr>
        <p:spPr>
          <a:xfrm>
            <a:off x="3091987" y="8759858"/>
            <a:ext cx="9404865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K-Nearest Neighbors — model dựa trên "hàng xóm"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34"/>
          <p:cNvSpPr/>
          <p:nvPr/>
        </p:nvSpPr>
        <p:spPr>
          <a:xfrm>
            <a:off x="16339592" y="8768292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5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0E1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35"/>
          <p:cNvSpPr/>
          <p:nvPr/>
        </p:nvSpPr>
        <p:spPr>
          <a:xfrm>
            <a:off x="1143000" y="3314816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LECTURE 06 · ~8 PHÚT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35"/>
          <p:cNvSpPr/>
          <p:nvPr/>
        </p:nvSpPr>
        <p:spPr>
          <a:xfrm>
            <a:off x="1143000" y="3902191"/>
            <a:ext cx="16482061" cy="1332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50"/>
              <a:buFont typeface="Courier New"/>
              <a:buNone/>
            </a:pPr>
            <a:r>
              <a:rPr b="1" i="0" lang="en-US" sz="118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06</a:t>
            </a:r>
            <a:endParaRPr b="0" i="0" sz="1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35"/>
          <p:cNvSpPr/>
          <p:nvPr/>
        </p:nvSpPr>
        <p:spPr>
          <a:xfrm>
            <a:off x="1143000" y="5329701"/>
            <a:ext cx="12753976" cy="810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K-Nearest Neighbors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5"/>
          <p:cNvSpPr/>
          <p:nvPr/>
        </p:nvSpPr>
        <p:spPr>
          <a:xfrm>
            <a:off x="1143000" y="6292784"/>
            <a:ext cx="16482061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2850"/>
              <a:buFont typeface="Courier New"/>
              <a:buNone/>
            </a:pPr>
            <a:r>
              <a:rPr b="0" i="0" lang="en-US" sz="285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khoảng cách · bỏ phiếu · chọn K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36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L06 · NGUYÊN LÝ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6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"Bạn là ai = đa số </a:t>
            </a:r>
            <a:r>
              <a:rPr b="1" i="0" lang="en-US" sz="37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hàng xóm </a:t>
            </a: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là ai"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6"/>
          <p:cNvSpPr/>
          <p:nvPr/>
        </p:nvSpPr>
        <p:spPr>
          <a:xfrm>
            <a:off x="1143000" y="3516974"/>
            <a:ext cx="8486759" cy="4792679"/>
          </a:xfrm>
          <a:prstGeom prst="roundRect">
            <a:avLst>
              <a:gd fmla="val 3577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8" name="Google Shape;66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0192" y="3846050"/>
            <a:ext cx="7752374" cy="4134528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36"/>
          <p:cNvSpPr/>
          <p:nvPr/>
        </p:nvSpPr>
        <p:spPr>
          <a:xfrm>
            <a:off x="10639392" y="4400765"/>
            <a:ext cx="6254609" cy="947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Tìm K điểm gần nhất với điểm cần dự đoán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6"/>
          <p:cNvSpPr/>
          <p:nvPr/>
        </p:nvSpPr>
        <p:spPr>
          <a:xfrm>
            <a:off x="10639392" y="5442810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Rồi bỏ phiếu theo đa số nhãn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6"/>
          <p:cNvSpPr/>
          <p:nvPr/>
        </p:nvSpPr>
        <p:spPr>
          <a:xfrm>
            <a:off x="10639392" y="6084755"/>
            <a:ext cx="6313541" cy="947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Không "học" trước — tính ngay lúc dự đoán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6"/>
          <p:cNvSpPr/>
          <p:nvPr/>
        </p:nvSpPr>
        <p:spPr>
          <a:xfrm>
            <a:off x="10639392" y="7126800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Lazy learning: lưu toàn bộ dữ liệu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7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L06 · ĐO KHOẢNG CÁCH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7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Euclid &amp; Manhattan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7"/>
          <p:cNvSpPr/>
          <p:nvPr/>
        </p:nvSpPr>
        <p:spPr>
          <a:xfrm>
            <a:off x="1143000" y="2320727"/>
            <a:ext cx="7543767" cy="7185257"/>
          </a:xfrm>
          <a:prstGeom prst="roundRect">
            <a:avLst>
              <a:gd fmla="val 2386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37"/>
          <p:cNvSpPr/>
          <p:nvPr/>
        </p:nvSpPr>
        <p:spPr>
          <a:xfrm>
            <a:off x="1529292" y="2668902"/>
            <a:ext cx="697431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EUCLIDEAN · L2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7"/>
          <p:cNvSpPr/>
          <p:nvPr/>
        </p:nvSpPr>
        <p:spPr>
          <a:xfrm>
            <a:off x="1529292" y="3099594"/>
            <a:ext cx="6974319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Đường chim bay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7"/>
          <p:cNvSpPr/>
          <p:nvPr/>
        </p:nvSpPr>
        <p:spPr>
          <a:xfrm>
            <a:off x="1529292" y="3726078"/>
            <a:ext cx="6974319" cy="7561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Khoảng cách thẳng giữa hai điểm — căn bậc hai tổng bình phương sai khác.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7"/>
          <p:cNvSpPr/>
          <p:nvPr/>
        </p:nvSpPr>
        <p:spPr>
          <a:xfrm>
            <a:off x="8972517" y="2320727"/>
            <a:ext cx="419166" cy="7223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vs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7"/>
          <p:cNvSpPr/>
          <p:nvPr/>
        </p:nvSpPr>
        <p:spPr>
          <a:xfrm>
            <a:off x="9601234" y="2320727"/>
            <a:ext cx="7543767" cy="7185257"/>
          </a:xfrm>
          <a:prstGeom prst="roundRect">
            <a:avLst>
              <a:gd fmla="val 2386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37"/>
          <p:cNvSpPr/>
          <p:nvPr/>
        </p:nvSpPr>
        <p:spPr>
          <a:xfrm>
            <a:off x="9987525" y="2668902"/>
            <a:ext cx="697431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MANHATTAN · L1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7"/>
          <p:cNvSpPr/>
          <p:nvPr/>
        </p:nvSpPr>
        <p:spPr>
          <a:xfrm>
            <a:off x="9987525" y="3099594"/>
            <a:ext cx="6974319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C792EA"/>
                </a:solidFill>
                <a:latin typeface="Arial"/>
                <a:ea typeface="Arial"/>
                <a:cs typeface="Arial"/>
                <a:sym typeface="Arial"/>
              </a:rPr>
              <a:t>Đi theo ô bàn cờ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7"/>
          <p:cNvSpPr/>
          <p:nvPr/>
        </p:nvSpPr>
        <p:spPr>
          <a:xfrm>
            <a:off x="9987525" y="3726078"/>
            <a:ext cx="6974319" cy="3971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Tổng trị tuyệt đối các sai khác — di chuyển theo các trục.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38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L06 · CHỌN 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8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K quá nhỏ vs quá lớn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8"/>
          <p:cNvSpPr/>
          <p:nvPr/>
        </p:nvSpPr>
        <p:spPr>
          <a:xfrm>
            <a:off x="1143000" y="2320727"/>
            <a:ext cx="7629509" cy="4627397"/>
          </a:xfrm>
          <a:prstGeom prst="roundRect">
            <a:avLst>
              <a:gd fmla="val 3705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38"/>
          <p:cNvSpPr/>
          <p:nvPr/>
        </p:nvSpPr>
        <p:spPr>
          <a:xfrm>
            <a:off x="1529292" y="2668902"/>
            <a:ext cx="7062633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K NHỎ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8"/>
          <p:cNvSpPr/>
          <p:nvPr/>
        </p:nvSpPr>
        <p:spPr>
          <a:xfrm>
            <a:off x="1529292" y="3099594"/>
            <a:ext cx="7062633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Nhạy với nhiễu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8"/>
          <p:cNvSpPr/>
          <p:nvPr/>
        </p:nvSpPr>
        <p:spPr>
          <a:xfrm>
            <a:off x="1529292" y="3726078"/>
            <a:ext cx="7062633" cy="3971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Ranh giới gồ ghề, dễ bị một điểm lạ đánh lừa → overfit.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8"/>
          <p:cNvSpPr/>
          <p:nvPr/>
        </p:nvSpPr>
        <p:spPr>
          <a:xfrm>
            <a:off x="9058259" y="2320727"/>
            <a:ext cx="247683" cy="466549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↔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8"/>
          <p:cNvSpPr/>
          <p:nvPr/>
        </p:nvSpPr>
        <p:spPr>
          <a:xfrm>
            <a:off x="9515492" y="2320727"/>
            <a:ext cx="7629509" cy="4627397"/>
          </a:xfrm>
          <a:prstGeom prst="roundRect">
            <a:avLst>
              <a:gd fmla="val 3705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38"/>
          <p:cNvSpPr/>
          <p:nvPr/>
        </p:nvSpPr>
        <p:spPr>
          <a:xfrm>
            <a:off x="9901784" y="2668902"/>
            <a:ext cx="7062633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K LỚN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38"/>
          <p:cNvSpPr/>
          <p:nvPr/>
        </p:nvSpPr>
        <p:spPr>
          <a:xfrm>
            <a:off x="9901784" y="3099594"/>
            <a:ext cx="7062633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C792EA"/>
                </a:solidFill>
                <a:latin typeface="Arial"/>
                <a:ea typeface="Arial"/>
                <a:cs typeface="Arial"/>
                <a:sym typeface="Arial"/>
              </a:rPr>
              <a:t>Mượt nhưng mờ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8"/>
          <p:cNvSpPr/>
          <p:nvPr/>
        </p:nvSpPr>
        <p:spPr>
          <a:xfrm>
            <a:off x="9901784" y="3726078"/>
            <a:ext cx="7062633" cy="3971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Ranh giới trơn nhưng có thể bỏ qua chi tiết → underfit.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8"/>
          <p:cNvSpPr/>
          <p:nvPr/>
        </p:nvSpPr>
        <p:spPr>
          <a:xfrm>
            <a:off x="1143000" y="7271908"/>
            <a:ext cx="16002001" cy="2234076"/>
          </a:xfrm>
          <a:prstGeom prst="roundRect">
            <a:avLst>
              <a:gd fmla="val 7674" name="adj"/>
            </a:avLst>
          </a:prstGeom>
          <a:solidFill>
            <a:srgbClr val="22D3EE">
              <a:alpha val="5098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38"/>
          <p:cNvSpPr/>
          <p:nvPr/>
        </p:nvSpPr>
        <p:spPr>
          <a:xfrm>
            <a:off x="1548309" y="7639100"/>
            <a:ext cx="15647125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THỰC HÀNH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38"/>
          <p:cNvSpPr/>
          <p:nvPr/>
        </p:nvSpPr>
        <p:spPr>
          <a:xfrm>
            <a:off x="1548309" y="8374559"/>
            <a:ext cx="15647125" cy="4785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Thử nhiều giá trị K, chọn cái cho điểm tốt nhất trên tập validation.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39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L06 · ƯU / NHƯỢC ĐIỂM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9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Đơn giản, nhưng cẩn thận với </a:t>
            </a:r>
            <a:r>
              <a:rPr b="1" i="0" lang="en-US" sz="3750" u="none" cap="none" strike="noStrike">
                <a:solidFill>
                  <a:srgbClr val="C792EA"/>
                </a:solidFill>
                <a:latin typeface="Arial"/>
                <a:ea typeface="Arial"/>
                <a:cs typeface="Arial"/>
                <a:sym typeface="Arial"/>
              </a:rPr>
              <a:t>nhiều chiều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9"/>
          <p:cNvSpPr/>
          <p:nvPr/>
        </p:nvSpPr>
        <p:spPr>
          <a:xfrm>
            <a:off x="1143000" y="2320727"/>
            <a:ext cx="7829517" cy="7185257"/>
          </a:xfrm>
          <a:prstGeom prst="roundRect">
            <a:avLst>
              <a:gd fmla="val 2386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39"/>
          <p:cNvSpPr/>
          <p:nvPr/>
        </p:nvSpPr>
        <p:spPr>
          <a:xfrm>
            <a:off x="1529292" y="2668902"/>
            <a:ext cx="7268642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Ưu điểm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9"/>
          <p:cNvSpPr/>
          <p:nvPr/>
        </p:nvSpPr>
        <p:spPr>
          <a:xfrm>
            <a:off x="1584471" y="3295385"/>
            <a:ext cx="7077955" cy="870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173355" lvl="0" marL="173355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Char char="•"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Đơn giản, trực quan, dễ hiểu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3355" lvl="0" marL="173355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Char char="•"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Không cần giả định về phân phối dữ liệu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9"/>
          <p:cNvSpPr/>
          <p:nvPr/>
        </p:nvSpPr>
        <p:spPr>
          <a:xfrm>
            <a:off x="9315401" y="2320727"/>
            <a:ext cx="7829600" cy="7185257"/>
          </a:xfrm>
          <a:prstGeom prst="roundRect">
            <a:avLst>
              <a:gd fmla="val 2386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39"/>
          <p:cNvSpPr/>
          <p:nvPr/>
        </p:nvSpPr>
        <p:spPr>
          <a:xfrm>
            <a:off x="9701693" y="2668902"/>
            <a:ext cx="7268727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C792EA"/>
                </a:solidFill>
                <a:latin typeface="Arial"/>
                <a:ea typeface="Arial"/>
                <a:cs typeface="Arial"/>
                <a:sym typeface="Arial"/>
              </a:rPr>
              <a:t>Nhược điểm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9"/>
          <p:cNvSpPr/>
          <p:nvPr/>
        </p:nvSpPr>
        <p:spPr>
          <a:xfrm>
            <a:off x="9756871" y="3295385"/>
            <a:ext cx="7206692" cy="3971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173355" lvl="0" marL="173355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Char char="•"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Chậm khi dữ liệu lớn — tính lúc dự đoán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9"/>
          <p:cNvSpPr/>
          <p:nvPr/>
        </p:nvSpPr>
        <p:spPr>
          <a:xfrm>
            <a:off x="9756871" y="3768659"/>
            <a:ext cx="7206692" cy="3971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Kém hiệu quả với nhiều chiều (</a:t>
            </a:r>
            <a:r>
              <a:rPr b="0" i="1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curse of dimensionality</a:t>
            </a: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9"/>
          <p:cNvSpPr/>
          <p:nvPr/>
        </p:nvSpPr>
        <p:spPr>
          <a:xfrm>
            <a:off x="9756871" y="4241932"/>
            <a:ext cx="7206692" cy="4076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Bắt buộc </a:t>
            </a:r>
            <a:r>
              <a:rPr b="1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scale feature </a:t>
            </a: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trước khi dùng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40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L06 · TÓM TẮT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40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K-Nearest Neighbors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40"/>
          <p:cNvSpPr/>
          <p:nvPr/>
        </p:nvSpPr>
        <p:spPr>
          <a:xfrm>
            <a:off x="1143000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40"/>
          <p:cNvSpPr/>
          <p:nvPr/>
        </p:nvSpPr>
        <p:spPr>
          <a:xfrm>
            <a:off x="1510192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40"/>
          <p:cNvSpPr/>
          <p:nvPr/>
        </p:nvSpPr>
        <p:spPr>
          <a:xfrm>
            <a:off x="1510192" y="4559432"/>
            <a:ext cx="1587136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Hàng xóm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40"/>
          <p:cNvSpPr/>
          <p:nvPr/>
        </p:nvSpPr>
        <p:spPr>
          <a:xfrm>
            <a:off x="1510192" y="5011870"/>
            <a:ext cx="29072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K điểm gần nhất bỏ phiếu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40"/>
          <p:cNvSpPr/>
          <p:nvPr/>
        </p:nvSpPr>
        <p:spPr>
          <a:xfrm>
            <a:off x="6572251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40"/>
          <p:cNvSpPr/>
          <p:nvPr/>
        </p:nvSpPr>
        <p:spPr>
          <a:xfrm>
            <a:off x="6939442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40"/>
          <p:cNvSpPr/>
          <p:nvPr/>
        </p:nvSpPr>
        <p:spPr>
          <a:xfrm>
            <a:off x="6939442" y="4559432"/>
            <a:ext cx="2084553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Khoảng cách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40"/>
          <p:cNvSpPr/>
          <p:nvPr/>
        </p:nvSpPr>
        <p:spPr>
          <a:xfrm>
            <a:off x="6939442" y="5011870"/>
            <a:ext cx="358722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Euclid / Manhattan — cần scale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40"/>
          <p:cNvSpPr/>
          <p:nvPr/>
        </p:nvSpPr>
        <p:spPr>
          <a:xfrm>
            <a:off x="12001500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40"/>
          <p:cNvSpPr/>
          <p:nvPr/>
        </p:nvSpPr>
        <p:spPr>
          <a:xfrm>
            <a:off x="12368693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40"/>
          <p:cNvSpPr/>
          <p:nvPr/>
        </p:nvSpPr>
        <p:spPr>
          <a:xfrm>
            <a:off x="12368693" y="4559432"/>
            <a:ext cx="1160413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Chọn 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40"/>
          <p:cNvSpPr/>
          <p:nvPr/>
        </p:nvSpPr>
        <p:spPr>
          <a:xfrm>
            <a:off x="12368693" y="5011870"/>
            <a:ext cx="3089109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Cân bằng nhiễu &amp; độ mượt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40"/>
          <p:cNvSpPr/>
          <p:nvPr/>
        </p:nvSpPr>
        <p:spPr>
          <a:xfrm>
            <a:off x="1143000" y="8468817"/>
            <a:ext cx="16002001" cy="1037167"/>
          </a:xfrm>
          <a:prstGeom prst="roundRect">
            <a:avLst>
              <a:gd fmla="val 16531" name="adj"/>
            </a:avLst>
          </a:prstGeom>
          <a:solidFill>
            <a:srgbClr val="22D3EE">
              <a:alpha val="3921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40"/>
          <p:cNvSpPr/>
          <p:nvPr/>
        </p:nvSpPr>
        <p:spPr>
          <a:xfrm>
            <a:off x="1510192" y="8857754"/>
            <a:ext cx="1429461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40"/>
          <p:cNvSpPr/>
          <p:nvPr/>
        </p:nvSpPr>
        <p:spPr>
          <a:xfrm>
            <a:off x="3091987" y="8759858"/>
            <a:ext cx="8035192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Decision Tree — model dạng cây quyết định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40"/>
          <p:cNvSpPr/>
          <p:nvPr/>
        </p:nvSpPr>
        <p:spPr>
          <a:xfrm>
            <a:off x="16339592" y="8768292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41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0E1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41"/>
          <p:cNvSpPr/>
          <p:nvPr/>
        </p:nvSpPr>
        <p:spPr>
          <a:xfrm>
            <a:off x="1143000" y="3314816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LECTURE 07 · ~9 PHÚT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41"/>
          <p:cNvSpPr/>
          <p:nvPr/>
        </p:nvSpPr>
        <p:spPr>
          <a:xfrm>
            <a:off x="1143000" y="3902191"/>
            <a:ext cx="16482061" cy="1332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50"/>
              <a:buFont typeface="Courier New"/>
              <a:buNone/>
            </a:pPr>
            <a:r>
              <a:rPr b="1" i="0" lang="en-US" sz="118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07</a:t>
            </a:r>
            <a:endParaRPr b="0" i="0" sz="1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41"/>
          <p:cNvSpPr/>
          <p:nvPr/>
        </p:nvSpPr>
        <p:spPr>
          <a:xfrm>
            <a:off x="1143000" y="5329701"/>
            <a:ext cx="12753976" cy="810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Decision Tree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41"/>
          <p:cNvSpPr/>
          <p:nvPr/>
        </p:nvSpPr>
        <p:spPr>
          <a:xfrm>
            <a:off x="1143000" y="6292784"/>
            <a:ext cx="16482061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2850"/>
              <a:buFont typeface="Courier New"/>
              <a:buNone/>
            </a:pPr>
            <a:r>
              <a:rPr b="0" i="0" lang="en-US" sz="285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Gini vs Entropy · overfitting &amp; cắt tỉa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42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L07 · CẤU TRÚC CÂY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42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Node hỏi · nhánh trả lời · lá kết luận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42"/>
          <p:cNvSpPr/>
          <p:nvPr/>
        </p:nvSpPr>
        <p:spPr>
          <a:xfrm>
            <a:off x="1143000" y="4003394"/>
            <a:ext cx="2635581" cy="665593"/>
          </a:xfrm>
          <a:prstGeom prst="roundRect">
            <a:avLst>
              <a:gd fmla="val 17173" name="adj"/>
            </a:avLst>
          </a:prstGeom>
          <a:solidFill>
            <a:srgbClr val="11161F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42"/>
          <p:cNvSpPr/>
          <p:nvPr/>
        </p:nvSpPr>
        <p:spPr>
          <a:xfrm>
            <a:off x="1414992" y="4180136"/>
            <a:ext cx="2170665" cy="3502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Thu nhập &gt; 50tr?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42"/>
          <p:cNvSpPr/>
          <p:nvPr/>
        </p:nvSpPr>
        <p:spPr>
          <a:xfrm>
            <a:off x="1428750" y="4859487"/>
            <a:ext cx="15875" cy="2963830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42"/>
          <p:cNvSpPr/>
          <p:nvPr/>
        </p:nvSpPr>
        <p:spPr>
          <a:xfrm>
            <a:off x="1768409" y="5094387"/>
            <a:ext cx="62488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C792EA"/>
                </a:solidFill>
                <a:latin typeface="Courier New"/>
                <a:ea typeface="Courier New"/>
                <a:cs typeface="Courier New"/>
                <a:sym typeface="Courier New"/>
              </a:rPr>
              <a:t>có 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42"/>
          <p:cNvSpPr/>
          <p:nvPr/>
        </p:nvSpPr>
        <p:spPr>
          <a:xfrm>
            <a:off x="2469472" y="4859487"/>
            <a:ext cx="1925092" cy="665593"/>
          </a:xfrm>
          <a:prstGeom prst="roundRect">
            <a:avLst>
              <a:gd fmla="val 17173" name="adj"/>
            </a:avLst>
          </a:prstGeom>
          <a:solidFill>
            <a:srgbClr val="11161F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42"/>
          <p:cNvSpPr/>
          <p:nvPr/>
        </p:nvSpPr>
        <p:spPr>
          <a:xfrm>
            <a:off x="2741464" y="5036228"/>
            <a:ext cx="1457309" cy="3502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Có nợ xấu?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42"/>
          <p:cNvSpPr/>
          <p:nvPr/>
        </p:nvSpPr>
        <p:spPr>
          <a:xfrm>
            <a:off x="2054159" y="5715579"/>
            <a:ext cx="15875" cy="1335319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42"/>
          <p:cNvSpPr/>
          <p:nvPr/>
        </p:nvSpPr>
        <p:spPr>
          <a:xfrm>
            <a:off x="2393818" y="5891196"/>
            <a:ext cx="1036307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C792EA"/>
                </a:solidFill>
                <a:latin typeface="Courier New"/>
                <a:ea typeface="Courier New"/>
                <a:cs typeface="Courier New"/>
                <a:sym typeface="Courier New"/>
              </a:rPr>
              <a:t>không 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42"/>
          <p:cNvSpPr/>
          <p:nvPr/>
        </p:nvSpPr>
        <p:spPr>
          <a:xfrm>
            <a:off x="3506308" y="5715579"/>
            <a:ext cx="1568814" cy="562901"/>
          </a:xfrm>
          <a:prstGeom prst="roundRect">
            <a:avLst>
              <a:gd fmla="val 16921" name="adj"/>
            </a:avLst>
          </a:prstGeom>
          <a:solidFill>
            <a:srgbClr val="22D3EE">
              <a:alpha val="5882"/>
            </a:srgbClr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42"/>
          <p:cNvSpPr/>
          <p:nvPr/>
        </p:nvSpPr>
        <p:spPr>
          <a:xfrm>
            <a:off x="3740200" y="5854221"/>
            <a:ext cx="1177230" cy="3237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Duyệt vay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42"/>
          <p:cNvSpPr/>
          <p:nvPr/>
        </p:nvSpPr>
        <p:spPr>
          <a:xfrm>
            <a:off x="2393818" y="6663614"/>
            <a:ext cx="62488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C792EA"/>
                </a:solidFill>
                <a:latin typeface="Courier New"/>
                <a:ea typeface="Courier New"/>
                <a:cs typeface="Courier New"/>
                <a:sym typeface="Courier New"/>
              </a:rPr>
              <a:t>có 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42"/>
          <p:cNvSpPr/>
          <p:nvPr/>
        </p:nvSpPr>
        <p:spPr>
          <a:xfrm>
            <a:off x="3094881" y="6487997"/>
            <a:ext cx="1307869" cy="562901"/>
          </a:xfrm>
          <a:prstGeom prst="roundRect">
            <a:avLst>
              <a:gd fmla="val 16921" name="adj"/>
            </a:avLst>
          </a:prstGeom>
          <a:solidFill>
            <a:srgbClr val="161D28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42"/>
          <p:cNvSpPr/>
          <p:nvPr/>
        </p:nvSpPr>
        <p:spPr>
          <a:xfrm>
            <a:off x="3328773" y="6626639"/>
            <a:ext cx="916285" cy="3237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Từ chối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42"/>
          <p:cNvSpPr/>
          <p:nvPr/>
        </p:nvSpPr>
        <p:spPr>
          <a:xfrm>
            <a:off x="1768409" y="7436032"/>
            <a:ext cx="1036307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C792EA"/>
                </a:solidFill>
                <a:latin typeface="Courier New"/>
                <a:ea typeface="Courier New"/>
                <a:cs typeface="Courier New"/>
                <a:sym typeface="Courier New"/>
              </a:rPr>
              <a:t>không 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42"/>
          <p:cNvSpPr/>
          <p:nvPr/>
        </p:nvSpPr>
        <p:spPr>
          <a:xfrm>
            <a:off x="2880899" y="7260415"/>
            <a:ext cx="1307869" cy="562901"/>
          </a:xfrm>
          <a:prstGeom prst="roundRect">
            <a:avLst>
              <a:gd fmla="val 16921" name="adj"/>
            </a:avLst>
          </a:prstGeom>
          <a:solidFill>
            <a:srgbClr val="161D28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42"/>
          <p:cNvSpPr/>
          <p:nvPr/>
        </p:nvSpPr>
        <p:spPr>
          <a:xfrm>
            <a:off x="3114791" y="7399057"/>
            <a:ext cx="916285" cy="3237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Từ chối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42"/>
          <p:cNvSpPr/>
          <p:nvPr/>
        </p:nvSpPr>
        <p:spPr>
          <a:xfrm>
            <a:off x="10639392" y="4904879"/>
            <a:ext cx="5944786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Giống cách con người ra quyết định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42"/>
          <p:cNvSpPr/>
          <p:nvPr/>
        </p:nvSpPr>
        <p:spPr>
          <a:xfrm>
            <a:off x="10639392" y="5440164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Một chuỗi câu hỏi if-then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42"/>
          <p:cNvSpPr/>
          <p:nvPr/>
        </p:nvSpPr>
        <p:spPr>
          <a:xfrm>
            <a:off x="10639392" y="6055651"/>
            <a:ext cx="2684245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Diễn giải được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42"/>
          <p:cNvSpPr/>
          <p:nvPr/>
        </p:nvSpPr>
        <p:spPr>
          <a:xfrm>
            <a:off x="13345997" y="6087401"/>
            <a:ext cx="2834728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— điểm cộng lớn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42"/>
          <p:cNvSpPr/>
          <p:nvPr/>
        </p:nvSpPr>
        <p:spPr>
          <a:xfrm>
            <a:off x="10639392" y="6622686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Có thể vẽ ra &amp; giải thích cho stakeholder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43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L07 · CHIA NHÁNH THẾ NÀO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43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Chọn câu hỏi tách dữ liệu </a:t>
            </a:r>
            <a:r>
              <a:rPr b="1" i="0" lang="en-US" sz="37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tốt nhất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43"/>
          <p:cNvSpPr/>
          <p:nvPr/>
        </p:nvSpPr>
        <p:spPr>
          <a:xfrm>
            <a:off x="1581134" y="4907525"/>
            <a:ext cx="7226656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Mỗi bước, thử mọi feature &amp; ngưỡng có thể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43"/>
          <p:cNvSpPr/>
          <p:nvPr/>
        </p:nvSpPr>
        <p:spPr>
          <a:xfrm>
            <a:off x="1581134" y="5442810"/>
            <a:ext cx="7495430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Chọn cách chia làm nhánh con "thuần" nhất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43"/>
          <p:cNvSpPr/>
          <p:nvPr/>
        </p:nvSpPr>
        <p:spPr>
          <a:xfrm>
            <a:off x="1581134" y="6084755"/>
            <a:ext cx="7357041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Mục tiêu: mỗi nhánh càng ít trộn lẫn càng tốt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43"/>
          <p:cNvSpPr/>
          <p:nvPr/>
        </p:nvSpPr>
        <p:spPr>
          <a:xfrm>
            <a:off x="1581134" y="6620041"/>
            <a:ext cx="7495430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Lý tưởng: mỗi lá chỉ chứa một lớp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43"/>
          <p:cNvSpPr/>
          <p:nvPr/>
        </p:nvSpPr>
        <p:spPr>
          <a:xfrm>
            <a:off x="9429751" y="4576052"/>
            <a:ext cx="7715251" cy="2674524"/>
          </a:xfrm>
          <a:prstGeom prst="roundRect">
            <a:avLst>
              <a:gd fmla="val 6410" name="adj"/>
            </a:avLst>
          </a:prstGeom>
          <a:solidFill>
            <a:srgbClr val="22D3EE">
              <a:alpha val="5098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43"/>
          <p:cNvSpPr/>
          <p:nvPr/>
        </p:nvSpPr>
        <p:spPr>
          <a:xfrm>
            <a:off x="9835059" y="4943244"/>
            <a:ext cx="7111772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TRỰC GIÁC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43"/>
          <p:cNvSpPr/>
          <p:nvPr/>
        </p:nvSpPr>
        <p:spPr>
          <a:xfrm>
            <a:off x="9835059" y="5678703"/>
            <a:ext cx="7111772" cy="9189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"Thuần khiết" = nếu đi tới lá này, gần như chắc chắn biết nhãn là gì.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44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L07 · ĐO ĐỘ "LỘN XỘN"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44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Gini vs Entropy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44"/>
          <p:cNvSpPr/>
          <p:nvPr/>
        </p:nvSpPr>
        <p:spPr>
          <a:xfrm>
            <a:off x="1143000" y="2320727"/>
            <a:ext cx="7629509" cy="4627397"/>
          </a:xfrm>
          <a:prstGeom prst="roundRect">
            <a:avLst>
              <a:gd fmla="val 3705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44"/>
          <p:cNvSpPr/>
          <p:nvPr/>
        </p:nvSpPr>
        <p:spPr>
          <a:xfrm>
            <a:off x="1529292" y="2668902"/>
            <a:ext cx="7062633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GINI IMPURITY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44"/>
          <p:cNvSpPr/>
          <p:nvPr/>
        </p:nvSpPr>
        <p:spPr>
          <a:xfrm>
            <a:off x="1529292" y="3099594"/>
            <a:ext cx="7062633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Nhanh, mặc định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44"/>
          <p:cNvSpPr/>
          <p:nvPr/>
        </p:nvSpPr>
        <p:spPr>
          <a:xfrm>
            <a:off x="1529292" y="3726078"/>
            <a:ext cx="7062633" cy="3971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Xác suất phân loại sai nếu gán nhãn ngẫu nhiên theo tỉ lệ lớp.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44"/>
          <p:cNvSpPr/>
          <p:nvPr/>
        </p:nvSpPr>
        <p:spPr>
          <a:xfrm>
            <a:off x="9058259" y="2320727"/>
            <a:ext cx="247683" cy="466549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≈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44"/>
          <p:cNvSpPr/>
          <p:nvPr/>
        </p:nvSpPr>
        <p:spPr>
          <a:xfrm>
            <a:off x="9515492" y="2320727"/>
            <a:ext cx="7629509" cy="4627397"/>
          </a:xfrm>
          <a:prstGeom prst="roundRect">
            <a:avLst>
              <a:gd fmla="val 3705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44"/>
          <p:cNvSpPr/>
          <p:nvPr/>
        </p:nvSpPr>
        <p:spPr>
          <a:xfrm>
            <a:off x="9901784" y="2668902"/>
            <a:ext cx="7062633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ENTROPY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44"/>
          <p:cNvSpPr/>
          <p:nvPr/>
        </p:nvSpPr>
        <p:spPr>
          <a:xfrm>
            <a:off x="9901784" y="3099594"/>
            <a:ext cx="7062633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C792EA"/>
                </a:solidFill>
                <a:latin typeface="Arial"/>
                <a:ea typeface="Arial"/>
                <a:cs typeface="Arial"/>
                <a:sym typeface="Arial"/>
              </a:rPr>
              <a:t>Lý thuyết thông tin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44"/>
          <p:cNvSpPr/>
          <p:nvPr/>
        </p:nvSpPr>
        <p:spPr>
          <a:xfrm>
            <a:off x="9901784" y="3726078"/>
            <a:ext cx="7062633" cy="3971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Đo mức "bất định" — chọn split giảm tạp chất nhiều nhất.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44"/>
          <p:cNvSpPr/>
          <p:nvPr/>
        </p:nvSpPr>
        <p:spPr>
          <a:xfrm>
            <a:off x="1143000" y="7271908"/>
            <a:ext cx="16002001" cy="2234076"/>
          </a:xfrm>
          <a:prstGeom prst="roundRect">
            <a:avLst>
              <a:gd fmla="val 7674" name="adj"/>
            </a:avLst>
          </a:prstGeom>
          <a:solidFill>
            <a:srgbClr val="22D3EE">
              <a:alpha val="5098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44"/>
          <p:cNvSpPr/>
          <p:nvPr/>
        </p:nvSpPr>
        <p:spPr>
          <a:xfrm>
            <a:off x="1548309" y="7639100"/>
            <a:ext cx="15647125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THỰC TẾ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44"/>
          <p:cNvSpPr/>
          <p:nvPr/>
        </p:nvSpPr>
        <p:spPr>
          <a:xfrm>
            <a:off x="1548309" y="8374559"/>
            <a:ext cx="15647125" cy="4785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Hai cách thường cho kết quả gần như giống nhau — đừng quá bận tâm chọn cái nào.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5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L07 · OVERFITTING &amp; CẮT TỈA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45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Cây quá sâu = </a:t>
            </a:r>
            <a:r>
              <a:rPr b="1" i="0" lang="en-US" sz="3750" u="none" cap="none" strike="noStrike">
                <a:solidFill>
                  <a:srgbClr val="C792EA"/>
                </a:solidFill>
                <a:latin typeface="Arial"/>
                <a:ea typeface="Arial"/>
                <a:cs typeface="Arial"/>
                <a:sym typeface="Arial"/>
              </a:rPr>
              <a:t>thuộc lòng </a:t>
            </a: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dữ liệu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45"/>
          <p:cNvSpPr/>
          <p:nvPr/>
        </p:nvSpPr>
        <p:spPr>
          <a:xfrm>
            <a:off x="1581134" y="4907525"/>
            <a:ext cx="6748468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Cây không giới hạn sẽ chia tới từng mẫu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45"/>
          <p:cNvSpPr/>
          <p:nvPr/>
        </p:nvSpPr>
        <p:spPr>
          <a:xfrm>
            <a:off x="1581134" y="5442810"/>
            <a:ext cx="7495430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Khớp hoàn hảo train nhưng tệ trên dữ liệu mới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45"/>
          <p:cNvSpPr/>
          <p:nvPr/>
        </p:nvSpPr>
        <p:spPr>
          <a:xfrm>
            <a:off x="1581134" y="6084755"/>
            <a:ext cx="5802224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Kiểm soát bằng các tham số cắt tỉa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45"/>
          <p:cNvSpPr/>
          <p:nvPr/>
        </p:nvSpPr>
        <p:spPr>
          <a:xfrm>
            <a:off x="1581134" y="6620041"/>
            <a:ext cx="7495430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max_depth </a:t>
            </a: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19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min_samples_leaf </a:t>
            </a: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19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min_samples_split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45"/>
          <p:cNvSpPr/>
          <p:nvPr/>
        </p:nvSpPr>
        <p:spPr>
          <a:xfrm>
            <a:off x="9429751" y="4576052"/>
            <a:ext cx="7715251" cy="2674524"/>
          </a:xfrm>
          <a:prstGeom prst="roundRect">
            <a:avLst>
              <a:gd fmla="val 6410" name="adj"/>
            </a:avLst>
          </a:prstGeom>
          <a:solidFill>
            <a:srgbClr val="C792EA">
              <a:alpha val="5882"/>
            </a:srgbClr>
          </a:solidFill>
          <a:ln cap="flat" cmpd="sng" w="9525">
            <a:solidFill>
              <a:srgbClr val="C792E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45"/>
          <p:cNvSpPr/>
          <p:nvPr/>
        </p:nvSpPr>
        <p:spPr>
          <a:xfrm>
            <a:off x="9835059" y="4943244"/>
            <a:ext cx="7111772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C792EA"/>
                </a:solidFill>
                <a:latin typeface="Courier New"/>
                <a:ea typeface="Courier New"/>
                <a:cs typeface="Courier New"/>
                <a:sym typeface="Courier New"/>
              </a:rPr>
              <a:t>LƯU Ý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45"/>
          <p:cNvSpPr/>
          <p:nvPr/>
        </p:nvSpPr>
        <p:spPr>
          <a:xfrm>
            <a:off x="9835059" y="5678703"/>
            <a:ext cx="7111772" cy="9189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Cây đơn lẻ là model </a:t>
            </a:r>
            <a:r>
              <a:rPr b="1" i="0" lang="en-US" sz="25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dễ overfit nhất </a:t>
            </a:r>
            <a:r>
              <a:rPr b="0" i="0" lang="en-US" sz="25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— gần như luôn phải cắt tỉa.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6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L07 · TÓM TẮT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46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Decision Tree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46"/>
          <p:cNvSpPr/>
          <p:nvPr/>
        </p:nvSpPr>
        <p:spPr>
          <a:xfrm>
            <a:off x="1143000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46"/>
          <p:cNvSpPr/>
          <p:nvPr/>
        </p:nvSpPr>
        <p:spPr>
          <a:xfrm>
            <a:off x="1510192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46"/>
          <p:cNvSpPr/>
          <p:nvPr/>
        </p:nvSpPr>
        <p:spPr>
          <a:xfrm>
            <a:off x="1510192" y="4559432"/>
            <a:ext cx="1393246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Cấu trúc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46"/>
          <p:cNvSpPr/>
          <p:nvPr/>
        </p:nvSpPr>
        <p:spPr>
          <a:xfrm>
            <a:off x="1510192" y="5011870"/>
            <a:ext cx="368686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Node hỏi → nhánh → lá kết luận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46"/>
          <p:cNvSpPr/>
          <p:nvPr/>
        </p:nvSpPr>
        <p:spPr>
          <a:xfrm>
            <a:off x="6572251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46"/>
          <p:cNvSpPr/>
          <p:nvPr/>
        </p:nvSpPr>
        <p:spPr>
          <a:xfrm>
            <a:off x="6939442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46"/>
          <p:cNvSpPr/>
          <p:nvPr/>
        </p:nvSpPr>
        <p:spPr>
          <a:xfrm>
            <a:off x="6939442" y="4559432"/>
            <a:ext cx="2161365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Gini / Entropy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46"/>
          <p:cNvSpPr/>
          <p:nvPr/>
        </p:nvSpPr>
        <p:spPr>
          <a:xfrm>
            <a:off x="6939442" y="5011870"/>
            <a:ext cx="3105801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Đo độ thuần khi chia nhánh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46"/>
          <p:cNvSpPr/>
          <p:nvPr/>
        </p:nvSpPr>
        <p:spPr>
          <a:xfrm>
            <a:off x="12001500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46"/>
          <p:cNvSpPr/>
          <p:nvPr/>
        </p:nvSpPr>
        <p:spPr>
          <a:xfrm>
            <a:off x="12368693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46"/>
          <p:cNvSpPr/>
          <p:nvPr/>
        </p:nvSpPr>
        <p:spPr>
          <a:xfrm>
            <a:off x="12368693" y="4559432"/>
            <a:ext cx="1137592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Cắt tỉa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46"/>
          <p:cNvSpPr/>
          <p:nvPr/>
        </p:nvSpPr>
        <p:spPr>
          <a:xfrm>
            <a:off x="12368693" y="5011870"/>
            <a:ext cx="2319867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Kiểm soát overfitting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46"/>
          <p:cNvSpPr/>
          <p:nvPr/>
        </p:nvSpPr>
        <p:spPr>
          <a:xfrm>
            <a:off x="1143000" y="8468817"/>
            <a:ext cx="16002001" cy="1037167"/>
          </a:xfrm>
          <a:prstGeom prst="roundRect">
            <a:avLst>
              <a:gd fmla="val 16531" name="adj"/>
            </a:avLst>
          </a:prstGeom>
          <a:solidFill>
            <a:srgbClr val="22D3EE">
              <a:alpha val="3921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46"/>
          <p:cNvSpPr/>
          <p:nvPr/>
        </p:nvSpPr>
        <p:spPr>
          <a:xfrm>
            <a:off x="1510192" y="8857754"/>
            <a:ext cx="1429461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46"/>
          <p:cNvSpPr/>
          <p:nvPr/>
        </p:nvSpPr>
        <p:spPr>
          <a:xfrm>
            <a:off x="3091987" y="8759858"/>
            <a:ext cx="8657732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Random Forest — một cây yếu, nhiều cây mạnh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46"/>
          <p:cNvSpPr/>
          <p:nvPr/>
        </p:nvSpPr>
        <p:spPr>
          <a:xfrm>
            <a:off x="16339592" y="8768292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47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0E1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47"/>
          <p:cNvSpPr/>
          <p:nvPr/>
        </p:nvSpPr>
        <p:spPr>
          <a:xfrm>
            <a:off x="1143000" y="3314816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LECTURE 08 · ~8 PHÚT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47"/>
          <p:cNvSpPr/>
          <p:nvPr/>
        </p:nvSpPr>
        <p:spPr>
          <a:xfrm>
            <a:off x="1143000" y="3902191"/>
            <a:ext cx="16482061" cy="1332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50"/>
              <a:buFont typeface="Courier New"/>
              <a:buNone/>
            </a:pPr>
            <a:r>
              <a:rPr b="1" i="0" lang="en-US" sz="118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08</a:t>
            </a:r>
            <a:endParaRPr b="0" i="0" sz="1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47"/>
          <p:cNvSpPr/>
          <p:nvPr/>
        </p:nvSpPr>
        <p:spPr>
          <a:xfrm>
            <a:off x="1143000" y="5329701"/>
            <a:ext cx="12753976" cy="810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Random Forest &amp; Bagging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47"/>
          <p:cNvSpPr/>
          <p:nvPr/>
        </p:nvSpPr>
        <p:spPr>
          <a:xfrm>
            <a:off x="1143000" y="6292784"/>
            <a:ext cx="16482061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2850"/>
              <a:buFont typeface="Courier New"/>
              <a:buNone/>
            </a:pPr>
            <a:r>
              <a:rPr b="0" i="0" lang="en-US" sz="285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sức mạnh của số đông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48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L08 · VẤN ĐỀ CỦA MỘT CÂY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48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Một cây đơn lẻ dễ </a:t>
            </a:r>
            <a:r>
              <a:rPr b="1" i="0" lang="en-US" sz="3750" u="none" cap="none" strike="noStrike">
                <a:solidFill>
                  <a:srgbClr val="C792EA"/>
                </a:solidFill>
                <a:latin typeface="Arial"/>
                <a:ea typeface="Arial"/>
                <a:cs typeface="Arial"/>
                <a:sym typeface="Arial"/>
              </a:rPr>
              <a:t>dao động mạnh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48"/>
          <p:cNvSpPr/>
          <p:nvPr/>
        </p:nvSpPr>
        <p:spPr>
          <a:xfrm>
            <a:off x="1581134" y="4904879"/>
            <a:ext cx="4393632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Dễ overfit &amp; không ổn định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48"/>
          <p:cNvSpPr/>
          <p:nvPr/>
        </p:nvSpPr>
        <p:spPr>
          <a:xfrm>
            <a:off x="1581134" y="5440164"/>
            <a:ext cx="7495430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Đổi vài mẫu dữ liệu → cây thay đổi hẳn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48"/>
          <p:cNvSpPr/>
          <p:nvPr/>
        </p:nvSpPr>
        <p:spPr>
          <a:xfrm>
            <a:off x="1581134" y="6087401"/>
            <a:ext cx="3211658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Cần một cách giảm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48"/>
          <p:cNvSpPr/>
          <p:nvPr/>
        </p:nvSpPr>
        <p:spPr>
          <a:xfrm>
            <a:off x="4799873" y="6055651"/>
            <a:ext cx="2075293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phương sai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48"/>
          <p:cNvSpPr/>
          <p:nvPr/>
        </p:nvSpPr>
        <p:spPr>
          <a:xfrm>
            <a:off x="1581134" y="6622686"/>
            <a:ext cx="7495430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Ý tưởng: kết hợp nhiều cây lại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48"/>
          <p:cNvSpPr/>
          <p:nvPr/>
        </p:nvSpPr>
        <p:spPr>
          <a:xfrm>
            <a:off x="9429751" y="4576052"/>
            <a:ext cx="7715251" cy="2674524"/>
          </a:xfrm>
          <a:prstGeom prst="roundRect">
            <a:avLst>
              <a:gd fmla="val 6410" name="adj"/>
            </a:avLst>
          </a:prstGeom>
          <a:solidFill>
            <a:srgbClr val="22D3EE">
              <a:alpha val="5098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48"/>
          <p:cNvSpPr/>
          <p:nvPr/>
        </p:nvSpPr>
        <p:spPr>
          <a:xfrm>
            <a:off x="9835059" y="4943244"/>
            <a:ext cx="7111772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TRỰC GIÁC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48"/>
          <p:cNvSpPr/>
          <p:nvPr/>
        </p:nvSpPr>
        <p:spPr>
          <a:xfrm>
            <a:off x="9835059" y="5678703"/>
            <a:ext cx="7111772" cy="9189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Hỏi một chuyên gia dễ sai lệch; hỏi cả hội đồng thì ổn định hơn.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49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L08 · BAGGING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49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Huấn luyện nhiều model trên các mẫu khác nhau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49"/>
          <p:cNvSpPr/>
          <p:nvPr/>
        </p:nvSpPr>
        <p:spPr>
          <a:xfrm>
            <a:off x="3705324" y="5123326"/>
            <a:ext cx="2315104" cy="886768"/>
          </a:xfrm>
          <a:prstGeom prst="roundRect">
            <a:avLst>
              <a:gd fmla="val 17186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49"/>
          <p:cNvSpPr/>
          <p:nvPr/>
        </p:nvSpPr>
        <p:spPr>
          <a:xfrm>
            <a:off x="4034466" y="5376267"/>
            <a:ext cx="1733021" cy="418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Dữ liệu gốc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49"/>
          <p:cNvSpPr/>
          <p:nvPr/>
        </p:nvSpPr>
        <p:spPr>
          <a:xfrm>
            <a:off x="6306178" y="5347643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49"/>
          <p:cNvSpPr/>
          <p:nvPr/>
        </p:nvSpPr>
        <p:spPr>
          <a:xfrm>
            <a:off x="7030145" y="4389024"/>
            <a:ext cx="3004344" cy="696268"/>
          </a:xfrm>
          <a:prstGeom prst="roundRect">
            <a:avLst>
              <a:gd fmla="val 21888" name="adj"/>
            </a:avLst>
          </a:prstGeom>
          <a:solidFill>
            <a:srgbClr val="11161F"/>
          </a:solidFill>
          <a:ln cap="flat" cmpd="sng" w="9525">
            <a:solidFill>
              <a:srgbClr val="C792EA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49"/>
          <p:cNvSpPr/>
          <p:nvPr/>
        </p:nvSpPr>
        <p:spPr>
          <a:xfrm>
            <a:off x="7283086" y="4546716"/>
            <a:ext cx="2588591" cy="418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Mẫu bootstrap 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49"/>
          <p:cNvSpPr/>
          <p:nvPr/>
        </p:nvSpPr>
        <p:spPr>
          <a:xfrm>
            <a:off x="7030145" y="5218576"/>
            <a:ext cx="3004344" cy="696268"/>
          </a:xfrm>
          <a:prstGeom prst="roundRect">
            <a:avLst>
              <a:gd fmla="val 21888" name="adj"/>
            </a:avLst>
          </a:prstGeom>
          <a:solidFill>
            <a:srgbClr val="11161F"/>
          </a:solidFill>
          <a:ln cap="flat" cmpd="sng" w="9525">
            <a:solidFill>
              <a:srgbClr val="C792EA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49"/>
          <p:cNvSpPr/>
          <p:nvPr/>
        </p:nvSpPr>
        <p:spPr>
          <a:xfrm>
            <a:off x="7283086" y="5376267"/>
            <a:ext cx="2588591" cy="418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Mẫu bootstrap 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49"/>
          <p:cNvSpPr/>
          <p:nvPr/>
        </p:nvSpPr>
        <p:spPr>
          <a:xfrm>
            <a:off x="7030145" y="6048127"/>
            <a:ext cx="3004344" cy="696268"/>
          </a:xfrm>
          <a:prstGeom prst="roundRect">
            <a:avLst>
              <a:gd fmla="val 21888" name="adj"/>
            </a:avLst>
          </a:prstGeom>
          <a:solidFill>
            <a:srgbClr val="11161F"/>
          </a:solidFill>
          <a:ln cap="flat" cmpd="sng" w="9525">
            <a:solidFill>
              <a:srgbClr val="C792EA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49"/>
          <p:cNvSpPr/>
          <p:nvPr/>
        </p:nvSpPr>
        <p:spPr>
          <a:xfrm>
            <a:off x="7283086" y="6205819"/>
            <a:ext cx="2588591" cy="418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Mẫu bootstrap 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49"/>
          <p:cNvSpPr/>
          <p:nvPr/>
        </p:nvSpPr>
        <p:spPr>
          <a:xfrm>
            <a:off x="10320239" y="5347643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49"/>
          <p:cNvSpPr/>
          <p:nvPr/>
        </p:nvSpPr>
        <p:spPr>
          <a:xfrm>
            <a:off x="11044205" y="4942334"/>
            <a:ext cx="3538389" cy="1248668"/>
          </a:xfrm>
          <a:prstGeom prst="roundRect">
            <a:avLst>
              <a:gd fmla="val 12205" name="adj"/>
            </a:avLst>
          </a:prstGeom>
          <a:solidFill>
            <a:srgbClr val="11161F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16200000" dist="50800">
              <a:srgbClr val="22D3EE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49"/>
          <p:cNvSpPr/>
          <p:nvPr/>
        </p:nvSpPr>
        <p:spPr>
          <a:xfrm>
            <a:off x="11373280" y="5189968"/>
            <a:ext cx="1501147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Tổng hợp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49"/>
          <p:cNvSpPr/>
          <p:nvPr/>
        </p:nvSpPr>
        <p:spPr>
          <a:xfrm>
            <a:off x="11373280" y="5652327"/>
            <a:ext cx="296664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trung bình / bỏ phiếu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49"/>
          <p:cNvSpPr/>
          <p:nvPr/>
        </p:nvSpPr>
        <p:spPr>
          <a:xfrm>
            <a:off x="902970" y="7125395"/>
            <a:ext cx="16482061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Bootstrap = lấy mẫu có hoàn lại. Gộp nhiều cây → </a:t>
            </a:r>
            <a:r>
              <a:rPr b="1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giảm phương sai</a:t>
            </a: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, ổn định hơn.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50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L08 · RANDOM FOREST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50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Bagging + chọn ngẫu nhiên feature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50"/>
          <p:cNvSpPr/>
          <p:nvPr/>
        </p:nvSpPr>
        <p:spPr>
          <a:xfrm>
            <a:off x="1581134" y="4654187"/>
            <a:ext cx="6921774" cy="947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Mỗi lần chia nhánh chỉ xét một tập feature ngẫu nhiên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50"/>
          <p:cNvSpPr/>
          <p:nvPr/>
        </p:nvSpPr>
        <p:spPr>
          <a:xfrm>
            <a:off x="1581134" y="5696231"/>
            <a:ext cx="7495430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Khiến các cây khác biệt nhau hơn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50"/>
          <p:cNvSpPr/>
          <p:nvPr/>
        </p:nvSpPr>
        <p:spPr>
          <a:xfrm>
            <a:off x="1581134" y="6338176"/>
            <a:ext cx="6881321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Các cây đa dạng → rừng mạnh &amp; ổn định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50"/>
          <p:cNvSpPr/>
          <p:nvPr/>
        </p:nvSpPr>
        <p:spPr>
          <a:xfrm>
            <a:off x="1581134" y="6873462"/>
            <a:ext cx="7495430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Một trong những model "đáng tin" nhất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50"/>
          <p:cNvSpPr/>
          <p:nvPr/>
        </p:nvSpPr>
        <p:spPr>
          <a:xfrm>
            <a:off x="9429751" y="4576052"/>
            <a:ext cx="7715251" cy="2674524"/>
          </a:xfrm>
          <a:prstGeom prst="roundRect">
            <a:avLst>
              <a:gd fmla="val 6410" name="adj"/>
            </a:avLst>
          </a:prstGeom>
          <a:solidFill>
            <a:srgbClr val="C792EA">
              <a:alpha val="5882"/>
            </a:srgbClr>
          </a:solidFill>
          <a:ln cap="flat" cmpd="sng" w="9525">
            <a:solidFill>
              <a:srgbClr val="C792E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50"/>
          <p:cNvSpPr/>
          <p:nvPr/>
        </p:nvSpPr>
        <p:spPr>
          <a:xfrm>
            <a:off x="9835059" y="4943244"/>
            <a:ext cx="7111772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C792EA"/>
                </a:solidFill>
                <a:latin typeface="Courier New"/>
                <a:ea typeface="Courier New"/>
                <a:cs typeface="Courier New"/>
                <a:sym typeface="Courier New"/>
              </a:rPr>
              <a:t>VÌ SAO MẠNH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50"/>
          <p:cNvSpPr/>
          <p:nvPr/>
        </p:nvSpPr>
        <p:spPr>
          <a:xfrm>
            <a:off x="9835059" y="5678703"/>
            <a:ext cx="7111772" cy="9189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Cây càng đa dạng (ít tương quan), việc bỏ phiếu tập thể càng hiệu quả.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51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L08 · FEATURE IMPORTANCE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51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Feature nào quan trọng nhất?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51"/>
          <p:cNvSpPr/>
          <p:nvPr/>
        </p:nvSpPr>
        <p:spPr>
          <a:xfrm>
            <a:off x="1143000" y="3831663"/>
            <a:ext cx="16002001" cy="3629918"/>
          </a:xfrm>
          <a:prstGeom prst="roundRect">
            <a:avLst>
              <a:gd fmla="val 4723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51"/>
          <p:cNvSpPr/>
          <p:nvPr/>
        </p:nvSpPr>
        <p:spPr>
          <a:xfrm>
            <a:off x="1544532" y="4335942"/>
            <a:ext cx="274701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tenure (thâm niên)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51"/>
          <p:cNvSpPr/>
          <p:nvPr/>
        </p:nvSpPr>
        <p:spPr>
          <a:xfrm>
            <a:off x="4520076" y="4275088"/>
            <a:ext cx="11152849" cy="381000"/>
          </a:xfrm>
          <a:prstGeom prst="roundRect">
            <a:avLst>
              <a:gd fmla="val 22500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51"/>
          <p:cNvSpPr/>
          <p:nvPr/>
        </p:nvSpPr>
        <p:spPr>
          <a:xfrm>
            <a:off x="4525367" y="4280380"/>
            <a:ext cx="10250868" cy="370417"/>
          </a:xfrm>
          <a:prstGeom prst="roundRect">
            <a:avLst>
              <a:gd fmla="val 23143" name="adj"/>
            </a:avLst>
          </a:prstGeom>
          <a:solidFill>
            <a:srgbClr val="22D3EE">
              <a:alpha val="3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51"/>
          <p:cNvSpPr/>
          <p:nvPr/>
        </p:nvSpPr>
        <p:spPr>
          <a:xfrm>
            <a:off x="15901460" y="4335942"/>
            <a:ext cx="83820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0.31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51"/>
          <p:cNvSpPr/>
          <p:nvPr/>
        </p:nvSpPr>
        <p:spPr>
          <a:xfrm>
            <a:off x="1544532" y="4926459"/>
            <a:ext cx="274701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monthly_charges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51"/>
          <p:cNvSpPr/>
          <p:nvPr/>
        </p:nvSpPr>
        <p:spPr>
          <a:xfrm>
            <a:off x="4520076" y="4865605"/>
            <a:ext cx="11152849" cy="381000"/>
          </a:xfrm>
          <a:prstGeom prst="roundRect">
            <a:avLst>
              <a:gd fmla="val 22500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51"/>
          <p:cNvSpPr/>
          <p:nvPr/>
        </p:nvSpPr>
        <p:spPr>
          <a:xfrm>
            <a:off x="4525367" y="4870897"/>
            <a:ext cx="8245244" cy="370417"/>
          </a:xfrm>
          <a:prstGeom prst="roundRect">
            <a:avLst>
              <a:gd fmla="val 23143" name="adj"/>
            </a:avLst>
          </a:prstGeom>
          <a:solidFill>
            <a:srgbClr val="22D3EE">
              <a:alpha val="3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51"/>
          <p:cNvSpPr/>
          <p:nvPr/>
        </p:nvSpPr>
        <p:spPr>
          <a:xfrm>
            <a:off x="15901460" y="4926459"/>
            <a:ext cx="83820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0.25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51"/>
          <p:cNvSpPr/>
          <p:nvPr/>
        </p:nvSpPr>
        <p:spPr>
          <a:xfrm>
            <a:off x="1544532" y="5516976"/>
            <a:ext cx="274701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contract_type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51"/>
          <p:cNvSpPr/>
          <p:nvPr/>
        </p:nvSpPr>
        <p:spPr>
          <a:xfrm>
            <a:off x="4520076" y="5456122"/>
            <a:ext cx="11152849" cy="381000"/>
          </a:xfrm>
          <a:prstGeom prst="roundRect">
            <a:avLst>
              <a:gd fmla="val 22500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51"/>
          <p:cNvSpPr/>
          <p:nvPr/>
        </p:nvSpPr>
        <p:spPr>
          <a:xfrm>
            <a:off x="4525367" y="5461414"/>
            <a:ext cx="6128246" cy="370417"/>
          </a:xfrm>
          <a:prstGeom prst="roundRect">
            <a:avLst>
              <a:gd fmla="val 23143" name="adj"/>
            </a:avLst>
          </a:prstGeom>
          <a:solidFill>
            <a:srgbClr val="22D3EE">
              <a:alpha val="3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51"/>
          <p:cNvSpPr/>
          <p:nvPr/>
        </p:nvSpPr>
        <p:spPr>
          <a:xfrm>
            <a:off x="15901460" y="5516976"/>
            <a:ext cx="83820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0.18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51"/>
          <p:cNvSpPr/>
          <p:nvPr/>
        </p:nvSpPr>
        <p:spPr>
          <a:xfrm>
            <a:off x="1544532" y="6107493"/>
            <a:ext cx="274701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total_charges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51"/>
          <p:cNvSpPr/>
          <p:nvPr/>
        </p:nvSpPr>
        <p:spPr>
          <a:xfrm>
            <a:off x="4520076" y="6046639"/>
            <a:ext cx="11152849" cy="381000"/>
          </a:xfrm>
          <a:prstGeom prst="roundRect">
            <a:avLst>
              <a:gd fmla="val 22500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51"/>
          <p:cNvSpPr/>
          <p:nvPr/>
        </p:nvSpPr>
        <p:spPr>
          <a:xfrm>
            <a:off x="4525367" y="6051931"/>
            <a:ext cx="4233995" cy="370417"/>
          </a:xfrm>
          <a:prstGeom prst="roundRect">
            <a:avLst>
              <a:gd fmla="val 23143" name="adj"/>
            </a:avLst>
          </a:prstGeom>
          <a:solidFill>
            <a:srgbClr val="22D3EE">
              <a:alpha val="3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51"/>
          <p:cNvSpPr/>
          <p:nvPr/>
        </p:nvSpPr>
        <p:spPr>
          <a:xfrm>
            <a:off x="15901460" y="6107493"/>
            <a:ext cx="83820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0.13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51"/>
          <p:cNvSpPr/>
          <p:nvPr/>
        </p:nvSpPr>
        <p:spPr>
          <a:xfrm>
            <a:off x="1544532" y="6698010"/>
            <a:ext cx="274701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tech_support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51"/>
          <p:cNvSpPr/>
          <p:nvPr/>
        </p:nvSpPr>
        <p:spPr>
          <a:xfrm>
            <a:off x="4520076" y="6637156"/>
            <a:ext cx="11152849" cy="381000"/>
          </a:xfrm>
          <a:prstGeom prst="roundRect">
            <a:avLst>
              <a:gd fmla="val 22500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51"/>
          <p:cNvSpPr/>
          <p:nvPr/>
        </p:nvSpPr>
        <p:spPr>
          <a:xfrm>
            <a:off x="4525367" y="6642447"/>
            <a:ext cx="2451282" cy="370417"/>
          </a:xfrm>
          <a:prstGeom prst="roundRect">
            <a:avLst>
              <a:gd fmla="val 23143" name="adj"/>
            </a:avLst>
          </a:prstGeom>
          <a:solidFill>
            <a:srgbClr val="22D3EE">
              <a:alpha val="3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51"/>
          <p:cNvSpPr/>
          <p:nvPr/>
        </p:nvSpPr>
        <p:spPr>
          <a:xfrm>
            <a:off x="15901460" y="6698010"/>
            <a:ext cx="83820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0.07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51"/>
          <p:cNvSpPr/>
          <p:nvPr/>
        </p:nvSpPr>
        <p:spPr>
          <a:xfrm>
            <a:off x="902970" y="7709214"/>
            <a:ext cx="1648206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Hữu ích để diễn giải model &amp; chọn lọc feature.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52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L08 · TÓM TẮT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52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Random Forest &amp; Bagging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52"/>
          <p:cNvSpPr/>
          <p:nvPr/>
        </p:nvSpPr>
        <p:spPr>
          <a:xfrm>
            <a:off x="1143000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52"/>
          <p:cNvSpPr/>
          <p:nvPr/>
        </p:nvSpPr>
        <p:spPr>
          <a:xfrm>
            <a:off x="1510192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52"/>
          <p:cNvSpPr/>
          <p:nvPr/>
        </p:nvSpPr>
        <p:spPr>
          <a:xfrm>
            <a:off x="1510192" y="4559432"/>
            <a:ext cx="1348763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Bagging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52"/>
          <p:cNvSpPr/>
          <p:nvPr/>
        </p:nvSpPr>
        <p:spPr>
          <a:xfrm>
            <a:off x="1510192" y="5011870"/>
            <a:ext cx="3644030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Nhiều model trên mẫu bootstrap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52"/>
          <p:cNvSpPr/>
          <p:nvPr/>
        </p:nvSpPr>
        <p:spPr>
          <a:xfrm>
            <a:off x="6572251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52"/>
          <p:cNvSpPr/>
          <p:nvPr/>
        </p:nvSpPr>
        <p:spPr>
          <a:xfrm>
            <a:off x="6939442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52"/>
          <p:cNvSpPr/>
          <p:nvPr/>
        </p:nvSpPr>
        <p:spPr>
          <a:xfrm>
            <a:off x="6939442" y="4559432"/>
            <a:ext cx="2364102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Random Forest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52"/>
          <p:cNvSpPr/>
          <p:nvPr/>
        </p:nvSpPr>
        <p:spPr>
          <a:xfrm>
            <a:off x="6939442" y="5011870"/>
            <a:ext cx="335430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Bagging + feature ngẫu nhiên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52"/>
          <p:cNvSpPr/>
          <p:nvPr/>
        </p:nvSpPr>
        <p:spPr>
          <a:xfrm>
            <a:off x="12001500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52"/>
          <p:cNvSpPr/>
          <p:nvPr/>
        </p:nvSpPr>
        <p:spPr>
          <a:xfrm>
            <a:off x="12368693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52"/>
          <p:cNvSpPr/>
          <p:nvPr/>
        </p:nvSpPr>
        <p:spPr>
          <a:xfrm>
            <a:off x="12368693" y="4559432"/>
            <a:ext cx="1843204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Importance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52"/>
          <p:cNvSpPr/>
          <p:nvPr/>
        </p:nvSpPr>
        <p:spPr>
          <a:xfrm>
            <a:off x="12368693" y="5011870"/>
            <a:ext cx="4239828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Đo &amp; diễn giải tầm quan trọng feature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52"/>
          <p:cNvSpPr/>
          <p:nvPr/>
        </p:nvSpPr>
        <p:spPr>
          <a:xfrm>
            <a:off x="1143000" y="8468817"/>
            <a:ext cx="16002001" cy="1037167"/>
          </a:xfrm>
          <a:prstGeom prst="roundRect">
            <a:avLst>
              <a:gd fmla="val 16531" name="adj"/>
            </a:avLst>
          </a:prstGeom>
          <a:solidFill>
            <a:srgbClr val="22D3EE">
              <a:alpha val="3921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52"/>
          <p:cNvSpPr/>
          <p:nvPr/>
        </p:nvSpPr>
        <p:spPr>
          <a:xfrm>
            <a:off x="1510192" y="8857754"/>
            <a:ext cx="1429461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52"/>
          <p:cNvSpPr/>
          <p:nvPr/>
        </p:nvSpPr>
        <p:spPr>
          <a:xfrm>
            <a:off x="3091987" y="8759858"/>
            <a:ext cx="8358385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Gradient Boosting — nhà vô địch dữ liệu bảng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52"/>
          <p:cNvSpPr/>
          <p:nvPr/>
        </p:nvSpPr>
        <p:spPr>
          <a:xfrm>
            <a:off x="16339592" y="8768292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53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0E1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53"/>
          <p:cNvSpPr/>
          <p:nvPr/>
        </p:nvSpPr>
        <p:spPr>
          <a:xfrm>
            <a:off x="1143000" y="3314816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LECTURE 09 · ~10 PHÚT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53"/>
          <p:cNvSpPr/>
          <p:nvPr/>
        </p:nvSpPr>
        <p:spPr>
          <a:xfrm>
            <a:off x="1143000" y="3902191"/>
            <a:ext cx="16482061" cy="1332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50"/>
              <a:buFont typeface="Courier New"/>
              <a:buNone/>
            </a:pPr>
            <a:r>
              <a:rPr b="1" i="0" lang="en-US" sz="118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09</a:t>
            </a:r>
            <a:endParaRPr b="0" i="0" sz="1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53"/>
          <p:cNvSpPr/>
          <p:nvPr/>
        </p:nvSpPr>
        <p:spPr>
          <a:xfrm>
            <a:off x="1143000" y="5329701"/>
            <a:ext cx="12753976" cy="810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Gradient Boosting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53"/>
          <p:cNvSpPr/>
          <p:nvPr/>
        </p:nvSpPr>
        <p:spPr>
          <a:xfrm>
            <a:off x="1143000" y="6292784"/>
            <a:ext cx="16482061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2850"/>
              <a:buFont typeface="Courier New"/>
              <a:buNone/>
            </a:pPr>
            <a:r>
              <a:rPr b="0" i="0" lang="en-US" sz="285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XGBoost · LightGBM · CatBoost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54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L09 · BOOSTING VS BAGGING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54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Song song vs </a:t>
            </a:r>
            <a:r>
              <a:rPr b="1" i="0" lang="en-US" sz="37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tuần tự sửa lỗi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54"/>
          <p:cNvSpPr/>
          <p:nvPr/>
        </p:nvSpPr>
        <p:spPr>
          <a:xfrm>
            <a:off x="1143000" y="2320727"/>
            <a:ext cx="7543767" cy="7185257"/>
          </a:xfrm>
          <a:prstGeom prst="roundRect">
            <a:avLst>
              <a:gd fmla="val 2386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54"/>
          <p:cNvSpPr/>
          <p:nvPr/>
        </p:nvSpPr>
        <p:spPr>
          <a:xfrm>
            <a:off x="1529292" y="2668902"/>
            <a:ext cx="697431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BAGGING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54"/>
          <p:cNvSpPr/>
          <p:nvPr/>
        </p:nvSpPr>
        <p:spPr>
          <a:xfrm>
            <a:off x="1529292" y="3099594"/>
            <a:ext cx="6974319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Song song · độc lập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54"/>
          <p:cNvSpPr/>
          <p:nvPr/>
        </p:nvSpPr>
        <p:spPr>
          <a:xfrm>
            <a:off x="1529292" y="3726078"/>
            <a:ext cx="6974319" cy="3971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Các cây được train riêng rẽ rồi gộp lại — giảm phương sai.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54"/>
          <p:cNvSpPr/>
          <p:nvPr/>
        </p:nvSpPr>
        <p:spPr>
          <a:xfrm>
            <a:off x="8972517" y="2320727"/>
            <a:ext cx="419166" cy="7223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vs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54"/>
          <p:cNvSpPr/>
          <p:nvPr/>
        </p:nvSpPr>
        <p:spPr>
          <a:xfrm>
            <a:off x="9601234" y="2320727"/>
            <a:ext cx="7543767" cy="7185257"/>
          </a:xfrm>
          <a:prstGeom prst="roundRect">
            <a:avLst>
              <a:gd fmla="val 2386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54"/>
          <p:cNvSpPr/>
          <p:nvPr/>
        </p:nvSpPr>
        <p:spPr>
          <a:xfrm>
            <a:off x="9987525" y="2668902"/>
            <a:ext cx="697431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BOOSTING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54"/>
          <p:cNvSpPr/>
          <p:nvPr/>
        </p:nvSpPr>
        <p:spPr>
          <a:xfrm>
            <a:off x="9987525" y="3099594"/>
            <a:ext cx="6974319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C792EA"/>
                </a:solidFill>
                <a:latin typeface="Arial"/>
                <a:ea typeface="Arial"/>
                <a:cs typeface="Arial"/>
                <a:sym typeface="Arial"/>
              </a:rPr>
              <a:t>Tuần tự · sửa lỗi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54"/>
          <p:cNvSpPr/>
          <p:nvPr/>
        </p:nvSpPr>
        <p:spPr>
          <a:xfrm>
            <a:off x="9987525" y="3726078"/>
            <a:ext cx="6974319" cy="7561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Mỗi cây mới học từ sai lầm của các cây trước — giảm độ lệch (bias).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55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L09 · Ý TƯỞNG CỐT LÕI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55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Mỗi cây mới sửa </a:t>
            </a:r>
            <a:r>
              <a:rPr b="1" i="0" lang="en-US" sz="37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phần lỗi còn lại </a:t>
            </a: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(residual)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55"/>
          <p:cNvSpPr/>
          <p:nvPr/>
        </p:nvSpPr>
        <p:spPr>
          <a:xfrm>
            <a:off x="2815663" y="4955646"/>
            <a:ext cx="2166855" cy="1248668"/>
          </a:xfrm>
          <a:prstGeom prst="roundRect">
            <a:avLst>
              <a:gd fmla="val 12205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55"/>
          <p:cNvSpPr/>
          <p:nvPr/>
        </p:nvSpPr>
        <p:spPr>
          <a:xfrm>
            <a:off x="3144739" y="5203279"/>
            <a:ext cx="880037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Cây 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55"/>
          <p:cNvSpPr/>
          <p:nvPr/>
        </p:nvSpPr>
        <p:spPr>
          <a:xfrm>
            <a:off x="3144739" y="5665639"/>
            <a:ext cx="158490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dự đoán thô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55"/>
          <p:cNvSpPr/>
          <p:nvPr/>
        </p:nvSpPr>
        <p:spPr>
          <a:xfrm>
            <a:off x="5268268" y="5360872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55"/>
          <p:cNvSpPr/>
          <p:nvPr/>
        </p:nvSpPr>
        <p:spPr>
          <a:xfrm>
            <a:off x="5992234" y="4955646"/>
            <a:ext cx="2441112" cy="1248668"/>
          </a:xfrm>
          <a:prstGeom prst="roundRect">
            <a:avLst>
              <a:gd fmla="val 12205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55"/>
          <p:cNvSpPr/>
          <p:nvPr/>
        </p:nvSpPr>
        <p:spPr>
          <a:xfrm>
            <a:off x="6321310" y="5203279"/>
            <a:ext cx="957758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Cây 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55"/>
          <p:cNvSpPr/>
          <p:nvPr/>
        </p:nvSpPr>
        <p:spPr>
          <a:xfrm>
            <a:off x="6321310" y="5665639"/>
            <a:ext cx="185916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sửa lỗi cây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55"/>
          <p:cNvSpPr/>
          <p:nvPr/>
        </p:nvSpPr>
        <p:spPr>
          <a:xfrm>
            <a:off x="8719096" y="5360872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55"/>
          <p:cNvSpPr/>
          <p:nvPr/>
        </p:nvSpPr>
        <p:spPr>
          <a:xfrm>
            <a:off x="9443063" y="4955646"/>
            <a:ext cx="2715452" cy="1248668"/>
          </a:xfrm>
          <a:prstGeom prst="roundRect">
            <a:avLst>
              <a:gd fmla="val 12205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55"/>
          <p:cNvSpPr/>
          <p:nvPr/>
        </p:nvSpPr>
        <p:spPr>
          <a:xfrm>
            <a:off x="9772138" y="5203279"/>
            <a:ext cx="961396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Cây 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55"/>
          <p:cNvSpPr/>
          <p:nvPr/>
        </p:nvSpPr>
        <p:spPr>
          <a:xfrm>
            <a:off x="9772138" y="5665639"/>
            <a:ext cx="213350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sửa lỗi còn lại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55"/>
          <p:cNvSpPr/>
          <p:nvPr/>
        </p:nvSpPr>
        <p:spPr>
          <a:xfrm>
            <a:off x="12444265" y="5360872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55"/>
          <p:cNvSpPr/>
          <p:nvPr/>
        </p:nvSpPr>
        <p:spPr>
          <a:xfrm>
            <a:off x="13168230" y="4955646"/>
            <a:ext cx="2304025" cy="1248668"/>
          </a:xfrm>
          <a:prstGeom prst="roundRect">
            <a:avLst>
              <a:gd fmla="val 12205" name="adj"/>
            </a:avLst>
          </a:prstGeom>
          <a:solidFill>
            <a:srgbClr val="11161F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16200000" dist="50800">
              <a:srgbClr val="22D3EE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55"/>
          <p:cNvSpPr/>
          <p:nvPr/>
        </p:nvSpPr>
        <p:spPr>
          <a:xfrm>
            <a:off x="13497306" y="5203279"/>
            <a:ext cx="1498170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Tổng dồn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55"/>
          <p:cNvSpPr/>
          <p:nvPr/>
        </p:nvSpPr>
        <p:spPr>
          <a:xfrm>
            <a:off x="13497306" y="5665639"/>
            <a:ext cx="172207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mô hình mạnh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55"/>
          <p:cNvSpPr/>
          <p:nvPr/>
        </p:nvSpPr>
        <p:spPr>
          <a:xfrm>
            <a:off x="902970" y="6585314"/>
            <a:ext cx="1648206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Cộng dồn nhiều cây "yếu" → một mô hình rất mạnh. Residual giảm dần qua từng cây.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56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L09 · XGBOOST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56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Chuẩn ngành cho dữ liệu bảng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56"/>
          <p:cNvSpPr/>
          <p:nvPr/>
        </p:nvSpPr>
        <p:spPr>
          <a:xfrm>
            <a:off x="1143000" y="3856302"/>
            <a:ext cx="8486759" cy="4114106"/>
          </a:xfrm>
          <a:prstGeom prst="roundRect">
            <a:avLst>
              <a:gd fmla="val 3704" name="adj"/>
            </a:avLst>
          </a:prstGeom>
          <a:solidFill>
            <a:srgbClr val="0C121B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56"/>
          <p:cNvSpPr/>
          <p:nvPr/>
        </p:nvSpPr>
        <p:spPr>
          <a:xfrm>
            <a:off x="1148292" y="3861594"/>
            <a:ext cx="8476176" cy="569350"/>
          </a:xfrm>
          <a:prstGeom prst="rect">
            <a:avLst/>
          </a:prstGeom>
          <a:solidFill>
            <a:srgbClr val="0A0F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56"/>
          <p:cNvSpPr/>
          <p:nvPr/>
        </p:nvSpPr>
        <p:spPr>
          <a:xfrm>
            <a:off x="1148292" y="4425653"/>
            <a:ext cx="8476176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56"/>
          <p:cNvSpPr/>
          <p:nvPr/>
        </p:nvSpPr>
        <p:spPr>
          <a:xfrm>
            <a:off x="1357809" y="4081694"/>
            <a:ext cx="123775" cy="123775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56"/>
          <p:cNvSpPr/>
          <p:nvPr/>
        </p:nvSpPr>
        <p:spPr>
          <a:xfrm>
            <a:off x="1567243" y="4081694"/>
            <a:ext cx="123775" cy="123775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56"/>
          <p:cNvSpPr/>
          <p:nvPr/>
        </p:nvSpPr>
        <p:spPr>
          <a:xfrm>
            <a:off x="1776677" y="4081694"/>
            <a:ext cx="123775" cy="123775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56"/>
          <p:cNvSpPr/>
          <p:nvPr/>
        </p:nvSpPr>
        <p:spPr>
          <a:xfrm>
            <a:off x="2100378" y="4013977"/>
            <a:ext cx="2270671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xgboost_train.py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56"/>
          <p:cNvSpPr/>
          <p:nvPr/>
        </p:nvSpPr>
        <p:spPr>
          <a:xfrm>
            <a:off x="1472142" y="4716694"/>
            <a:ext cx="8082761" cy="30007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C792EA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xgboost </a:t>
            </a:r>
            <a:r>
              <a:rPr b="0" i="0" lang="en-US" sz="1800" u="none" cap="none" strike="noStrike">
                <a:solidFill>
                  <a:srgbClr val="C792EA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XGBClassifier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model =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XGBClassifier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n_estimators=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F7A7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7A76C"/>
                </a:solidFill>
                <a:latin typeface="Courier New"/>
                <a:ea typeface="Courier New"/>
                <a:cs typeface="Courier New"/>
                <a:sym typeface="Courier New"/>
              </a:rPr>
              <a:t>300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learning_rate=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F7A7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7A76C"/>
                </a:solidFill>
                <a:latin typeface="Courier New"/>
                <a:ea typeface="Courier New"/>
                <a:cs typeface="Courier New"/>
                <a:sym typeface="Courier New"/>
              </a:rPr>
              <a:t>0.05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max_depth=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F7A7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7A76C"/>
                </a:solidFill>
                <a:latin typeface="Courier New"/>
                <a:ea typeface="Courier New"/>
                <a:cs typeface="Courier New"/>
                <a:sym typeface="Courier New"/>
              </a:rPr>
              <a:t>5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model.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fit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(X_train, y_train)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56"/>
          <p:cNvSpPr/>
          <p:nvPr/>
        </p:nvSpPr>
        <p:spPr>
          <a:xfrm>
            <a:off x="10639392" y="4910171"/>
            <a:ext cx="2839241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Nhanh, mạnh, có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56"/>
          <p:cNvSpPr/>
          <p:nvPr/>
        </p:nvSpPr>
        <p:spPr>
          <a:xfrm>
            <a:off x="13496480" y="4878421"/>
            <a:ext cx="2645837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regularization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56"/>
          <p:cNvSpPr/>
          <p:nvPr/>
        </p:nvSpPr>
        <p:spPr>
          <a:xfrm>
            <a:off x="10639392" y="5445456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Chống overfit tốt hơn cây thường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56"/>
          <p:cNvSpPr/>
          <p:nvPr/>
        </p:nvSpPr>
        <p:spPr>
          <a:xfrm>
            <a:off x="10639392" y="6087401"/>
            <a:ext cx="5805716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Lựa chọn an toàn cho dữ liệu bảng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56"/>
          <p:cNvSpPr/>
          <p:nvPr/>
        </p:nvSpPr>
        <p:spPr>
          <a:xfrm>
            <a:off x="10639392" y="6622686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Là chuẩn ngành trong nhiều năm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57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L09 · LIGHTGBM &amp; CATBOOST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57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Khi nào dùng cái nào?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57"/>
          <p:cNvSpPr/>
          <p:nvPr/>
        </p:nvSpPr>
        <p:spPr>
          <a:xfrm>
            <a:off x="1143000" y="2320727"/>
            <a:ext cx="7629509" cy="7185257"/>
          </a:xfrm>
          <a:prstGeom prst="roundRect">
            <a:avLst>
              <a:gd fmla="val 2386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57"/>
          <p:cNvSpPr/>
          <p:nvPr/>
        </p:nvSpPr>
        <p:spPr>
          <a:xfrm>
            <a:off x="1529292" y="2668902"/>
            <a:ext cx="7062633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LIGHTGBM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57"/>
          <p:cNvSpPr/>
          <p:nvPr/>
        </p:nvSpPr>
        <p:spPr>
          <a:xfrm>
            <a:off x="1529292" y="3099594"/>
            <a:ext cx="7062633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Rất nhanh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57"/>
          <p:cNvSpPr/>
          <p:nvPr/>
        </p:nvSpPr>
        <p:spPr>
          <a:xfrm>
            <a:off x="1529292" y="3726078"/>
            <a:ext cx="7062633" cy="3971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Tối ưu cho dữ liệu lớn — huấn luyện nhanh, tốn ít bộ nhớ.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57"/>
          <p:cNvSpPr/>
          <p:nvPr/>
        </p:nvSpPr>
        <p:spPr>
          <a:xfrm>
            <a:off x="9058259" y="2320727"/>
            <a:ext cx="247683" cy="7223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·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57"/>
          <p:cNvSpPr/>
          <p:nvPr/>
        </p:nvSpPr>
        <p:spPr>
          <a:xfrm>
            <a:off x="9515492" y="2320727"/>
            <a:ext cx="7629509" cy="7185257"/>
          </a:xfrm>
          <a:prstGeom prst="roundRect">
            <a:avLst>
              <a:gd fmla="val 2386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57"/>
          <p:cNvSpPr/>
          <p:nvPr/>
        </p:nvSpPr>
        <p:spPr>
          <a:xfrm>
            <a:off x="9901784" y="2668902"/>
            <a:ext cx="7062633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CATBOOST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57"/>
          <p:cNvSpPr/>
          <p:nvPr/>
        </p:nvSpPr>
        <p:spPr>
          <a:xfrm>
            <a:off x="9901784" y="3099594"/>
            <a:ext cx="7062633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C792EA"/>
                </a:solidFill>
                <a:latin typeface="Arial"/>
                <a:ea typeface="Arial"/>
                <a:cs typeface="Arial"/>
                <a:sym typeface="Arial"/>
              </a:rPr>
              <a:t>Giỏi categorical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57"/>
          <p:cNvSpPr/>
          <p:nvPr/>
        </p:nvSpPr>
        <p:spPr>
          <a:xfrm>
            <a:off x="9901784" y="3726078"/>
            <a:ext cx="7062633" cy="3971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Xử lý biến phân loại rất tốt — ít cần encode bằng tay.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58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L09 · THAM SỐ QUAN TRỌNG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58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Ba "núm vặn" chính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58"/>
          <p:cNvSpPr/>
          <p:nvPr/>
        </p:nvSpPr>
        <p:spPr>
          <a:xfrm>
            <a:off x="1143000" y="2320727"/>
            <a:ext cx="5105384" cy="4646414"/>
          </a:xfrm>
          <a:prstGeom prst="roundRect">
            <a:avLst>
              <a:gd fmla="val 3690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58"/>
          <p:cNvSpPr/>
          <p:nvPr/>
        </p:nvSpPr>
        <p:spPr>
          <a:xfrm>
            <a:off x="1529292" y="2668902"/>
            <a:ext cx="446278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LEARNING_RATE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58"/>
          <p:cNvSpPr/>
          <p:nvPr/>
        </p:nvSpPr>
        <p:spPr>
          <a:xfrm>
            <a:off x="1529292" y="3099594"/>
            <a:ext cx="4462784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Tốc độ học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58"/>
          <p:cNvSpPr/>
          <p:nvPr/>
        </p:nvSpPr>
        <p:spPr>
          <a:xfrm>
            <a:off x="1529292" y="3726078"/>
            <a:ext cx="4462784" cy="7561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Nhỏ → học chậm nhưng chắc, thường cần nhiều cây hơn.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58"/>
          <p:cNvSpPr/>
          <p:nvPr/>
        </p:nvSpPr>
        <p:spPr>
          <a:xfrm>
            <a:off x="6591267" y="2320727"/>
            <a:ext cx="5105384" cy="4646414"/>
          </a:xfrm>
          <a:prstGeom prst="roundRect">
            <a:avLst>
              <a:gd fmla="val 3690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58"/>
          <p:cNvSpPr/>
          <p:nvPr/>
        </p:nvSpPr>
        <p:spPr>
          <a:xfrm>
            <a:off x="6977559" y="2668902"/>
            <a:ext cx="446278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N_ESTIMATORS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58"/>
          <p:cNvSpPr/>
          <p:nvPr/>
        </p:nvSpPr>
        <p:spPr>
          <a:xfrm>
            <a:off x="6977559" y="3099594"/>
            <a:ext cx="4462784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Số cây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58"/>
          <p:cNvSpPr/>
          <p:nvPr/>
        </p:nvSpPr>
        <p:spPr>
          <a:xfrm>
            <a:off x="6977559" y="3726078"/>
            <a:ext cx="4462784" cy="7561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Nhiều cây mạnh hơn nhưng tốn thời gian &amp; dễ overfit.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58"/>
          <p:cNvSpPr/>
          <p:nvPr/>
        </p:nvSpPr>
        <p:spPr>
          <a:xfrm>
            <a:off x="12039535" y="2320727"/>
            <a:ext cx="5105384" cy="4646414"/>
          </a:xfrm>
          <a:prstGeom prst="roundRect">
            <a:avLst>
              <a:gd fmla="val 3690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58"/>
          <p:cNvSpPr/>
          <p:nvPr/>
        </p:nvSpPr>
        <p:spPr>
          <a:xfrm>
            <a:off x="12425826" y="2668902"/>
            <a:ext cx="446278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MAX_DEPTH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58"/>
          <p:cNvSpPr/>
          <p:nvPr/>
        </p:nvSpPr>
        <p:spPr>
          <a:xfrm>
            <a:off x="12425826" y="3099594"/>
            <a:ext cx="4462784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Độ sâu cây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58"/>
          <p:cNvSpPr/>
          <p:nvPr/>
        </p:nvSpPr>
        <p:spPr>
          <a:xfrm>
            <a:off x="12425826" y="3726078"/>
            <a:ext cx="4462784" cy="7561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Kiểm soát độ phức tạp của từng cây thành phần.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58"/>
          <p:cNvSpPr/>
          <p:nvPr/>
        </p:nvSpPr>
        <p:spPr>
          <a:xfrm>
            <a:off x="1143000" y="7271908"/>
            <a:ext cx="16002001" cy="2234076"/>
          </a:xfrm>
          <a:prstGeom prst="roundRect">
            <a:avLst>
              <a:gd fmla="val 7674" name="adj"/>
            </a:avLst>
          </a:prstGeom>
          <a:solidFill>
            <a:srgbClr val="22D3EE">
              <a:alpha val="5098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58"/>
          <p:cNvSpPr/>
          <p:nvPr/>
        </p:nvSpPr>
        <p:spPr>
          <a:xfrm>
            <a:off x="1548309" y="7639100"/>
            <a:ext cx="15647125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GHI CHÚ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58"/>
          <p:cNvSpPr/>
          <p:nvPr/>
        </p:nvSpPr>
        <p:spPr>
          <a:xfrm>
            <a:off x="1548309" y="8374559"/>
            <a:ext cx="15647125" cy="4785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Sẽ tinh chỉnh kỹ ba tham số này ở bài Hyperparameter Tuning.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59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L09 · TÓM TẮT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59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Gradient Boosting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59"/>
          <p:cNvSpPr/>
          <p:nvPr/>
        </p:nvSpPr>
        <p:spPr>
          <a:xfrm>
            <a:off x="1143000" y="3627520"/>
            <a:ext cx="5143500" cy="2227792"/>
          </a:xfrm>
          <a:prstGeom prst="roundRect">
            <a:avLst>
              <a:gd fmla="val 7696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59"/>
          <p:cNvSpPr/>
          <p:nvPr/>
        </p:nvSpPr>
        <p:spPr>
          <a:xfrm>
            <a:off x="1510192" y="3975695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59"/>
          <p:cNvSpPr/>
          <p:nvPr/>
        </p:nvSpPr>
        <p:spPr>
          <a:xfrm>
            <a:off x="1510192" y="4460379"/>
            <a:ext cx="1439631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Boosting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59"/>
          <p:cNvSpPr/>
          <p:nvPr/>
        </p:nvSpPr>
        <p:spPr>
          <a:xfrm>
            <a:off x="1510192" y="4912816"/>
            <a:ext cx="3902243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Tuần tự, mỗi cây sửa lỗi cây trước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59"/>
          <p:cNvSpPr/>
          <p:nvPr/>
        </p:nvSpPr>
        <p:spPr>
          <a:xfrm>
            <a:off x="6572251" y="3627520"/>
            <a:ext cx="5143500" cy="2227792"/>
          </a:xfrm>
          <a:prstGeom prst="roundRect">
            <a:avLst>
              <a:gd fmla="val 7696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59"/>
          <p:cNvSpPr/>
          <p:nvPr/>
        </p:nvSpPr>
        <p:spPr>
          <a:xfrm>
            <a:off x="6939442" y="3975695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59"/>
          <p:cNvSpPr/>
          <p:nvPr/>
        </p:nvSpPr>
        <p:spPr>
          <a:xfrm>
            <a:off x="6939442" y="4460379"/>
            <a:ext cx="1755395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Ba thư viện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59"/>
          <p:cNvSpPr/>
          <p:nvPr/>
        </p:nvSpPr>
        <p:spPr>
          <a:xfrm>
            <a:off x="6939442" y="4912816"/>
            <a:ext cx="3657571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XGBoost · LightGBM · CatBoost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59"/>
          <p:cNvSpPr/>
          <p:nvPr/>
        </p:nvSpPr>
        <p:spPr>
          <a:xfrm>
            <a:off x="12001500" y="3627520"/>
            <a:ext cx="5143500" cy="2227792"/>
          </a:xfrm>
          <a:prstGeom prst="roundRect">
            <a:avLst>
              <a:gd fmla="val 7696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59"/>
          <p:cNvSpPr/>
          <p:nvPr/>
        </p:nvSpPr>
        <p:spPr>
          <a:xfrm>
            <a:off x="12368693" y="3975695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59"/>
          <p:cNvSpPr/>
          <p:nvPr/>
        </p:nvSpPr>
        <p:spPr>
          <a:xfrm>
            <a:off x="12368693" y="4460379"/>
            <a:ext cx="1366126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Tham số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59"/>
          <p:cNvSpPr/>
          <p:nvPr/>
        </p:nvSpPr>
        <p:spPr>
          <a:xfrm>
            <a:off x="12368693" y="4912816"/>
            <a:ext cx="4541390" cy="63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learning_rate · n_estimators · max_depth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59"/>
          <p:cNvSpPr/>
          <p:nvPr/>
        </p:nvSpPr>
        <p:spPr>
          <a:xfrm>
            <a:off x="1143000" y="8468817"/>
            <a:ext cx="16002001" cy="1037167"/>
          </a:xfrm>
          <a:prstGeom prst="roundRect">
            <a:avLst>
              <a:gd fmla="val 16531" name="adj"/>
            </a:avLst>
          </a:prstGeom>
          <a:solidFill>
            <a:srgbClr val="22D3EE">
              <a:alpha val="3921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59"/>
          <p:cNvSpPr/>
          <p:nvPr/>
        </p:nvSpPr>
        <p:spPr>
          <a:xfrm>
            <a:off x="1510192" y="8857754"/>
            <a:ext cx="1429461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59"/>
          <p:cNvSpPr/>
          <p:nvPr/>
        </p:nvSpPr>
        <p:spPr>
          <a:xfrm>
            <a:off x="3091987" y="8759858"/>
            <a:ext cx="6463769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SVM — tìm ranh giới phân lớp tối ưu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59"/>
          <p:cNvSpPr/>
          <p:nvPr/>
        </p:nvSpPr>
        <p:spPr>
          <a:xfrm>
            <a:off x="16339592" y="8768292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6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0E1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60"/>
          <p:cNvSpPr/>
          <p:nvPr/>
        </p:nvSpPr>
        <p:spPr>
          <a:xfrm>
            <a:off x="1143000" y="3314816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LECTURE 10 · ~8 PHÚT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60"/>
          <p:cNvSpPr/>
          <p:nvPr/>
        </p:nvSpPr>
        <p:spPr>
          <a:xfrm>
            <a:off x="1143000" y="3902191"/>
            <a:ext cx="16482061" cy="1332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50"/>
              <a:buFont typeface="Courier New"/>
              <a:buNone/>
            </a:pPr>
            <a:r>
              <a:rPr b="1" i="0" lang="en-US" sz="118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b="0" i="0" sz="1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60"/>
          <p:cNvSpPr/>
          <p:nvPr/>
        </p:nvSpPr>
        <p:spPr>
          <a:xfrm>
            <a:off x="1143000" y="5329701"/>
            <a:ext cx="12753976" cy="810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Support Vector Machine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60"/>
          <p:cNvSpPr/>
          <p:nvPr/>
        </p:nvSpPr>
        <p:spPr>
          <a:xfrm>
            <a:off x="1143000" y="6292784"/>
            <a:ext cx="16482061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2850"/>
              <a:buFont typeface="Courier New"/>
              <a:buNone/>
            </a:pPr>
            <a:r>
              <a:rPr b="0" i="0" lang="en-US" sz="285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margin · support vector · kernel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61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L10 · SIÊU PHẲNG PHÂN TÁCH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61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Có vô số đường chia — chọn đường nào?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61"/>
          <p:cNvSpPr/>
          <p:nvPr/>
        </p:nvSpPr>
        <p:spPr>
          <a:xfrm>
            <a:off x="1143000" y="3516974"/>
            <a:ext cx="8486759" cy="4792679"/>
          </a:xfrm>
          <a:prstGeom prst="roundRect">
            <a:avLst>
              <a:gd fmla="val 3577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4" name="Google Shape;1114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0192" y="3846050"/>
            <a:ext cx="7752374" cy="4134528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p61"/>
          <p:cNvSpPr/>
          <p:nvPr/>
        </p:nvSpPr>
        <p:spPr>
          <a:xfrm>
            <a:off x="10639392" y="4400765"/>
            <a:ext cx="6327934" cy="947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Siêu phẳng = đường (2D) / mặt (nhiều chiều) chia hai lớp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61"/>
          <p:cNvSpPr/>
          <p:nvPr/>
        </p:nvSpPr>
        <p:spPr>
          <a:xfrm>
            <a:off x="10639392" y="5442810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Tìm ranh giới phân tách "rộng rãi" nhất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61"/>
          <p:cNvSpPr/>
          <p:nvPr/>
        </p:nvSpPr>
        <p:spPr>
          <a:xfrm>
            <a:off x="10639392" y="6084755"/>
            <a:ext cx="6272408" cy="947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Vô số đường tách được — SVM chọn đường tối ưu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61"/>
          <p:cNvSpPr/>
          <p:nvPr/>
        </p:nvSpPr>
        <p:spPr>
          <a:xfrm>
            <a:off x="10639392" y="7126800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Tiêu chí: lề (margin) rộng nhất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62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L10 · MARGIN &amp; SUPPORT VECTOR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62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Chọn đường có </a:t>
            </a:r>
            <a:r>
              <a:rPr b="1" i="0" lang="en-US" sz="37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lề rộng nhất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62"/>
          <p:cNvSpPr/>
          <p:nvPr/>
        </p:nvSpPr>
        <p:spPr>
          <a:xfrm>
            <a:off x="1143000" y="3516974"/>
            <a:ext cx="8486759" cy="4792679"/>
          </a:xfrm>
          <a:prstGeom prst="roundRect">
            <a:avLst>
              <a:gd fmla="val 3577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27" name="Google Shape;1127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0192" y="3846050"/>
            <a:ext cx="7752374" cy="4134528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62"/>
          <p:cNvSpPr/>
          <p:nvPr/>
        </p:nvSpPr>
        <p:spPr>
          <a:xfrm>
            <a:off x="10639392" y="4904879"/>
            <a:ext cx="6638352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Margin = khoảng trống hai bên ranh giới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62"/>
          <p:cNvSpPr/>
          <p:nvPr/>
        </p:nvSpPr>
        <p:spPr>
          <a:xfrm>
            <a:off x="10639392" y="5440164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Lề càng rộng → tổng quát hoá càng tốt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62"/>
          <p:cNvSpPr/>
          <p:nvPr/>
        </p:nvSpPr>
        <p:spPr>
          <a:xfrm>
            <a:off x="10639392" y="6055651"/>
            <a:ext cx="2858403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Support vector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62"/>
          <p:cNvSpPr/>
          <p:nvPr/>
        </p:nvSpPr>
        <p:spPr>
          <a:xfrm>
            <a:off x="13515083" y="6087401"/>
            <a:ext cx="2807816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= các điểm sát lề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62"/>
          <p:cNvSpPr/>
          <p:nvPr/>
        </p:nvSpPr>
        <p:spPr>
          <a:xfrm>
            <a:off x="10639392" y="6622686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Chỉ vài điểm này quyết định ranh giới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63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L10 · KERNEL TRICK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63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Ánh xạ sang chiều cao hơn để tách dữ liệu </a:t>
            </a:r>
            <a:r>
              <a:rPr b="1" i="0" lang="en-US" sz="3750" u="none" cap="none" strike="noStrike">
                <a:solidFill>
                  <a:srgbClr val="C792EA"/>
                </a:solidFill>
                <a:latin typeface="Arial"/>
                <a:ea typeface="Arial"/>
                <a:cs typeface="Arial"/>
                <a:sym typeface="Arial"/>
              </a:rPr>
              <a:t>phi tuyến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63"/>
          <p:cNvSpPr/>
          <p:nvPr/>
        </p:nvSpPr>
        <p:spPr>
          <a:xfrm>
            <a:off x="1688290" y="4955646"/>
            <a:ext cx="4017367" cy="1248668"/>
          </a:xfrm>
          <a:prstGeom prst="roundRect">
            <a:avLst>
              <a:gd fmla="val 12205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63"/>
          <p:cNvSpPr/>
          <p:nvPr/>
        </p:nvSpPr>
        <p:spPr>
          <a:xfrm>
            <a:off x="2017365" y="5203279"/>
            <a:ext cx="3459993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2D — không tách được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63"/>
          <p:cNvSpPr/>
          <p:nvPr/>
        </p:nvSpPr>
        <p:spPr>
          <a:xfrm>
            <a:off x="2017365" y="5665639"/>
            <a:ext cx="34599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cụm lồng nhau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63"/>
          <p:cNvSpPr/>
          <p:nvPr/>
        </p:nvSpPr>
        <p:spPr>
          <a:xfrm>
            <a:off x="5991407" y="5360872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63"/>
          <p:cNvSpPr/>
          <p:nvPr/>
        </p:nvSpPr>
        <p:spPr>
          <a:xfrm>
            <a:off x="6715373" y="5136555"/>
            <a:ext cx="3307540" cy="886768"/>
          </a:xfrm>
          <a:prstGeom prst="roundRect">
            <a:avLst>
              <a:gd fmla="val 17186" name="adj"/>
            </a:avLst>
          </a:prstGeom>
          <a:solidFill>
            <a:srgbClr val="11161F"/>
          </a:solidFill>
          <a:ln cap="flat" cmpd="sng" w="9525">
            <a:solidFill>
              <a:srgbClr val="C792EA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63"/>
          <p:cNvSpPr/>
          <p:nvPr/>
        </p:nvSpPr>
        <p:spPr>
          <a:xfrm>
            <a:off x="7044515" y="5389497"/>
            <a:ext cx="2748483" cy="418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Kernel nâng chiều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63"/>
          <p:cNvSpPr/>
          <p:nvPr/>
        </p:nvSpPr>
        <p:spPr>
          <a:xfrm>
            <a:off x="10308664" y="5360872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63"/>
          <p:cNvSpPr/>
          <p:nvPr/>
        </p:nvSpPr>
        <p:spPr>
          <a:xfrm>
            <a:off x="11032629" y="5136555"/>
            <a:ext cx="5566999" cy="886768"/>
          </a:xfrm>
          <a:prstGeom prst="roundRect">
            <a:avLst>
              <a:gd fmla="val 17186" name="adj"/>
            </a:avLst>
          </a:prstGeom>
          <a:solidFill>
            <a:srgbClr val="11161F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16200000" dist="50800">
              <a:srgbClr val="22D3EE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63"/>
          <p:cNvSpPr/>
          <p:nvPr/>
        </p:nvSpPr>
        <p:spPr>
          <a:xfrm>
            <a:off x="11361771" y="5389497"/>
            <a:ext cx="5075726" cy="418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3D — tách được bằng mặt phẳng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63"/>
          <p:cNvSpPr/>
          <p:nvPr/>
        </p:nvSpPr>
        <p:spPr>
          <a:xfrm>
            <a:off x="902970" y="6585314"/>
            <a:ext cx="1648206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Một mẹo toán học rất đẹp: tính như đã nâng chiều mà không thực sự nâng chiều.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64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L10 · ƯU / NHƯỢC ĐIỂM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64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Mạnh với nhiều chiều, chậm với dữ liệu lớn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64"/>
          <p:cNvSpPr/>
          <p:nvPr/>
        </p:nvSpPr>
        <p:spPr>
          <a:xfrm>
            <a:off x="1143000" y="2320727"/>
            <a:ext cx="7829517" cy="7185257"/>
          </a:xfrm>
          <a:prstGeom prst="roundRect">
            <a:avLst>
              <a:gd fmla="val 2386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64"/>
          <p:cNvSpPr/>
          <p:nvPr/>
        </p:nvSpPr>
        <p:spPr>
          <a:xfrm>
            <a:off x="1529292" y="2668902"/>
            <a:ext cx="7268642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Ưu điểm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64"/>
          <p:cNvSpPr/>
          <p:nvPr/>
        </p:nvSpPr>
        <p:spPr>
          <a:xfrm>
            <a:off x="1584471" y="3295385"/>
            <a:ext cx="7077955" cy="870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173355" lvl="0" marL="173355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Char char="•"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Rất mạnh với dữ liệu nhiều chiều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3355" lvl="0" marL="173355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Char char="•"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Hiệu quả khi số feature lớn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64"/>
          <p:cNvSpPr/>
          <p:nvPr/>
        </p:nvSpPr>
        <p:spPr>
          <a:xfrm>
            <a:off x="9315401" y="2320727"/>
            <a:ext cx="7829600" cy="7185257"/>
          </a:xfrm>
          <a:prstGeom prst="roundRect">
            <a:avLst>
              <a:gd fmla="val 2386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64"/>
          <p:cNvSpPr/>
          <p:nvPr/>
        </p:nvSpPr>
        <p:spPr>
          <a:xfrm>
            <a:off x="9701693" y="2668902"/>
            <a:ext cx="7268727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C792EA"/>
                </a:solidFill>
                <a:latin typeface="Arial"/>
                <a:ea typeface="Arial"/>
                <a:cs typeface="Arial"/>
                <a:sym typeface="Arial"/>
              </a:rPr>
              <a:t>Nhược điểm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64"/>
          <p:cNvSpPr/>
          <p:nvPr/>
        </p:nvSpPr>
        <p:spPr>
          <a:xfrm>
            <a:off x="9756871" y="3295385"/>
            <a:ext cx="7078038" cy="134365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173355" lvl="0" marL="173355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Char char="•"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Chậm với dữ liệu rất lớn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3355" lvl="0" marL="173355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Char char="•"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Khó tinh chỉnh &amp; diễn giải hơn cây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3355" lvl="0" marL="173355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Char char="•"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Hợp dữ liệu vừa, nhiều feature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65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L10 · TÓM TẮT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65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Support Vector Machine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65"/>
          <p:cNvSpPr/>
          <p:nvPr/>
        </p:nvSpPr>
        <p:spPr>
          <a:xfrm>
            <a:off x="1143000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65"/>
          <p:cNvSpPr/>
          <p:nvPr/>
        </p:nvSpPr>
        <p:spPr>
          <a:xfrm>
            <a:off x="1510192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65"/>
          <p:cNvSpPr/>
          <p:nvPr/>
        </p:nvSpPr>
        <p:spPr>
          <a:xfrm>
            <a:off x="1510192" y="4559432"/>
            <a:ext cx="1125356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Margin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65"/>
          <p:cNvSpPr/>
          <p:nvPr/>
        </p:nvSpPr>
        <p:spPr>
          <a:xfrm>
            <a:off x="1510192" y="5011870"/>
            <a:ext cx="3442960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Chọn ranh giới có lề rộng nhất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65"/>
          <p:cNvSpPr/>
          <p:nvPr/>
        </p:nvSpPr>
        <p:spPr>
          <a:xfrm>
            <a:off x="6572251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65"/>
          <p:cNvSpPr/>
          <p:nvPr/>
        </p:nvSpPr>
        <p:spPr>
          <a:xfrm>
            <a:off x="6939442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65"/>
          <p:cNvSpPr/>
          <p:nvPr/>
        </p:nvSpPr>
        <p:spPr>
          <a:xfrm>
            <a:off x="6939442" y="4559432"/>
            <a:ext cx="2384194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Support vector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65"/>
          <p:cNvSpPr/>
          <p:nvPr/>
        </p:nvSpPr>
        <p:spPr>
          <a:xfrm>
            <a:off x="6939442" y="5011870"/>
            <a:ext cx="3995752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Vài điểm sát lề quyết định ranh giới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65"/>
          <p:cNvSpPr/>
          <p:nvPr/>
        </p:nvSpPr>
        <p:spPr>
          <a:xfrm>
            <a:off x="12001500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65"/>
          <p:cNvSpPr/>
          <p:nvPr/>
        </p:nvSpPr>
        <p:spPr>
          <a:xfrm>
            <a:off x="12368693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65"/>
          <p:cNvSpPr/>
          <p:nvPr/>
        </p:nvSpPr>
        <p:spPr>
          <a:xfrm>
            <a:off x="12368693" y="4559432"/>
            <a:ext cx="1037547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Kernel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65"/>
          <p:cNvSpPr/>
          <p:nvPr/>
        </p:nvSpPr>
        <p:spPr>
          <a:xfrm>
            <a:off x="12368693" y="5011870"/>
            <a:ext cx="3304230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Nâng chiều để tách phi tuyến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65"/>
          <p:cNvSpPr/>
          <p:nvPr/>
        </p:nvSpPr>
        <p:spPr>
          <a:xfrm>
            <a:off x="1143000" y="8468817"/>
            <a:ext cx="16002001" cy="1037167"/>
          </a:xfrm>
          <a:prstGeom prst="roundRect">
            <a:avLst>
              <a:gd fmla="val 16531" name="adj"/>
            </a:avLst>
          </a:prstGeom>
          <a:solidFill>
            <a:srgbClr val="22D3EE">
              <a:alpha val="3921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65"/>
          <p:cNvSpPr/>
          <p:nvPr/>
        </p:nvSpPr>
        <p:spPr>
          <a:xfrm>
            <a:off x="1510192" y="8857754"/>
            <a:ext cx="1429461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65"/>
          <p:cNvSpPr/>
          <p:nvPr/>
        </p:nvSpPr>
        <p:spPr>
          <a:xfrm>
            <a:off x="3091987" y="8759858"/>
            <a:ext cx="7242582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Naive Bayes — model dựa trên xác suất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65"/>
          <p:cNvSpPr/>
          <p:nvPr/>
        </p:nvSpPr>
        <p:spPr>
          <a:xfrm>
            <a:off x="16339592" y="8768292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66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0E1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66"/>
          <p:cNvSpPr/>
          <p:nvPr/>
        </p:nvSpPr>
        <p:spPr>
          <a:xfrm>
            <a:off x="1143000" y="3314816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LECTURE 11 · ~7 PHÚT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66"/>
          <p:cNvSpPr/>
          <p:nvPr/>
        </p:nvSpPr>
        <p:spPr>
          <a:xfrm>
            <a:off x="1143000" y="3902191"/>
            <a:ext cx="16482061" cy="1332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50"/>
              <a:buFont typeface="Courier New"/>
              <a:buNone/>
            </a:pPr>
            <a:r>
              <a:rPr b="1" i="0" lang="en-US" sz="118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b="0" i="0" sz="1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66"/>
          <p:cNvSpPr/>
          <p:nvPr/>
        </p:nvSpPr>
        <p:spPr>
          <a:xfrm>
            <a:off x="1143000" y="5329701"/>
            <a:ext cx="12753976" cy="810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Naive Bayes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66"/>
          <p:cNvSpPr/>
          <p:nvPr/>
        </p:nvSpPr>
        <p:spPr>
          <a:xfrm>
            <a:off x="1143000" y="6292784"/>
            <a:ext cx="16482061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2850"/>
              <a:buFont typeface="Courier New"/>
              <a:buNone/>
            </a:pPr>
            <a:r>
              <a:rPr b="0" i="0" lang="en-US" sz="285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khi nào dùng được, khi nào không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67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L11 · DỰA TRÊN ĐỊNH LÝ BAYES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67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Tính xác suất mỗi lớp rồi chọn lớp cao nhất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67"/>
          <p:cNvSpPr/>
          <p:nvPr/>
        </p:nvSpPr>
        <p:spPr>
          <a:xfrm>
            <a:off x="1143000" y="4817649"/>
            <a:ext cx="8486759" cy="2191412"/>
          </a:xfrm>
          <a:prstGeom prst="roundRect">
            <a:avLst>
              <a:gd fmla="val 7824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67"/>
          <p:cNvSpPr/>
          <p:nvPr/>
        </p:nvSpPr>
        <p:spPr>
          <a:xfrm>
            <a:off x="1784945" y="5178475"/>
            <a:ext cx="7418955" cy="101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150"/>
              <a:buFont typeface="Courier New"/>
              <a:buNone/>
            </a:pPr>
            <a:r>
              <a:rPr b="0" i="0" lang="en-US" sz="31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P(lớp | dữ liệu) ∝ P(dữ liệu | lớp) · P(lớp)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67"/>
          <p:cNvSpPr/>
          <p:nvPr/>
        </p:nvSpPr>
        <p:spPr>
          <a:xfrm>
            <a:off x="1452754" y="6358103"/>
            <a:ext cx="7867251" cy="3599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Nối lại định lý Bayes đã học ở Section 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67"/>
          <p:cNvSpPr/>
          <p:nvPr/>
        </p:nvSpPr>
        <p:spPr>
          <a:xfrm>
            <a:off x="10639392" y="4400765"/>
            <a:ext cx="6499452" cy="947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Với mỗi lớp, tính xác suất dữ liệu thuộc lớp đó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67"/>
          <p:cNvSpPr/>
          <p:nvPr/>
        </p:nvSpPr>
        <p:spPr>
          <a:xfrm>
            <a:off x="10639392" y="5442810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Chọn lớp có xác suất hậu nghiệm lớn nhất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67"/>
          <p:cNvSpPr/>
          <p:nvPr/>
        </p:nvSpPr>
        <p:spPr>
          <a:xfrm>
            <a:off x="10639392" y="6084755"/>
            <a:ext cx="6002271" cy="947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Đơn giản, nhanh, mạnh bất ngờ cho văn bản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67"/>
          <p:cNvSpPr/>
          <p:nvPr/>
        </p:nvSpPr>
        <p:spPr>
          <a:xfrm>
            <a:off x="10639392" y="7126800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Nhắc lại kiến thức xác suất nền tảng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68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L11 · GIẢ ĐỊNH "NGÂY THƠ"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68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Giả định mọi feature </a:t>
            </a:r>
            <a:r>
              <a:rPr b="1" i="0" lang="en-US" sz="3750" u="none" cap="none" strike="noStrike">
                <a:solidFill>
                  <a:srgbClr val="C792EA"/>
                </a:solidFill>
                <a:latin typeface="Arial"/>
                <a:ea typeface="Arial"/>
                <a:cs typeface="Arial"/>
                <a:sym typeface="Arial"/>
              </a:rPr>
              <a:t>độc lập </a:t>
            </a: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nhau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68"/>
          <p:cNvSpPr/>
          <p:nvPr/>
        </p:nvSpPr>
        <p:spPr>
          <a:xfrm>
            <a:off x="1581134" y="4400765"/>
            <a:ext cx="6940851" cy="947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Coi như các feature không ảnh hưởng lẫn nhau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68"/>
          <p:cNvSpPr/>
          <p:nvPr/>
        </p:nvSpPr>
        <p:spPr>
          <a:xfrm>
            <a:off x="1581134" y="5442810"/>
            <a:ext cx="7495430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"Naive" (ngây thơ) chính là ở giả định này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68"/>
          <p:cNvSpPr/>
          <p:nvPr/>
        </p:nvSpPr>
        <p:spPr>
          <a:xfrm>
            <a:off x="1581134" y="6084755"/>
            <a:ext cx="7314204" cy="947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Thường sai trong thực tế — nhưng vẫn hiệu quả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68"/>
          <p:cNvSpPr/>
          <p:nvPr/>
        </p:nvSpPr>
        <p:spPr>
          <a:xfrm>
            <a:off x="1581134" y="7126800"/>
            <a:ext cx="7495430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Đặc biệt tốt với dữ liệu văn bản nhiều chiều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68"/>
          <p:cNvSpPr/>
          <p:nvPr/>
        </p:nvSpPr>
        <p:spPr>
          <a:xfrm>
            <a:off x="9429751" y="4355869"/>
            <a:ext cx="7715251" cy="3114973"/>
          </a:xfrm>
          <a:prstGeom prst="roundRect">
            <a:avLst>
              <a:gd fmla="val 5504" name="adj"/>
            </a:avLst>
          </a:prstGeom>
          <a:solidFill>
            <a:srgbClr val="C792EA">
              <a:alpha val="5882"/>
            </a:srgbClr>
          </a:solidFill>
          <a:ln cap="flat" cmpd="sng" w="9525">
            <a:solidFill>
              <a:srgbClr val="C792E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68"/>
          <p:cNvSpPr/>
          <p:nvPr/>
        </p:nvSpPr>
        <p:spPr>
          <a:xfrm>
            <a:off x="9835059" y="4723061"/>
            <a:ext cx="7111772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C792EA"/>
                </a:solidFill>
                <a:latin typeface="Courier New"/>
                <a:ea typeface="Courier New"/>
                <a:cs typeface="Courier New"/>
                <a:sym typeface="Courier New"/>
              </a:rPr>
              <a:t>NGHỊCH LÝ THÚ VỊ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68"/>
          <p:cNvSpPr/>
          <p:nvPr/>
        </p:nvSpPr>
        <p:spPr>
          <a:xfrm>
            <a:off x="9835059" y="5458520"/>
            <a:ext cx="7111772" cy="1359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Giả định sai mà kết quả vẫn tốt — vì ta chỉ cần xếp hạng lớp đúng, không cần xác suất chính xác.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69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L11 · ỨNG DỤNG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69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Lọc spam &amp; phân loại văn bản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69"/>
          <p:cNvSpPr/>
          <p:nvPr/>
        </p:nvSpPr>
        <p:spPr>
          <a:xfrm>
            <a:off x="1143000" y="4226636"/>
            <a:ext cx="8486759" cy="3373438"/>
          </a:xfrm>
          <a:prstGeom prst="roundRect">
            <a:avLst>
              <a:gd fmla="val 4518" name="adj"/>
            </a:avLst>
          </a:prstGeom>
          <a:solidFill>
            <a:srgbClr val="0C121B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69"/>
          <p:cNvSpPr/>
          <p:nvPr/>
        </p:nvSpPr>
        <p:spPr>
          <a:xfrm>
            <a:off x="1148292" y="4231928"/>
            <a:ext cx="8476176" cy="569350"/>
          </a:xfrm>
          <a:prstGeom prst="rect">
            <a:avLst/>
          </a:prstGeom>
          <a:solidFill>
            <a:srgbClr val="0A0F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69"/>
          <p:cNvSpPr/>
          <p:nvPr/>
        </p:nvSpPr>
        <p:spPr>
          <a:xfrm>
            <a:off x="1148292" y="4795987"/>
            <a:ext cx="8476176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69"/>
          <p:cNvSpPr/>
          <p:nvPr/>
        </p:nvSpPr>
        <p:spPr>
          <a:xfrm>
            <a:off x="1357809" y="4452028"/>
            <a:ext cx="123775" cy="123775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69"/>
          <p:cNvSpPr/>
          <p:nvPr/>
        </p:nvSpPr>
        <p:spPr>
          <a:xfrm>
            <a:off x="1567243" y="4452028"/>
            <a:ext cx="123775" cy="123775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69"/>
          <p:cNvSpPr/>
          <p:nvPr/>
        </p:nvSpPr>
        <p:spPr>
          <a:xfrm>
            <a:off x="1776677" y="4452028"/>
            <a:ext cx="123775" cy="123775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69"/>
          <p:cNvSpPr/>
          <p:nvPr/>
        </p:nvSpPr>
        <p:spPr>
          <a:xfrm>
            <a:off x="2100378" y="4384311"/>
            <a:ext cx="1996331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spam_filter.py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69"/>
          <p:cNvSpPr/>
          <p:nvPr/>
        </p:nvSpPr>
        <p:spPr>
          <a:xfrm>
            <a:off x="1472142" y="5087028"/>
            <a:ext cx="8082761" cy="22601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C792EA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sklearn.naive_bayes </a:t>
            </a:r>
            <a:r>
              <a:rPr b="0" i="0" lang="en-US" sz="1800" u="none" cap="none" strike="noStrike">
                <a:solidFill>
                  <a:srgbClr val="C792EA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MultinomialNB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model =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MultinomialNB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model.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fit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(X_train_tfidf, y_train)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model.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predict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(new_emails)   </a:t>
            </a:r>
            <a:r>
              <a:rPr b="0" i="1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# spam / ham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69"/>
          <p:cNvSpPr/>
          <p:nvPr/>
        </p:nvSpPr>
        <p:spPr>
          <a:xfrm>
            <a:off x="10639392" y="4907525"/>
            <a:ext cx="5825133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Nhanh, tốn ít dữ liệu để huấn luyện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69"/>
          <p:cNvSpPr/>
          <p:nvPr/>
        </p:nvSpPr>
        <p:spPr>
          <a:xfrm>
            <a:off x="10639392" y="5442810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Baseline tốt cho bài toán NLP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69"/>
          <p:cNvSpPr/>
          <p:nvPr/>
        </p:nvSpPr>
        <p:spPr>
          <a:xfrm>
            <a:off x="10639392" y="6084755"/>
            <a:ext cx="4248003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Kinh điển: lọc spam email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69"/>
          <p:cNvSpPr/>
          <p:nvPr/>
        </p:nvSpPr>
        <p:spPr>
          <a:xfrm>
            <a:off x="10639392" y="6620041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Vẫn được dùng làm điểm khởi đầu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70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L11 · TÓM TẮT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70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Naive Bayes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70"/>
          <p:cNvSpPr/>
          <p:nvPr/>
        </p:nvSpPr>
        <p:spPr>
          <a:xfrm>
            <a:off x="1143000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70"/>
          <p:cNvSpPr/>
          <p:nvPr/>
        </p:nvSpPr>
        <p:spPr>
          <a:xfrm>
            <a:off x="1510192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70"/>
          <p:cNvSpPr/>
          <p:nvPr/>
        </p:nvSpPr>
        <p:spPr>
          <a:xfrm>
            <a:off x="1510192" y="4559432"/>
            <a:ext cx="2097948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Định lý Bayes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70"/>
          <p:cNvSpPr/>
          <p:nvPr/>
        </p:nvSpPr>
        <p:spPr>
          <a:xfrm>
            <a:off x="1510192" y="5011870"/>
            <a:ext cx="38537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Tính xác suất hậu nghiệm mỗi lớp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70"/>
          <p:cNvSpPr/>
          <p:nvPr/>
        </p:nvSpPr>
        <p:spPr>
          <a:xfrm>
            <a:off x="6572251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70"/>
          <p:cNvSpPr/>
          <p:nvPr/>
        </p:nvSpPr>
        <p:spPr>
          <a:xfrm>
            <a:off x="6939442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70"/>
          <p:cNvSpPr/>
          <p:nvPr/>
        </p:nvSpPr>
        <p:spPr>
          <a:xfrm>
            <a:off x="6939442" y="4559432"/>
            <a:ext cx="2557331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Giả định độc lập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70"/>
          <p:cNvSpPr/>
          <p:nvPr/>
        </p:nvSpPr>
        <p:spPr>
          <a:xfrm>
            <a:off x="6939442" y="5011870"/>
            <a:ext cx="4320222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"Naive" — thường sai nhưng hiệu quả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70"/>
          <p:cNvSpPr/>
          <p:nvPr/>
        </p:nvSpPr>
        <p:spPr>
          <a:xfrm>
            <a:off x="12001500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70"/>
          <p:cNvSpPr/>
          <p:nvPr/>
        </p:nvSpPr>
        <p:spPr>
          <a:xfrm>
            <a:off x="12368693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70"/>
          <p:cNvSpPr/>
          <p:nvPr/>
        </p:nvSpPr>
        <p:spPr>
          <a:xfrm>
            <a:off x="12368693" y="4559432"/>
            <a:ext cx="2536577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Văn bản &amp; spam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70"/>
          <p:cNvSpPr/>
          <p:nvPr/>
        </p:nvSpPr>
        <p:spPr>
          <a:xfrm>
            <a:off x="12368693" y="5011870"/>
            <a:ext cx="2807901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Baseline nhanh cho NLP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70"/>
          <p:cNvSpPr/>
          <p:nvPr/>
        </p:nvSpPr>
        <p:spPr>
          <a:xfrm>
            <a:off x="1143000" y="8468817"/>
            <a:ext cx="16002001" cy="1037167"/>
          </a:xfrm>
          <a:prstGeom prst="roundRect">
            <a:avLst>
              <a:gd fmla="val 16531" name="adj"/>
            </a:avLst>
          </a:prstGeom>
          <a:solidFill>
            <a:srgbClr val="22D3EE">
              <a:alpha val="3921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70"/>
          <p:cNvSpPr/>
          <p:nvPr/>
        </p:nvSpPr>
        <p:spPr>
          <a:xfrm>
            <a:off x="1510192" y="8857754"/>
            <a:ext cx="1429461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70"/>
          <p:cNvSpPr/>
          <p:nvPr/>
        </p:nvSpPr>
        <p:spPr>
          <a:xfrm>
            <a:off x="3091987" y="8759858"/>
            <a:ext cx="8391598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K-Means — hết phần có nhãn, sang phân cụm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70"/>
          <p:cNvSpPr/>
          <p:nvPr/>
        </p:nvSpPr>
        <p:spPr>
          <a:xfrm>
            <a:off x="16339592" y="8768292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71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0E1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71"/>
          <p:cNvSpPr/>
          <p:nvPr/>
        </p:nvSpPr>
        <p:spPr>
          <a:xfrm>
            <a:off x="1143000" y="3314816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LECTURE 12 · ~8 PHÚT · UNSUPERVISED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71"/>
          <p:cNvSpPr/>
          <p:nvPr/>
        </p:nvSpPr>
        <p:spPr>
          <a:xfrm>
            <a:off x="1143000" y="3902191"/>
            <a:ext cx="16482061" cy="1332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50"/>
              <a:buFont typeface="Courier New"/>
              <a:buNone/>
            </a:pPr>
            <a:r>
              <a:rPr b="1" i="0" lang="en-US" sz="118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b="0" i="0" sz="1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71"/>
          <p:cNvSpPr/>
          <p:nvPr/>
        </p:nvSpPr>
        <p:spPr>
          <a:xfrm>
            <a:off x="1143000" y="5329701"/>
            <a:ext cx="12753976" cy="810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K-Means Clustering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71"/>
          <p:cNvSpPr/>
          <p:nvPr/>
        </p:nvSpPr>
        <p:spPr>
          <a:xfrm>
            <a:off x="1143000" y="6292784"/>
            <a:ext cx="16482061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2850"/>
              <a:buFont typeface="Courier New"/>
              <a:buNone/>
            </a:pPr>
            <a:r>
              <a:rPr b="0" i="0" lang="en-US" sz="285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thuật toán lặp · Elbow method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72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L12 · BÀI TOÁN PHÂN CỤM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72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Gom các điểm giống nhau — </a:t>
            </a:r>
            <a:r>
              <a:rPr b="1" i="0" lang="en-US" sz="37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không cần nhãn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72"/>
          <p:cNvSpPr/>
          <p:nvPr/>
        </p:nvSpPr>
        <p:spPr>
          <a:xfrm>
            <a:off x="1143000" y="3516974"/>
            <a:ext cx="8486759" cy="4792679"/>
          </a:xfrm>
          <a:prstGeom prst="roundRect">
            <a:avLst>
              <a:gd fmla="val 3577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84" name="Google Shape;1284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0192" y="3846050"/>
            <a:ext cx="7752374" cy="4134528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p72"/>
          <p:cNvSpPr/>
          <p:nvPr/>
        </p:nvSpPr>
        <p:spPr>
          <a:xfrm>
            <a:off x="10639392" y="4654187"/>
            <a:ext cx="6426808" cy="440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Tự tìm nhóm tự nhiên trong dữ liệu thô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72"/>
          <p:cNvSpPr/>
          <p:nvPr/>
        </p:nvSpPr>
        <p:spPr>
          <a:xfrm>
            <a:off x="10639392" y="5189472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Máy phát hiện cấu trúc, không ai gán nhãn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72"/>
          <p:cNvSpPr/>
          <p:nvPr/>
        </p:nvSpPr>
        <p:spPr>
          <a:xfrm>
            <a:off x="10639392" y="5831417"/>
            <a:ext cx="6225994" cy="947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Ứng dụng phổ biến: phân khúc khách hàng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72"/>
          <p:cNvSpPr/>
          <p:nvPr/>
        </p:nvSpPr>
        <p:spPr>
          <a:xfrm>
            <a:off x="10639392" y="6873462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Rất nhiều trong marketing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73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L12 · THUẬT TOÁN K-MEANS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73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Bốn bước lặp tới khi tâm ổn định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73"/>
          <p:cNvSpPr/>
          <p:nvPr/>
        </p:nvSpPr>
        <p:spPr>
          <a:xfrm>
            <a:off x="2040020" y="5289021"/>
            <a:ext cx="3264049" cy="1248668"/>
          </a:xfrm>
          <a:prstGeom prst="roundRect">
            <a:avLst>
              <a:gd fmla="val 12205" name="adj"/>
            </a:avLst>
          </a:prstGeom>
          <a:solidFill>
            <a:srgbClr val="11161F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16200000" dist="50800">
              <a:srgbClr val="22D3EE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73"/>
          <p:cNvSpPr/>
          <p:nvPr/>
        </p:nvSpPr>
        <p:spPr>
          <a:xfrm>
            <a:off x="2369096" y="5536654"/>
            <a:ext cx="2164755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1 · Chọn K tâm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73"/>
          <p:cNvSpPr/>
          <p:nvPr/>
        </p:nvSpPr>
        <p:spPr>
          <a:xfrm>
            <a:off x="2369096" y="5999014"/>
            <a:ext cx="26840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khởi tạo ngẫu nhiên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73"/>
          <p:cNvSpPr/>
          <p:nvPr/>
        </p:nvSpPr>
        <p:spPr>
          <a:xfrm>
            <a:off x="5589819" y="5694247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73"/>
          <p:cNvSpPr/>
          <p:nvPr/>
        </p:nvSpPr>
        <p:spPr>
          <a:xfrm>
            <a:off x="6313786" y="5289021"/>
            <a:ext cx="2715452" cy="1248668"/>
          </a:xfrm>
          <a:prstGeom prst="roundRect">
            <a:avLst>
              <a:gd fmla="val 12205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73"/>
          <p:cNvSpPr/>
          <p:nvPr/>
        </p:nvSpPr>
        <p:spPr>
          <a:xfrm>
            <a:off x="6642861" y="5536654"/>
            <a:ext cx="1932501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2 · Gán điểm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73"/>
          <p:cNvSpPr/>
          <p:nvPr/>
        </p:nvSpPr>
        <p:spPr>
          <a:xfrm>
            <a:off x="6642861" y="5999014"/>
            <a:ext cx="213350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về tâm gần nhất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73"/>
          <p:cNvSpPr/>
          <p:nvPr/>
        </p:nvSpPr>
        <p:spPr>
          <a:xfrm>
            <a:off x="9314987" y="5694247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73"/>
          <p:cNvSpPr/>
          <p:nvPr/>
        </p:nvSpPr>
        <p:spPr>
          <a:xfrm>
            <a:off x="10038954" y="5289021"/>
            <a:ext cx="3149617" cy="1248668"/>
          </a:xfrm>
          <a:prstGeom prst="roundRect">
            <a:avLst>
              <a:gd fmla="val 12205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73"/>
          <p:cNvSpPr/>
          <p:nvPr/>
        </p:nvSpPr>
        <p:spPr>
          <a:xfrm>
            <a:off x="10368029" y="5536654"/>
            <a:ext cx="2567667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3 · Cập nhật tâm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73"/>
          <p:cNvSpPr/>
          <p:nvPr/>
        </p:nvSpPr>
        <p:spPr>
          <a:xfrm>
            <a:off x="10368029" y="5999014"/>
            <a:ext cx="256766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= trung bình cụm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73"/>
          <p:cNvSpPr/>
          <p:nvPr/>
        </p:nvSpPr>
        <p:spPr>
          <a:xfrm>
            <a:off x="13474321" y="5694247"/>
            <a:ext cx="43826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↺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73"/>
          <p:cNvSpPr/>
          <p:nvPr/>
        </p:nvSpPr>
        <p:spPr>
          <a:xfrm>
            <a:off x="14122136" y="5469930"/>
            <a:ext cx="2125845" cy="886768"/>
          </a:xfrm>
          <a:prstGeom prst="roundRect">
            <a:avLst>
              <a:gd fmla="val 17186" name="adj"/>
            </a:avLst>
          </a:prstGeom>
          <a:solidFill>
            <a:srgbClr val="11161F"/>
          </a:solidFill>
          <a:ln cap="flat" cmpd="sng" w="9525">
            <a:solidFill>
              <a:srgbClr val="C792EA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73"/>
          <p:cNvSpPr/>
          <p:nvPr/>
        </p:nvSpPr>
        <p:spPr>
          <a:xfrm>
            <a:off x="14451277" y="5722872"/>
            <a:ext cx="1543761" cy="418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4 · Lặp lại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74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L12 · CHỌN K BẰNG ELBOW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74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Tìm "khuỷu tay" của đường inertia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74"/>
          <p:cNvSpPr/>
          <p:nvPr/>
        </p:nvSpPr>
        <p:spPr>
          <a:xfrm>
            <a:off x="1143000" y="3516974"/>
            <a:ext cx="8486759" cy="4792679"/>
          </a:xfrm>
          <a:prstGeom prst="roundRect">
            <a:avLst>
              <a:gd fmla="val 3577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8" name="Google Shape;1318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0192" y="3846050"/>
            <a:ext cx="7752374" cy="4134528"/>
          </a:xfrm>
          <a:prstGeom prst="rect">
            <a:avLst/>
          </a:prstGeom>
          <a:noFill/>
          <a:ln>
            <a:noFill/>
          </a:ln>
        </p:spPr>
      </p:pic>
      <p:sp>
        <p:nvSpPr>
          <p:cNvPr id="1319" name="Google Shape;1319;p74"/>
          <p:cNvSpPr/>
          <p:nvPr/>
        </p:nvSpPr>
        <p:spPr>
          <a:xfrm>
            <a:off x="10639392" y="4654187"/>
            <a:ext cx="6631369" cy="947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Vẽ inertia (tổng khoảng cách trong cụm) theo K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74"/>
          <p:cNvSpPr/>
          <p:nvPr/>
        </p:nvSpPr>
        <p:spPr>
          <a:xfrm>
            <a:off x="10639392" y="5696231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Inertia luôn giảm khi K tăng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74"/>
          <p:cNvSpPr/>
          <p:nvPr/>
        </p:nvSpPr>
        <p:spPr>
          <a:xfrm>
            <a:off x="10639392" y="6338176"/>
            <a:ext cx="4720232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Chọn K tại điểm "gãy khuỷu"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74"/>
          <p:cNvSpPr/>
          <p:nvPr/>
        </p:nvSpPr>
        <p:spPr>
          <a:xfrm>
            <a:off x="10639392" y="6873462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Cũng có silhouette score để hỗ trợ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75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L12 · HẠN CHẾ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75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Phải chọn K &amp; giả định cụm </a:t>
            </a:r>
            <a:r>
              <a:rPr b="1" i="0" lang="en-US" sz="3750" u="none" cap="none" strike="noStrike">
                <a:solidFill>
                  <a:srgbClr val="C792EA"/>
                </a:solidFill>
                <a:latin typeface="Arial"/>
                <a:ea typeface="Arial"/>
                <a:cs typeface="Arial"/>
                <a:sym typeface="Arial"/>
              </a:rPr>
              <a:t>hình cầu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p75"/>
          <p:cNvSpPr/>
          <p:nvPr/>
        </p:nvSpPr>
        <p:spPr>
          <a:xfrm>
            <a:off x="1581134" y="4907525"/>
            <a:ext cx="5052792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Bắt buộc chọn số cụm K trước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75"/>
          <p:cNvSpPr/>
          <p:nvPr/>
        </p:nvSpPr>
        <p:spPr>
          <a:xfrm>
            <a:off x="1581134" y="5442810"/>
            <a:ext cx="7495430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Không phải lúc nào cũng biết K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75"/>
          <p:cNvSpPr/>
          <p:nvPr/>
        </p:nvSpPr>
        <p:spPr>
          <a:xfrm>
            <a:off x="1581134" y="6084755"/>
            <a:ext cx="5653870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Giả định cụm tròn, kích thước đều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75"/>
          <p:cNvSpPr/>
          <p:nvPr/>
        </p:nvSpPr>
        <p:spPr>
          <a:xfrm>
            <a:off x="1581134" y="6620041"/>
            <a:ext cx="7495430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Thất bại với cụm cong / mật độ khác nhau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75"/>
          <p:cNvSpPr/>
          <p:nvPr/>
        </p:nvSpPr>
        <p:spPr>
          <a:xfrm>
            <a:off x="9429751" y="4576052"/>
            <a:ext cx="7715251" cy="2674524"/>
          </a:xfrm>
          <a:prstGeom prst="roundRect">
            <a:avLst>
              <a:gd fmla="val 6410" name="adj"/>
            </a:avLst>
          </a:prstGeom>
          <a:solidFill>
            <a:srgbClr val="C792EA">
              <a:alpha val="5882"/>
            </a:srgbClr>
          </a:solidFill>
          <a:ln cap="flat" cmpd="sng" w="9525">
            <a:solidFill>
              <a:srgbClr val="C792E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75"/>
          <p:cNvSpPr/>
          <p:nvPr/>
        </p:nvSpPr>
        <p:spPr>
          <a:xfrm>
            <a:off x="9835059" y="4943244"/>
            <a:ext cx="7111772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C792EA"/>
                </a:solidFill>
                <a:latin typeface="Courier New"/>
                <a:ea typeface="Courier New"/>
                <a:cs typeface="Courier New"/>
                <a:sym typeface="Courier New"/>
              </a:rPr>
              <a:t>DẪN SANG BÀI SAU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75"/>
          <p:cNvSpPr/>
          <p:nvPr/>
        </p:nvSpPr>
        <p:spPr>
          <a:xfrm>
            <a:off x="9835059" y="5678703"/>
            <a:ext cx="7111772" cy="9189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DBSCAN giải quyết được cụm hình dạng bất kỳ &amp; không cần chọn K.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76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L12 · TÓM TẮT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76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K-Means Clustering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76"/>
          <p:cNvSpPr/>
          <p:nvPr/>
        </p:nvSpPr>
        <p:spPr>
          <a:xfrm>
            <a:off x="1143000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76"/>
          <p:cNvSpPr/>
          <p:nvPr/>
        </p:nvSpPr>
        <p:spPr>
          <a:xfrm>
            <a:off x="1510192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76"/>
          <p:cNvSpPr/>
          <p:nvPr/>
        </p:nvSpPr>
        <p:spPr>
          <a:xfrm>
            <a:off x="1510192" y="4559432"/>
            <a:ext cx="1752666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Thuật toán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76"/>
          <p:cNvSpPr/>
          <p:nvPr/>
        </p:nvSpPr>
        <p:spPr>
          <a:xfrm>
            <a:off x="1510192" y="5011870"/>
            <a:ext cx="3714629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Gán điểm → cập nhật tâm → lặp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76"/>
          <p:cNvSpPr/>
          <p:nvPr/>
        </p:nvSpPr>
        <p:spPr>
          <a:xfrm>
            <a:off x="6572251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76"/>
          <p:cNvSpPr/>
          <p:nvPr/>
        </p:nvSpPr>
        <p:spPr>
          <a:xfrm>
            <a:off x="6939442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76"/>
          <p:cNvSpPr/>
          <p:nvPr/>
        </p:nvSpPr>
        <p:spPr>
          <a:xfrm>
            <a:off x="6939442" y="4559432"/>
            <a:ext cx="1013487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Elbow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76"/>
          <p:cNvSpPr/>
          <p:nvPr/>
        </p:nvSpPr>
        <p:spPr>
          <a:xfrm>
            <a:off x="6939442" y="5011870"/>
            <a:ext cx="3048571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Chọn K tại điểm gãy khuỷu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2" name="Google Shape;1352;p76"/>
          <p:cNvSpPr/>
          <p:nvPr/>
        </p:nvSpPr>
        <p:spPr>
          <a:xfrm>
            <a:off x="12001500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76"/>
          <p:cNvSpPr/>
          <p:nvPr/>
        </p:nvSpPr>
        <p:spPr>
          <a:xfrm>
            <a:off x="12368693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76"/>
          <p:cNvSpPr/>
          <p:nvPr/>
        </p:nvSpPr>
        <p:spPr>
          <a:xfrm>
            <a:off x="12368693" y="4559432"/>
            <a:ext cx="1308827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Hạn chế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76"/>
          <p:cNvSpPr/>
          <p:nvPr/>
        </p:nvSpPr>
        <p:spPr>
          <a:xfrm>
            <a:off x="12368693" y="5011870"/>
            <a:ext cx="3403104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Cần chọn K, giả định cụm cầu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6" name="Google Shape;1356;p76"/>
          <p:cNvSpPr/>
          <p:nvPr/>
        </p:nvSpPr>
        <p:spPr>
          <a:xfrm>
            <a:off x="1143000" y="8468817"/>
            <a:ext cx="16002001" cy="1037167"/>
          </a:xfrm>
          <a:prstGeom prst="roundRect">
            <a:avLst>
              <a:gd fmla="val 16531" name="adj"/>
            </a:avLst>
          </a:prstGeom>
          <a:solidFill>
            <a:srgbClr val="22D3EE">
              <a:alpha val="3921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76"/>
          <p:cNvSpPr/>
          <p:nvPr/>
        </p:nvSpPr>
        <p:spPr>
          <a:xfrm>
            <a:off x="1510192" y="8857754"/>
            <a:ext cx="1429461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8" name="Google Shape;1358;p76"/>
          <p:cNvSpPr/>
          <p:nvPr/>
        </p:nvSpPr>
        <p:spPr>
          <a:xfrm>
            <a:off x="3091987" y="8759858"/>
            <a:ext cx="10025957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DBSCAN &amp; Hierarchical — phân cụm không cần chọn K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76"/>
          <p:cNvSpPr/>
          <p:nvPr/>
        </p:nvSpPr>
        <p:spPr>
          <a:xfrm>
            <a:off x="16339592" y="8768292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77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0E1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77"/>
          <p:cNvSpPr/>
          <p:nvPr/>
        </p:nvSpPr>
        <p:spPr>
          <a:xfrm>
            <a:off x="1143000" y="3314816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LECTURE 13 · ~7 PHÚT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77"/>
          <p:cNvSpPr/>
          <p:nvPr/>
        </p:nvSpPr>
        <p:spPr>
          <a:xfrm>
            <a:off x="1143000" y="3902191"/>
            <a:ext cx="16482061" cy="1332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50"/>
              <a:buFont typeface="Courier New"/>
              <a:buNone/>
            </a:pPr>
            <a:r>
              <a:rPr b="1" i="0" lang="en-US" sz="118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b="0" i="0" sz="1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77"/>
          <p:cNvSpPr/>
          <p:nvPr/>
        </p:nvSpPr>
        <p:spPr>
          <a:xfrm>
            <a:off x="1143000" y="5329701"/>
            <a:ext cx="12753976" cy="810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DBSCAN &amp; Hierarchical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77"/>
          <p:cNvSpPr/>
          <p:nvPr/>
        </p:nvSpPr>
        <p:spPr>
          <a:xfrm>
            <a:off x="1143000" y="6292784"/>
            <a:ext cx="16482061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2850"/>
              <a:buFont typeface="Courier New"/>
              <a:buNone/>
            </a:pPr>
            <a:r>
              <a:rPr b="0" i="0" lang="en-US" sz="285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phân cụm theo mật độ · dendrogram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78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L13 · DBSCAN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78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Phân cụm theo </a:t>
            </a:r>
            <a:r>
              <a:rPr b="1" i="0" lang="en-US" sz="37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mật độ </a:t>
            </a: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— tự bắt nhiễu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78"/>
          <p:cNvSpPr/>
          <p:nvPr/>
        </p:nvSpPr>
        <p:spPr>
          <a:xfrm>
            <a:off x="1143000" y="3516974"/>
            <a:ext cx="8486759" cy="4792679"/>
          </a:xfrm>
          <a:prstGeom prst="roundRect">
            <a:avLst>
              <a:gd fmla="val 3577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78" name="Google Shape;1378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0192" y="3846050"/>
            <a:ext cx="7752374" cy="4134528"/>
          </a:xfrm>
          <a:prstGeom prst="rect">
            <a:avLst/>
          </a:prstGeom>
          <a:noFill/>
          <a:ln>
            <a:noFill/>
          </a:ln>
        </p:spPr>
      </p:pic>
      <p:sp>
        <p:nvSpPr>
          <p:cNvPr id="1379" name="Google Shape;1379;p78"/>
          <p:cNvSpPr/>
          <p:nvPr/>
        </p:nvSpPr>
        <p:spPr>
          <a:xfrm>
            <a:off x="10639392" y="4654187"/>
            <a:ext cx="6632477" cy="947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Tự phát hiện số cụm — không cần chọn K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78"/>
          <p:cNvSpPr/>
          <p:nvPr/>
        </p:nvSpPr>
        <p:spPr>
          <a:xfrm>
            <a:off x="10639392" y="5696231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Bắt được cụm hình cong bất kỳ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78"/>
          <p:cNvSpPr/>
          <p:nvPr/>
        </p:nvSpPr>
        <p:spPr>
          <a:xfrm>
            <a:off x="10639392" y="6338176"/>
            <a:ext cx="5430488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Tự đánh dấu điểm nhiễu (outlier)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78"/>
          <p:cNvSpPr/>
          <p:nvPr/>
        </p:nvSpPr>
        <p:spPr>
          <a:xfrm>
            <a:off x="10639392" y="6873462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Điểm ở vùng mật độ thấp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79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L13 · THAM SỐ DBSCAN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79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Hai núm vặn: eps &amp; min_samples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79"/>
          <p:cNvSpPr/>
          <p:nvPr/>
        </p:nvSpPr>
        <p:spPr>
          <a:xfrm>
            <a:off x="1143000" y="2320727"/>
            <a:ext cx="7629509" cy="4627397"/>
          </a:xfrm>
          <a:prstGeom prst="roundRect">
            <a:avLst>
              <a:gd fmla="val 3705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79"/>
          <p:cNvSpPr/>
          <p:nvPr/>
        </p:nvSpPr>
        <p:spPr>
          <a:xfrm>
            <a:off x="1529292" y="2668902"/>
            <a:ext cx="7062633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EPS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79"/>
          <p:cNvSpPr/>
          <p:nvPr/>
        </p:nvSpPr>
        <p:spPr>
          <a:xfrm>
            <a:off x="1529292" y="3099594"/>
            <a:ext cx="7062633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Bán kính lân cận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79"/>
          <p:cNvSpPr/>
          <p:nvPr/>
        </p:nvSpPr>
        <p:spPr>
          <a:xfrm>
            <a:off x="1529292" y="3726078"/>
            <a:ext cx="7062633" cy="3971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Khoảng cách tối đa để hai điểm được coi là "gần nhau".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p79"/>
          <p:cNvSpPr/>
          <p:nvPr/>
        </p:nvSpPr>
        <p:spPr>
          <a:xfrm>
            <a:off x="9058259" y="2320727"/>
            <a:ext cx="247683" cy="466549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79"/>
          <p:cNvSpPr/>
          <p:nvPr/>
        </p:nvSpPr>
        <p:spPr>
          <a:xfrm>
            <a:off x="9515492" y="2320727"/>
            <a:ext cx="7629509" cy="4627397"/>
          </a:xfrm>
          <a:prstGeom prst="roundRect">
            <a:avLst>
              <a:gd fmla="val 3705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79"/>
          <p:cNvSpPr/>
          <p:nvPr/>
        </p:nvSpPr>
        <p:spPr>
          <a:xfrm>
            <a:off x="9901784" y="2668902"/>
            <a:ext cx="7062633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MIN_SAMPLES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79"/>
          <p:cNvSpPr/>
          <p:nvPr/>
        </p:nvSpPr>
        <p:spPr>
          <a:xfrm>
            <a:off x="9901784" y="3099594"/>
            <a:ext cx="7062633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C792EA"/>
                </a:solidFill>
                <a:latin typeface="Arial"/>
                <a:ea typeface="Arial"/>
                <a:cs typeface="Arial"/>
                <a:sym typeface="Arial"/>
              </a:rPr>
              <a:t>Mật độ tối thiểu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79"/>
          <p:cNvSpPr/>
          <p:nvPr/>
        </p:nvSpPr>
        <p:spPr>
          <a:xfrm>
            <a:off x="9901784" y="3726078"/>
            <a:ext cx="7062633" cy="3971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Số điểm tối thiểu trong bán kính để tạo thành một cụm.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79"/>
          <p:cNvSpPr/>
          <p:nvPr/>
        </p:nvSpPr>
        <p:spPr>
          <a:xfrm>
            <a:off x="1143000" y="7271908"/>
            <a:ext cx="16002001" cy="2234076"/>
          </a:xfrm>
          <a:prstGeom prst="roundRect">
            <a:avLst>
              <a:gd fmla="val 7674" name="adj"/>
            </a:avLst>
          </a:prstGeom>
          <a:solidFill>
            <a:srgbClr val="22D3EE">
              <a:alpha val="5098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79"/>
          <p:cNvSpPr/>
          <p:nvPr/>
        </p:nvSpPr>
        <p:spPr>
          <a:xfrm>
            <a:off x="1548309" y="7639100"/>
            <a:ext cx="15647125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LƯU Ý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p79"/>
          <p:cNvSpPr/>
          <p:nvPr/>
        </p:nvSpPr>
        <p:spPr>
          <a:xfrm>
            <a:off x="1548309" y="8374559"/>
            <a:ext cx="15647125" cy="4785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Chọn hai tham số này là phần khó nhất khi dùng DBSCAN.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80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L13 · HIERARCHICAL CLUSTERING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p80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Gom dần thành cây — </a:t>
            </a:r>
            <a:r>
              <a:rPr b="1" i="0" lang="en-US" sz="37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dendrogram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80"/>
          <p:cNvSpPr/>
          <p:nvPr/>
        </p:nvSpPr>
        <p:spPr>
          <a:xfrm>
            <a:off x="1143000" y="3516974"/>
            <a:ext cx="8486759" cy="4792679"/>
          </a:xfrm>
          <a:prstGeom prst="roundRect">
            <a:avLst>
              <a:gd fmla="val 3577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10" name="Google Shape;1410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0192" y="3846050"/>
            <a:ext cx="7752374" cy="4134528"/>
          </a:xfrm>
          <a:prstGeom prst="rect">
            <a:avLst/>
          </a:prstGeom>
          <a:noFill/>
          <a:ln>
            <a:noFill/>
          </a:ln>
        </p:spPr>
      </p:pic>
      <p:sp>
        <p:nvSpPr>
          <p:cNvPr id="1411" name="Google Shape;1411;p80"/>
          <p:cNvSpPr/>
          <p:nvPr/>
        </p:nvSpPr>
        <p:spPr>
          <a:xfrm>
            <a:off x="10639392" y="4400765"/>
            <a:ext cx="6631795" cy="947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Gom các điểm/cụm gần nhau dần thành cây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80"/>
          <p:cNvSpPr/>
          <p:nvPr/>
        </p:nvSpPr>
        <p:spPr>
          <a:xfrm>
            <a:off x="10639392" y="5442810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Trực quan, thấy cấu trúc lồng nhau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80"/>
          <p:cNvSpPr/>
          <p:nvPr/>
        </p:nvSpPr>
        <p:spPr>
          <a:xfrm>
            <a:off x="10639392" y="6084755"/>
            <a:ext cx="6502858" cy="947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Cắt cây ở độ cao mong muốn để lấy số cụm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Google Shape;1414;p80"/>
          <p:cNvSpPr/>
          <p:nvPr/>
        </p:nvSpPr>
        <p:spPr>
          <a:xfrm>
            <a:off x="10639392" y="7126800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Không cần định trước K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81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L13 · TÓM TẮT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81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DBSCAN &amp; Hierarchical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2" name="Google Shape;1422;p81"/>
          <p:cNvSpPr/>
          <p:nvPr/>
        </p:nvSpPr>
        <p:spPr>
          <a:xfrm>
            <a:off x="1143000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81"/>
          <p:cNvSpPr/>
          <p:nvPr/>
        </p:nvSpPr>
        <p:spPr>
          <a:xfrm>
            <a:off x="1510192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4" name="Google Shape;1424;p81"/>
          <p:cNvSpPr/>
          <p:nvPr/>
        </p:nvSpPr>
        <p:spPr>
          <a:xfrm>
            <a:off x="1510192" y="4559432"/>
            <a:ext cx="1401845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DBSCAN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81"/>
          <p:cNvSpPr/>
          <p:nvPr/>
        </p:nvSpPr>
        <p:spPr>
          <a:xfrm>
            <a:off x="1510192" y="5011870"/>
            <a:ext cx="3757892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Phân cụm theo mật độ, bắt nhiễu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6" name="Google Shape;1426;p81"/>
          <p:cNvSpPr/>
          <p:nvPr/>
        </p:nvSpPr>
        <p:spPr>
          <a:xfrm>
            <a:off x="6572251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81"/>
          <p:cNvSpPr/>
          <p:nvPr/>
        </p:nvSpPr>
        <p:spPr>
          <a:xfrm>
            <a:off x="6939442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8" name="Google Shape;1428;p81"/>
          <p:cNvSpPr/>
          <p:nvPr/>
        </p:nvSpPr>
        <p:spPr>
          <a:xfrm>
            <a:off x="6939442" y="4559432"/>
            <a:ext cx="2881142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eps · min_samples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9" name="Google Shape;1429;p81"/>
          <p:cNvSpPr/>
          <p:nvPr/>
        </p:nvSpPr>
        <p:spPr>
          <a:xfrm>
            <a:off x="6939442" y="5011870"/>
            <a:ext cx="2881141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Hai tham số then chốt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0" name="Google Shape;1430;p81"/>
          <p:cNvSpPr/>
          <p:nvPr/>
        </p:nvSpPr>
        <p:spPr>
          <a:xfrm>
            <a:off x="12001500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1" name="Google Shape;1431;p81"/>
          <p:cNvSpPr/>
          <p:nvPr/>
        </p:nvSpPr>
        <p:spPr>
          <a:xfrm>
            <a:off x="12368693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p81"/>
          <p:cNvSpPr/>
          <p:nvPr/>
        </p:nvSpPr>
        <p:spPr>
          <a:xfrm>
            <a:off x="12368693" y="4559432"/>
            <a:ext cx="1973345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Dendrogram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3" name="Google Shape;1433;p81"/>
          <p:cNvSpPr/>
          <p:nvPr/>
        </p:nvSpPr>
        <p:spPr>
          <a:xfrm>
            <a:off x="12368693" y="5011870"/>
            <a:ext cx="2736450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Cắt cây để chọn số cụm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4" name="Google Shape;1434;p81"/>
          <p:cNvSpPr/>
          <p:nvPr/>
        </p:nvSpPr>
        <p:spPr>
          <a:xfrm>
            <a:off x="1143000" y="8468817"/>
            <a:ext cx="16002001" cy="1037167"/>
          </a:xfrm>
          <a:prstGeom prst="roundRect">
            <a:avLst>
              <a:gd fmla="val 16531" name="adj"/>
            </a:avLst>
          </a:prstGeom>
          <a:solidFill>
            <a:srgbClr val="22D3EE">
              <a:alpha val="3921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5" name="Google Shape;1435;p81"/>
          <p:cNvSpPr/>
          <p:nvPr/>
        </p:nvSpPr>
        <p:spPr>
          <a:xfrm>
            <a:off x="1510192" y="8857754"/>
            <a:ext cx="1429461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6" name="Google Shape;1436;p81"/>
          <p:cNvSpPr/>
          <p:nvPr/>
        </p:nvSpPr>
        <p:spPr>
          <a:xfrm>
            <a:off x="3091987" y="8759858"/>
            <a:ext cx="8477698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PCA &amp; t-SNE — giảm chiều để thấy &amp; tăng tốc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p81"/>
          <p:cNvSpPr/>
          <p:nvPr/>
        </p:nvSpPr>
        <p:spPr>
          <a:xfrm>
            <a:off x="16339592" y="8768292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82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0E1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82"/>
          <p:cNvSpPr/>
          <p:nvPr/>
        </p:nvSpPr>
        <p:spPr>
          <a:xfrm>
            <a:off x="1143000" y="3314816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LECTURE 14 · ~8 PHÚT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5" name="Google Shape;1445;p82"/>
          <p:cNvSpPr/>
          <p:nvPr/>
        </p:nvSpPr>
        <p:spPr>
          <a:xfrm>
            <a:off x="1143000" y="3902191"/>
            <a:ext cx="16482061" cy="1332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50"/>
              <a:buFont typeface="Courier New"/>
              <a:buNone/>
            </a:pPr>
            <a:r>
              <a:rPr b="1" i="0" lang="en-US" sz="118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b="0" i="0" sz="1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6" name="Google Shape;1446;p82"/>
          <p:cNvSpPr/>
          <p:nvPr/>
        </p:nvSpPr>
        <p:spPr>
          <a:xfrm>
            <a:off x="1143000" y="5329701"/>
            <a:ext cx="12753976" cy="810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PCA &amp; t-SNE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7" name="Google Shape;1447;p82"/>
          <p:cNvSpPr/>
          <p:nvPr/>
        </p:nvSpPr>
        <p:spPr>
          <a:xfrm>
            <a:off x="1143000" y="6292784"/>
            <a:ext cx="16482061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2850"/>
              <a:buFont typeface="Courier New"/>
              <a:buNone/>
            </a:pPr>
            <a:r>
              <a:rPr b="0" i="0" lang="en-US" sz="285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giảm chiều dữ liệu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83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L14 · VÌ SAO GIẢM CHIỀU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4" name="Google Shape;1454;p83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Nén dữ liệu mà giữ thông tin quan trọng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5" name="Google Shape;1455;p83"/>
          <p:cNvSpPr/>
          <p:nvPr/>
        </p:nvSpPr>
        <p:spPr>
          <a:xfrm>
            <a:off x="1143000" y="2320727"/>
            <a:ext cx="5105384" cy="7185257"/>
          </a:xfrm>
          <a:prstGeom prst="roundRect">
            <a:avLst>
              <a:gd fmla="val 3358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83"/>
          <p:cNvSpPr/>
          <p:nvPr/>
        </p:nvSpPr>
        <p:spPr>
          <a:xfrm>
            <a:off x="1529292" y="2668902"/>
            <a:ext cx="446278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TRỰC QUAN HOÁ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p83"/>
          <p:cNvSpPr/>
          <p:nvPr/>
        </p:nvSpPr>
        <p:spPr>
          <a:xfrm>
            <a:off x="1529292" y="3099594"/>
            <a:ext cx="4462784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Thấy được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p83"/>
          <p:cNvSpPr/>
          <p:nvPr/>
        </p:nvSpPr>
        <p:spPr>
          <a:xfrm>
            <a:off x="1529292" y="3726078"/>
            <a:ext cx="4462784" cy="7561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Ép dữ liệu nhiều chiều xuống 2D/3D để vẽ &amp; quan sát.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p83"/>
          <p:cNvSpPr/>
          <p:nvPr/>
        </p:nvSpPr>
        <p:spPr>
          <a:xfrm>
            <a:off x="6591267" y="2320727"/>
            <a:ext cx="5105384" cy="7185257"/>
          </a:xfrm>
          <a:prstGeom prst="roundRect">
            <a:avLst>
              <a:gd fmla="val 3358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83"/>
          <p:cNvSpPr/>
          <p:nvPr/>
        </p:nvSpPr>
        <p:spPr>
          <a:xfrm>
            <a:off x="6977559" y="2668902"/>
            <a:ext cx="446278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TĂNG TỐC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1" name="Google Shape;1461;p83"/>
          <p:cNvSpPr/>
          <p:nvPr/>
        </p:nvSpPr>
        <p:spPr>
          <a:xfrm>
            <a:off x="6977559" y="3099594"/>
            <a:ext cx="4462784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Nhẹ hơn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2" name="Google Shape;1462;p83"/>
          <p:cNvSpPr/>
          <p:nvPr/>
        </p:nvSpPr>
        <p:spPr>
          <a:xfrm>
            <a:off x="6977559" y="3726078"/>
            <a:ext cx="4462784" cy="7561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Ít chiều → model train nhanh hơn, tốn ít bộ nhớ.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3" name="Google Shape;1463;p83"/>
          <p:cNvSpPr/>
          <p:nvPr/>
        </p:nvSpPr>
        <p:spPr>
          <a:xfrm>
            <a:off x="12039535" y="2320727"/>
            <a:ext cx="5105384" cy="7185257"/>
          </a:xfrm>
          <a:prstGeom prst="roundRect">
            <a:avLst>
              <a:gd fmla="val 3358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p83"/>
          <p:cNvSpPr/>
          <p:nvPr/>
        </p:nvSpPr>
        <p:spPr>
          <a:xfrm>
            <a:off x="12425826" y="2668902"/>
            <a:ext cx="446278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GIẢM NHIỄU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5" name="Google Shape;1465;p83"/>
          <p:cNvSpPr/>
          <p:nvPr/>
        </p:nvSpPr>
        <p:spPr>
          <a:xfrm>
            <a:off x="12425826" y="3099594"/>
            <a:ext cx="4462784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Sạch hơn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6" name="Google Shape;1466;p83"/>
          <p:cNvSpPr/>
          <p:nvPr/>
        </p:nvSpPr>
        <p:spPr>
          <a:xfrm>
            <a:off x="12425826" y="3726078"/>
            <a:ext cx="4462784" cy="7561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Bỏ chiều ít thông tin → chống </a:t>
            </a:r>
            <a:r>
              <a:rPr b="0" i="1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curse of dimensionality </a:t>
            </a: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p84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L14 · PCA (ÔN LẠI)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3" name="Google Shape;1473;p84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Giữ hướng có </a:t>
            </a:r>
            <a:r>
              <a:rPr b="1" i="0" lang="en-US" sz="37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phương sai lớn nhất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4" name="Google Shape;1474;p84"/>
          <p:cNvSpPr/>
          <p:nvPr/>
        </p:nvSpPr>
        <p:spPr>
          <a:xfrm>
            <a:off x="1143000" y="3516974"/>
            <a:ext cx="8486759" cy="4792679"/>
          </a:xfrm>
          <a:prstGeom prst="roundRect">
            <a:avLst>
              <a:gd fmla="val 3577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75" name="Google Shape;1475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0192" y="3846050"/>
            <a:ext cx="7752374" cy="4134528"/>
          </a:xfrm>
          <a:prstGeom prst="rect">
            <a:avLst/>
          </a:prstGeom>
          <a:noFill/>
          <a:ln>
            <a:noFill/>
          </a:ln>
        </p:spPr>
      </p:pic>
      <p:sp>
        <p:nvSpPr>
          <p:cNvPr id="1476" name="Google Shape;1476;p84"/>
          <p:cNvSpPr/>
          <p:nvPr/>
        </p:nvSpPr>
        <p:spPr>
          <a:xfrm>
            <a:off x="10639392" y="4654187"/>
            <a:ext cx="6297190" cy="947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Tìm trục chính theo hướng dữ liệu trải rộng nhất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7" name="Google Shape;1477;p84"/>
          <p:cNvSpPr/>
          <p:nvPr/>
        </p:nvSpPr>
        <p:spPr>
          <a:xfrm>
            <a:off x="10639392" y="5696231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Nối lại eigenvector ở Section 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8" name="Google Shape;1478;p84"/>
          <p:cNvSpPr/>
          <p:nvPr/>
        </p:nvSpPr>
        <p:spPr>
          <a:xfrm>
            <a:off x="10639392" y="6338176"/>
            <a:ext cx="5644247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Tuyến tính, nhanh — rất hay dùng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9" name="Google Shape;1479;p84"/>
          <p:cNvSpPr/>
          <p:nvPr/>
        </p:nvSpPr>
        <p:spPr>
          <a:xfrm>
            <a:off x="10639392" y="6873462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Kết quả dùng được làm feature cho model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85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L14 · T-SNE &amp; UMAP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6" name="Google Shape;1486;p85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Giữ cấu trúc cục bộ — trực quan hoá đẹp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7" name="Google Shape;1487;p85"/>
          <p:cNvSpPr/>
          <p:nvPr/>
        </p:nvSpPr>
        <p:spPr>
          <a:xfrm>
            <a:off x="1143000" y="5311759"/>
            <a:ext cx="8486759" cy="1203193"/>
          </a:xfrm>
          <a:prstGeom prst="roundRect">
            <a:avLst>
              <a:gd fmla="val 14250" name="adj"/>
            </a:avLst>
          </a:prstGeom>
          <a:solidFill>
            <a:srgbClr val="0E131C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8" name="Google Shape;1488;p85"/>
          <p:cNvSpPr/>
          <p:nvPr/>
        </p:nvSpPr>
        <p:spPr>
          <a:xfrm>
            <a:off x="1987937" y="5317050"/>
            <a:ext cx="6796886" cy="4038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SCREEN RECORDING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9" name="Google Shape;1489;p85"/>
          <p:cNvSpPr/>
          <p:nvPr/>
        </p:nvSpPr>
        <p:spPr>
          <a:xfrm>
            <a:off x="1841004" y="5831003"/>
            <a:ext cx="7303473" cy="663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Bản đồ t-SNE 2D: các chữ số viết tay (MNIST) tự gom thành những cụm màu tách biệt rõ ràng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0" name="Google Shape;1490;p85"/>
          <p:cNvSpPr/>
          <p:nvPr/>
        </p:nvSpPr>
        <p:spPr>
          <a:xfrm>
            <a:off x="10639392" y="4651540"/>
            <a:ext cx="6442818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Giữ quan hệ "gần nhau" giữa các điểm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1" name="Google Shape;1491;p85"/>
          <p:cNvSpPr/>
          <p:nvPr/>
        </p:nvSpPr>
        <p:spPr>
          <a:xfrm>
            <a:off x="10639392" y="5186826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Cho ra bản đồ cụm rất đẹp mắt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2" name="Google Shape;1492;p85"/>
          <p:cNvSpPr/>
          <p:nvPr/>
        </p:nvSpPr>
        <p:spPr>
          <a:xfrm>
            <a:off x="10639392" y="5834063"/>
            <a:ext cx="2028246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Chỉ dùng để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3" name="Google Shape;1493;p85"/>
          <p:cNvSpPr/>
          <p:nvPr/>
        </p:nvSpPr>
        <p:spPr>
          <a:xfrm>
            <a:off x="12691980" y="5802313"/>
            <a:ext cx="829105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xem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4" name="Google Shape;1494;p85"/>
          <p:cNvSpPr/>
          <p:nvPr/>
        </p:nvSpPr>
        <p:spPr>
          <a:xfrm>
            <a:off x="10639392" y="5834063"/>
            <a:ext cx="5749849" cy="947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, không dùng làm feature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5" name="Google Shape;1495;p85"/>
          <p:cNvSpPr/>
          <p:nvPr/>
        </p:nvSpPr>
        <p:spPr>
          <a:xfrm>
            <a:off x="10639392" y="6876108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Chậm &amp; không tái lập ổn định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86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L14 · PCA VS T-SNE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2" name="Google Shape;1502;p86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Chọn theo mục đích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3" name="Google Shape;1503;p86"/>
          <p:cNvSpPr/>
          <p:nvPr/>
        </p:nvSpPr>
        <p:spPr>
          <a:xfrm>
            <a:off x="1143000" y="2320727"/>
            <a:ext cx="7543767" cy="7185257"/>
          </a:xfrm>
          <a:prstGeom prst="roundRect">
            <a:avLst>
              <a:gd fmla="val 2386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4" name="Google Shape;1504;p86"/>
          <p:cNvSpPr/>
          <p:nvPr/>
        </p:nvSpPr>
        <p:spPr>
          <a:xfrm>
            <a:off x="1529292" y="2668902"/>
            <a:ext cx="697431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PCA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5" name="Google Shape;1505;p86"/>
          <p:cNvSpPr/>
          <p:nvPr/>
        </p:nvSpPr>
        <p:spPr>
          <a:xfrm>
            <a:off x="1529292" y="3099594"/>
            <a:ext cx="6974319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Nhanh · tuyến tính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6" name="Google Shape;1506;p86"/>
          <p:cNvSpPr/>
          <p:nvPr/>
        </p:nvSpPr>
        <p:spPr>
          <a:xfrm>
            <a:off x="1529292" y="3726078"/>
            <a:ext cx="6974319" cy="4076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Dùng để giảm chiều làm </a:t>
            </a:r>
            <a:r>
              <a:rPr b="1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feature </a:t>
            </a: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cho model. Tái lập ổn định.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7" name="Google Shape;1507;p86"/>
          <p:cNvSpPr/>
          <p:nvPr/>
        </p:nvSpPr>
        <p:spPr>
          <a:xfrm>
            <a:off x="8972517" y="2320727"/>
            <a:ext cx="419166" cy="7223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vs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8" name="Google Shape;1508;p86"/>
          <p:cNvSpPr/>
          <p:nvPr/>
        </p:nvSpPr>
        <p:spPr>
          <a:xfrm>
            <a:off x="9601234" y="2320727"/>
            <a:ext cx="7543767" cy="7185257"/>
          </a:xfrm>
          <a:prstGeom prst="roundRect">
            <a:avLst>
              <a:gd fmla="val 2386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86"/>
          <p:cNvSpPr/>
          <p:nvPr/>
        </p:nvSpPr>
        <p:spPr>
          <a:xfrm>
            <a:off x="9987525" y="2668902"/>
            <a:ext cx="697431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T-SNE / UMAP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0" name="Google Shape;1510;p86"/>
          <p:cNvSpPr/>
          <p:nvPr/>
        </p:nvSpPr>
        <p:spPr>
          <a:xfrm>
            <a:off x="9987525" y="3099594"/>
            <a:ext cx="6974319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C792EA"/>
                </a:solidFill>
                <a:latin typeface="Arial"/>
                <a:ea typeface="Arial"/>
                <a:cs typeface="Arial"/>
                <a:sym typeface="Arial"/>
              </a:rPr>
              <a:t>Chậm · phi tuyến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1" name="Google Shape;1511;p86"/>
          <p:cNvSpPr/>
          <p:nvPr/>
        </p:nvSpPr>
        <p:spPr>
          <a:xfrm>
            <a:off x="9987525" y="3726078"/>
            <a:ext cx="6974319" cy="4076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Dùng để </a:t>
            </a:r>
            <a:r>
              <a:rPr b="1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trực quan hoá </a:t>
            </a: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đẹp. Không làm feature.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p87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L14 · TÓM TẮT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8" name="Google Shape;1518;p87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PCA &amp; t-SNE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9" name="Google Shape;1519;p87"/>
          <p:cNvSpPr/>
          <p:nvPr/>
        </p:nvSpPr>
        <p:spPr>
          <a:xfrm>
            <a:off x="1143000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0" name="Google Shape;1520;p87"/>
          <p:cNvSpPr/>
          <p:nvPr/>
        </p:nvSpPr>
        <p:spPr>
          <a:xfrm>
            <a:off x="1510192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1" name="Google Shape;1521;p87"/>
          <p:cNvSpPr/>
          <p:nvPr/>
        </p:nvSpPr>
        <p:spPr>
          <a:xfrm>
            <a:off x="1510192" y="4559432"/>
            <a:ext cx="1029362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Vì sao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2" name="Google Shape;1522;p87"/>
          <p:cNvSpPr/>
          <p:nvPr/>
        </p:nvSpPr>
        <p:spPr>
          <a:xfrm>
            <a:off x="1510192" y="5011870"/>
            <a:ext cx="3776798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Trực quan · tăng tốc · giảm nhiễu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3" name="Google Shape;1523;p87"/>
          <p:cNvSpPr/>
          <p:nvPr/>
        </p:nvSpPr>
        <p:spPr>
          <a:xfrm>
            <a:off x="6572251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4" name="Google Shape;1524;p87"/>
          <p:cNvSpPr/>
          <p:nvPr/>
        </p:nvSpPr>
        <p:spPr>
          <a:xfrm>
            <a:off x="6939442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5" name="Google Shape;1525;p87"/>
          <p:cNvSpPr/>
          <p:nvPr/>
        </p:nvSpPr>
        <p:spPr>
          <a:xfrm>
            <a:off x="6939442" y="4559432"/>
            <a:ext cx="735509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PCA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6" name="Google Shape;1526;p87"/>
          <p:cNvSpPr/>
          <p:nvPr/>
        </p:nvSpPr>
        <p:spPr>
          <a:xfrm>
            <a:off x="6939442" y="5011870"/>
            <a:ext cx="3464677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Tuyến tính, nhanh, làm feature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7" name="Google Shape;1527;p87"/>
          <p:cNvSpPr/>
          <p:nvPr/>
        </p:nvSpPr>
        <p:spPr>
          <a:xfrm>
            <a:off x="12001500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87"/>
          <p:cNvSpPr/>
          <p:nvPr/>
        </p:nvSpPr>
        <p:spPr>
          <a:xfrm>
            <a:off x="12368693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p87"/>
          <p:cNvSpPr/>
          <p:nvPr/>
        </p:nvSpPr>
        <p:spPr>
          <a:xfrm>
            <a:off x="12368693" y="4559432"/>
            <a:ext cx="2239417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t-SNE / UMAP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0" name="Google Shape;1530;p87"/>
          <p:cNvSpPr/>
          <p:nvPr/>
        </p:nvSpPr>
        <p:spPr>
          <a:xfrm>
            <a:off x="12368693" y="5011870"/>
            <a:ext cx="3545752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Phi tuyến, chỉ để trực quan hoá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1" name="Google Shape;1531;p87"/>
          <p:cNvSpPr/>
          <p:nvPr/>
        </p:nvSpPr>
        <p:spPr>
          <a:xfrm>
            <a:off x="1143000" y="8468817"/>
            <a:ext cx="16002001" cy="1037167"/>
          </a:xfrm>
          <a:prstGeom prst="roundRect">
            <a:avLst>
              <a:gd fmla="val 16531" name="adj"/>
            </a:avLst>
          </a:prstGeom>
          <a:solidFill>
            <a:srgbClr val="22D3EE">
              <a:alpha val="3921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87"/>
          <p:cNvSpPr/>
          <p:nvPr/>
        </p:nvSpPr>
        <p:spPr>
          <a:xfrm>
            <a:off x="1510192" y="8857754"/>
            <a:ext cx="1429461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3" name="Google Shape;1533;p87"/>
          <p:cNvSpPr/>
          <p:nvPr/>
        </p:nvSpPr>
        <p:spPr>
          <a:xfrm>
            <a:off x="3091987" y="8759858"/>
            <a:ext cx="6578228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Association Rules — "mua gì kèm gì"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4" name="Google Shape;1534;p87"/>
          <p:cNvSpPr/>
          <p:nvPr/>
        </p:nvSpPr>
        <p:spPr>
          <a:xfrm>
            <a:off x="16339592" y="8768292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p88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0E1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1" name="Google Shape;1541;p88"/>
          <p:cNvSpPr/>
          <p:nvPr/>
        </p:nvSpPr>
        <p:spPr>
          <a:xfrm>
            <a:off x="1143000" y="3314816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LECTURE 15 · ~7 PHÚT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2" name="Google Shape;1542;p88"/>
          <p:cNvSpPr/>
          <p:nvPr/>
        </p:nvSpPr>
        <p:spPr>
          <a:xfrm>
            <a:off x="1143000" y="3902191"/>
            <a:ext cx="16482061" cy="1332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50"/>
              <a:buFont typeface="Courier New"/>
              <a:buNone/>
            </a:pPr>
            <a:r>
              <a:rPr b="1" i="0" lang="en-US" sz="118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15</a:t>
            </a:r>
            <a:endParaRPr b="0" i="0" sz="1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88"/>
          <p:cNvSpPr/>
          <p:nvPr/>
        </p:nvSpPr>
        <p:spPr>
          <a:xfrm>
            <a:off x="1143000" y="5329701"/>
            <a:ext cx="12753976" cy="810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Association Rules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4" name="Google Shape;1544;p88"/>
          <p:cNvSpPr/>
          <p:nvPr/>
        </p:nvSpPr>
        <p:spPr>
          <a:xfrm>
            <a:off x="1143000" y="6292784"/>
            <a:ext cx="16482061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2850"/>
              <a:buFont typeface="Courier New"/>
              <a:buNone/>
            </a:pPr>
            <a:r>
              <a:rPr b="0" i="0" lang="en-US" sz="285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Apriori · FP-Growth · market basket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89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L15 · BÀI TOÁN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1" name="Google Shape;1551;p89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Tìm sản phẩm hay được </a:t>
            </a:r>
            <a:r>
              <a:rPr b="1" i="0" lang="en-US" sz="37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mua cùng nhau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2" name="Google Shape;1552;p89"/>
          <p:cNvSpPr/>
          <p:nvPr/>
        </p:nvSpPr>
        <p:spPr>
          <a:xfrm>
            <a:off x="2317998" y="5289021"/>
            <a:ext cx="1618258" cy="1248668"/>
          </a:xfrm>
          <a:prstGeom prst="roundRect">
            <a:avLst>
              <a:gd fmla="val 12205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89"/>
          <p:cNvSpPr/>
          <p:nvPr/>
        </p:nvSpPr>
        <p:spPr>
          <a:xfrm>
            <a:off x="2647074" y="5536654"/>
            <a:ext cx="1009518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Mua 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4" name="Google Shape;1554;p89"/>
          <p:cNvSpPr/>
          <p:nvPr/>
        </p:nvSpPr>
        <p:spPr>
          <a:xfrm>
            <a:off x="2647074" y="5999014"/>
            <a:ext cx="103630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vd: bỉm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5" name="Google Shape;1555;p89"/>
          <p:cNvSpPr/>
          <p:nvPr/>
        </p:nvSpPr>
        <p:spPr>
          <a:xfrm>
            <a:off x="4222006" y="5694247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6" name="Google Shape;1556;p89"/>
          <p:cNvSpPr/>
          <p:nvPr/>
        </p:nvSpPr>
        <p:spPr>
          <a:xfrm>
            <a:off x="4945973" y="5289021"/>
            <a:ext cx="3508706" cy="1248668"/>
          </a:xfrm>
          <a:prstGeom prst="roundRect">
            <a:avLst>
              <a:gd fmla="val 12205" name="adj"/>
            </a:avLst>
          </a:prstGeom>
          <a:solidFill>
            <a:srgbClr val="11161F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16200000" dist="50800">
              <a:srgbClr val="22D3EE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89"/>
          <p:cNvSpPr/>
          <p:nvPr/>
        </p:nvSpPr>
        <p:spPr>
          <a:xfrm>
            <a:off x="5275048" y="5536654"/>
            <a:ext cx="2936072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Có xu hướng mua B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8" name="Google Shape;1558;p89"/>
          <p:cNvSpPr/>
          <p:nvPr/>
        </p:nvSpPr>
        <p:spPr>
          <a:xfrm>
            <a:off x="5275048" y="5999014"/>
            <a:ext cx="293607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vd: bia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9" name="Google Shape;1559;p89"/>
          <p:cNvSpPr/>
          <p:nvPr/>
        </p:nvSpPr>
        <p:spPr>
          <a:xfrm>
            <a:off x="10639392" y="4654187"/>
            <a:ext cx="5579779" cy="947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"Bỉm + bia" — huyền thoại market basket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0" name="Google Shape;1560;p89"/>
          <p:cNvSpPr/>
          <p:nvPr/>
        </p:nvSpPr>
        <p:spPr>
          <a:xfrm>
            <a:off x="10639392" y="5696231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Phân tích giỏ hàng siêu thị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89"/>
          <p:cNvSpPr/>
          <p:nvPr/>
        </p:nvSpPr>
        <p:spPr>
          <a:xfrm>
            <a:off x="10639392" y="6338176"/>
            <a:ext cx="5872910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Cơ sở cho gợi ý &amp; sắp xếp kệ hàng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2" name="Google Shape;1562;p89"/>
          <p:cNvSpPr/>
          <p:nvPr/>
        </p:nvSpPr>
        <p:spPr>
          <a:xfrm>
            <a:off x="10639392" y="6873462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Bán chéo, bố trí sản phẩm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90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L15 · BA CHỈ SỐ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9" name="Google Shape;1569;p90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Support · Confidence · Lift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0" name="Google Shape;1570;p90"/>
          <p:cNvSpPr/>
          <p:nvPr/>
        </p:nvSpPr>
        <p:spPr>
          <a:xfrm>
            <a:off x="1143000" y="2320727"/>
            <a:ext cx="5105384" cy="7185257"/>
          </a:xfrm>
          <a:prstGeom prst="roundRect">
            <a:avLst>
              <a:gd fmla="val 3358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1" name="Google Shape;1571;p90"/>
          <p:cNvSpPr/>
          <p:nvPr/>
        </p:nvSpPr>
        <p:spPr>
          <a:xfrm>
            <a:off x="1529292" y="2668902"/>
            <a:ext cx="446278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SUPPORT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2" name="Google Shape;1572;p90"/>
          <p:cNvSpPr/>
          <p:nvPr/>
        </p:nvSpPr>
        <p:spPr>
          <a:xfrm>
            <a:off x="1529292" y="3099594"/>
            <a:ext cx="4462784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Độ phổ biến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3" name="Google Shape;1573;p90"/>
          <p:cNvSpPr/>
          <p:nvPr/>
        </p:nvSpPr>
        <p:spPr>
          <a:xfrm>
            <a:off x="1529292" y="3726078"/>
            <a:ext cx="4462784" cy="7561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Tần suất tập sản phẩm xuất hiện trong tổng số giao dịch.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4" name="Google Shape;1574;p90"/>
          <p:cNvSpPr/>
          <p:nvPr/>
        </p:nvSpPr>
        <p:spPr>
          <a:xfrm>
            <a:off x="6591267" y="2320727"/>
            <a:ext cx="5105384" cy="7185257"/>
          </a:xfrm>
          <a:prstGeom prst="roundRect">
            <a:avLst>
              <a:gd fmla="val 3358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5" name="Google Shape;1575;p90"/>
          <p:cNvSpPr/>
          <p:nvPr/>
        </p:nvSpPr>
        <p:spPr>
          <a:xfrm>
            <a:off x="6977559" y="2668902"/>
            <a:ext cx="446278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CONFIDENCE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6" name="Google Shape;1576;p90"/>
          <p:cNvSpPr/>
          <p:nvPr/>
        </p:nvSpPr>
        <p:spPr>
          <a:xfrm>
            <a:off x="6977559" y="3099594"/>
            <a:ext cx="4462784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Độ tin cậy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7" name="Google Shape;1577;p90"/>
          <p:cNvSpPr/>
          <p:nvPr/>
        </p:nvSpPr>
        <p:spPr>
          <a:xfrm>
            <a:off x="6977559" y="3726078"/>
            <a:ext cx="4462784" cy="7561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Mua A thì khả năng mua B là bao nhiêu.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8" name="Google Shape;1578;p90"/>
          <p:cNvSpPr/>
          <p:nvPr/>
        </p:nvSpPr>
        <p:spPr>
          <a:xfrm>
            <a:off x="12039535" y="2320727"/>
            <a:ext cx="5105384" cy="7185257"/>
          </a:xfrm>
          <a:prstGeom prst="roundRect">
            <a:avLst>
              <a:gd fmla="val 3358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90"/>
          <p:cNvSpPr/>
          <p:nvPr/>
        </p:nvSpPr>
        <p:spPr>
          <a:xfrm>
            <a:off x="12425826" y="2668902"/>
            <a:ext cx="446278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LIFT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0" name="Google Shape;1580;p90"/>
          <p:cNvSpPr/>
          <p:nvPr/>
        </p:nvSpPr>
        <p:spPr>
          <a:xfrm>
            <a:off x="12425826" y="3099594"/>
            <a:ext cx="4462784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C792EA"/>
                </a:solidFill>
                <a:latin typeface="Arial"/>
                <a:ea typeface="Arial"/>
                <a:cs typeface="Arial"/>
                <a:sym typeface="Arial"/>
              </a:rPr>
              <a:t>Độ liên kết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1" name="Google Shape;1581;p90"/>
          <p:cNvSpPr/>
          <p:nvPr/>
        </p:nvSpPr>
        <p:spPr>
          <a:xfrm>
            <a:off x="12425826" y="3726078"/>
            <a:ext cx="4462784" cy="7666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Lift &gt; 1 </a:t>
            </a: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= quan hệ thật, không phải ngẫu nhiên.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p91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L15 · THUẬT TOÁN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8" name="Google Shape;1588;p91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Apriori &amp; FP-Growth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9" name="Google Shape;1589;p91"/>
          <p:cNvSpPr/>
          <p:nvPr/>
        </p:nvSpPr>
        <p:spPr>
          <a:xfrm>
            <a:off x="1143000" y="4147261"/>
            <a:ext cx="8486759" cy="3532188"/>
          </a:xfrm>
          <a:prstGeom prst="roundRect">
            <a:avLst>
              <a:gd fmla="val 4315" name="adj"/>
            </a:avLst>
          </a:prstGeom>
          <a:solidFill>
            <a:srgbClr val="0C121B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0" name="Google Shape;1590;p91"/>
          <p:cNvSpPr/>
          <p:nvPr/>
        </p:nvSpPr>
        <p:spPr>
          <a:xfrm>
            <a:off x="1148292" y="4152553"/>
            <a:ext cx="8476176" cy="569350"/>
          </a:xfrm>
          <a:prstGeom prst="rect">
            <a:avLst/>
          </a:prstGeom>
          <a:solidFill>
            <a:srgbClr val="0A0F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1" name="Google Shape;1591;p91"/>
          <p:cNvSpPr/>
          <p:nvPr/>
        </p:nvSpPr>
        <p:spPr>
          <a:xfrm>
            <a:off x="1148292" y="4716612"/>
            <a:ext cx="8476176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2" name="Google Shape;1592;p91"/>
          <p:cNvSpPr/>
          <p:nvPr/>
        </p:nvSpPr>
        <p:spPr>
          <a:xfrm>
            <a:off x="1357809" y="4372653"/>
            <a:ext cx="123775" cy="123775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3" name="Google Shape;1593;p91"/>
          <p:cNvSpPr/>
          <p:nvPr/>
        </p:nvSpPr>
        <p:spPr>
          <a:xfrm>
            <a:off x="1567243" y="4372653"/>
            <a:ext cx="123775" cy="123775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4" name="Google Shape;1594;p91"/>
          <p:cNvSpPr/>
          <p:nvPr/>
        </p:nvSpPr>
        <p:spPr>
          <a:xfrm>
            <a:off x="1776677" y="4372653"/>
            <a:ext cx="123775" cy="123775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5" name="Google Shape;1595;p91"/>
          <p:cNvSpPr/>
          <p:nvPr/>
        </p:nvSpPr>
        <p:spPr>
          <a:xfrm>
            <a:off x="2100378" y="4304936"/>
            <a:ext cx="2270671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market_basket.py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6" name="Google Shape;1596;p91"/>
          <p:cNvSpPr/>
          <p:nvPr/>
        </p:nvSpPr>
        <p:spPr>
          <a:xfrm>
            <a:off x="1472142" y="5007653"/>
            <a:ext cx="8082761" cy="2418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C792EA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mlxtend.frequent_patterns </a:t>
            </a:r>
            <a:r>
              <a:rPr b="0" i="0" lang="en-US" sz="1800" u="none" cap="none" strike="noStrike">
                <a:solidFill>
                  <a:srgbClr val="C792EA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apriori, association_rules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freq =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apriori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(basket, min_support=</a:t>
            </a:r>
            <a:r>
              <a:rPr b="0" i="0" lang="en-US" sz="1800" u="none" cap="none" strike="noStrike">
                <a:solidFill>
                  <a:srgbClr val="F7A76C"/>
                </a:solidFill>
                <a:latin typeface="Courier New"/>
                <a:ea typeface="Courier New"/>
                <a:cs typeface="Courier New"/>
                <a:sym typeface="Courier New"/>
              </a:rPr>
              <a:t>0.02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use_colnames=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82AA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82AAFF"/>
                </a:solidFill>
                <a:latin typeface="Courier New"/>
                <a:ea typeface="Courier New"/>
                <a:cs typeface="Courier New"/>
                <a:sym typeface="Courier New"/>
              </a:rPr>
              <a:t>True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rules =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association_rules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(freq, metric=</a:t>
            </a:r>
            <a:r>
              <a:rPr b="0" i="0" lang="en-US" sz="1800" u="none" cap="none" strike="noStrike">
                <a:solidFill>
                  <a:srgbClr val="89E0A0"/>
                </a:solidFill>
                <a:latin typeface="Courier New"/>
                <a:ea typeface="Courier New"/>
                <a:cs typeface="Courier New"/>
                <a:sym typeface="Courier New"/>
              </a:rPr>
              <a:t>"lift"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min_threshold=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F7A7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7A76C"/>
                </a:solidFill>
                <a:latin typeface="Courier New"/>
                <a:ea typeface="Courier New"/>
                <a:cs typeface="Courier New"/>
                <a:sym typeface="Courier New"/>
              </a:rPr>
              <a:t>1.0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7" name="Google Shape;1597;p91"/>
          <p:cNvSpPr/>
          <p:nvPr/>
        </p:nvSpPr>
        <p:spPr>
          <a:xfrm>
            <a:off x="10639392" y="4622436"/>
            <a:ext cx="1369516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Apriori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8" name="Google Shape;1598;p91"/>
          <p:cNvSpPr/>
          <p:nvPr/>
        </p:nvSpPr>
        <p:spPr>
          <a:xfrm>
            <a:off x="11932709" y="4654187"/>
            <a:ext cx="5305300" cy="440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: tìm các tập sản phẩm phổ biến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9" name="Google Shape;1599;p91"/>
          <p:cNvSpPr/>
          <p:nvPr/>
        </p:nvSpPr>
        <p:spPr>
          <a:xfrm>
            <a:off x="10639392" y="5189472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Trực quan nhưng có thể chậm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0" name="Google Shape;1600;p91"/>
          <p:cNvSpPr/>
          <p:nvPr/>
        </p:nvSpPr>
        <p:spPr>
          <a:xfrm>
            <a:off x="10639392" y="5804958"/>
            <a:ext cx="2143340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FP-Growth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1" name="Google Shape;1601;p91"/>
          <p:cNvSpPr/>
          <p:nvPr/>
        </p:nvSpPr>
        <p:spPr>
          <a:xfrm>
            <a:off x="10639392" y="5836709"/>
            <a:ext cx="6084794" cy="947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: nhanh hơn cho dữ liệu lớn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2" name="Google Shape;1602;p91"/>
          <p:cNvSpPr/>
          <p:nvPr/>
        </p:nvSpPr>
        <p:spPr>
          <a:xfrm>
            <a:off x="10639392" y="6878753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Cùng mục tiêu, thuật toán hiệu quả hơn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p92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L15 · TÓM TẮT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9" name="Google Shape;1609;p92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Association Rules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0" name="Google Shape;1610;p92"/>
          <p:cNvSpPr/>
          <p:nvPr/>
        </p:nvSpPr>
        <p:spPr>
          <a:xfrm>
            <a:off x="1143000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1" name="Google Shape;1611;p92"/>
          <p:cNvSpPr/>
          <p:nvPr/>
        </p:nvSpPr>
        <p:spPr>
          <a:xfrm>
            <a:off x="1510192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2" name="Google Shape;1612;p92"/>
          <p:cNvSpPr/>
          <p:nvPr/>
        </p:nvSpPr>
        <p:spPr>
          <a:xfrm>
            <a:off x="1510192" y="4559432"/>
            <a:ext cx="1355212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Bài toán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3" name="Google Shape;1613;p92"/>
          <p:cNvSpPr/>
          <p:nvPr/>
        </p:nvSpPr>
        <p:spPr>
          <a:xfrm>
            <a:off x="1510192" y="5011870"/>
            <a:ext cx="3459652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Tìm sản phẩm mua cùng nhau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4" name="Google Shape;1614;p92"/>
          <p:cNvSpPr/>
          <p:nvPr/>
        </p:nvSpPr>
        <p:spPr>
          <a:xfrm>
            <a:off x="6572251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92"/>
          <p:cNvSpPr/>
          <p:nvPr/>
        </p:nvSpPr>
        <p:spPr>
          <a:xfrm>
            <a:off x="6939442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6" name="Google Shape;1616;p92"/>
          <p:cNvSpPr/>
          <p:nvPr/>
        </p:nvSpPr>
        <p:spPr>
          <a:xfrm>
            <a:off x="6939442" y="4559432"/>
            <a:ext cx="1451207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Ba chỉ số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7" name="Google Shape;1617;p92"/>
          <p:cNvSpPr/>
          <p:nvPr/>
        </p:nvSpPr>
        <p:spPr>
          <a:xfrm>
            <a:off x="6939442" y="5011870"/>
            <a:ext cx="297754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Support · Confidence · Lift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8" name="Google Shape;1618;p92"/>
          <p:cNvSpPr/>
          <p:nvPr/>
        </p:nvSpPr>
        <p:spPr>
          <a:xfrm>
            <a:off x="12001500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p92"/>
          <p:cNvSpPr/>
          <p:nvPr/>
        </p:nvSpPr>
        <p:spPr>
          <a:xfrm>
            <a:off x="12368693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p92"/>
          <p:cNvSpPr/>
          <p:nvPr/>
        </p:nvSpPr>
        <p:spPr>
          <a:xfrm>
            <a:off x="12368693" y="4559432"/>
            <a:ext cx="3184406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Apriori / FP-Growth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92"/>
          <p:cNvSpPr/>
          <p:nvPr/>
        </p:nvSpPr>
        <p:spPr>
          <a:xfrm>
            <a:off x="12368693" y="5011870"/>
            <a:ext cx="318440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Tìm tập phổ biến &amp; luật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p92"/>
          <p:cNvSpPr/>
          <p:nvPr/>
        </p:nvSpPr>
        <p:spPr>
          <a:xfrm>
            <a:off x="1143000" y="8468817"/>
            <a:ext cx="16002001" cy="1037167"/>
          </a:xfrm>
          <a:prstGeom prst="roundRect">
            <a:avLst>
              <a:gd fmla="val 16531" name="adj"/>
            </a:avLst>
          </a:prstGeom>
          <a:solidFill>
            <a:srgbClr val="22D3EE">
              <a:alpha val="3921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3" name="Google Shape;1623;p92"/>
          <p:cNvSpPr/>
          <p:nvPr/>
        </p:nvSpPr>
        <p:spPr>
          <a:xfrm>
            <a:off x="1510192" y="8857754"/>
            <a:ext cx="1429461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p92"/>
          <p:cNvSpPr/>
          <p:nvPr/>
        </p:nvSpPr>
        <p:spPr>
          <a:xfrm>
            <a:off x="3091987" y="8759858"/>
            <a:ext cx="8187292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Recommender System — xây hệ gợi ý đầy đủ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5" name="Google Shape;1625;p92"/>
          <p:cNvSpPr/>
          <p:nvPr/>
        </p:nvSpPr>
        <p:spPr>
          <a:xfrm>
            <a:off x="16339592" y="8768292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0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p93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0E1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2" name="Google Shape;1632;p93"/>
          <p:cNvSpPr/>
          <p:nvPr/>
        </p:nvSpPr>
        <p:spPr>
          <a:xfrm>
            <a:off x="1143000" y="3314816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LECTURE 16 · ~9 PHÚT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3" name="Google Shape;1633;p93"/>
          <p:cNvSpPr/>
          <p:nvPr/>
        </p:nvSpPr>
        <p:spPr>
          <a:xfrm>
            <a:off x="1143000" y="3902191"/>
            <a:ext cx="16482061" cy="1332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50"/>
              <a:buFont typeface="Courier New"/>
              <a:buNone/>
            </a:pPr>
            <a:r>
              <a:rPr b="1" i="0" lang="en-US" sz="118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16</a:t>
            </a:r>
            <a:endParaRPr b="0" i="0" sz="1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4" name="Google Shape;1634;p93"/>
          <p:cNvSpPr/>
          <p:nvPr/>
        </p:nvSpPr>
        <p:spPr>
          <a:xfrm>
            <a:off x="1143000" y="5329701"/>
            <a:ext cx="12753976" cy="810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Recommender System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p93"/>
          <p:cNvSpPr/>
          <p:nvPr/>
        </p:nvSpPr>
        <p:spPr>
          <a:xfrm>
            <a:off x="1143000" y="6292784"/>
            <a:ext cx="16482061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2850"/>
              <a:buFont typeface="Courier New"/>
              <a:buNone/>
            </a:pPr>
            <a:r>
              <a:rPr b="0" i="0" lang="en-US" sz="285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collaborative · content-based · hybrid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p94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L16 · CONTENT-BASED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2" name="Google Shape;1642;p94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Gợi ý theo </a:t>
            </a:r>
            <a:r>
              <a:rPr b="1" i="0" lang="en-US" sz="37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đặc điểm sản phẩm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3" name="Google Shape;1643;p94"/>
          <p:cNvSpPr/>
          <p:nvPr/>
        </p:nvSpPr>
        <p:spPr>
          <a:xfrm>
            <a:off x="1143000" y="3364095"/>
            <a:ext cx="8486759" cy="1248668"/>
          </a:xfrm>
          <a:prstGeom prst="roundRect">
            <a:avLst>
              <a:gd fmla="val 12205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4" name="Google Shape;1644;p94"/>
          <p:cNvSpPr/>
          <p:nvPr/>
        </p:nvSpPr>
        <p:spPr>
          <a:xfrm>
            <a:off x="1472076" y="3611728"/>
            <a:ext cx="2891191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Sản phẩm đã thích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5" name="Google Shape;1645;p94"/>
          <p:cNvSpPr/>
          <p:nvPr/>
        </p:nvSpPr>
        <p:spPr>
          <a:xfrm>
            <a:off x="1472076" y="4074087"/>
            <a:ext cx="806346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thể loại, từ khoá…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6" name="Google Shape;1646;p94"/>
          <p:cNvSpPr/>
          <p:nvPr/>
        </p:nvSpPr>
        <p:spPr>
          <a:xfrm>
            <a:off x="1143000" y="4822279"/>
            <a:ext cx="8741361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7" name="Google Shape;1647;p94"/>
          <p:cNvSpPr/>
          <p:nvPr/>
        </p:nvSpPr>
        <p:spPr>
          <a:xfrm>
            <a:off x="1143000" y="5469930"/>
            <a:ext cx="8486759" cy="1248668"/>
          </a:xfrm>
          <a:prstGeom prst="roundRect">
            <a:avLst>
              <a:gd fmla="val 12205" name="adj"/>
            </a:avLst>
          </a:prstGeom>
          <a:solidFill>
            <a:srgbClr val="11161F"/>
          </a:solidFill>
          <a:ln cap="flat" cmpd="sng" w="9525">
            <a:solidFill>
              <a:srgbClr val="C792EA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8" name="Google Shape;1648;p94"/>
          <p:cNvSpPr/>
          <p:nvPr/>
        </p:nvSpPr>
        <p:spPr>
          <a:xfrm>
            <a:off x="1472076" y="5717563"/>
            <a:ext cx="2579241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Cosine similarity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9" name="Google Shape;1649;p94"/>
          <p:cNvSpPr/>
          <p:nvPr/>
        </p:nvSpPr>
        <p:spPr>
          <a:xfrm>
            <a:off x="1472076" y="6179923"/>
            <a:ext cx="806346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tìm sản phẩm giống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0" name="Google Shape;1650;p94"/>
          <p:cNvSpPr/>
          <p:nvPr/>
        </p:nvSpPr>
        <p:spPr>
          <a:xfrm>
            <a:off x="1143000" y="6928115"/>
            <a:ext cx="8741361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1" name="Google Shape;1651;p94"/>
          <p:cNvSpPr/>
          <p:nvPr/>
        </p:nvSpPr>
        <p:spPr>
          <a:xfrm>
            <a:off x="1143000" y="7575765"/>
            <a:ext cx="8486759" cy="886768"/>
          </a:xfrm>
          <a:prstGeom prst="roundRect">
            <a:avLst>
              <a:gd fmla="val 17186" name="adj"/>
            </a:avLst>
          </a:prstGeom>
          <a:solidFill>
            <a:srgbClr val="11161F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16200000" dist="50800">
              <a:srgbClr val="22D3EE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94"/>
          <p:cNvSpPr/>
          <p:nvPr/>
        </p:nvSpPr>
        <p:spPr>
          <a:xfrm>
            <a:off x="1472142" y="7828707"/>
            <a:ext cx="8083078" cy="418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Gợi ý sản phẩm tương tự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3" name="Google Shape;1653;p94"/>
          <p:cNvSpPr/>
          <p:nvPr/>
        </p:nvSpPr>
        <p:spPr>
          <a:xfrm>
            <a:off x="10639392" y="4654187"/>
            <a:ext cx="5914043" cy="947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So khớp đặc điểm sản phẩm với sở thích người dùng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4" name="Google Shape;1654;p94"/>
          <p:cNvSpPr/>
          <p:nvPr/>
        </p:nvSpPr>
        <p:spPr>
          <a:xfrm>
            <a:off x="10639392" y="5696231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Nối lại cosine similarity ở Section 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5" name="Google Shape;1655;p94"/>
          <p:cNvSpPr/>
          <p:nvPr/>
        </p:nvSpPr>
        <p:spPr>
          <a:xfrm>
            <a:off x="10639392" y="6338176"/>
            <a:ext cx="5946234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Không cần dữ liệu người dùng khác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6" name="Google Shape;1656;p94"/>
          <p:cNvSpPr/>
          <p:nvPr/>
        </p:nvSpPr>
        <p:spPr>
          <a:xfrm>
            <a:off x="10639392" y="6873462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Hoạt động tốt ngay cả khi ít người dùng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p95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L16 · COLLABORATIVE FILTERING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3" name="Google Shape;1663;p95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"Người giống bạn cũng thích…"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4" name="Google Shape;1664;p95"/>
          <p:cNvSpPr/>
          <p:nvPr/>
        </p:nvSpPr>
        <p:spPr>
          <a:xfrm>
            <a:off x="1143000" y="4250945"/>
            <a:ext cx="8486759" cy="3324738"/>
          </a:xfrm>
          <a:prstGeom prst="roundRect">
            <a:avLst>
              <a:gd fmla="val 5157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5" name="Google Shape;1665;p95"/>
          <p:cNvSpPr/>
          <p:nvPr/>
        </p:nvSpPr>
        <p:spPr>
          <a:xfrm>
            <a:off x="4357787" y="4580020"/>
            <a:ext cx="685734" cy="64763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6" name="Google Shape;1666;p95"/>
          <p:cNvSpPr/>
          <p:nvPr/>
        </p:nvSpPr>
        <p:spPr>
          <a:xfrm>
            <a:off x="5043471" y="4580020"/>
            <a:ext cx="685734" cy="64763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P2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7" name="Google Shape;1667;p95"/>
          <p:cNvSpPr/>
          <p:nvPr/>
        </p:nvSpPr>
        <p:spPr>
          <a:xfrm>
            <a:off x="5729156" y="4580020"/>
            <a:ext cx="685734" cy="64763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P3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8" name="Google Shape;1668;p95"/>
          <p:cNvSpPr/>
          <p:nvPr/>
        </p:nvSpPr>
        <p:spPr>
          <a:xfrm>
            <a:off x="6414840" y="4580020"/>
            <a:ext cx="685734" cy="64763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P4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9" name="Google Shape;1669;p95"/>
          <p:cNvSpPr/>
          <p:nvPr/>
        </p:nvSpPr>
        <p:spPr>
          <a:xfrm>
            <a:off x="3672103" y="5265705"/>
            <a:ext cx="685734" cy="64763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U1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0" name="Google Shape;1670;p95"/>
          <p:cNvSpPr/>
          <p:nvPr/>
        </p:nvSpPr>
        <p:spPr>
          <a:xfrm>
            <a:off x="4395887" y="5265705"/>
            <a:ext cx="609534" cy="609534"/>
          </a:xfrm>
          <a:prstGeom prst="roundRect">
            <a:avLst>
              <a:gd fmla="val 12501" name="adj"/>
            </a:avLst>
          </a:prstGeom>
          <a:solidFill>
            <a:srgbClr val="22D3EE">
              <a:alpha val="18039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Google Shape;1671;p95"/>
          <p:cNvSpPr/>
          <p:nvPr/>
        </p:nvSpPr>
        <p:spPr>
          <a:xfrm>
            <a:off x="4363079" y="5270996"/>
            <a:ext cx="675151" cy="637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2" name="Google Shape;1672;p95"/>
          <p:cNvSpPr/>
          <p:nvPr/>
        </p:nvSpPr>
        <p:spPr>
          <a:xfrm>
            <a:off x="5081571" y="5265705"/>
            <a:ext cx="609534" cy="609534"/>
          </a:xfrm>
          <a:prstGeom prst="roundRect">
            <a:avLst>
              <a:gd fmla="val 12501" name="adj"/>
            </a:avLst>
          </a:prstGeom>
          <a:solidFill>
            <a:srgbClr val="161D28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p95"/>
          <p:cNvSpPr/>
          <p:nvPr/>
        </p:nvSpPr>
        <p:spPr>
          <a:xfrm>
            <a:off x="5048763" y="5270996"/>
            <a:ext cx="675151" cy="637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·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4" name="Google Shape;1674;p95"/>
          <p:cNvSpPr/>
          <p:nvPr/>
        </p:nvSpPr>
        <p:spPr>
          <a:xfrm>
            <a:off x="5767256" y="5265705"/>
            <a:ext cx="609534" cy="609534"/>
          </a:xfrm>
          <a:prstGeom prst="roundRect">
            <a:avLst>
              <a:gd fmla="val 12501" name="adj"/>
            </a:avLst>
          </a:prstGeom>
          <a:solidFill>
            <a:srgbClr val="22D3EE">
              <a:alpha val="18039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5" name="Google Shape;1675;p95"/>
          <p:cNvSpPr/>
          <p:nvPr/>
        </p:nvSpPr>
        <p:spPr>
          <a:xfrm>
            <a:off x="5734447" y="5270996"/>
            <a:ext cx="675151" cy="637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6" name="Google Shape;1676;p95"/>
          <p:cNvSpPr/>
          <p:nvPr/>
        </p:nvSpPr>
        <p:spPr>
          <a:xfrm>
            <a:off x="6452940" y="5265705"/>
            <a:ext cx="609534" cy="609534"/>
          </a:xfrm>
          <a:prstGeom prst="roundRect">
            <a:avLst>
              <a:gd fmla="val 12501" name="adj"/>
            </a:avLst>
          </a:prstGeom>
          <a:solidFill>
            <a:srgbClr val="161D28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7" name="Google Shape;1677;p95"/>
          <p:cNvSpPr/>
          <p:nvPr/>
        </p:nvSpPr>
        <p:spPr>
          <a:xfrm>
            <a:off x="6420132" y="5270996"/>
            <a:ext cx="675151" cy="637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·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8" name="Google Shape;1678;p95"/>
          <p:cNvSpPr/>
          <p:nvPr/>
        </p:nvSpPr>
        <p:spPr>
          <a:xfrm>
            <a:off x="3672103" y="5951389"/>
            <a:ext cx="685734" cy="64763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U2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9" name="Google Shape;1679;p95"/>
          <p:cNvSpPr/>
          <p:nvPr/>
        </p:nvSpPr>
        <p:spPr>
          <a:xfrm>
            <a:off x="4395887" y="5951389"/>
            <a:ext cx="609534" cy="609534"/>
          </a:xfrm>
          <a:prstGeom prst="roundRect">
            <a:avLst>
              <a:gd fmla="val 12501" name="adj"/>
            </a:avLst>
          </a:prstGeom>
          <a:solidFill>
            <a:srgbClr val="22D3EE">
              <a:alpha val="18039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0" name="Google Shape;1680;p95"/>
          <p:cNvSpPr/>
          <p:nvPr/>
        </p:nvSpPr>
        <p:spPr>
          <a:xfrm>
            <a:off x="4363079" y="5956681"/>
            <a:ext cx="675151" cy="637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1" name="Google Shape;1681;p95"/>
          <p:cNvSpPr/>
          <p:nvPr/>
        </p:nvSpPr>
        <p:spPr>
          <a:xfrm>
            <a:off x="5081571" y="5951389"/>
            <a:ext cx="609534" cy="609534"/>
          </a:xfrm>
          <a:prstGeom prst="roundRect">
            <a:avLst>
              <a:gd fmla="val 12501" name="adj"/>
            </a:avLst>
          </a:prstGeom>
          <a:solidFill>
            <a:srgbClr val="22D3EE">
              <a:alpha val="18039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2" name="Google Shape;1682;p95"/>
          <p:cNvSpPr/>
          <p:nvPr/>
        </p:nvSpPr>
        <p:spPr>
          <a:xfrm>
            <a:off x="5048763" y="5956681"/>
            <a:ext cx="675151" cy="637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3" name="Google Shape;1683;p95"/>
          <p:cNvSpPr/>
          <p:nvPr/>
        </p:nvSpPr>
        <p:spPr>
          <a:xfrm>
            <a:off x="5767256" y="5951389"/>
            <a:ext cx="609534" cy="609534"/>
          </a:xfrm>
          <a:prstGeom prst="roundRect">
            <a:avLst>
              <a:gd fmla="val 12501" name="adj"/>
            </a:avLst>
          </a:prstGeom>
          <a:solidFill>
            <a:srgbClr val="C792EA">
              <a:alpha val="16078"/>
            </a:srgbClr>
          </a:solidFill>
          <a:ln cap="flat" cmpd="sng" w="9525">
            <a:solidFill>
              <a:srgbClr val="C792E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4" name="Google Shape;1684;p95"/>
          <p:cNvSpPr/>
          <p:nvPr/>
        </p:nvSpPr>
        <p:spPr>
          <a:xfrm>
            <a:off x="5734447" y="5956681"/>
            <a:ext cx="675151" cy="637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C792EA"/>
                </a:solidFill>
                <a:latin typeface="Courier New"/>
                <a:ea typeface="Courier New"/>
                <a:cs typeface="Courier New"/>
                <a:sym typeface="Courier New"/>
              </a:rPr>
              <a:t>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5" name="Google Shape;1685;p95"/>
          <p:cNvSpPr/>
          <p:nvPr/>
        </p:nvSpPr>
        <p:spPr>
          <a:xfrm>
            <a:off x="6452940" y="5951389"/>
            <a:ext cx="609534" cy="609534"/>
          </a:xfrm>
          <a:prstGeom prst="roundRect">
            <a:avLst>
              <a:gd fmla="val 12501" name="adj"/>
            </a:avLst>
          </a:prstGeom>
          <a:solidFill>
            <a:srgbClr val="161D28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6" name="Google Shape;1686;p95"/>
          <p:cNvSpPr/>
          <p:nvPr/>
        </p:nvSpPr>
        <p:spPr>
          <a:xfrm>
            <a:off x="6420132" y="5956681"/>
            <a:ext cx="675151" cy="637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·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7" name="Google Shape;1687;p95"/>
          <p:cNvSpPr/>
          <p:nvPr/>
        </p:nvSpPr>
        <p:spPr>
          <a:xfrm>
            <a:off x="3672103" y="6637073"/>
            <a:ext cx="685734" cy="64763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U3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8" name="Google Shape;1688;p95"/>
          <p:cNvSpPr/>
          <p:nvPr/>
        </p:nvSpPr>
        <p:spPr>
          <a:xfrm>
            <a:off x="4395887" y="6637073"/>
            <a:ext cx="609534" cy="609534"/>
          </a:xfrm>
          <a:prstGeom prst="roundRect">
            <a:avLst>
              <a:gd fmla="val 12501" name="adj"/>
            </a:avLst>
          </a:prstGeom>
          <a:solidFill>
            <a:srgbClr val="161D28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9" name="Google Shape;1689;p95"/>
          <p:cNvSpPr/>
          <p:nvPr/>
        </p:nvSpPr>
        <p:spPr>
          <a:xfrm>
            <a:off x="4363079" y="6642365"/>
            <a:ext cx="675151" cy="637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·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0" name="Google Shape;1690;p95"/>
          <p:cNvSpPr/>
          <p:nvPr/>
        </p:nvSpPr>
        <p:spPr>
          <a:xfrm>
            <a:off x="5081571" y="6637073"/>
            <a:ext cx="609534" cy="609534"/>
          </a:xfrm>
          <a:prstGeom prst="roundRect">
            <a:avLst>
              <a:gd fmla="val 12501" name="adj"/>
            </a:avLst>
          </a:prstGeom>
          <a:solidFill>
            <a:srgbClr val="22D3EE">
              <a:alpha val="18039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95"/>
          <p:cNvSpPr/>
          <p:nvPr/>
        </p:nvSpPr>
        <p:spPr>
          <a:xfrm>
            <a:off x="5048763" y="6642365"/>
            <a:ext cx="675151" cy="637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2" name="Google Shape;1692;p95"/>
          <p:cNvSpPr/>
          <p:nvPr/>
        </p:nvSpPr>
        <p:spPr>
          <a:xfrm>
            <a:off x="5767256" y="6637073"/>
            <a:ext cx="609534" cy="609534"/>
          </a:xfrm>
          <a:prstGeom prst="roundRect">
            <a:avLst>
              <a:gd fmla="val 12501" name="adj"/>
            </a:avLst>
          </a:prstGeom>
          <a:solidFill>
            <a:srgbClr val="22D3EE">
              <a:alpha val="18039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95"/>
          <p:cNvSpPr/>
          <p:nvPr/>
        </p:nvSpPr>
        <p:spPr>
          <a:xfrm>
            <a:off x="5734447" y="6642365"/>
            <a:ext cx="675151" cy="637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4" name="Google Shape;1694;p95"/>
          <p:cNvSpPr/>
          <p:nvPr/>
        </p:nvSpPr>
        <p:spPr>
          <a:xfrm>
            <a:off x="6452940" y="6637073"/>
            <a:ext cx="609534" cy="609534"/>
          </a:xfrm>
          <a:prstGeom prst="roundRect">
            <a:avLst>
              <a:gd fmla="val 12501" name="adj"/>
            </a:avLst>
          </a:prstGeom>
          <a:solidFill>
            <a:srgbClr val="22D3EE">
              <a:alpha val="18039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95"/>
          <p:cNvSpPr/>
          <p:nvPr/>
        </p:nvSpPr>
        <p:spPr>
          <a:xfrm>
            <a:off x="6420132" y="6642365"/>
            <a:ext cx="675151" cy="637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6" name="Google Shape;1696;p95"/>
          <p:cNvSpPr/>
          <p:nvPr/>
        </p:nvSpPr>
        <p:spPr>
          <a:xfrm>
            <a:off x="10639392" y="4907525"/>
            <a:ext cx="6579931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Dựa trên ma trận user × item (đánh giá)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7" name="Google Shape;1697;p95"/>
          <p:cNvSpPr/>
          <p:nvPr/>
        </p:nvSpPr>
        <p:spPr>
          <a:xfrm>
            <a:off x="10639392" y="5442810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Đoán ô "?" từ hành vi người tương tự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8" name="Google Shape;1698;p95"/>
          <p:cNvSpPr/>
          <p:nvPr/>
        </p:nvSpPr>
        <p:spPr>
          <a:xfrm>
            <a:off x="10639392" y="6084755"/>
            <a:ext cx="4227054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User-based &amp; item-based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9" name="Google Shape;1699;p95"/>
          <p:cNvSpPr/>
          <p:nvPr/>
        </p:nvSpPr>
        <p:spPr>
          <a:xfrm>
            <a:off x="10639392" y="6620041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Sức mạnh đến từ hành vi cộng đồng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p96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L16 · VẤN ĐỀ COLD START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6" name="Google Shape;1706;p96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User / sản phẩm mới </a:t>
            </a:r>
            <a:r>
              <a:rPr b="1" i="0" lang="en-US" sz="3750" u="none" cap="none" strike="noStrike">
                <a:solidFill>
                  <a:srgbClr val="C792EA"/>
                </a:solidFill>
                <a:latin typeface="Arial"/>
                <a:ea typeface="Arial"/>
                <a:cs typeface="Arial"/>
                <a:sym typeface="Arial"/>
              </a:rPr>
              <a:t>chưa có dữ liệu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7" name="Google Shape;1707;p96"/>
          <p:cNvSpPr/>
          <p:nvPr/>
        </p:nvSpPr>
        <p:spPr>
          <a:xfrm>
            <a:off x="1581134" y="4907525"/>
            <a:ext cx="6605565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Người dùng mới: chưa từng đánh giá gì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8" name="Google Shape;1708;p96"/>
          <p:cNvSpPr/>
          <p:nvPr/>
        </p:nvSpPr>
        <p:spPr>
          <a:xfrm>
            <a:off x="1581134" y="5442810"/>
            <a:ext cx="7495430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Không có cơ sở để tìm "người giống"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9" name="Google Shape;1709;p96"/>
          <p:cNvSpPr/>
          <p:nvPr/>
        </p:nvSpPr>
        <p:spPr>
          <a:xfrm>
            <a:off x="1581134" y="6084755"/>
            <a:ext cx="5609245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Sản phẩm mới: chưa ai tương tác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0" name="Google Shape;1710;p96"/>
          <p:cNvSpPr/>
          <p:nvPr/>
        </p:nvSpPr>
        <p:spPr>
          <a:xfrm>
            <a:off x="1581134" y="6620041"/>
            <a:ext cx="7495430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Collaborative filtering "bó tay"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1" name="Google Shape;1711;p96"/>
          <p:cNvSpPr/>
          <p:nvPr/>
        </p:nvSpPr>
        <p:spPr>
          <a:xfrm>
            <a:off x="9429751" y="4576052"/>
            <a:ext cx="7715251" cy="2674524"/>
          </a:xfrm>
          <a:prstGeom prst="roundRect">
            <a:avLst>
              <a:gd fmla="val 6410" name="adj"/>
            </a:avLst>
          </a:prstGeom>
          <a:solidFill>
            <a:srgbClr val="C792EA">
              <a:alpha val="5882"/>
            </a:srgbClr>
          </a:solidFill>
          <a:ln cap="flat" cmpd="sng" w="9525">
            <a:solidFill>
              <a:srgbClr val="C792E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p96"/>
          <p:cNvSpPr/>
          <p:nvPr/>
        </p:nvSpPr>
        <p:spPr>
          <a:xfrm>
            <a:off x="9835059" y="4943244"/>
            <a:ext cx="7111772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C792EA"/>
                </a:solidFill>
                <a:latin typeface="Courier New"/>
                <a:ea typeface="Courier New"/>
                <a:cs typeface="Courier New"/>
                <a:sym typeface="Courier New"/>
              </a:rPr>
              <a:t>THÁCH THỨC KINH ĐIỂN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3" name="Google Shape;1713;p96"/>
          <p:cNvSpPr/>
          <p:nvPr/>
        </p:nvSpPr>
        <p:spPr>
          <a:xfrm>
            <a:off x="9835059" y="5678703"/>
            <a:ext cx="7111772" cy="9189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Cold start là bài toán muôn thuở của mọi hệ gợi ý.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Google Shape;1719;p97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L16 · HYBRID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0" name="Google Shape;1720;p97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Kết hợp content + collaborative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1" name="Google Shape;1721;p97"/>
          <p:cNvSpPr/>
          <p:nvPr/>
        </p:nvSpPr>
        <p:spPr>
          <a:xfrm>
            <a:off x="2995993" y="5136555"/>
            <a:ext cx="2997564" cy="886768"/>
          </a:xfrm>
          <a:prstGeom prst="roundRect">
            <a:avLst>
              <a:gd fmla="val 17186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2" name="Google Shape;1722;p97"/>
          <p:cNvSpPr/>
          <p:nvPr/>
        </p:nvSpPr>
        <p:spPr>
          <a:xfrm>
            <a:off x="3325135" y="5389497"/>
            <a:ext cx="2429207" cy="418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Content-based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3" name="Google Shape;1723;p97"/>
          <p:cNvSpPr/>
          <p:nvPr/>
        </p:nvSpPr>
        <p:spPr>
          <a:xfrm>
            <a:off x="6279307" y="5363021"/>
            <a:ext cx="298698" cy="472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4" name="Google Shape;1724;p97"/>
          <p:cNvSpPr/>
          <p:nvPr/>
        </p:nvSpPr>
        <p:spPr>
          <a:xfrm>
            <a:off x="6787555" y="5136555"/>
            <a:ext cx="2721984" cy="886768"/>
          </a:xfrm>
          <a:prstGeom prst="roundRect">
            <a:avLst>
              <a:gd fmla="val 17186" name="adj"/>
            </a:avLst>
          </a:prstGeom>
          <a:solidFill>
            <a:srgbClr val="11161F"/>
          </a:solidFill>
          <a:ln cap="flat" cmpd="sng" w="9525">
            <a:solidFill>
              <a:srgbClr val="C792EA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97"/>
          <p:cNvSpPr/>
          <p:nvPr/>
        </p:nvSpPr>
        <p:spPr>
          <a:xfrm>
            <a:off x="7116697" y="5389497"/>
            <a:ext cx="2145360" cy="418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Collaborative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6" name="Google Shape;1726;p97"/>
          <p:cNvSpPr/>
          <p:nvPr/>
        </p:nvSpPr>
        <p:spPr>
          <a:xfrm>
            <a:off x="9795289" y="5360872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7" name="Google Shape;1727;p97"/>
          <p:cNvSpPr/>
          <p:nvPr/>
        </p:nvSpPr>
        <p:spPr>
          <a:xfrm>
            <a:off x="10519256" y="4955646"/>
            <a:ext cx="4772670" cy="1248668"/>
          </a:xfrm>
          <a:prstGeom prst="roundRect">
            <a:avLst>
              <a:gd fmla="val 12205" name="adj"/>
            </a:avLst>
          </a:prstGeom>
          <a:solidFill>
            <a:srgbClr val="11161F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16200000" dist="50800">
              <a:srgbClr val="22D3EE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97"/>
          <p:cNvSpPr/>
          <p:nvPr/>
        </p:nvSpPr>
        <p:spPr>
          <a:xfrm>
            <a:off x="10848331" y="5203279"/>
            <a:ext cx="1086991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Hybrid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9" name="Google Shape;1729;p97"/>
          <p:cNvSpPr/>
          <p:nvPr/>
        </p:nvSpPr>
        <p:spPr>
          <a:xfrm>
            <a:off x="10848331" y="5665639"/>
            <a:ext cx="423795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khắc phục nhược điểm từng loại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0" name="Google Shape;1730;p97"/>
          <p:cNvSpPr/>
          <p:nvPr/>
        </p:nvSpPr>
        <p:spPr>
          <a:xfrm>
            <a:off x="902970" y="6585314"/>
            <a:ext cx="1648206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Hệ thống thực tế (Netflix, Shopee, TikTok) gần như luôn là hybrid.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p98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L16 · TÓM TẮT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7" name="Google Shape;1737;p98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Recommender System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8" name="Google Shape;1738;p98"/>
          <p:cNvSpPr/>
          <p:nvPr/>
        </p:nvSpPr>
        <p:spPr>
          <a:xfrm>
            <a:off x="1143000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9" name="Google Shape;1739;p98"/>
          <p:cNvSpPr/>
          <p:nvPr/>
        </p:nvSpPr>
        <p:spPr>
          <a:xfrm>
            <a:off x="1510192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0" name="Google Shape;1740;p98"/>
          <p:cNvSpPr/>
          <p:nvPr/>
        </p:nvSpPr>
        <p:spPr>
          <a:xfrm>
            <a:off x="1510192" y="4559432"/>
            <a:ext cx="2438433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Content-based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1" name="Google Shape;1741;p98"/>
          <p:cNvSpPr/>
          <p:nvPr/>
        </p:nvSpPr>
        <p:spPr>
          <a:xfrm>
            <a:off x="1510192" y="5011870"/>
            <a:ext cx="287841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Theo đặc điểm sản phẩm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2" name="Google Shape;1742;p98"/>
          <p:cNvSpPr/>
          <p:nvPr/>
        </p:nvSpPr>
        <p:spPr>
          <a:xfrm>
            <a:off x="6572251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3" name="Google Shape;1743;p98"/>
          <p:cNvSpPr/>
          <p:nvPr/>
        </p:nvSpPr>
        <p:spPr>
          <a:xfrm>
            <a:off x="6939442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4" name="Google Shape;1744;p98"/>
          <p:cNvSpPr/>
          <p:nvPr/>
        </p:nvSpPr>
        <p:spPr>
          <a:xfrm>
            <a:off x="6939442" y="4559432"/>
            <a:ext cx="2167483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Collaborative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5" name="Google Shape;1745;p98"/>
          <p:cNvSpPr/>
          <p:nvPr/>
        </p:nvSpPr>
        <p:spPr>
          <a:xfrm>
            <a:off x="6939442" y="5011870"/>
            <a:ext cx="2737131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Theo hành vi cộng đồng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6" name="Google Shape;1746;p98"/>
          <p:cNvSpPr/>
          <p:nvPr/>
        </p:nvSpPr>
        <p:spPr>
          <a:xfrm>
            <a:off x="12001500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7" name="Google Shape;1747;p98"/>
          <p:cNvSpPr/>
          <p:nvPr/>
        </p:nvSpPr>
        <p:spPr>
          <a:xfrm>
            <a:off x="12368693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8" name="Google Shape;1748;p98"/>
          <p:cNvSpPr/>
          <p:nvPr/>
        </p:nvSpPr>
        <p:spPr>
          <a:xfrm>
            <a:off x="12368693" y="4559432"/>
            <a:ext cx="1099724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Hybrid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9" name="Google Shape;1749;p98"/>
          <p:cNvSpPr/>
          <p:nvPr/>
        </p:nvSpPr>
        <p:spPr>
          <a:xfrm>
            <a:off x="12368693" y="5011870"/>
            <a:ext cx="331504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Kết hợp, khắc phục cold start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0" name="Google Shape;1750;p98"/>
          <p:cNvSpPr/>
          <p:nvPr/>
        </p:nvSpPr>
        <p:spPr>
          <a:xfrm>
            <a:off x="1143000" y="8468817"/>
            <a:ext cx="16002001" cy="1037167"/>
          </a:xfrm>
          <a:prstGeom prst="roundRect">
            <a:avLst>
              <a:gd fmla="val 16531" name="adj"/>
            </a:avLst>
          </a:prstGeom>
          <a:solidFill>
            <a:srgbClr val="22D3EE">
              <a:alpha val="3921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1" name="Google Shape;1751;p98"/>
          <p:cNvSpPr/>
          <p:nvPr/>
        </p:nvSpPr>
        <p:spPr>
          <a:xfrm>
            <a:off x="1510192" y="8857754"/>
            <a:ext cx="1429461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2" name="Google Shape;1752;p98"/>
          <p:cNvSpPr/>
          <p:nvPr/>
        </p:nvSpPr>
        <p:spPr>
          <a:xfrm>
            <a:off x="3091987" y="8759858"/>
            <a:ext cx="8800891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Feature Engineering — nâng chất lượng đầu vào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3" name="Google Shape;1753;p98"/>
          <p:cNvSpPr/>
          <p:nvPr/>
        </p:nvSpPr>
        <p:spPr>
          <a:xfrm>
            <a:off x="16339592" y="8768292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8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Google Shape;1759;p99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0E1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99"/>
          <p:cNvSpPr/>
          <p:nvPr/>
        </p:nvSpPr>
        <p:spPr>
          <a:xfrm>
            <a:off x="1143000" y="3314816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LECTURE 17 · ~9 PHÚT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1" name="Google Shape;1761;p99"/>
          <p:cNvSpPr/>
          <p:nvPr/>
        </p:nvSpPr>
        <p:spPr>
          <a:xfrm>
            <a:off x="1143000" y="3902191"/>
            <a:ext cx="16482061" cy="1332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50"/>
              <a:buFont typeface="Courier New"/>
              <a:buNone/>
            </a:pPr>
            <a:r>
              <a:rPr b="1" i="0" lang="en-US" sz="118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17</a:t>
            </a:r>
            <a:endParaRPr b="0" i="0" sz="1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2" name="Google Shape;1762;p99"/>
          <p:cNvSpPr/>
          <p:nvPr/>
        </p:nvSpPr>
        <p:spPr>
          <a:xfrm>
            <a:off x="1143000" y="5329701"/>
            <a:ext cx="12753976" cy="810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Feature Engineering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3" name="Google Shape;1763;p99"/>
          <p:cNvSpPr/>
          <p:nvPr/>
        </p:nvSpPr>
        <p:spPr>
          <a:xfrm>
            <a:off x="1143000" y="6292784"/>
            <a:ext cx="16482061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2850"/>
              <a:buFont typeface="Courier New"/>
              <a:buNone/>
            </a:pPr>
            <a:r>
              <a:rPr b="0" i="0" lang="en-US" sz="285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encoding · scaling · interaction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768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9" name="Google Shape;1769;p100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L17 · VÌ SAO QUAN TRỌNG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0" name="Google Shape;1770;p100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Feature tốt quan trọng hơn </a:t>
            </a:r>
            <a:r>
              <a:rPr b="1" i="0" lang="en-US" sz="37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thuật toán xịn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1" name="Google Shape;1771;p100"/>
          <p:cNvSpPr/>
          <p:nvPr/>
        </p:nvSpPr>
        <p:spPr>
          <a:xfrm>
            <a:off x="1143000" y="3725995"/>
            <a:ext cx="8486759" cy="886768"/>
          </a:xfrm>
          <a:prstGeom prst="roundRect">
            <a:avLst>
              <a:gd fmla="val 17186" name="adj"/>
            </a:avLst>
          </a:prstGeom>
          <a:noFill/>
          <a:ln cap="flat" cmpd="sng" w="9525">
            <a:solidFill>
              <a:srgbClr val="FFFFFF">
                <a:alpha val="9019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2" name="Google Shape;1772;p100"/>
          <p:cNvSpPr/>
          <p:nvPr/>
        </p:nvSpPr>
        <p:spPr>
          <a:xfrm>
            <a:off x="1472142" y="3978937"/>
            <a:ext cx="8083078" cy="418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Dữ liệu thô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3" name="Google Shape;1773;p100"/>
          <p:cNvSpPr/>
          <p:nvPr/>
        </p:nvSpPr>
        <p:spPr>
          <a:xfrm>
            <a:off x="1143000" y="4822279"/>
            <a:ext cx="8741361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4" name="Google Shape;1774;p100"/>
          <p:cNvSpPr/>
          <p:nvPr/>
        </p:nvSpPr>
        <p:spPr>
          <a:xfrm>
            <a:off x="1143000" y="5469930"/>
            <a:ext cx="8486759" cy="886768"/>
          </a:xfrm>
          <a:prstGeom prst="roundRect">
            <a:avLst>
              <a:gd fmla="val 17186" name="adj"/>
            </a:avLst>
          </a:prstGeom>
          <a:solidFill>
            <a:srgbClr val="11161F"/>
          </a:solidFill>
          <a:ln cap="flat" cmpd="sng" w="9525">
            <a:solidFill>
              <a:srgbClr val="C792EA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5" name="Google Shape;1775;p100"/>
          <p:cNvSpPr/>
          <p:nvPr/>
        </p:nvSpPr>
        <p:spPr>
          <a:xfrm>
            <a:off x="1472142" y="5722872"/>
            <a:ext cx="8083078" cy="418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Feature engineering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6" name="Google Shape;1776;p100"/>
          <p:cNvSpPr/>
          <p:nvPr/>
        </p:nvSpPr>
        <p:spPr>
          <a:xfrm>
            <a:off x="1143000" y="6566214"/>
            <a:ext cx="8741361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7" name="Google Shape;1777;p100"/>
          <p:cNvSpPr/>
          <p:nvPr/>
        </p:nvSpPr>
        <p:spPr>
          <a:xfrm>
            <a:off x="1143000" y="7213865"/>
            <a:ext cx="8486759" cy="886768"/>
          </a:xfrm>
          <a:prstGeom prst="roundRect">
            <a:avLst>
              <a:gd fmla="val 17186" name="adj"/>
            </a:avLst>
          </a:prstGeom>
          <a:solidFill>
            <a:srgbClr val="11161F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16200000" dist="50800">
              <a:srgbClr val="22D3EE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8" name="Google Shape;1778;p100"/>
          <p:cNvSpPr/>
          <p:nvPr/>
        </p:nvSpPr>
        <p:spPr>
          <a:xfrm>
            <a:off x="1472142" y="7466807"/>
            <a:ext cx="8083078" cy="418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Feature tinh — model học tốt hơn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9" name="Google Shape;1779;p100"/>
          <p:cNvSpPr/>
          <p:nvPr/>
        </p:nvSpPr>
        <p:spPr>
          <a:xfrm>
            <a:off x="10201259" y="4355869"/>
            <a:ext cx="6943742" cy="3114973"/>
          </a:xfrm>
          <a:prstGeom prst="roundRect">
            <a:avLst>
              <a:gd fmla="val 5504" name="adj"/>
            </a:avLst>
          </a:prstGeom>
          <a:solidFill>
            <a:srgbClr val="22D3EE">
              <a:alpha val="5098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0" name="Google Shape;1780;p100"/>
          <p:cNvSpPr/>
          <p:nvPr/>
        </p:nvSpPr>
        <p:spPr>
          <a:xfrm>
            <a:off x="10606568" y="4723061"/>
            <a:ext cx="6317118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TRỰC GIÁC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1" name="Google Shape;1781;p100"/>
          <p:cNvSpPr/>
          <p:nvPr/>
        </p:nvSpPr>
        <p:spPr>
          <a:xfrm>
            <a:off x="10606568" y="5458520"/>
            <a:ext cx="6317118" cy="1359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Một model trung bình + feature xuất sắc thường thắng một model xịn + feature kém.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p101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L17 · ENCODING CATEGORICAL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8" name="Google Shape;1788;p101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Biến chữ thành số — vì model chỉ hiểu số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9" name="Google Shape;1789;p101"/>
          <p:cNvSpPr/>
          <p:nvPr/>
        </p:nvSpPr>
        <p:spPr>
          <a:xfrm>
            <a:off x="1143000" y="2320727"/>
            <a:ext cx="5105384" cy="7185257"/>
          </a:xfrm>
          <a:prstGeom prst="roundRect">
            <a:avLst>
              <a:gd fmla="val 3358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0" name="Google Shape;1790;p101"/>
          <p:cNvSpPr/>
          <p:nvPr/>
        </p:nvSpPr>
        <p:spPr>
          <a:xfrm>
            <a:off x="1529292" y="2668902"/>
            <a:ext cx="446278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ONE-HOT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1" name="Google Shape;1791;p101"/>
          <p:cNvSpPr/>
          <p:nvPr/>
        </p:nvSpPr>
        <p:spPr>
          <a:xfrm>
            <a:off x="1529292" y="3099594"/>
            <a:ext cx="4462784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Cột nhị phân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2" name="Google Shape;1792;p101"/>
          <p:cNvSpPr/>
          <p:nvPr/>
        </p:nvSpPr>
        <p:spPr>
          <a:xfrm>
            <a:off x="1529292" y="3726078"/>
            <a:ext cx="4462784" cy="7561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Mỗi giá trị thành một cột 0/1. Hợp với ít hạng mục.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3" name="Google Shape;1793;p101"/>
          <p:cNvSpPr/>
          <p:nvPr/>
        </p:nvSpPr>
        <p:spPr>
          <a:xfrm>
            <a:off x="6591267" y="2320727"/>
            <a:ext cx="5105384" cy="7185257"/>
          </a:xfrm>
          <a:prstGeom prst="roundRect">
            <a:avLst>
              <a:gd fmla="val 3358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101"/>
          <p:cNvSpPr/>
          <p:nvPr/>
        </p:nvSpPr>
        <p:spPr>
          <a:xfrm>
            <a:off x="6977559" y="2668902"/>
            <a:ext cx="446278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5" name="Google Shape;1795;p101"/>
          <p:cNvSpPr/>
          <p:nvPr/>
        </p:nvSpPr>
        <p:spPr>
          <a:xfrm>
            <a:off x="6977559" y="3099594"/>
            <a:ext cx="4462784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Gán số thứ tự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6" name="Google Shape;1796;p101"/>
          <p:cNvSpPr/>
          <p:nvPr/>
        </p:nvSpPr>
        <p:spPr>
          <a:xfrm>
            <a:off x="6977559" y="3726078"/>
            <a:ext cx="4462784" cy="7561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Mỗi hạng mục một số. Hợp với biến có thứ tự.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7" name="Google Shape;1797;p101"/>
          <p:cNvSpPr/>
          <p:nvPr/>
        </p:nvSpPr>
        <p:spPr>
          <a:xfrm>
            <a:off x="12039535" y="2320727"/>
            <a:ext cx="5105384" cy="7185257"/>
          </a:xfrm>
          <a:prstGeom prst="roundRect">
            <a:avLst>
              <a:gd fmla="val 3358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101"/>
          <p:cNvSpPr/>
          <p:nvPr/>
        </p:nvSpPr>
        <p:spPr>
          <a:xfrm>
            <a:off x="12425826" y="2668902"/>
            <a:ext cx="446278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9" name="Google Shape;1799;p101"/>
          <p:cNvSpPr/>
          <p:nvPr/>
        </p:nvSpPr>
        <p:spPr>
          <a:xfrm>
            <a:off x="12425826" y="3099594"/>
            <a:ext cx="4462784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C792EA"/>
                </a:solidFill>
                <a:latin typeface="Arial"/>
                <a:ea typeface="Arial"/>
                <a:cs typeface="Arial"/>
                <a:sym typeface="Arial"/>
              </a:rPr>
              <a:t>Theo mục tiêu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0" name="Google Shape;1800;p101"/>
          <p:cNvSpPr/>
          <p:nvPr/>
        </p:nvSpPr>
        <p:spPr>
          <a:xfrm>
            <a:off x="12425826" y="3726078"/>
            <a:ext cx="4462784" cy="7561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Mã hoá theo giá trị target trung bình. Mạnh nhưng dễ leakage.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805" name="Shape 1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6" name="Google Shape;1806;p102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L17 · SCALING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7" name="Google Shape;1807;p102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Đưa các feature về cùng thang đo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8" name="Google Shape;1808;p102"/>
          <p:cNvSpPr/>
          <p:nvPr/>
        </p:nvSpPr>
        <p:spPr>
          <a:xfrm>
            <a:off x="1581134" y="4622436"/>
            <a:ext cx="2991087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StandardScaler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9" name="Google Shape;1809;p102"/>
          <p:cNvSpPr/>
          <p:nvPr/>
        </p:nvSpPr>
        <p:spPr>
          <a:xfrm>
            <a:off x="4585643" y="4654187"/>
            <a:ext cx="1845932" cy="440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(z-score) &amp;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0" name="Google Shape;1810;p102"/>
          <p:cNvSpPr/>
          <p:nvPr/>
        </p:nvSpPr>
        <p:spPr>
          <a:xfrm>
            <a:off x="1581134" y="5134488"/>
            <a:ext cx="2687652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MinMaxScaler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1" name="Google Shape;1811;p102"/>
          <p:cNvSpPr/>
          <p:nvPr/>
        </p:nvSpPr>
        <p:spPr>
          <a:xfrm>
            <a:off x="4291046" y="5166238"/>
            <a:ext cx="780570" cy="440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[0,1]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2" name="Google Shape;1812;p102"/>
          <p:cNvSpPr/>
          <p:nvPr/>
        </p:nvSpPr>
        <p:spPr>
          <a:xfrm>
            <a:off x="1581134" y="5701523"/>
            <a:ext cx="7495430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Cần cho KNN, SVM, Neural Network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3" name="Google Shape;1813;p102"/>
          <p:cNvSpPr/>
          <p:nvPr/>
        </p:nvSpPr>
        <p:spPr>
          <a:xfrm>
            <a:off x="1581134" y="6343469"/>
            <a:ext cx="5860475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Không scale → feature trị lớn lấn át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4" name="Google Shape;1814;p102"/>
          <p:cNvSpPr/>
          <p:nvPr/>
        </p:nvSpPr>
        <p:spPr>
          <a:xfrm>
            <a:off x="1581134" y="6878753"/>
            <a:ext cx="7495430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Vd: lương (triệu) lấn át tuổi (chục)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5" name="Google Shape;1815;p102"/>
          <p:cNvSpPr/>
          <p:nvPr/>
        </p:nvSpPr>
        <p:spPr>
          <a:xfrm>
            <a:off x="9429751" y="4576052"/>
            <a:ext cx="7715251" cy="2674524"/>
          </a:xfrm>
          <a:prstGeom prst="roundRect">
            <a:avLst>
              <a:gd fmla="val 6410" name="adj"/>
            </a:avLst>
          </a:prstGeom>
          <a:solidFill>
            <a:srgbClr val="C792EA">
              <a:alpha val="5882"/>
            </a:srgbClr>
          </a:solidFill>
          <a:ln cap="flat" cmpd="sng" w="9525">
            <a:solidFill>
              <a:srgbClr val="C792E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6" name="Google Shape;1816;p102"/>
          <p:cNvSpPr/>
          <p:nvPr/>
        </p:nvSpPr>
        <p:spPr>
          <a:xfrm>
            <a:off x="9835059" y="4943244"/>
            <a:ext cx="7111772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C792EA"/>
                </a:solidFill>
                <a:latin typeface="Courier New"/>
                <a:ea typeface="Courier New"/>
                <a:cs typeface="Courier New"/>
                <a:sym typeface="Courier New"/>
              </a:rPr>
              <a:t>QUY TẮC VÀNG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7" name="Google Shape;1817;p102"/>
          <p:cNvSpPr/>
          <p:nvPr/>
        </p:nvSpPr>
        <p:spPr>
          <a:xfrm>
            <a:off x="9835059" y="5678703"/>
            <a:ext cx="7111772" cy="9189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Fit scaler trên tập </a:t>
            </a:r>
            <a:r>
              <a:rPr b="1" i="0" lang="en-US" sz="25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train </a:t>
            </a:r>
            <a:r>
              <a:rPr b="0" i="0" lang="en-US" sz="25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, rồi transform tập test — tránh data leakage.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822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p103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L17 · TẠO &amp; CHỌN FEATURE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4" name="Google Shape;1824;p103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Nơi kiến thức nghiệp vụ toả sáng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5" name="Google Shape;1825;p103"/>
          <p:cNvSpPr/>
          <p:nvPr/>
        </p:nvSpPr>
        <p:spPr>
          <a:xfrm>
            <a:off x="1143000" y="2320727"/>
            <a:ext cx="7829517" cy="7185257"/>
          </a:xfrm>
          <a:prstGeom prst="roundRect">
            <a:avLst>
              <a:gd fmla="val 2386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103"/>
          <p:cNvSpPr/>
          <p:nvPr/>
        </p:nvSpPr>
        <p:spPr>
          <a:xfrm>
            <a:off x="1529292" y="2668902"/>
            <a:ext cx="7268642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Tạo feature mới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7" name="Google Shape;1827;p103"/>
          <p:cNvSpPr/>
          <p:nvPr/>
        </p:nvSpPr>
        <p:spPr>
          <a:xfrm>
            <a:off x="1584471" y="3295385"/>
            <a:ext cx="7077955" cy="870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173355" lvl="0" marL="173355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Char char="•"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Kết hợp / biến đổi feature sẵn có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3355" lvl="0" marL="173355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Char char="•"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Feature thời gian, tỉ lệ, tương tác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8" name="Google Shape;1828;p103"/>
          <p:cNvSpPr/>
          <p:nvPr/>
        </p:nvSpPr>
        <p:spPr>
          <a:xfrm>
            <a:off x="9315401" y="2320727"/>
            <a:ext cx="7829600" cy="7185257"/>
          </a:xfrm>
          <a:prstGeom prst="roundRect">
            <a:avLst>
              <a:gd fmla="val 2386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103"/>
          <p:cNvSpPr/>
          <p:nvPr/>
        </p:nvSpPr>
        <p:spPr>
          <a:xfrm>
            <a:off x="9701693" y="2668902"/>
            <a:ext cx="7268727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C792EA"/>
                </a:solidFill>
                <a:latin typeface="Arial"/>
                <a:ea typeface="Arial"/>
                <a:cs typeface="Arial"/>
                <a:sym typeface="Arial"/>
              </a:rPr>
              <a:t>Chọn lọc feature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0" name="Google Shape;1830;p103"/>
          <p:cNvSpPr/>
          <p:nvPr/>
        </p:nvSpPr>
        <p:spPr>
          <a:xfrm>
            <a:off x="9756871" y="3295385"/>
            <a:ext cx="7078038" cy="134365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173355" lvl="0" marL="173355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Char char="•"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Bỏ feature thừa &amp; nhiễu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3355" lvl="0" marL="173355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Char char="•"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Dựa importance &amp; correlation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3355" lvl="0" marL="173355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Char char="•"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Ít feature tốt &gt; nhiều feature rác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835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p104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L17 · TÓM TẮT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7" name="Google Shape;1837;p104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Feature Engineering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8" name="Google Shape;1838;p104"/>
          <p:cNvSpPr/>
          <p:nvPr/>
        </p:nvSpPr>
        <p:spPr>
          <a:xfrm>
            <a:off x="1143000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9" name="Google Shape;1839;p104"/>
          <p:cNvSpPr/>
          <p:nvPr/>
        </p:nvSpPr>
        <p:spPr>
          <a:xfrm>
            <a:off x="1510192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0" name="Google Shape;1840;p104"/>
          <p:cNvSpPr/>
          <p:nvPr/>
        </p:nvSpPr>
        <p:spPr>
          <a:xfrm>
            <a:off x="1510192" y="4559432"/>
            <a:ext cx="1500899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Encoding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1" name="Google Shape;1841;p104"/>
          <p:cNvSpPr/>
          <p:nvPr/>
        </p:nvSpPr>
        <p:spPr>
          <a:xfrm>
            <a:off x="1510192" y="5011870"/>
            <a:ext cx="2567748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One-hot · label · target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2" name="Google Shape;1842;p104"/>
          <p:cNvSpPr/>
          <p:nvPr/>
        </p:nvSpPr>
        <p:spPr>
          <a:xfrm>
            <a:off x="6572251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3" name="Google Shape;1843;p104"/>
          <p:cNvSpPr/>
          <p:nvPr/>
        </p:nvSpPr>
        <p:spPr>
          <a:xfrm>
            <a:off x="6939442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4" name="Google Shape;1844;p104"/>
          <p:cNvSpPr/>
          <p:nvPr/>
        </p:nvSpPr>
        <p:spPr>
          <a:xfrm>
            <a:off x="6939442" y="4559432"/>
            <a:ext cx="1213743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Scaling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5" name="Google Shape;1845;p104"/>
          <p:cNvSpPr/>
          <p:nvPr/>
        </p:nvSpPr>
        <p:spPr>
          <a:xfrm>
            <a:off x="6939442" y="5011870"/>
            <a:ext cx="3091238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Cùng thang đo, fit trên train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6" name="Google Shape;1846;p104"/>
          <p:cNvSpPr/>
          <p:nvPr/>
        </p:nvSpPr>
        <p:spPr>
          <a:xfrm>
            <a:off x="12001500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7" name="Google Shape;1847;p104"/>
          <p:cNvSpPr/>
          <p:nvPr/>
        </p:nvSpPr>
        <p:spPr>
          <a:xfrm>
            <a:off x="12368693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8" name="Google Shape;1848;p104"/>
          <p:cNvSpPr/>
          <p:nvPr/>
        </p:nvSpPr>
        <p:spPr>
          <a:xfrm>
            <a:off x="12368693" y="4559432"/>
            <a:ext cx="1804756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Tạo &amp; chọn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9" name="Google Shape;1849;p104"/>
          <p:cNvSpPr/>
          <p:nvPr/>
        </p:nvSpPr>
        <p:spPr>
          <a:xfrm>
            <a:off x="12368693" y="5011870"/>
            <a:ext cx="3385561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Feature mới &amp; loại feature rác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0" name="Google Shape;1850;p104"/>
          <p:cNvSpPr/>
          <p:nvPr/>
        </p:nvSpPr>
        <p:spPr>
          <a:xfrm>
            <a:off x="1143000" y="8468817"/>
            <a:ext cx="16002001" cy="1037167"/>
          </a:xfrm>
          <a:prstGeom prst="roundRect">
            <a:avLst>
              <a:gd fmla="val 16531" name="adj"/>
            </a:avLst>
          </a:prstGeom>
          <a:solidFill>
            <a:srgbClr val="22D3EE">
              <a:alpha val="3921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1" name="Google Shape;1851;p104"/>
          <p:cNvSpPr/>
          <p:nvPr/>
        </p:nvSpPr>
        <p:spPr>
          <a:xfrm>
            <a:off x="1510192" y="8857754"/>
            <a:ext cx="1429461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2" name="Google Shape;1852;p104"/>
          <p:cNvSpPr/>
          <p:nvPr/>
        </p:nvSpPr>
        <p:spPr>
          <a:xfrm>
            <a:off x="3091987" y="8759858"/>
            <a:ext cx="6795989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Dữ liệu mất cân bằng — xử lý lớp lệch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3" name="Google Shape;1853;p104"/>
          <p:cNvSpPr/>
          <p:nvPr/>
        </p:nvSpPr>
        <p:spPr>
          <a:xfrm>
            <a:off x="16339592" y="8768292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8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p105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0E1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105"/>
          <p:cNvSpPr/>
          <p:nvPr/>
        </p:nvSpPr>
        <p:spPr>
          <a:xfrm>
            <a:off x="1143000" y="3314816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LECTURE 18 · ~7 PHÚT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1" name="Google Shape;1861;p105"/>
          <p:cNvSpPr/>
          <p:nvPr/>
        </p:nvSpPr>
        <p:spPr>
          <a:xfrm>
            <a:off x="1143000" y="3902191"/>
            <a:ext cx="16482061" cy="1332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50"/>
              <a:buFont typeface="Courier New"/>
              <a:buNone/>
            </a:pPr>
            <a:r>
              <a:rPr b="1" i="0" lang="en-US" sz="118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18</a:t>
            </a:r>
            <a:endParaRPr b="0" i="0" sz="1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" name="Google Shape;1862;p105"/>
          <p:cNvSpPr/>
          <p:nvPr/>
        </p:nvSpPr>
        <p:spPr>
          <a:xfrm>
            <a:off x="1143000" y="5329701"/>
            <a:ext cx="12753976" cy="810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Dữ liệu mất cân bằng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3" name="Google Shape;1863;p105"/>
          <p:cNvSpPr/>
          <p:nvPr/>
        </p:nvSpPr>
        <p:spPr>
          <a:xfrm>
            <a:off x="1143000" y="6292784"/>
            <a:ext cx="16482061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2850"/>
              <a:buFont typeface="Courier New"/>
              <a:buNone/>
            </a:pPr>
            <a:r>
              <a:rPr b="0" i="0" lang="en-US" sz="285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SMOTE · class weight · metric đúng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868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p106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L18 · VÌ SAO LÀ VẤN ĐỀ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0" name="Google Shape;1870;p106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Accuracy có thể </a:t>
            </a:r>
            <a:r>
              <a:rPr b="1" i="0" lang="en-US" sz="3750" u="none" cap="none" strike="noStrike">
                <a:solidFill>
                  <a:srgbClr val="C792EA"/>
                </a:solidFill>
                <a:latin typeface="Arial"/>
                <a:ea typeface="Arial"/>
                <a:cs typeface="Arial"/>
                <a:sym typeface="Arial"/>
              </a:rPr>
              <a:t>đánh lừa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1" name="Google Shape;1871;p106"/>
          <p:cNvSpPr/>
          <p:nvPr/>
        </p:nvSpPr>
        <p:spPr>
          <a:xfrm>
            <a:off x="1143000" y="4292617"/>
            <a:ext cx="8486759" cy="3241477"/>
          </a:xfrm>
          <a:prstGeom prst="roundRect">
            <a:avLst>
              <a:gd fmla="val 5289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2" name="Google Shape;1872;p106"/>
          <p:cNvSpPr/>
          <p:nvPr/>
        </p:nvSpPr>
        <p:spPr>
          <a:xfrm>
            <a:off x="3249001" y="4621692"/>
            <a:ext cx="1238250" cy="2190750"/>
          </a:xfrm>
          <a:prstGeom prst="roundRect">
            <a:avLst>
              <a:gd fmla="val 9231" name="adj"/>
            </a:avLst>
          </a:prstGeom>
          <a:solidFill>
            <a:srgbClr val="22D3EE">
              <a:alpha val="18039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3" name="Google Shape;1873;p106"/>
          <p:cNvSpPr/>
          <p:nvPr/>
        </p:nvSpPr>
        <p:spPr>
          <a:xfrm>
            <a:off x="3210901" y="6945726"/>
            <a:ext cx="2407841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99% · không fraud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4" name="Google Shape;1874;p106"/>
          <p:cNvSpPr/>
          <p:nvPr/>
        </p:nvSpPr>
        <p:spPr>
          <a:xfrm>
            <a:off x="6152141" y="6736292"/>
            <a:ext cx="1238250" cy="76150"/>
          </a:xfrm>
          <a:prstGeom prst="roundRect">
            <a:avLst>
              <a:gd fmla="val 50000" name="adj"/>
            </a:avLst>
          </a:prstGeom>
          <a:solidFill>
            <a:srgbClr val="FF7EB6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5" name="Google Shape;1875;p106"/>
          <p:cNvSpPr/>
          <p:nvPr/>
        </p:nvSpPr>
        <p:spPr>
          <a:xfrm>
            <a:off x="6114041" y="6945726"/>
            <a:ext cx="144773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EB6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EB6"/>
                </a:solidFill>
                <a:latin typeface="Courier New"/>
                <a:ea typeface="Courier New"/>
                <a:cs typeface="Courier New"/>
                <a:sym typeface="Courier New"/>
              </a:rPr>
              <a:t>1% · fraud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6" name="Google Shape;1876;p106"/>
          <p:cNvSpPr/>
          <p:nvPr/>
        </p:nvSpPr>
        <p:spPr>
          <a:xfrm>
            <a:off x="10639392" y="4395474"/>
            <a:ext cx="6275133" cy="947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Model đoán "không fraud" luôn → vẫn 99% đúng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7" name="Google Shape;1877;p106"/>
          <p:cNvSpPr/>
          <p:nvPr/>
        </p:nvSpPr>
        <p:spPr>
          <a:xfrm>
            <a:off x="10639392" y="5437519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…nhưng hoàn toàn vô dụng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8" name="Google Shape;1878;p106"/>
          <p:cNvSpPr/>
          <p:nvPr/>
        </p:nvSpPr>
        <p:spPr>
          <a:xfrm>
            <a:off x="10639392" y="6084755"/>
            <a:ext cx="4340490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Lớp hiếm thường là lớp ta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9" name="Google Shape;1879;p106"/>
          <p:cNvSpPr/>
          <p:nvPr/>
        </p:nvSpPr>
        <p:spPr>
          <a:xfrm>
            <a:off x="10639392" y="6053006"/>
            <a:ext cx="6210069" cy="10052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quan tâm nhất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0" name="Google Shape;1880;p106"/>
          <p:cNvSpPr/>
          <p:nvPr/>
        </p:nvSpPr>
        <p:spPr>
          <a:xfrm>
            <a:off x="10639392" y="7132092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Gian lận, bệnh hiếm, churn…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p107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L18 · RESAMPLING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7" name="Google Shape;1887;p107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Cân bằng lại dữ liệu train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8" name="Google Shape;1888;p107"/>
          <p:cNvSpPr/>
          <p:nvPr/>
        </p:nvSpPr>
        <p:spPr>
          <a:xfrm>
            <a:off x="1143000" y="2320727"/>
            <a:ext cx="5105384" cy="7185257"/>
          </a:xfrm>
          <a:prstGeom prst="roundRect">
            <a:avLst>
              <a:gd fmla="val 3358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9" name="Google Shape;1889;p107"/>
          <p:cNvSpPr/>
          <p:nvPr/>
        </p:nvSpPr>
        <p:spPr>
          <a:xfrm>
            <a:off x="1529292" y="2668902"/>
            <a:ext cx="446278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OVERSAMPLING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0" name="Google Shape;1890;p107"/>
          <p:cNvSpPr/>
          <p:nvPr/>
        </p:nvSpPr>
        <p:spPr>
          <a:xfrm>
            <a:off x="1529292" y="3099594"/>
            <a:ext cx="4462784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Nhân lớp ít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1" name="Google Shape;1891;p107"/>
          <p:cNvSpPr/>
          <p:nvPr/>
        </p:nvSpPr>
        <p:spPr>
          <a:xfrm>
            <a:off x="1529292" y="3726078"/>
            <a:ext cx="4462784" cy="3971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Tăng số mẫu của lớp hiếm lên.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2" name="Google Shape;1892;p107"/>
          <p:cNvSpPr/>
          <p:nvPr/>
        </p:nvSpPr>
        <p:spPr>
          <a:xfrm>
            <a:off x="6591267" y="2320727"/>
            <a:ext cx="5105384" cy="7185257"/>
          </a:xfrm>
          <a:prstGeom prst="roundRect">
            <a:avLst>
              <a:gd fmla="val 3358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3" name="Google Shape;1893;p107"/>
          <p:cNvSpPr/>
          <p:nvPr/>
        </p:nvSpPr>
        <p:spPr>
          <a:xfrm>
            <a:off x="6977559" y="2668902"/>
            <a:ext cx="446278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UNDERSAMPLING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4" name="Google Shape;1894;p107"/>
          <p:cNvSpPr/>
          <p:nvPr/>
        </p:nvSpPr>
        <p:spPr>
          <a:xfrm>
            <a:off x="6977559" y="3099594"/>
            <a:ext cx="4462784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Giảm lớp nhiều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5" name="Google Shape;1895;p107"/>
          <p:cNvSpPr/>
          <p:nvPr/>
        </p:nvSpPr>
        <p:spPr>
          <a:xfrm>
            <a:off x="6977559" y="3726078"/>
            <a:ext cx="4462784" cy="3971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Bớt mẫu của lớp đa số xuống.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6" name="Google Shape;1896;p107"/>
          <p:cNvSpPr/>
          <p:nvPr/>
        </p:nvSpPr>
        <p:spPr>
          <a:xfrm>
            <a:off x="12039535" y="2320727"/>
            <a:ext cx="5105384" cy="7185257"/>
          </a:xfrm>
          <a:prstGeom prst="roundRect">
            <a:avLst>
              <a:gd fmla="val 3358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107"/>
          <p:cNvSpPr/>
          <p:nvPr/>
        </p:nvSpPr>
        <p:spPr>
          <a:xfrm>
            <a:off x="12425826" y="2668902"/>
            <a:ext cx="446278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SMOTE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8" name="Google Shape;1898;p107"/>
          <p:cNvSpPr/>
          <p:nvPr/>
        </p:nvSpPr>
        <p:spPr>
          <a:xfrm>
            <a:off x="12425826" y="3099594"/>
            <a:ext cx="4462784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C792EA"/>
                </a:solidFill>
                <a:latin typeface="Arial"/>
                <a:ea typeface="Arial"/>
                <a:cs typeface="Arial"/>
                <a:sym typeface="Arial"/>
              </a:rPr>
              <a:t>Sinh mẫu nhân tạo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9" name="Google Shape;1899;p107"/>
          <p:cNvSpPr/>
          <p:nvPr/>
        </p:nvSpPr>
        <p:spPr>
          <a:xfrm>
            <a:off x="12425826" y="3726078"/>
            <a:ext cx="4462784" cy="7666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Tạo điểm mới giữa các mẫu lớp hiếm. </a:t>
            </a:r>
            <a:r>
              <a:rPr b="1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Chỉ áp dụng trên train.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904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Google Shape;1905;p108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L18 · CLASS WEIGHT &amp; METRIC ĐÚNG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6" name="Google Shape;1906;p108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Phạt nặng lỗi lớp hiếm &amp; chọn metric đúng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7" name="Google Shape;1907;p108"/>
          <p:cNvSpPr/>
          <p:nvPr/>
        </p:nvSpPr>
        <p:spPr>
          <a:xfrm>
            <a:off x="1143000" y="4411762"/>
            <a:ext cx="8486759" cy="3003104"/>
          </a:xfrm>
          <a:prstGeom prst="roundRect">
            <a:avLst>
              <a:gd fmla="val 5075" name="adj"/>
            </a:avLst>
          </a:prstGeom>
          <a:solidFill>
            <a:srgbClr val="0C121B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8" name="Google Shape;1908;p108"/>
          <p:cNvSpPr/>
          <p:nvPr/>
        </p:nvSpPr>
        <p:spPr>
          <a:xfrm>
            <a:off x="1148292" y="4417054"/>
            <a:ext cx="8476176" cy="569350"/>
          </a:xfrm>
          <a:prstGeom prst="rect">
            <a:avLst/>
          </a:prstGeom>
          <a:solidFill>
            <a:srgbClr val="0A0F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9" name="Google Shape;1909;p108"/>
          <p:cNvSpPr/>
          <p:nvPr/>
        </p:nvSpPr>
        <p:spPr>
          <a:xfrm>
            <a:off x="1148292" y="4981112"/>
            <a:ext cx="8476176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0" name="Google Shape;1910;p108"/>
          <p:cNvSpPr/>
          <p:nvPr/>
        </p:nvSpPr>
        <p:spPr>
          <a:xfrm>
            <a:off x="1357809" y="4637154"/>
            <a:ext cx="123775" cy="123775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1" name="Google Shape;1911;p108"/>
          <p:cNvSpPr/>
          <p:nvPr/>
        </p:nvSpPr>
        <p:spPr>
          <a:xfrm>
            <a:off x="1567243" y="4637154"/>
            <a:ext cx="123775" cy="123775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2" name="Google Shape;1912;p108"/>
          <p:cNvSpPr/>
          <p:nvPr/>
        </p:nvSpPr>
        <p:spPr>
          <a:xfrm>
            <a:off x="1776677" y="4637154"/>
            <a:ext cx="123775" cy="123775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3" name="Google Shape;1913;p108"/>
          <p:cNvSpPr/>
          <p:nvPr/>
        </p:nvSpPr>
        <p:spPr>
          <a:xfrm>
            <a:off x="2100378" y="4569437"/>
            <a:ext cx="1859161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imbalanced.py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4" name="Google Shape;1914;p108"/>
          <p:cNvSpPr/>
          <p:nvPr/>
        </p:nvSpPr>
        <p:spPr>
          <a:xfrm>
            <a:off x="1472142" y="5272154"/>
            <a:ext cx="8082761" cy="18897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model = </a:t>
            </a: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RandomForestClassifier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class_weight=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89E0A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89E0A0"/>
                </a:solidFill>
                <a:latin typeface="Courier New"/>
                <a:ea typeface="Courier New"/>
                <a:cs typeface="Courier New"/>
                <a:sym typeface="Courier New"/>
              </a:rPr>
              <a:t>"balanced"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1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# phạt nặng lỗi lớp hiếm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# đánh giá bằng F1 / recall, KHÔNG dùng accuracy </a:t>
            </a:r>
            <a:r>
              <a:rPr b="0" i="0" lang="en-US" sz="1800" u="none" cap="none" strike="noStrike">
                <a:solidFill>
                  <a:srgbClr val="82AA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classification_report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(y_test, y_pred))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5" name="Google Shape;1915;p108"/>
          <p:cNvSpPr/>
          <p:nvPr/>
        </p:nvSpPr>
        <p:spPr>
          <a:xfrm>
            <a:off x="10639392" y="4646249"/>
            <a:ext cx="5162396" cy="456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Courier New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class_weight='balanced'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6" name="Google Shape;1916;p108"/>
          <p:cNvSpPr/>
          <p:nvPr/>
        </p:nvSpPr>
        <p:spPr>
          <a:xfrm>
            <a:off x="10639392" y="4651540"/>
            <a:ext cx="5991626" cy="947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phạt nặng lỗi lớp hiếm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7" name="Google Shape;1917;p108"/>
          <p:cNvSpPr/>
          <p:nvPr/>
        </p:nvSpPr>
        <p:spPr>
          <a:xfrm>
            <a:off x="10639392" y="5693586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Không cần resampling thủ công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8" name="Google Shape;1918;p108"/>
          <p:cNvSpPr/>
          <p:nvPr/>
        </p:nvSpPr>
        <p:spPr>
          <a:xfrm>
            <a:off x="10639392" y="6340823"/>
            <a:ext cx="941553" cy="440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Dùng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9" name="Google Shape;1919;p108"/>
          <p:cNvSpPr/>
          <p:nvPr/>
        </p:nvSpPr>
        <p:spPr>
          <a:xfrm>
            <a:off x="11605287" y="6309072"/>
            <a:ext cx="1716203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F1, recall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0" name="Google Shape;1920;p108"/>
          <p:cNvSpPr/>
          <p:nvPr/>
        </p:nvSpPr>
        <p:spPr>
          <a:xfrm>
            <a:off x="13345832" y="6340823"/>
            <a:ext cx="2693614" cy="440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thay vì accuracy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1" name="Google Shape;1921;p108"/>
          <p:cNvSpPr/>
          <p:nvPr/>
        </p:nvSpPr>
        <p:spPr>
          <a:xfrm>
            <a:off x="10639392" y="6876108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Chọn metric đúng quan trọng hơn cả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926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Google Shape;1927;p109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L18 · TÓM TẮT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8" name="Google Shape;1928;p109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Xử lý dữ liệu mất cân bằng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9" name="Google Shape;1929;p109"/>
          <p:cNvSpPr/>
          <p:nvPr/>
        </p:nvSpPr>
        <p:spPr>
          <a:xfrm>
            <a:off x="1143000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0" name="Google Shape;1930;p109"/>
          <p:cNvSpPr/>
          <p:nvPr/>
        </p:nvSpPr>
        <p:spPr>
          <a:xfrm>
            <a:off x="1510192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1" name="Google Shape;1931;p109"/>
          <p:cNvSpPr/>
          <p:nvPr/>
        </p:nvSpPr>
        <p:spPr>
          <a:xfrm>
            <a:off x="1510192" y="4559432"/>
            <a:ext cx="1144290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Vấn đề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2" name="Google Shape;1932;p109"/>
          <p:cNvSpPr/>
          <p:nvPr/>
        </p:nvSpPr>
        <p:spPr>
          <a:xfrm>
            <a:off x="1510192" y="5011870"/>
            <a:ext cx="3525313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Accuracy đánh lừa với lớp lệch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3" name="Google Shape;1933;p109"/>
          <p:cNvSpPr/>
          <p:nvPr/>
        </p:nvSpPr>
        <p:spPr>
          <a:xfrm>
            <a:off x="6572251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4" name="Google Shape;1934;p109"/>
          <p:cNvSpPr/>
          <p:nvPr/>
        </p:nvSpPr>
        <p:spPr>
          <a:xfrm>
            <a:off x="6939442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5" name="Google Shape;1935;p109"/>
          <p:cNvSpPr/>
          <p:nvPr/>
        </p:nvSpPr>
        <p:spPr>
          <a:xfrm>
            <a:off x="6939442" y="4559432"/>
            <a:ext cx="1178107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SMOTE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6" name="Google Shape;1936;p109"/>
          <p:cNvSpPr/>
          <p:nvPr/>
        </p:nvSpPr>
        <p:spPr>
          <a:xfrm>
            <a:off x="6939442" y="5011870"/>
            <a:ext cx="4324054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Resampling, sinh mẫu — chỉ trên train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7" name="Google Shape;1937;p109"/>
          <p:cNvSpPr/>
          <p:nvPr/>
        </p:nvSpPr>
        <p:spPr>
          <a:xfrm>
            <a:off x="12001500" y="3726574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8" name="Google Shape;1938;p109"/>
          <p:cNvSpPr/>
          <p:nvPr/>
        </p:nvSpPr>
        <p:spPr>
          <a:xfrm>
            <a:off x="12368693" y="4074749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9" name="Google Shape;1939;p109"/>
          <p:cNvSpPr/>
          <p:nvPr/>
        </p:nvSpPr>
        <p:spPr>
          <a:xfrm>
            <a:off x="12368693" y="4559432"/>
            <a:ext cx="3382494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Class weight + metric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0" name="Google Shape;1940;p109"/>
          <p:cNvSpPr/>
          <p:nvPr/>
        </p:nvSpPr>
        <p:spPr>
          <a:xfrm>
            <a:off x="12368693" y="5011870"/>
            <a:ext cx="3382495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F1 / recall thay accuracy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1" name="Google Shape;1941;p109"/>
          <p:cNvSpPr/>
          <p:nvPr/>
        </p:nvSpPr>
        <p:spPr>
          <a:xfrm>
            <a:off x="1143000" y="8468817"/>
            <a:ext cx="16002001" cy="1037167"/>
          </a:xfrm>
          <a:prstGeom prst="roundRect">
            <a:avLst>
              <a:gd fmla="val 16531" name="adj"/>
            </a:avLst>
          </a:prstGeom>
          <a:solidFill>
            <a:srgbClr val="22D3EE">
              <a:alpha val="3921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2" name="Google Shape;1942;p109"/>
          <p:cNvSpPr/>
          <p:nvPr/>
        </p:nvSpPr>
        <p:spPr>
          <a:xfrm>
            <a:off x="1510192" y="8857754"/>
            <a:ext cx="1429461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3" name="Google Shape;1943;p109"/>
          <p:cNvSpPr/>
          <p:nvPr/>
        </p:nvSpPr>
        <p:spPr>
          <a:xfrm>
            <a:off x="3091987" y="8759858"/>
            <a:ext cx="7940151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Hyperparameter Tuning — tinh chỉnh model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4" name="Google Shape;1944;p109"/>
          <p:cNvSpPr/>
          <p:nvPr/>
        </p:nvSpPr>
        <p:spPr>
          <a:xfrm>
            <a:off x="16339592" y="8768292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9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p11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0E1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1" name="Google Shape;1951;p110"/>
          <p:cNvSpPr/>
          <p:nvPr/>
        </p:nvSpPr>
        <p:spPr>
          <a:xfrm>
            <a:off x="1143000" y="3314816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LECTURE 19 · ~9 PHÚT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2" name="Google Shape;1952;p110"/>
          <p:cNvSpPr/>
          <p:nvPr/>
        </p:nvSpPr>
        <p:spPr>
          <a:xfrm>
            <a:off x="1143000" y="3902191"/>
            <a:ext cx="16482061" cy="1332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50"/>
              <a:buFont typeface="Courier New"/>
              <a:buNone/>
            </a:pPr>
            <a:r>
              <a:rPr b="1" i="0" lang="en-US" sz="118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19</a:t>
            </a:r>
            <a:endParaRPr b="0" i="0" sz="1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3" name="Google Shape;1953;p110"/>
          <p:cNvSpPr/>
          <p:nvPr/>
        </p:nvSpPr>
        <p:spPr>
          <a:xfrm>
            <a:off x="1143000" y="5329701"/>
            <a:ext cx="12753976" cy="810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Hyperparameter Tuning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4" name="Google Shape;1954;p110"/>
          <p:cNvSpPr/>
          <p:nvPr/>
        </p:nvSpPr>
        <p:spPr>
          <a:xfrm>
            <a:off x="1143000" y="6292784"/>
            <a:ext cx="16482061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2850"/>
              <a:buFont typeface="Courier New"/>
              <a:buNone/>
            </a:pPr>
            <a:r>
              <a:rPr b="0" i="0" lang="en-US" sz="285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Grid · Random · Bayesian (Optuna)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959" name="Shape 1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0" name="Google Shape;1960;p111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L19 · PARAMETER VS HYPERPARAMETER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1" name="Google Shape;1961;p111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Cái nào model tự học, cái nào ta chọn?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2" name="Google Shape;1962;p111"/>
          <p:cNvSpPr/>
          <p:nvPr/>
        </p:nvSpPr>
        <p:spPr>
          <a:xfrm>
            <a:off x="1143000" y="2320727"/>
            <a:ext cx="7543767" cy="7185257"/>
          </a:xfrm>
          <a:prstGeom prst="roundRect">
            <a:avLst>
              <a:gd fmla="val 2386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3" name="Google Shape;1963;p111"/>
          <p:cNvSpPr/>
          <p:nvPr/>
        </p:nvSpPr>
        <p:spPr>
          <a:xfrm>
            <a:off x="1529292" y="2668902"/>
            <a:ext cx="697431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PARAMETER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4" name="Google Shape;1964;p111"/>
          <p:cNvSpPr/>
          <p:nvPr/>
        </p:nvSpPr>
        <p:spPr>
          <a:xfrm>
            <a:off x="1529292" y="3099594"/>
            <a:ext cx="6974319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Model tự học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5" name="Google Shape;1965;p111"/>
          <p:cNvSpPr/>
          <p:nvPr/>
        </p:nvSpPr>
        <p:spPr>
          <a:xfrm>
            <a:off x="1529292" y="3726078"/>
            <a:ext cx="6974319" cy="3971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Học được từ dữ liệu trong quá trình train. Vd: trọng số w, b.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6" name="Google Shape;1966;p111"/>
          <p:cNvSpPr/>
          <p:nvPr/>
        </p:nvSpPr>
        <p:spPr>
          <a:xfrm>
            <a:off x="8972517" y="2320727"/>
            <a:ext cx="419166" cy="7223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vs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7" name="Google Shape;1967;p111"/>
          <p:cNvSpPr/>
          <p:nvPr/>
        </p:nvSpPr>
        <p:spPr>
          <a:xfrm>
            <a:off x="9601234" y="2320727"/>
            <a:ext cx="7543767" cy="7185257"/>
          </a:xfrm>
          <a:prstGeom prst="roundRect">
            <a:avLst>
              <a:gd fmla="val 2386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8" name="Google Shape;1968;p111"/>
          <p:cNvSpPr/>
          <p:nvPr/>
        </p:nvSpPr>
        <p:spPr>
          <a:xfrm>
            <a:off x="9987525" y="2668902"/>
            <a:ext cx="697431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HYPERPARAMETER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9" name="Google Shape;1969;p111"/>
          <p:cNvSpPr/>
          <p:nvPr/>
        </p:nvSpPr>
        <p:spPr>
          <a:xfrm>
            <a:off x="9987525" y="3099594"/>
            <a:ext cx="6974319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C792EA"/>
                </a:solidFill>
                <a:latin typeface="Arial"/>
                <a:ea typeface="Arial"/>
                <a:cs typeface="Arial"/>
                <a:sym typeface="Arial"/>
              </a:rPr>
              <a:t>Ta chọn trước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0" name="Google Shape;1970;p111"/>
          <p:cNvSpPr/>
          <p:nvPr/>
        </p:nvSpPr>
        <p:spPr>
          <a:xfrm>
            <a:off x="9987525" y="3726078"/>
            <a:ext cx="6974319" cy="7561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Đặt trước khi train. Vd: learning_rate, max_depth, n_estimators.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975" name="Shape 1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" name="Google Shape;1976;p112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L19 · GRID SEARCH VS RANDOM 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7" name="Google Shape;1977;p112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Thử mọi tổ hợp hay thử ngẫu nhiên?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8" name="Google Shape;1978;p112"/>
          <p:cNvSpPr/>
          <p:nvPr/>
        </p:nvSpPr>
        <p:spPr>
          <a:xfrm>
            <a:off x="1143000" y="2320727"/>
            <a:ext cx="7543767" cy="7185257"/>
          </a:xfrm>
          <a:prstGeom prst="roundRect">
            <a:avLst>
              <a:gd fmla="val 2386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9" name="Google Shape;1979;p112"/>
          <p:cNvSpPr/>
          <p:nvPr/>
        </p:nvSpPr>
        <p:spPr>
          <a:xfrm>
            <a:off x="1529292" y="2668902"/>
            <a:ext cx="697431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GRID 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0" name="Google Shape;1980;p112"/>
          <p:cNvSpPr/>
          <p:nvPr/>
        </p:nvSpPr>
        <p:spPr>
          <a:xfrm>
            <a:off x="1529292" y="3099594"/>
            <a:ext cx="6974319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Thử mọi tổ hợp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1" name="Google Shape;1981;p112"/>
          <p:cNvSpPr/>
          <p:nvPr/>
        </p:nvSpPr>
        <p:spPr>
          <a:xfrm>
            <a:off x="1529292" y="3726078"/>
            <a:ext cx="6974319" cy="39710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Đầy đủ nhưng chậm. Tốt khi không gian tham số nhỏ.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2" name="Google Shape;1982;p112"/>
          <p:cNvSpPr/>
          <p:nvPr/>
        </p:nvSpPr>
        <p:spPr>
          <a:xfrm>
            <a:off x="8972517" y="2320727"/>
            <a:ext cx="419166" cy="7223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vs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3" name="Google Shape;1983;p112"/>
          <p:cNvSpPr/>
          <p:nvPr/>
        </p:nvSpPr>
        <p:spPr>
          <a:xfrm>
            <a:off x="9601234" y="2320727"/>
            <a:ext cx="7543767" cy="7185257"/>
          </a:xfrm>
          <a:prstGeom prst="roundRect">
            <a:avLst>
              <a:gd fmla="val 2386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4" name="Google Shape;1984;p112"/>
          <p:cNvSpPr/>
          <p:nvPr/>
        </p:nvSpPr>
        <p:spPr>
          <a:xfrm>
            <a:off x="9987525" y="2668902"/>
            <a:ext cx="697431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RANDOM 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5" name="Google Shape;1985;p112"/>
          <p:cNvSpPr/>
          <p:nvPr/>
        </p:nvSpPr>
        <p:spPr>
          <a:xfrm>
            <a:off x="9987525" y="3099594"/>
            <a:ext cx="6974319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C792EA"/>
                </a:solidFill>
                <a:latin typeface="Arial"/>
                <a:ea typeface="Arial"/>
                <a:cs typeface="Arial"/>
                <a:sym typeface="Arial"/>
              </a:rPr>
              <a:t>Thử ngẫu nhiên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6" name="Google Shape;1986;p112"/>
          <p:cNvSpPr/>
          <p:nvPr/>
        </p:nvSpPr>
        <p:spPr>
          <a:xfrm>
            <a:off x="9987525" y="3726078"/>
            <a:ext cx="6974319" cy="7561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Hiệu quả hơn Grid khi có nhiều tham số, cùng ngân sách thời gian.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99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p113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L19 · BAYESIAN OPTIMIZATION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3" name="Google Shape;1993;p113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Optuna — thử </a:t>
            </a:r>
            <a:r>
              <a:rPr b="1" i="0" lang="en-US" sz="37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thông minh</a:t>
            </a: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, học từ lần trước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4" name="Google Shape;1994;p113"/>
          <p:cNvSpPr/>
          <p:nvPr/>
        </p:nvSpPr>
        <p:spPr>
          <a:xfrm>
            <a:off x="1143000" y="3856302"/>
            <a:ext cx="8486759" cy="4114106"/>
          </a:xfrm>
          <a:prstGeom prst="roundRect">
            <a:avLst>
              <a:gd fmla="val 3704" name="adj"/>
            </a:avLst>
          </a:prstGeom>
          <a:solidFill>
            <a:srgbClr val="0C121B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5" name="Google Shape;1995;p113"/>
          <p:cNvSpPr/>
          <p:nvPr/>
        </p:nvSpPr>
        <p:spPr>
          <a:xfrm>
            <a:off x="1148292" y="3861594"/>
            <a:ext cx="8476176" cy="569350"/>
          </a:xfrm>
          <a:prstGeom prst="rect">
            <a:avLst/>
          </a:prstGeom>
          <a:solidFill>
            <a:srgbClr val="0A0F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6" name="Google Shape;1996;p113"/>
          <p:cNvSpPr/>
          <p:nvPr/>
        </p:nvSpPr>
        <p:spPr>
          <a:xfrm>
            <a:off x="1148292" y="4425653"/>
            <a:ext cx="8476176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7" name="Google Shape;1997;p113"/>
          <p:cNvSpPr/>
          <p:nvPr/>
        </p:nvSpPr>
        <p:spPr>
          <a:xfrm>
            <a:off x="1357809" y="4081694"/>
            <a:ext cx="123775" cy="123775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8" name="Google Shape;1998;p113"/>
          <p:cNvSpPr/>
          <p:nvPr/>
        </p:nvSpPr>
        <p:spPr>
          <a:xfrm>
            <a:off x="1567243" y="4081694"/>
            <a:ext cx="123775" cy="123775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9" name="Google Shape;1999;p113"/>
          <p:cNvSpPr/>
          <p:nvPr/>
        </p:nvSpPr>
        <p:spPr>
          <a:xfrm>
            <a:off x="1776677" y="4081694"/>
            <a:ext cx="123775" cy="123775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0" name="Google Shape;2000;p113"/>
          <p:cNvSpPr/>
          <p:nvPr/>
        </p:nvSpPr>
        <p:spPr>
          <a:xfrm>
            <a:off x="2100378" y="4013977"/>
            <a:ext cx="1996331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optuna_tune.py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1" name="Google Shape;2001;p113"/>
          <p:cNvSpPr/>
          <p:nvPr/>
        </p:nvSpPr>
        <p:spPr>
          <a:xfrm>
            <a:off x="1472142" y="4716694"/>
            <a:ext cx="8082761" cy="30007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C792EA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optuna </a:t>
            </a:r>
            <a:r>
              <a:rPr b="0" i="0" lang="en-US" sz="1800" u="none" cap="none" strike="noStrike">
                <a:solidFill>
                  <a:srgbClr val="C792EA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objective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(trial):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lr = trial.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suggest_float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89E0A0"/>
                </a:solidFill>
                <a:latin typeface="Courier New"/>
                <a:ea typeface="Courier New"/>
                <a:cs typeface="Courier New"/>
                <a:sym typeface="Courier New"/>
              </a:rPr>
              <a:t>"lr"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7A76C"/>
                </a:solidFill>
                <a:latin typeface="Courier New"/>
                <a:ea typeface="Courier New"/>
                <a:cs typeface="Courier New"/>
                <a:sym typeface="Courier New"/>
              </a:rPr>
              <a:t>1e-3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7A76C"/>
                </a:solidFill>
                <a:latin typeface="Courier New"/>
                <a:ea typeface="Courier New"/>
                <a:cs typeface="Courier New"/>
                <a:sym typeface="Courier New"/>
              </a:rPr>
              <a:t>0.3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log=</a:t>
            </a:r>
            <a:r>
              <a:rPr b="0" i="0" lang="en-US" sz="1800" u="none" cap="none" strike="noStrike">
                <a:solidFill>
                  <a:srgbClr val="82AAFF"/>
                </a:solidFill>
                <a:latin typeface="Courier New"/>
                <a:ea typeface="Courier New"/>
                <a:cs typeface="Courier New"/>
                <a:sym typeface="Courier New"/>
              </a:rPr>
              <a:t>True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C792EA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cross_val_score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(model(lr), X, y).</a:t>
            </a: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mean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study = optuna.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create_study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(direction=</a:t>
            </a:r>
            <a:r>
              <a:rPr b="0" i="0" lang="en-US" sz="1800" u="none" cap="none" strike="noStrike">
                <a:solidFill>
                  <a:srgbClr val="89E0A0"/>
                </a:solidFill>
                <a:latin typeface="Courier New"/>
                <a:ea typeface="Courier New"/>
                <a:cs typeface="Courier New"/>
                <a:sym typeface="Courier New"/>
              </a:rPr>
              <a:t>"maximize"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study.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optimize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(objective, n_trials=</a:t>
            </a:r>
            <a:r>
              <a:rPr b="0" i="0" lang="en-US" sz="1800" u="none" cap="none" strike="noStrike">
                <a:solidFill>
                  <a:srgbClr val="F7A76C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2" name="Google Shape;2002;p113"/>
          <p:cNvSpPr/>
          <p:nvPr/>
        </p:nvSpPr>
        <p:spPr>
          <a:xfrm>
            <a:off x="10639392" y="4654187"/>
            <a:ext cx="6422209" cy="947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Học từ các lần thử trước để chọn điểm thử tiếp theo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3" name="Google Shape;2003;p113"/>
          <p:cNvSpPr/>
          <p:nvPr/>
        </p:nvSpPr>
        <p:spPr>
          <a:xfrm>
            <a:off x="10639392" y="5696231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Hội tụ tới vùng tốt nhanh hơn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4" name="Google Shape;2004;p113"/>
          <p:cNvSpPr/>
          <p:nvPr/>
        </p:nvSpPr>
        <p:spPr>
          <a:xfrm>
            <a:off x="10639392" y="6338176"/>
            <a:ext cx="5431426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Optuna là thư viện phổ biến nhất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5" name="Google Shape;2005;p113"/>
          <p:cNvSpPr/>
          <p:nvPr/>
        </p:nvSpPr>
        <p:spPr>
          <a:xfrm>
            <a:off x="10639392" y="6873462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Tiết kiệm thời gian đáng kể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2010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p114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L19 · TÓM TẮT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2" name="Google Shape;2012;p114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Hyperparameter Tuning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3" name="Google Shape;2013;p114"/>
          <p:cNvSpPr/>
          <p:nvPr/>
        </p:nvSpPr>
        <p:spPr>
          <a:xfrm>
            <a:off x="1143000" y="3721282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4" name="Google Shape;2014;p114"/>
          <p:cNvSpPr/>
          <p:nvPr/>
        </p:nvSpPr>
        <p:spPr>
          <a:xfrm>
            <a:off x="1510192" y="4069457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5" name="Google Shape;2015;p114"/>
          <p:cNvSpPr/>
          <p:nvPr/>
        </p:nvSpPr>
        <p:spPr>
          <a:xfrm>
            <a:off x="1510192" y="4554141"/>
            <a:ext cx="3417922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Param vs hyperparam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6" name="Google Shape;2016;p114"/>
          <p:cNvSpPr/>
          <p:nvPr/>
        </p:nvSpPr>
        <p:spPr>
          <a:xfrm>
            <a:off x="1510192" y="5006578"/>
            <a:ext cx="3417922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Model học vs ta chọn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7" name="Google Shape;2017;p114"/>
          <p:cNvSpPr/>
          <p:nvPr/>
        </p:nvSpPr>
        <p:spPr>
          <a:xfrm>
            <a:off x="6572251" y="3721282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8" name="Google Shape;2018;p114"/>
          <p:cNvSpPr/>
          <p:nvPr/>
        </p:nvSpPr>
        <p:spPr>
          <a:xfrm>
            <a:off x="6939442" y="4069457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9" name="Google Shape;2019;p114"/>
          <p:cNvSpPr/>
          <p:nvPr/>
        </p:nvSpPr>
        <p:spPr>
          <a:xfrm>
            <a:off x="6939442" y="4554141"/>
            <a:ext cx="2353105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Grid &amp; Random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0" name="Google Shape;2020;p114"/>
          <p:cNvSpPr/>
          <p:nvPr/>
        </p:nvSpPr>
        <p:spPr>
          <a:xfrm>
            <a:off x="6939442" y="5006578"/>
            <a:ext cx="2936668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Thử đủ vs thử ngẫu nhiên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1" name="Google Shape;2021;p114"/>
          <p:cNvSpPr/>
          <p:nvPr/>
        </p:nvSpPr>
        <p:spPr>
          <a:xfrm>
            <a:off x="12001500" y="3721282"/>
            <a:ext cx="5143500" cy="1930632"/>
          </a:xfrm>
          <a:prstGeom prst="roundRect">
            <a:avLst>
              <a:gd fmla="val 888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2" name="Google Shape;2022;p114"/>
          <p:cNvSpPr/>
          <p:nvPr/>
        </p:nvSpPr>
        <p:spPr>
          <a:xfrm>
            <a:off x="12368693" y="4069457"/>
            <a:ext cx="464807" cy="3619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3" name="Google Shape;2023;p114"/>
          <p:cNvSpPr/>
          <p:nvPr/>
        </p:nvSpPr>
        <p:spPr>
          <a:xfrm>
            <a:off x="12368693" y="4554141"/>
            <a:ext cx="2914696" cy="424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Bayesian / Optuna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4" name="Google Shape;2024;p114"/>
          <p:cNvSpPr/>
          <p:nvPr/>
        </p:nvSpPr>
        <p:spPr>
          <a:xfrm>
            <a:off x="12368693" y="5006578"/>
            <a:ext cx="3770411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Thử thông minh, học từ lần trước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5" name="Google Shape;2025;p114"/>
          <p:cNvSpPr/>
          <p:nvPr/>
        </p:nvSpPr>
        <p:spPr>
          <a:xfrm>
            <a:off x="1143000" y="8452942"/>
            <a:ext cx="16002001" cy="1053042"/>
          </a:xfrm>
          <a:prstGeom prst="roundRect">
            <a:avLst>
              <a:gd fmla="val 16281" name="adj"/>
            </a:avLst>
          </a:prstGeom>
          <a:solidFill>
            <a:srgbClr val="22D3EE">
              <a:alpha val="3921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6" name="Google Shape;2026;p114"/>
          <p:cNvSpPr/>
          <p:nvPr/>
        </p:nvSpPr>
        <p:spPr>
          <a:xfrm>
            <a:off x="1510192" y="8849817"/>
            <a:ext cx="1429461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7" name="Google Shape;2027;p114"/>
          <p:cNvSpPr/>
          <p:nvPr/>
        </p:nvSpPr>
        <p:spPr>
          <a:xfrm>
            <a:off x="3091987" y="8743984"/>
            <a:ext cx="7896888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🏆 Capstone 1 — ráp tất cả vào dự án churn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8" name="Google Shape;2028;p114"/>
          <p:cNvSpPr/>
          <p:nvPr/>
        </p:nvSpPr>
        <p:spPr>
          <a:xfrm>
            <a:off x="16339592" y="8760355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3" name="Shape 2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" name="Google Shape;2034;p115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0E1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5" name="Google Shape;2035;p115"/>
          <p:cNvSpPr/>
          <p:nvPr/>
        </p:nvSpPr>
        <p:spPr>
          <a:xfrm>
            <a:off x="1143000" y="3314816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LECTURE 20 · ~16 PHÚT · 🏆 CAPSTONE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6" name="Google Shape;2036;p115"/>
          <p:cNvSpPr/>
          <p:nvPr/>
        </p:nvSpPr>
        <p:spPr>
          <a:xfrm>
            <a:off x="1143000" y="3902191"/>
            <a:ext cx="16482061" cy="1332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50"/>
              <a:buFont typeface="Courier New"/>
              <a:buNone/>
            </a:pPr>
            <a:r>
              <a:rPr b="1" i="0" lang="en-US" sz="118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endParaRPr b="0" i="0" sz="1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7" name="Google Shape;2037;p115"/>
          <p:cNvSpPr/>
          <p:nvPr/>
        </p:nvSpPr>
        <p:spPr>
          <a:xfrm>
            <a:off x="1143000" y="5329701"/>
            <a:ext cx="12753976" cy="810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Capstone 1 — Churn Prediction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8" name="Google Shape;2038;p115"/>
          <p:cNvSpPr/>
          <p:nvPr/>
        </p:nvSpPr>
        <p:spPr>
          <a:xfrm>
            <a:off x="1143000" y="6292784"/>
            <a:ext cx="16482061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2850"/>
              <a:buFont typeface="Courier New"/>
              <a:buNone/>
            </a:pPr>
            <a:r>
              <a:rPr b="0" i="0" lang="en-US" sz="285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dự đoán khách hàng rời bỏ · full pipeline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2043" name="Shape 2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4" name="Google Shape;2044;p116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L20 · BÀI TOÁN KINH DOANH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5" name="Google Shape;2045;p116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Dự đoán khách sắp rời bỏ — vì </a:t>
            </a:r>
            <a:r>
              <a:rPr b="1" i="0" lang="en-US" sz="37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giữ rẻ hơn tìm mới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6" name="Google Shape;2046;p116"/>
          <p:cNvSpPr/>
          <p:nvPr/>
        </p:nvSpPr>
        <p:spPr>
          <a:xfrm>
            <a:off x="1143000" y="4292617"/>
            <a:ext cx="8486759" cy="3241477"/>
          </a:xfrm>
          <a:prstGeom prst="roundRect">
            <a:avLst>
              <a:gd fmla="val 5289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7" name="Google Shape;2047;p116"/>
          <p:cNvSpPr/>
          <p:nvPr/>
        </p:nvSpPr>
        <p:spPr>
          <a:xfrm>
            <a:off x="3591967" y="6050442"/>
            <a:ext cx="1143000" cy="762000"/>
          </a:xfrm>
          <a:prstGeom prst="roundRect">
            <a:avLst>
              <a:gd fmla="val 15000" name="adj"/>
            </a:avLst>
          </a:prstGeom>
          <a:solidFill>
            <a:srgbClr val="22D3EE">
              <a:alpha val="18039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8" name="Google Shape;2048;p116"/>
          <p:cNvSpPr/>
          <p:nvPr/>
        </p:nvSpPr>
        <p:spPr>
          <a:xfrm>
            <a:off x="3553867" y="6945726"/>
            <a:ext cx="131056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Giữ khách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9" name="Google Shape;2049;p116"/>
          <p:cNvSpPr/>
          <p:nvPr/>
        </p:nvSpPr>
        <p:spPr>
          <a:xfrm>
            <a:off x="5397831" y="4621692"/>
            <a:ext cx="1143000" cy="2190750"/>
          </a:xfrm>
          <a:prstGeom prst="roundRect">
            <a:avLst>
              <a:gd fmla="val 10000" name="adj"/>
            </a:avLst>
          </a:prstGeom>
          <a:solidFill>
            <a:srgbClr val="FF7EB6">
              <a:alpha val="25098"/>
            </a:srgbClr>
          </a:solidFill>
          <a:ln cap="flat" cmpd="sng" w="9525">
            <a:solidFill>
              <a:srgbClr val="FF7E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0" name="Google Shape;2050;p116"/>
          <p:cNvSpPr/>
          <p:nvPr/>
        </p:nvSpPr>
        <p:spPr>
          <a:xfrm>
            <a:off x="5359731" y="6945726"/>
            <a:ext cx="1859161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EB6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EB6"/>
                </a:solidFill>
                <a:latin typeface="Courier New"/>
                <a:ea typeface="Courier New"/>
                <a:cs typeface="Courier New"/>
                <a:sym typeface="Courier New"/>
              </a:rPr>
              <a:t>Tìm khách mới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1" name="Google Shape;2051;p116"/>
          <p:cNvSpPr/>
          <p:nvPr/>
        </p:nvSpPr>
        <p:spPr>
          <a:xfrm>
            <a:off x="10639392" y="4907525"/>
            <a:ext cx="6535816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Phát hiện sớm khách có nguy cơ rời bỏ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2" name="Google Shape;2052;p116"/>
          <p:cNvSpPr/>
          <p:nvPr/>
        </p:nvSpPr>
        <p:spPr>
          <a:xfrm>
            <a:off x="10639392" y="5442810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Để kịp thời có hành động giữ chân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3" name="Google Shape;2053;p116"/>
          <p:cNvSpPr/>
          <p:nvPr/>
        </p:nvSpPr>
        <p:spPr>
          <a:xfrm>
            <a:off x="10639392" y="6084755"/>
            <a:ext cx="6670033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Đóng khung giá trị kinh doanh trước tiên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4" name="Google Shape;2054;p116"/>
          <p:cNvSpPr/>
          <p:nvPr/>
        </p:nvSpPr>
        <p:spPr>
          <a:xfrm>
            <a:off x="10639392" y="6620041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Chi phí giữ khách thấp hơn nhiều tìm mới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2059" name="Shape 2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Google Shape;2060;p117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L20 · BƯỚC 1–2 · EDA → FEATURE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1" name="Google Shape;2061;p117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Khám phá, làm sạch &amp; tạo feature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2" name="Google Shape;2062;p117"/>
          <p:cNvSpPr/>
          <p:nvPr/>
        </p:nvSpPr>
        <p:spPr>
          <a:xfrm>
            <a:off x="1143000" y="2320727"/>
            <a:ext cx="7829517" cy="7185257"/>
          </a:xfrm>
          <a:prstGeom prst="roundRect">
            <a:avLst>
              <a:gd fmla="val 2386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3" name="Google Shape;2063;p117"/>
          <p:cNvSpPr/>
          <p:nvPr/>
        </p:nvSpPr>
        <p:spPr>
          <a:xfrm>
            <a:off x="1529292" y="2668902"/>
            <a:ext cx="7268642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EDA &amp; LÀM SẠCH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4" name="Google Shape;2064;p117"/>
          <p:cNvSpPr/>
          <p:nvPr/>
        </p:nvSpPr>
        <p:spPr>
          <a:xfrm>
            <a:off x="1529292" y="3099594"/>
            <a:ext cx="7268642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Hiểu dữ liệu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5" name="Google Shape;2065;p117"/>
          <p:cNvSpPr/>
          <p:nvPr/>
        </p:nvSpPr>
        <p:spPr>
          <a:xfrm>
            <a:off x="1584471" y="3726078"/>
            <a:ext cx="7077955" cy="134365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173355" lvl="0" marL="173355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Char char="•"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Khám phá phân phối, xử lý missing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3355" lvl="0" marL="173355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Char char="•"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Phát hiện mất cân bằng lớp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3355" lvl="0" marL="173355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Char char="•"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Áp dụng EDA từ Section 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6" name="Google Shape;2066;p117"/>
          <p:cNvSpPr/>
          <p:nvPr/>
        </p:nvSpPr>
        <p:spPr>
          <a:xfrm>
            <a:off x="9315401" y="2320727"/>
            <a:ext cx="7829600" cy="7185257"/>
          </a:xfrm>
          <a:prstGeom prst="roundRect">
            <a:avLst>
              <a:gd fmla="val 2386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7" name="Google Shape;2067;p117"/>
          <p:cNvSpPr/>
          <p:nvPr/>
        </p:nvSpPr>
        <p:spPr>
          <a:xfrm>
            <a:off x="9701693" y="2668902"/>
            <a:ext cx="7268727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FEATURE ENGINEERING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8" name="Google Shape;2068;p117"/>
          <p:cNvSpPr/>
          <p:nvPr/>
        </p:nvSpPr>
        <p:spPr>
          <a:xfrm>
            <a:off x="9701693" y="3099594"/>
            <a:ext cx="7268727" cy="493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C792EA"/>
                </a:solidFill>
                <a:latin typeface="Arial"/>
                <a:ea typeface="Arial"/>
                <a:cs typeface="Arial"/>
                <a:sym typeface="Arial"/>
              </a:rPr>
              <a:t>Chuẩn bị đầu vào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9" name="Google Shape;2069;p117"/>
          <p:cNvSpPr/>
          <p:nvPr/>
        </p:nvSpPr>
        <p:spPr>
          <a:xfrm>
            <a:off x="9756871" y="3726078"/>
            <a:ext cx="7078038" cy="134365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173355" lvl="0" marL="173355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Char char="•"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Encoding, scaling, tạo feature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3355" lvl="0" marL="173355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Char char="•"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Đóng gói thành pipeline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3355" lvl="0" marL="173355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Char char="•"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Cẩn thận tránh data leakage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2074" name="Shape 2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" name="Google Shape;2075;p118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L20 · BƯỚC 3 · XÂY &amp; SO SÁNH MODEL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6" name="Google Shape;2076;p118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Không có model "đúng" — chọn theo metric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7" name="Google Shape;2077;p118"/>
          <p:cNvSpPr/>
          <p:nvPr/>
        </p:nvSpPr>
        <p:spPr>
          <a:xfrm>
            <a:off x="1143000" y="4817484"/>
            <a:ext cx="6049533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8" name="Google Shape;2078;p118"/>
          <p:cNvSpPr/>
          <p:nvPr/>
        </p:nvSpPr>
        <p:spPr>
          <a:xfrm>
            <a:off x="1390650" y="4282562"/>
            <a:ext cx="5735719" cy="3634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MODEL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9" name="Google Shape;2079;p118"/>
          <p:cNvSpPr/>
          <p:nvPr/>
        </p:nvSpPr>
        <p:spPr>
          <a:xfrm>
            <a:off x="7192533" y="4817484"/>
            <a:ext cx="3532684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0" name="Google Shape;2080;p118"/>
          <p:cNvSpPr/>
          <p:nvPr/>
        </p:nvSpPr>
        <p:spPr>
          <a:xfrm>
            <a:off x="7440183" y="4282562"/>
            <a:ext cx="3143364" cy="3634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ACCURACY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1" name="Google Shape;2081;p118"/>
          <p:cNvSpPr/>
          <p:nvPr/>
        </p:nvSpPr>
        <p:spPr>
          <a:xfrm>
            <a:off x="10725216" y="4817484"/>
            <a:ext cx="2886935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2" name="Google Shape;2082;p118"/>
          <p:cNvSpPr/>
          <p:nvPr/>
        </p:nvSpPr>
        <p:spPr>
          <a:xfrm>
            <a:off x="10972866" y="4282562"/>
            <a:ext cx="2478243" cy="3634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RECALL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3" name="Google Shape;2083;p118"/>
          <p:cNvSpPr/>
          <p:nvPr/>
        </p:nvSpPr>
        <p:spPr>
          <a:xfrm>
            <a:off x="13612152" y="4817484"/>
            <a:ext cx="3532849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4" name="Google Shape;2084;p118"/>
          <p:cNvSpPr/>
          <p:nvPr/>
        </p:nvSpPr>
        <p:spPr>
          <a:xfrm>
            <a:off x="13859802" y="4282562"/>
            <a:ext cx="3143535" cy="3634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F1-SCORE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5" name="Google Shape;2085;p118"/>
          <p:cNvSpPr/>
          <p:nvPr/>
        </p:nvSpPr>
        <p:spPr>
          <a:xfrm>
            <a:off x="1143000" y="5596351"/>
            <a:ext cx="6049533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6" name="Google Shape;2086;p118"/>
          <p:cNvSpPr/>
          <p:nvPr/>
        </p:nvSpPr>
        <p:spPr>
          <a:xfrm>
            <a:off x="1390650" y="5032326"/>
            <a:ext cx="5735719" cy="3925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Logistic Regression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7" name="Google Shape;2087;p118"/>
          <p:cNvSpPr/>
          <p:nvPr/>
        </p:nvSpPr>
        <p:spPr>
          <a:xfrm>
            <a:off x="7192533" y="5596351"/>
            <a:ext cx="3532684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8" name="Google Shape;2088;p118"/>
          <p:cNvSpPr/>
          <p:nvPr/>
        </p:nvSpPr>
        <p:spPr>
          <a:xfrm>
            <a:off x="7440183" y="5032326"/>
            <a:ext cx="3143364" cy="3925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0.81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9" name="Google Shape;2089;p118"/>
          <p:cNvSpPr/>
          <p:nvPr/>
        </p:nvSpPr>
        <p:spPr>
          <a:xfrm>
            <a:off x="10725216" y="5596351"/>
            <a:ext cx="2886935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0" name="Google Shape;2090;p118"/>
          <p:cNvSpPr/>
          <p:nvPr/>
        </p:nvSpPr>
        <p:spPr>
          <a:xfrm>
            <a:off x="10972866" y="5032326"/>
            <a:ext cx="2478243" cy="3925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0.64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1" name="Google Shape;2091;p118"/>
          <p:cNvSpPr/>
          <p:nvPr/>
        </p:nvSpPr>
        <p:spPr>
          <a:xfrm>
            <a:off x="13612152" y="5596351"/>
            <a:ext cx="3532849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2" name="Google Shape;2092;p118"/>
          <p:cNvSpPr/>
          <p:nvPr/>
        </p:nvSpPr>
        <p:spPr>
          <a:xfrm>
            <a:off x="13859802" y="5032326"/>
            <a:ext cx="3143535" cy="3925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0.68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3" name="Google Shape;2093;p118"/>
          <p:cNvSpPr/>
          <p:nvPr/>
        </p:nvSpPr>
        <p:spPr>
          <a:xfrm>
            <a:off x="1143000" y="6375219"/>
            <a:ext cx="6049533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4" name="Google Shape;2094;p118"/>
          <p:cNvSpPr/>
          <p:nvPr/>
        </p:nvSpPr>
        <p:spPr>
          <a:xfrm>
            <a:off x="1390650" y="5811193"/>
            <a:ext cx="5735719" cy="3925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Random Forest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5" name="Google Shape;2095;p118"/>
          <p:cNvSpPr/>
          <p:nvPr/>
        </p:nvSpPr>
        <p:spPr>
          <a:xfrm>
            <a:off x="7192533" y="6375219"/>
            <a:ext cx="3532684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6" name="Google Shape;2096;p118"/>
          <p:cNvSpPr/>
          <p:nvPr/>
        </p:nvSpPr>
        <p:spPr>
          <a:xfrm>
            <a:off x="7440183" y="5811193"/>
            <a:ext cx="3143364" cy="3925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0.84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7" name="Google Shape;2097;p118"/>
          <p:cNvSpPr/>
          <p:nvPr/>
        </p:nvSpPr>
        <p:spPr>
          <a:xfrm>
            <a:off x="10725216" y="6375219"/>
            <a:ext cx="2886935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8" name="Google Shape;2098;p118"/>
          <p:cNvSpPr/>
          <p:nvPr/>
        </p:nvSpPr>
        <p:spPr>
          <a:xfrm>
            <a:off x="10972866" y="5811193"/>
            <a:ext cx="2478243" cy="3925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0.71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9" name="Google Shape;2099;p118"/>
          <p:cNvSpPr/>
          <p:nvPr/>
        </p:nvSpPr>
        <p:spPr>
          <a:xfrm>
            <a:off x="13612152" y="6375219"/>
            <a:ext cx="3532849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0" name="Google Shape;2100;p118"/>
          <p:cNvSpPr/>
          <p:nvPr/>
        </p:nvSpPr>
        <p:spPr>
          <a:xfrm>
            <a:off x="13859802" y="5811193"/>
            <a:ext cx="3143535" cy="3925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0.74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1" name="Google Shape;2101;p118"/>
          <p:cNvSpPr/>
          <p:nvPr/>
        </p:nvSpPr>
        <p:spPr>
          <a:xfrm>
            <a:off x="1143000" y="6380510"/>
            <a:ext cx="6049533" cy="810617"/>
          </a:xfrm>
          <a:prstGeom prst="rect">
            <a:avLst/>
          </a:prstGeom>
          <a:solidFill>
            <a:srgbClr val="22D3EE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2" name="Google Shape;2102;p118"/>
          <p:cNvSpPr/>
          <p:nvPr/>
        </p:nvSpPr>
        <p:spPr>
          <a:xfrm>
            <a:off x="1143000" y="7185836"/>
            <a:ext cx="6049533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3" name="Google Shape;2103;p118"/>
          <p:cNvSpPr/>
          <p:nvPr/>
        </p:nvSpPr>
        <p:spPr>
          <a:xfrm>
            <a:off x="1390650" y="6590060"/>
            <a:ext cx="5735719" cy="424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highlight>
                  <a:srgbClr val="22D3EE"/>
                </a:highlight>
                <a:latin typeface="Arial"/>
                <a:ea typeface="Arial"/>
                <a:cs typeface="Arial"/>
                <a:sym typeface="Arial"/>
              </a:rPr>
              <a:t>XGBoost </a:t>
            </a:r>
            <a:r>
              <a:rPr b="1" i="0" lang="en-US" sz="24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★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4" name="Google Shape;2104;p118"/>
          <p:cNvSpPr/>
          <p:nvPr/>
        </p:nvSpPr>
        <p:spPr>
          <a:xfrm>
            <a:off x="7192533" y="6380510"/>
            <a:ext cx="3532684" cy="810617"/>
          </a:xfrm>
          <a:prstGeom prst="rect">
            <a:avLst/>
          </a:prstGeom>
          <a:solidFill>
            <a:srgbClr val="22D3EE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5" name="Google Shape;2105;p118"/>
          <p:cNvSpPr/>
          <p:nvPr/>
        </p:nvSpPr>
        <p:spPr>
          <a:xfrm>
            <a:off x="7192533" y="7185836"/>
            <a:ext cx="3532684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6" name="Google Shape;2106;p118"/>
          <p:cNvSpPr/>
          <p:nvPr/>
        </p:nvSpPr>
        <p:spPr>
          <a:xfrm>
            <a:off x="7440183" y="6590060"/>
            <a:ext cx="3143364" cy="424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0.85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7" name="Google Shape;2107;p118"/>
          <p:cNvSpPr/>
          <p:nvPr/>
        </p:nvSpPr>
        <p:spPr>
          <a:xfrm>
            <a:off x="10725216" y="6380510"/>
            <a:ext cx="2886935" cy="810617"/>
          </a:xfrm>
          <a:prstGeom prst="rect">
            <a:avLst/>
          </a:prstGeom>
          <a:solidFill>
            <a:srgbClr val="22D3EE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8" name="Google Shape;2108;p118"/>
          <p:cNvSpPr/>
          <p:nvPr/>
        </p:nvSpPr>
        <p:spPr>
          <a:xfrm>
            <a:off x="10725216" y="7185836"/>
            <a:ext cx="2886935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9" name="Google Shape;2109;p118"/>
          <p:cNvSpPr/>
          <p:nvPr/>
        </p:nvSpPr>
        <p:spPr>
          <a:xfrm>
            <a:off x="10972866" y="6590060"/>
            <a:ext cx="2478243" cy="424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0.79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0" name="Google Shape;2110;p118"/>
          <p:cNvSpPr/>
          <p:nvPr/>
        </p:nvSpPr>
        <p:spPr>
          <a:xfrm>
            <a:off x="13612152" y="6380510"/>
            <a:ext cx="3532849" cy="810617"/>
          </a:xfrm>
          <a:prstGeom prst="rect">
            <a:avLst/>
          </a:prstGeom>
          <a:solidFill>
            <a:srgbClr val="22D3EE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1" name="Google Shape;2111;p118"/>
          <p:cNvSpPr/>
          <p:nvPr/>
        </p:nvSpPr>
        <p:spPr>
          <a:xfrm>
            <a:off x="13612152" y="7185836"/>
            <a:ext cx="3532849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2" name="Google Shape;2112;p118"/>
          <p:cNvSpPr/>
          <p:nvPr/>
        </p:nvSpPr>
        <p:spPr>
          <a:xfrm>
            <a:off x="13859802" y="6590060"/>
            <a:ext cx="3143535" cy="424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0.80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3" name="Google Shape;2113;p118"/>
          <p:cNvSpPr/>
          <p:nvPr/>
        </p:nvSpPr>
        <p:spPr>
          <a:xfrm>
            <a:off x="902970" y="7441407"/>
            <a:ext cx="16482061" cy="350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Với churn, ưu tiên </a:t>
            </a:r>
            <a:r>
              <a:rPr b="1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Recall </a:t>
            </a: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(bắt được khách sắp rời) hơn là accuracy thô.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2118" name="Shape 2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" name="Google Shape;2119;p119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L20 · BƯỚC 4 · IMBALANCE &amp; TUNING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0" name="Google Shape;2120;p119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Cân bằng lớp rồi tinh chỉnh bằng Optuna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1" name="Google Shape;2121;p119"/>
          <p:cNvSpPr/>
          <p:nvPr/>
        </p:nvSpPr>
        <p:spPr>
          <a:xfrm>
            <a:off x="1143000" y="5311759"/>
            <a:ext cx="8486759" cy="1203193"/>
          </a:xfrm>
          <a:prstGeom prst="roundRect">
            <a:avLst>
              <a:gd fmla="val 14250" name="adj"/>
            </a:avLst>
          </a:prstGeom>
          <a:solidFill>
            <a:srgbClr val="0E131C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2" name="Google Shape;2122;p119"/>
          <p:cNvSpPr/>
          <p:nvPr/>
        </p:nvSpPr>
        <p:spPr>
          <a:xfrm>
            <a:off x="1987937" y="5317050"/>
            <a:ext cx="6796886" cy="4038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SCREEN RECORDING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3" name="Google Shape;2123;p119"/>
          <p:cNvSpPr/>
          <p:nvPr/>
        </p:nvSpPr>
        <p:spPr>
          <a:xfrm>
            <a:off x="1841004" y="5831003"/>
            <a:ext cx="7303473" cy="663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D6A7A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D6A7A"/>
                </a:solidFill>
                <a:latin typeface="Courier New"/>
                <a:ea typeface="Courier New"/>
                <a:cs typeface="Courier New"/>
                <a:sym typeface="Courier New"/>
              </a:rPr>
              <a:t>Optuna chạy 100 trial — biểu đồ điểm F1 leo dần lên qua từng lần thử, tìm bộ tham số tốt nhất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4" name="Google Shape;2124;p119"/>
          <p:cNvSpPr/>
          <p:nvPr/>
        </p:nvSpPr>
        <p:spPr>
          <a:xfrm>
            <a:off x="10639392" y="4654187"/>
            <a:ext cx="6606075" cy="947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Áp dụng SMOTE / class_weight cho lớp churn hiếm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5" name="Google Shape;2125;p119"/>
          <p:cNvSpPr/>
          <p:nvPr/>
        </p:nvSpPr>
        <p:spPr>
          <a:xfrm>
            <a:off x="10639392" y="5696231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Chỉ trên tập train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6" name="Google Shape;2126;p119"/>
          <p:cNvSpPr/>
          <p:nvPr/>
        </p:nvSpPr>
        <p:spPr>
          <a:xfrm>
            <a:off x="10639392" y="6338176"/>
            <a:ext cx="6385334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Tinh chỉnh hyperparameter với Optuna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7" name="Google Shape;2127;p119"/>
          <p:cNvSpPr/>
          <p:nvPr/>
        </p:nvSpPr>
        <p:spPr>
          <a:xfrm>
            <a:off x="10639392" y="6873462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Tập trung Recall / F1, không chỉ Accuracy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2132" name="Shape 2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3" name="Google Shape;2133;p120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L20 · BƯỚC 5 · DIỄN GIẢI &amp; ĐỀ XUẤT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4" name="Google Shape;2134;p120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Từ model ra </a:t>
            </a:r>
            <a:r>
              <a:rPr b="1" i="0" lang="en-US" sz="37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quyết định kinh doanh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5" name="Google Shape;2135;p120"/>
          <p:cNvSpPr/>
          <p:nvPr/>
        </p:nvSpPr>
        <p:spPr>
          <a:xfrm>
            <a:off x="1143000" y="4393654"/>
            <a:ext cx="8486759" cy="3039401"/>
          </a:xfrm>
          <a:prstGeom prst="roundRect">
            <a:avLst>
              <a:gd fmla="val 5641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6" name="Google Shape;2136;p120"/>
          <p:cNvSpPr/>
          <p:nvPr/>
        </p:nvSpPr>
        <p:spPr>
          <a:xfrm>
            <a:off x="1544532" y="4897934"/>
            <a:ext cx="274701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tenure (thâm niên)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7" name="Google Shape;2137;p120"/>
          <p:cNvSpPr/>
          <p:nvPr/>
        </p:nvSpPr>
        <p:spPr>
          <a:xfrm>
            <a:off x="4520076" y="4837080"/>
            <a:ext cx="3637608" cy="381000"/>
          </a:xfrm>
          <a:prstGeom prst="roundRect">
            <a:avLst>
              <a:gd fmla="val 22500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8" name="Google Shape;2138;p120"/>
          <p:cNvSpPr/>
          <p:nvPr/>
        </p:nvSpPr>
        <p:spPr>
          <a:xfrm>
            <a:off x="4525367" y="4842371"/>
            <a:ext cx="3264297" cy="370417"/>
          </a:xfrm>
          <a:prstGeom prst="roundRect">
            <a:avLst>
              <a:gd fmla="val 23143" name="adj"/>
            </a:avLst>
          </a:prstGeom>
          <a:solidFill>
            <a:srgbClr val="22D3EE">
              <a:alpha val="3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9" name="Google Shape;2139;p120"/>
          <p:cNvSpPr/>
          <p:nvPr/>
        </p:nvSpPr>
        <p:spPr>
          <a:xfrm>
            <a:off x="8386217" y="4897934"/>
            <a:ext cx="83820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cao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0" name="Google Shape;2140;p120"/>
          <p:cNvSpPr/>
          <p:nvPr/>
        </p:nvSpPr>
        <p:spPr>
          <a:xfrm>
            <a:off x="1544532" y="5488451"/>
            <a:ext cx="274701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contract: tháng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1" name="Google Shape;2141;p120"/>
          <p:cNvSpPr/>
          <p:nvPr/>
        </p:nvSpPr>
        <p:spPr>
          <a:xfrm>
            <a:off x="4520076" y="5427597"/>
            <a:ext cx="3637608" cy="381000"/>
          </a:xfrm>
          <a:prstGeom prst="roundRect">
            <a:avLst>
              <a:gd fmla="val 22500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2" name="Google Shape;2142;p120"/>
          <p:cNvSpPr/>
          <p:nvPr/>
        </p:nvSpPr>
        <p:spPr>
          <a:xfrm>
            <a:off x="4525367" y="5432888"/>
            <a:ext cx="2829058" cy="370417"/>
          </a:xfrm>
          <a:prstGeom prst="roundRect">
            <a:avLst>
              <a:gd fmla="val 23143" name="adj"/>
            </a:avLst>
          </a:prstGeom>
          <a:solidFill>
            <a:srgbClr val="22D3EE">
              <a:alpha val="3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3" name="Google Shape;2143;p120"/>
          <p:cNvSpPr/>
          <p:nvPr/>
        </p:nvSpPr>
        <p:spPr>
          <a:xfrm>
            <a:off x="8386217" y="5488451"/>
            <a:ext cx="83820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cao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4" name="Google Shape;2144;p120"/>
          <p:cNvSpPr/>
          <p:nvPr/>
        </p:nvSpPr>
        <p:spPr>
          <a:xfrm>
            <a:off x="1544532" y="6078968"/>
            <a:ext cx="274701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monthly_charges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5" name="Google Shape;2145;p120"/>
          <p:cNvSpPr/>
          <p:nvPr/>
        </p:nvSpPr>
        <p:spPr>
          <a:xfrm>
            <a:off x="4520076" y="6018113"/>
            <a:ext cx="3637608" cy="381000"/>
          </a:xfrm>
          <a:prstGeom prst="roundRect">
            <a:avLst>
              <a:gd fmla="val 22500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6" name="Google Shape;2146;p120"/>
          <p:cNvSpPr/>
          <p:nvPr/>
        </p:nvSpPr>
        <p:spPr>
          <a:xfrm>
            <a:off x="4525367" y="6023405"/>
            <a:ext cx="2176198" cy="370417"/>
          </a:xfrm>
          <a:prstGeom prst="roundRect">
            <a:avLst>
              <a:gd fmla="val 23143" name="adj"/>
            </a:avLst>
          </a:prstGeom>
          <a:solidFill>
            <a:srgbClr val="22D3EE">
              <a:alpha val="3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7" name="Google Shape;2147;p120"/>
          <p:cNvSpPr/>
          <p:nvPr/>
        </p:nvSpPr>
        <p:spPr>
          <a:xfrm>
            <a:off x="8386217" y="6078968"/>
            <a:ext cx="83820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vừa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8" name="Google Shape;2148;p120"/>
          <p:cNvSpPr/>
          <p:nvPr/>
        </p:nvSpPr>
        <p:spPr>
          <a:xfrm>
            <a:off x="1544532" y="6669485"/>
            <a:ext cx="274701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tech_support: không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9" name="Google Shape;2149;p120"/>
          <p:cNvSpPr/>
          <p:nvPr/>
        </p:nvSpPr>
        <p:spPr>
          <a:xfrm>
            <a:off x="4520076" y="6608630"/>
            <a:ext cx="3637608" cy="381000"/>
          </a:xfrm>
          <a:prstGeom prst="roundRect">
            <a:avLst>
              <a:gd fmla="val 22500" name="adj"/>
            </a:avLst>
          </a:prstGeom>
          <a:solidFill>
            <a:srgbClr val="11161F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0" name="Google Shape;2150;p120"/>
          <p:cNvSpPr/>
          <p:nvPr/>
        </p:nvSpPr>
        <p:spPr>
          <a:xfrm>
            <a:off x="4525367" y="6613922"/>
            <a:ext cx="1595851" cy="370417"/>
          </a:xfrm>
          <a:prstGeom prst="roundRect">
            <a:avLst>
              <a:gd fmla="val 23143" name="adj"/>
            </a:avLst>
          </a:prstGeom>
          <a:solidFill>
            <a:srgbClr val="22D3EE">
              <a:alpha val="3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1" name="Google Shape;2151;p120"/>
          <p:cNvSpPr/>
          <p:nvPr/>
        </p:nvSpPr>
        <p:spPr>
          <a:xfrm>
            <a:off x="8386217" y="6669485"/>
            <a:ext cx="83820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vừa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2" name="Google Shape;2152;p120"/>
          <p:cNvSpPr/>
          <p:nvPr/>
        </p:nvSpPr>
        <p:spPr>
          <a:xfrm>
            <a:off x="10639392" y="4400765"/>
            <a:ext cx="5882363" cy="947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Khách hợp đồng tháng &amp; thâm niên thấp dễ rời nhất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3" name="Google Shape;2153;p120"/>
          <p:cNvSpPr/>
          <p:nvPr/>
        </p:nvSpPr>
        <p:spPr>
          <a:xfrm>
            <a:off x="10639392" y="5442810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Storytelling từ feature importance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4" name="Google Shape;2154;p120"/>
          <p:cNvSpPr/>
          <p:nvPr/>
        </p:nvSpPr>
        <p:spPr>
          <a:xfrm>
            <a:off x="10639392" y="6084755"/>
            <a:ext cx="5927839" cy="947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Đề xuất: ưu đãi gia hạn &amp; chăm sóc nhóm rủi ro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5" name="Google Shape;2155;p120"/>
          <p:cNvSpPr/>
          <p:nvPr/>
        </p:nvSpPr>
        <p:spPr>
          <a:xfrm>
            <a:off x="10639392" y="7126800"/>
            <a:ext cx="670077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0B1"/>
                </a:solidFill>
                <a:latin typeface="Arial"/>
                <a:ea typeface="Arial"/>
                <a:cs typeface="Arial"/>
                <a:sym typeface="Arial"/>
              </a:rPr>
              <a:t>Biến insight thành hành động giữ khách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0" name="Shape 2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1" name="Google Shape;2161;p121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0E16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2" name="Google Shape;2162;p121"/>
          <p:cNvSpPr/>
          <p:nvPr/>
        </p:nvSpPr>
        <p:spPr>
          <a:xfrm>
            <a:off x="1143000" y="876267"/>
            <a:ext cx="164820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SECTION 05 · HOÀN THÀNH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3" name="Google Shape;2163;p121"/>
          <p:cNvSpPr/>
          <p:nvPr/>
        </p:nvSpPr>
        <p:spPr>
          <a:xfrm>
            <a:off x="1143000" y="1349292"/>
            <a:ext cx="16482061" cy="55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750"/>
              <a:buFont typeface="Arial"/>
              <a:buNone/>
            </a:pPr>
            <a:r>
              <a:rPr b="1" i="0" lang="en-US" sz="37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ML Fundamentals + Capstone 1 ✅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4" name="Google Shape;2164;p121"/>
          <p:cNvSpPr/>
          <p:nvPr/>
        </p:nvSpPr>
        <p:spPr>
          <a:xfrm>
            <a:off x="1143000" y="4876188"/>
            <a:ext cx="4794581" cy="2074251"/>
          </a:xfrm>
          <a:prstGeom prst="roundRect">
            <a:avLst>
              <a:gd fmla="val 11021" name="adj"/>
            </a:avLst>
          </a:prstGeom>
          <a:solidFill>
            <a:srgbClr val="22D3EE">
              <a:alpha val="5098"/>
            </a:srgbClr>
          </a:solidFill>
          <a:ln cap="flat" cmpd="sng" w="1587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16200000" dist="50800">
              <a:srgbClr val="22D3EE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5" name="Google Shape;2165;p121"/>
          <p:cNvSpPr/>
          <p:nvPr/>
        </p:nvSpPr>
        <p:spPr>
          <a:xfrm>
            <a:off x="2717354" y="5253964"/>
            <a:ext cx="172207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PORTFOLIO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6" name="Google Shape;2166;p121"/>
          <p:cNvSpPr/>
          <p:nvPr/>
        </p:nvSpPr>
        <p:spPr>
          <a:xfrm>
            <a:off x="1692258" y="5608505"/>
            <a:ext cx="3806946" cy="6477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Project 1 / 7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7" name="Google Shape;2167;p121"/>
          <p:cNvSpPr/>
          <p:nvPr/>
        </p:nvSpPr>
        <p:spPr>
          <a:xfrm>
            <a:off x="1752699" y="6313372"/>
            <a:ext cx="3682353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CHURN PREDICTION · DONE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8" name="Google Shape;2168;p121"/>
          <p:cNvSpPr/>
          <p:nvPr/>
        </p:nvSpPr>
        <p:spPr>
          <a:xfrm>
            <a:off x="6699581" y="4784659"/>
            <a:ext cx="2038863" cy="479392"/>
          </a:xfrm>
          <a:prstGeom prst="roundRect">
            <a:avLst>
              <a:gd fmla="val 50000" name="adj"/>
            </a:avLst>
          </a:prstGeom>
          <a:solidFill>
            <a:srgbClr val="22D3EE">
              <a:alpha val="5098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9" name="Google Shape;2169;p121"/>
          <p:cNvSpPr/>
          <p:nvPr/>
        </p:nvSpPr>
        <p:spPr>
          <a:xfrm>
            <a:off x="6914423" y="4894726"/>
            <a:ext cx="1685379" cy="2973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20 lectures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0" name="Google Shape;2170;p121"/>
          <p:cNvSpPr/>
          <p:nvPr/>
        </p:nvSpPr>
        <p:spPr>
          <a:xfrm>
            <a:off x="8890827" y="4784659"/>
            <a:ext cx="2038863" cy="479392"/>
          </a:xfrm>
          <a:prstGeom prst="roundRect">
            <a:avLst>
              <a:gd fmla="val 50000" name="adj"/>
            </a:avLst>
          </a:prstGeom>
          <a:solidFill>
            <a:srgbClr val="22D3EE">
              <a:alpha val="5098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1" name="Google Shape;2171;p121"/>
          <p:cNvSpPr/>
          <p:nvPr/>
        </p:nvSpPr>
        <p:spPr>
          <a:xfrm>
            <a:off x="9105669" y="4894726"/>
            <a:ext cx="1685379" cy="2973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~119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2" name="Google Shape;2172;p121"/>
          <p:cNvSpPr/>
          <p:nvPr/>
        </p:nvSpPr>
        <p:spPr>
          <a:xfrm>
            <a:off x="11082074" y="4784659"/>
            <a:ext cx="1746333" cy="479392"/>
          </a:xfrm>
          <a:prstGeom prst="roundRect">
            <a:avLst>
              <a:gd fmla="val 50000" name="adj"/>
            </a:avLst>
          </a:prstGeom>
          <a:solidFill>
            <a:srgbClr val="22D3EE">
              <a:alpha val="5098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3" name="Google Shape;2173;p121"/>
          <p:cNvSpPr/>
          <p:nvPr/>
        </p:nvSpPr>
        <p:spPr>
          <a:xfrm>
            <a:off x="11296915" y="4894726"/>
            <a:ext cx="1392849" cy="2973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~170 phút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4" name="Google Shape;2174;p121"/>
          <p:cNvSpPr/>
          <p:nvPr/>
        </p:nvSpPr>
        <p:spPr>
          <a:xfrm>
            <a:off x="6699581" y="5549801"/>
            <a:ext cx="10445419" cy="1492250"/>
          </a:xfrm>
          <a:prstGeom prst="roundRect">
            <a:avLst>
              <a:gd fmla="val 11489" name="adj"/>
            </a:avLst>
          </a:prstGeom>
          <a:solidFill>
            <a:srgbClr val="22D3EE">
              <a:alpha val="3921"/>
            </a:srgbClr>
          </a:solidFill>
          <a:ln cap="flat" cmpd="sng" w="9525">
            <a:solidFill>
              <a:srgbClr val="22D3EE">
                <a:alpha val="34117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5" name="Google Shape;2175;p121"/>
          <p:cNvSpPr/>
          <p:nvPr/>
        </p:nvSpPr>
        <p:spPr>
          <a:xfrm>
            <a:off x="7066773" y="6166280"/>
            <a:ext cx="2106133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0B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0B1"/>
                </a:solidFill>
                <a:latin typeface="Courier New"/>
                <a:ea typeface="Courier New"/>
                <a:cs typeface="Courier New"/>
                <a:sym typeface="Courier New"/>
              </a:rPr>
              <a:t>SECTION TIẾP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6" name="Google Shape;2176;p121"/>
          <p:cNvSpPr/>
          <p:nvPr/>
        </p:nvSpPr>
        <p:spPr>
          <a:xfrm>
            <a:off x="9325240" y="5840843"/>
            <a:ext cx="6989394" cy="948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Section 6 — Time Series &amp; dữ liệu thời gian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7" name="Google Shape;2177;p121"/>
          <p:cNvSpPr/>
          <p:nvPr/>
        </p:nvSpPr>
        <p:spPr>
          <a:xfrm>
            <a:off x="16339592" y="6076818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