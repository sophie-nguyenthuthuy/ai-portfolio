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" name="Google Shape;360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4" name="Google Shape;41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2" name="Google Shape;46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2" name="Google Shape;51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3" name="Google Shape;553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3" name="Google Shape;563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7" name="Google Shape;57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7" name="Google Shape;58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8" name="Google Shape;62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8" name="Google Shape;638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3" name="Google Shape;663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0" name="Google Shape;70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2" name="Google Shape;712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0" name="Google Shape;730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4" name="Google Shape;754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8" name="Google Shape;768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9" name="Google Shape;769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9" name="Google Shape;779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6" name="Google Shape;796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0" name="Google Shape;810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4" name="Google Shape;824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8" name="Google Shape;83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2" name="Google Shape;852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5" name="Google Shape;865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5" name="Google Shape;875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6" name="Google Shape;876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5" name="Google Shape;905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9" name="Google Shape;919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2" name="Google Shape;932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2" name="Google Shape;942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6" name="Google Shape;956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7" name="Google Shape;957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6" name="Google Shape;96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7" name="Google Shape;967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0" name="Google Shape;980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3" name="Google Shape;1003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7" name="Google Shape;1017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1" name="Google Shape;1031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2" name="Google Shape;1032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3" name="Google Shape;1043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6" name="Google Shape;1056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6" name="Google Shape;1066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6" name="Google Shape;1076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0" name="Google Shape;1090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7" name="Google Shape;111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8" name="Google Shape;1118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8" name="Google Shape;1128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1" name="Google Shape;1141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2" name="Google Shape;1142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8" name="Google Shape;1158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9" name="Google Shape;1169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3" name="Google Shape;1193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4" name="Google Shape;1194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66767" y="1741372"/>
            <a:ext cx="1663910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 · BATCH 10 — KHOÁ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066767" y="2852043"/>
            <a:ext cx="14519911" cy="17418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50"/>
              <a:buFont typeface="Arial"/>
              <a:buNone/>
            </a:pPr>
            <a:r>
              <a:rPr b="1" i="0" lang="en-US" sz="6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AI &amp; Sự nghiệp AI Engineer</a:t>
            </a:r>
            <a:endParaRPr b="0" i="0" sz="6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66767" y="5752124"/>
            <a:ext cx="12135353" cy="944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lường bias &amp; fairness, giải thích model (SHAP / LIME / Grad-CAM), privacy và governance — rồi xây portfolio, luyện phỏng vấn và đàm phán offer.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357809" y="7597346"/>
            <a:ext cx="3885721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RESPONSIBLE AI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357809" y="7834396"/>
            <a:ext cx="3885721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&amp; Explainable 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1357809" y="8209029"/>
            <a:ext cx="3885721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 lectures · Governance Dashboard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5921954" y="7597346"/>
            <a:ext cx="3767941" cy="2180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"/>
              <a:buFont typeface="Courier New"/>
              <a:buNone/>
            </a:pPr>
            <a:r>
              <a:rPr b="0" i="0" lang="en-US" sz="12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CAREER</a:t>
            </a:r>
            <a:endParaRPr b="0" i="0" sz="12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5921954" y="7834396"/>
            <a:ext cx="3767941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Sự nghiệp &amp; Phỏng vấn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5921954" y="8209029"/>
            <a:ext cx="3767941" cy="255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Courier New"/>
              <a:buNone/>
            </a:pPr>
            <a:r>
              <a:rPr b="0" i="0" lang="en-US" sz="1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 lectures · Capstone trình bày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1066767" y="204440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66767" y="2605319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66767" y="5065035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Responsible &amp; Explainable AI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066767" y="6809135"/>
            <a:ext cx="10316192" cy="128106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lường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/ fairness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giải thích mô hình bằng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SHAP / LIME / Grad-CAM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áp dụng kỹ thuật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hiểu khung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governance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(Model Card · AI Act EU · ISO/IEC 42001).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Responsible AI? Các case thật (COMPAS, Amazon hiring)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RESPONSIBLE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quan trọng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ảnh hưởng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quyết định đời người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Sai = hậu quả nghiêm trọng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9701725" y="5749727"/>
            <a:ext cx="31131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1036116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0665934" y="5553935"/>
            <a:ext cx="173856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6"/>
          <p:cNvSpPr/>
          <p:nvPr/>
        </p:nvSpPr>
        <p:spPr>
          <a:xfrm>
            <a:off x="10880776" y="5749727"/>
            <a:ext cx="130887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Quyết định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253777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3057387" y="5749727"/>
            <a:ext cx="122875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người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RESPONSIBLE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COMPAS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dự đoán tái phạm tội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Thiên lệch theo chủng tộc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7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 đoán tái phạm → bias chủng tộc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7"/>
          <p:cNvSpPr/>
          <p:nvPr/>
        </p:nvSpPr>
        <p:spPr>
          <a:xfrm>
            <a:off x="10698387" y="6405646"/>
            <a:ext cx="5311261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COMPAS — bài học kinh điển về bias gây hại thật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RESPONSIBLE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Case Amazon hiring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tuyển dụng thiên lệch giới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từ dữ liệu lịch sử lệch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/>
          <p:nvPr/>
        </p:nvSpPr>
        <p:spPr>
          <a:xfrm>
            <a:off x="9701725" y="5749727"/>
            <a:ext cx="137882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lệch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8"/>
          <p:cNvSpPr/>
          <p:nvPr/>
        </p:nvSpPr>
        <p:spPr>
          <a:xfrm>
            <a:off x="1142867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8"/>
          <p:cNvSpPr/>
          <p:nvPr/>
        </p:nvSpPr>
        <p:spPr>
          <a:xfrm>
            <a:off x="11733444" y="5553935"/>
            <a:ext cx="120592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11948286" y="5749727"/>
            <a:ext cx="7762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1307265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8"/>
          <p:cNvSpPr/>
          <p:nvPr/>
        </p:nvSpPr>
        <p:spPr>
          <a:xfrm>
            <a:off x="13592259" y="5749727"/>
            <a:ext cx="183779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Quyết định lệch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VÌ SAO RESPONSIBLE AI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1300659" y="5120746"/>
            <a:ext cx="22074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Responsible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4050341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570282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Amazon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9"/>
          <p:cNvSpPr/>
          <p:nvPr/>
        </p:nvSpPr>
        <p:spPr>
          <a:xfrm>
            <a:off x="2449711" y="9085792"/>
            <a:ext cx="235922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&amp; Fairness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Bias &amp; Fairness — demographic parity, equal opportunity, disparate impact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BIAS &amp; FAIRNESS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loại bias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bias, sampling bias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Algorithmic bias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1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1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lệch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SAMPLING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Mẫu lệch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ALGORITHMIC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Thuật toán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BIAS &amp; FAIRNESS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Fairness metrics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Demographic parity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Equal opportunity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2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DEMOGRAPHIC PARITY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2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Tỉ lệ chấp nhận bằng nhau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2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giữa các nhóm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2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EQUAL OPPORTUNITY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2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Cơ hội bằng nhau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2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 positive rate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BIAS &amp; FAIRNESS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Disparate impact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Tác động khác nhau lên các nhóm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tắc 80% trong tuyển dụng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10536919" y="5445704"/>
            <a:ext cx="5634198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Tỉ lệ nhóm A / nhóm B ≥ 0.8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10585376" y="6142798"/>
            <a:ext cx="5537283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disparate impact — quy tắc 80% (four-fifths rule)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BIAS &amp; FAIRNESS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Accuracy vs Fairness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Đôi khi phải đánh đổi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Quyết định mang tính giá trị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ACCURACY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chính xác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4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kỹ thuật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4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FAIRNESS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4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bằng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4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giá trị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BIAS &amp; FAIRNESS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1300659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loại bias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3364574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fairness metrics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6388596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disparate impact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2449711" y="9085792"/>
            <a:ext cx="296468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 (XAI)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 — SHAP, LIME, attention visualization, Grad-CAM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EXPLAINABLE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cần giải thích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Niềm tin, tuân thủ pháp lý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 &amp; cải thiện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NIỀM TIN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Tin tưởng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người dùng &amp; pháp lý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DEBUG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Cải thiện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để sửa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EXPLAINABLE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importance &amp; SHAP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 nào ảnh hưởng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SHAP: đóng góp từng feature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SHAP waterfall: đóng góp (+/−) của từng feature vào một dự đoán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EXPLAINABLE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1447767" y="5350371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thích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cục bộ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từng dự đoán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1447767" y="6006373"/>
            <a:ext cx="615141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thích 1 ca cụ thể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9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LIME: feature nào đẩy dự đoán của một mẫu cụ thể lên / xuống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EXPLAINABLE AI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Grad-CAM &amp; attention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Grad-CAM: vùng ảnh CNN nhìn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Attention: từ nào model chú ý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0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Grad-CAM heatmap trên ảnh + attention map trên câu — nối lại CNN (S8) &amp; attention (S9)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EXPLAINABLE AI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1300659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2678890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4057121" y="5120746"/>
            <a:ext cx="305505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Grad-CAM · attention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2449711" y="9085792"/>
            <a:ext cx="245621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 trong 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Privacy — differential privacy, federated learning, ẩn PII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PRIVACY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Ẩn PII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&amp; ẩn thông tin cá nhân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Tên, số CMND, địa chỉ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9701725" y="5749727"/>
            <a:ext cx="145596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Văn bản gốc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1150582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11810587" y="5553935"/>
            <a:ext cx="189772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12025429" y="5749727"/>
            <a:ext cx="146804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PII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1384159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14361204" y="5749727"/>
            <a:ext cx="9930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 / ẩn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PRIVACY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Differential privacy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1447767" y="5350371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 </a:t>
            </a: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nhiễu </a:t>
            </a: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vệ cá nhân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1447767" y="6006373"/>
            <a:ext cx="7585380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Vẫn phân tích được tổng thể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4"/>
          <p:cNvSpPr/>
          <p:nvPr/>
        </p:nvSpPr>
        <p:spPr>
          <a:xfrm>
            <a:off x="9945292" y="5445704"/>
            <a:ext cx="6817535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+ nhiễu = bảo vệ cá nhân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4"/>
          <p:cNvSpPr/>
          <p:nvPr/>
        </p:nvSpPr>
        <p:spPr>
          <a:xfrm>
            <a:off x="11093966" y="6142798"/>
            <a:ext cx="452018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không truy ngược được bất kỳ cá nhân nào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PRIVACY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Federated learning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trên thiết bị, không gửi dữ liệu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gửi cập nhật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5"/>
          <p:cNvSpPr/>
          <p:nvPr/>
        </p:nvSpPr>
        <p:spPr>
          <a:xfrm>
            <a:off x="9701725" y="5344915"/>
            <a:ext cx="108704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bị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5"/>
          <p:cNvSpPr/>
          <p:nvPr/>
        </p:nvSpPr>
        <p:spPr>
          <a:xfrm>
            <a:off x="11136892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11656500" y="5344915"/>
            <a:ext cx="111771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bị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13122342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13427108" y="5149123"/>
            <a:ext cx="192575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5"/>
          <p:cNvSpPr/>
          <p:nvPr/>
        </p:nvSpPr>
        <p:spPr>
          <a:xfrm>
            <a:off x="13641950" y="5344915"/>
            <a:ext cx="14960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Gửi cập nhật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5486145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9701725" y="6154540"/>
            <a:ext cx="153815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chung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PRIVACY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ẩn PII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6"/>
          <p:cNvSpPr/>
          <p:nvPr/>
        </p:nvSpPr>
        <p:spPr>
          <a:xfrm>
            <a:off x="2953147" y="5120746"/>
            <a:ext cx="305505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differential privacy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6"/>
          <p:cNvSpPr/>
          <p:nvPr/>
        </p:nvSpPr>
        <p:spPr>
          <a:xfrm>
            <a:off x="6525766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federated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2449711" y="9085792"/>
            <a:ext cx="22826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Governance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7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7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Governance — Model Card, Data Sheet, AI Act (EU), ISO/IEC 42001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7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7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GOVERNANCE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Card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mô tả model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 đích, giới hạn, hiệu năng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28"/>
          <p:cNvSpPr/>
          <p:nvPr/>
        </p:nvSpPr>
        <p:spPr>
          <a:xfrm>
            <a:off x="12291749" y="5268615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8"/>
          <p:cNvSpPr/>
          <p:nvPr/>
        </p:nvSpPr>
        <p:spPr>
          <a:xfrm>
            <a:off x="9225602" y="5617766"/>
            <a:ext cx="6864545" cy="9982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Card: mục đích · dữ liệu train · hiệu năng theo nhóm · giới hạn — "nhãn dinh dưỡng" cho 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GOVERNANCE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Sheet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Tài liệu mô tả dataset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Nguồn, cách thu thập, hạn chế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9701725" y="5749727"/>
            <a:ext cx="82692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1087677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/>
          <p:nvPr/>
        </p:nvSpPr>
        <p:spPr>
          <a:xfrm>
            <a:off x="11181541" y="5553935"/>
            <a:ext cx="208739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9"/>
          <p:cNvSpPr/>
          <p:nvPr/>
        </p:nvSpPr>
        <p:spPr>
          <a:xfrm>
            <a:off x="11396382" y="5749727"/>
            <a:ext cx="165771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Cách thu thập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9"/>
          <p:cNvSpPr/>
          <p:nvPr/>
        </p:nvSpPr>
        <p:spPr>
          <a:xfrm>
            <a:off x="1340222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9"/>
          <p:cNvSpPr/>
          <p:nvPr/>
        </p:nvSpPr>
        <p:spPr>
          <a:xfrm>
            <a:off x="13921829" y="5749727"/>
            <a:ext cx="100030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Hạn chế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GOVERNANCE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Act (EU)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loại AI theo mức rủi ro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định nghiêm với rủi ro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0"/>
          <p:cNvSpPr/>
          <p:nvPr/>
        </p:nvSpPr>
        <p:spPr>
          <a:xfrm>
            <a:off x="9777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MINIMAL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9777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Rủi ro thấp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9617905" y="600612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ít ràng buộc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12444925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HIGH-RISK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12444925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Rủi ro cao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12284905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định nghiêm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15111926" y="518384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UNACCEPTABLE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15111926" y="549498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4951906" y="6006125"/>
            <a:ext cx="2054486" cy="63242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được dùng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GOVERNANCE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ISO/IEC 42001 &amp; quy định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quản lý hệ thống AI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GDPR &amp; các quy định bảo mật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ISO 42001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Quản lý AI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quản trị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GDPR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vệ dữ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quyền riêng tư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GOVERNANCE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2"/>
          <p:cNvSpPr/>
          <p:nvPr/>
        </p:nvSpPr>
        <p:spPr>
          <a:xfrm>
            <a:off x="1300659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Card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2"/>
          <p:cNvSpPr/>
          <p:nvPr/>
        </p:nvSpPr>
        <p:spPr>
          <a:xfrm>
            <a:off x="3501744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Data Sheet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2"/>
          <p:cNvSpPr/>
          <p:nvPr/>
        </p:nvSpPr>
        <p:spPr>
          <a:xfrm>
            <a:off x="570282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AI 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2"/>
          <p:cNvSpPr/>
          <p:nvPr/>
        </p:nvSpPr>
        <p:spPr>
          <a:xfrm>
            <a:off x="7355318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ISO 42001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2"/>
          <p:cNvSpPr/>
          <p:nvPr/>
        </p:nvSpPr>
        <p:spPr>
          <a:xfrm>
            <a:off x="2449711" y="9085792"/>
            <a:ext cx="404557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Governance Dashboard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33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3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15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3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dựng AI Governance Dashboard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3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GOVERNANCE DASHBOARD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Mục tiêu dashboard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fairness, drift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Explainability, compliance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4"/>
          <p:cNvSpPr/>
          <p:nvPr/>
        </p:nvSpPr>
        <p:spPr>
          <a:xfrm>
            <a:off x="97779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FAIRNESS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4"/>
          <p:cNvSpPr/>
          <p:nvPr/>
        </p:nvSpPr>
        <p:spPr>
          <a:xfrm>
            <a:off x="97779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bằng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4"/>
          <p:cNvSpPr/>
          <p:nvPr/>
        </p:nvSpPr>
        <p:spPr>
          <a:xfrm>
            <a:off x="13778425" y="4836005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DRIFT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4"/>
          <p:cNvSpPr/>
          <p:nvPr/>
        </p:nvSpPr>
        <p:spPr>
          <a:xfrm>
            <a:off x="13778425" y="5147138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Trôi dữ liệu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4"/>
          <p:cNvSpPr/>
          <p:nvPr/>
        </p:nvSpPr>
        <p:spPr>
          <a:xfrm>
            <a:off x="97779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XAI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4"/>
          <p:cNvSpPr/>
          <p:nvPr/>
        </p:nvSpPr>
        <p:spPr>
          <a:xfrm>
            <a:off x="97779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thích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4"/>
          <p:cNvSpPr/>
          <p:nvPr/>
        </p:nvSpPr>
        <p:spPr>
          <a:xfrm>
            <a:off x="13778425" y="6335531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COMPLIANCE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4"/>
          <p:cNvSpPr/>
          <p:nvPr/>
        </p:nvSpPr>
        <p:spPr>
          <a:xfrm>
            <a:off x="13778425" y="6646665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Tuân thủ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GOVERNANCE DASHBOARD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fairness &amp; drift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5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Đo bias theo nhóm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Cảnh báo khi lệch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5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5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5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Fairness panel: metric công bằng theo từng nhóm + cảnh báo khi drift (nối lại S14)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GOVERNANCE DASHBOARD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Explainability &amp; compliance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6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SHAP cho mẫu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Checklist tuân thủ — sẵn sàng audit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6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6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6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Explainability panel: SHAP theo mẫu + checklist tuân thủ Model Card / AI 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GOVERNANCE DASHBOARD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Tích hợp vào MLOps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Governance là 1 phần của pipeline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Section 14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7"/>
          <p:cNvSpPr/>
          <p:nvPr/>
        </p:nvSpPr>
        <p:spPr>
          <a:xfrm>
            <a:off x="9701725" y="5344915"/>
            <a:ext cx="182167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 pipeline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7"/>
          <p:cNvSpPr/>
          <p:nvPr/>
        </p:nvSpPr>
        <p:spPr>
          <a:xfrm>
            <a:off x="11871524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7"/>
          <p:cNvSpPr/>
          <p:nvPr/>
        </p:nvSpPr>
        <p:spPr>
          <a:xfrm>
            <a:off x="12176290" y="5149123"/>
            <a:ext cx="20785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37"/>
          <p:cNvSpPr/>
          <p:nvPr/>
        </p:nvSpPr>
        <p:spPr>
          <a:xfrm>
            <a:off x="12391132" y="5344915"/>
            <a:ext cx="164886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 Governance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7"/>
          <p:cNvSpPr/>
          <p:nvPr/>
        </p:nvSpPr>
        <p:spPr>
          <a:xfrm>
            <a:off x="14388125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7"/>
          <p:cNvSpPr/>
          <p:nvPr/>
        </p:nvSpPr>
        <p:spPr>
          <a:xfrm>
            <a:off x="9687977" y="6154540"/>
            <a:ext cx="305434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 có trách nhiệm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8"/>
          <p:cNvSpPr/>
          <p:nvPr/>
        </p:nvSpPr>
        <p:spPr>
          <a:xfrm>
            <a:off x="8429626" y="3213613"/>
            <a:ext cx="1428750" cy="1428750"/>
          </a:xfrm>
          <a:prstGeom prst="ellipse">
            <a:avLst/>
          </a:prstGeom>
          <a:noFill/>
          <a:ln>
            <a:noFill/>
          </a:ln>
          <a:effectLst>
            <a:outerShdw blurRad="4762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8"/>
          <p:cNvSpPr/>
          <p:nvPr/>
        </p:nvSpPr>
        <p:spPr>
          <a:xfrm>
            <a:off x="8428567" y="3250655"/>
            <a:ext cx="1430867" cy="139276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0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8"/>
          <p:cNvSpPr/>
          <p:nvPr/>
        </p:nvSpPr>
        <p:spPr>
          <a:xfrm>
            <a:off x="5957039" y="4928113"/>
            <a:ext cx="6373922" cy="752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Hoàn thành Section 15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8"/>
          <p:cNvSpPr/>
          <p:nvPr/>
        </p:nvSpPr>
        <p:spPr>
          <a:xfrm>
            <a:off x="2962291" y="5928238"/>
            <a:ext cx="12363419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 / 6 lectures · Governance Dashboard ✓ ·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188 / 198 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8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8"/>
          <p:cNvSpPr/>
          <p:nvPr/>
        </p:nvSpPr>
        <p:spPr>
          <a:xfrm>
            <a:off x="2449711" y="9085792"/>
            <a:ext cx="563649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16 — Sự nghiệp &amp; Phỏng vấn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8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"/>
          <p:cNvSpPr/>
          <p:nvPr/>
        </p:nvSpPr>
        <p:spPr>
          <a:xfrm>
            <a:off x="1066767" y="225152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BATCH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9"/>
          <p:cNvSpPr/>
          <p:nvPr/>
        </p:nvSpPr>
        <p:spPr>
          <a:xfrm>
            <a:off x="1066767" y="2812438"/>
            <a:ext cx="16639101" cy="1752600"/>
          </a:xfrm>
          <a:prstGeom prst="rect">
            <a:avLst/>
          </a:prstGeom>
          <a:noFill/>
          <a:ln>
            <a:noFill/>
          </a:ln>
          <a:effectLst>
            <a:outerShdw blurRad="5715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Courier New"/>
              <a:buNone/>
            </a:pPr>
            <a:r>
              <a:rPr b="1" i="0" lang="en-US" sz="15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</a:t>
            </a:r>
            <a:endParaRPr b="0" i="0" sz="1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9"/>
          <p:cNvSpPr/>
          <p:nvPr/>
        </p:nvSpPr>
        <p:spPr>
          <a:xfrm>
            <a:off x="1066767" y="5272154"/>
            <a:ext cx="13311281" cy="7512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b="1" i="0" lang="en-US" sz="5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Sự nghiệp, Portfolio &amp; Phỏng vấn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9"/>
          <p:cNvSpPr/>
          <p:nvPr/>
        </p:nvSpPr>
        <p:spPr>
          <a:xfrm>
            <a:off x="1066767" y="7016254"/>
            <a:ext cx="10316192" cy="8667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 GitHub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 ML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thuyết phục, tự tin với phỏng vấn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coding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system design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vi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; có chiến lược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đàm phán offer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 trình bày 3 dự án.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4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01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portfolio Data/AI trên GitHub — nhà tuyển dụng nhìn gì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PORTFOLIO GITHUB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Nhà tuyển dụng nhìn gì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 rõ ràng, demo chạy được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 sạch, có metric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41"/>
          <p:cNvSpPr/>
          <p:nvPr/>
        </p:nvSpPr>
        <p:spPr>
          <a:xfrm>
            <a:off x="9777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README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1"/>
          <p:cNvSpPr/>
          <p:nvPr/>
        </p:nvSpPr>
        <p:spPr>
          <a:xfrm>
            <a:off x="9777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Rõ ràng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1"/>
          <p:cNvSpPr/>
          <p:nvPr/>
        </p:nvSpPr>
        <p:spPr>
          <a:xfrm>
            <a:off x="9617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ngay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12444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DEMO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1"/>
          <p:cNvSpPr/>
          <p:nvPr/>
        </p:nvSpPr>
        <p:spPr>
          <a:xfrm>
            <a:off x="12444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được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1"/>
          <p:cNvSpPr/>
          <p:nvPr/>
        </p:nvSpPr>
        <p:spPr>
          <a:xfrm>
            <a:off x="12284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GIF / link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1"/>
          <p:cNvSpPr/>
          <p:nvPr/>
        </p:nvSpPr>
        <p:spPr>
          <a:xfrm>
            <a:off x="15111926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METRIC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1"/>
          <p:cNvSpPr/>
          <p:nvPr/>
        </p:nvSpPr>
        <p:spPr>
          <a:xfrm>
            <a:off x="15111926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kết quả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1"/>
          <p:cNvSpPr/>
          <p:nvPr/>
        </p:nvSpPr>
        <p:spPr>
          <a:xfrm>
            <a:off x="14951906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 đo lường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4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PORTFOLIO GITHUB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Anatomy của repo tốt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README, demo / GIF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quả, hướng dẫn chạy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9486884" y="4401344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2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README + demo GIF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2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2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 &amp; metric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2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2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Hướng dẫn chạy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PORTFOLIO GITHUB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dự án trưng bày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4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 dự án mạnh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 dạng: ML, CV/NLP, production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9777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43"/>
          <p:cNvSpPr/>
          <p:nvPr/>
        </p:nvSpPr>
        <p:spPr>
          <a:xfrm>
            <a:off x="9777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Cổ điển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3"/>
          <p:cNvSpPr/>
          <p:nvPr/>
        </p:nvSpPr>
        <p:spPr>
          <a:xfrm>
            <a:off x="9617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churn, fraud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3"/>
          <p:cNvSpPr/>
          <p:nvPr/>
        </p:nvSpPr>
        <p:spPr>
          <a:xfrm>
            <a:off x="12444925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CV / NLP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3"/>
          <p:cNvSpPr/>
          <p:nvPr/>
        </p:nvSpPr>
        <p:spPr>
          <a:xfrm>
            <a:off x="12444925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43"/>
          <p:cNvSpPr/>
          <p:nvPr/>
        </p:nvSpPr>
        <p:spPr>
          <a:xfrm>
            <a:off x="12284905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ảnh, văn bản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3"/>
          <p:cNvSpPr/>
          <p:nvPr/>
        </p:nvSpPr>
        <p:spPr>
          <a:xfrm>
            <a:off x="15111926" y="5332429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PRODUCTION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3"/>
          <p:cNvSpPr/>
          <p:nvPr/>
        </p:nvSpPr>
        <p:spPr>
          <a:xfrm>
            <a:off x="15111926" y="5643563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43"/>
          <p:cNvSpPr/>
          <p:nvPr/>
        </p:nvSpPr>
        <p:spPr>
          <a:xfrm>
            <a:off x="14951906" y="6154705"/>
            <a:ext cx="20544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thật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PORTFOLIO GITHUB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 &amp; profile README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44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Ghim repo tốt nhất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Profile README giới thiệu bản thân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44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4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4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GitHub profile: pinned repos + profile README giới thiệu kỹ năng &amp; dự 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4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PORTFOLIO GITHUB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5"/>
          <p:cNvSpPr/>
          <p:nvPr/>
        </p:nvSpPr>
        <p:spPr>
          <a:xfrm>
            <a:off x="1300659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README ·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5"/>
          <p:cNvSpPr/>
          <p:nvPr/>
        </p:nvSpPr>
        <p:spPr>
          <a:xfrm>
            <a:off x="3913171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 dự án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5"/>
          <p:cNvSpPr/>
          <p:nvPr/>
        </p:nvSpPr>
        <p:spPr>
          <a:xfrm>
            <a:off x="5702829" y="5120746"/>
            <a:ext cx="124569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profile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5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5"/>
          <p:cNvSpPr/>
          <p:nvPr/>
        </p:nvSpPr>
        <p:spPr>
          <a:xfrm>
            <a:off x="2449711" y="9085792"/>
            <a:ext cx="1733319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CV ML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5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6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46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02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46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CV ML — bullet point khiến bạn được gọi phỏng vấn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46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6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CV ML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4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Cấu trúc CV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4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Liên hệ, tóm tắt, dự án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Kỹ năng, học vấn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7"/>
          <p:cNvSpPr/>
          <p:nvPr/>
        </p:nvSpPr>
        <p:spPr>
          <a:xfrm>
            <a:off x="9623810" y="4597136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 + liên hệ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47"/>
          <p:cNvSpPr/>
          <p:nvPr/>
        </p:nvSpPr>
        <p:spPr>
          <a:xfrm>
            <a:off x="13268276" y="5172935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47"/>
          <p:cNvSpPr/>
          <p:nvPr/>
        </p:nvSpPr>
        <p:spPr>
          <a:xfrm>
            <a:off x="9486884" y="5553935"/>
            <a:ext cx="773435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47"/>
          <p:cNvSpPr/>
          <p:nvPr/>
        </p:nvSpPr>
        <p:spPr>
          <a:xfrm>
            <a:off x="9623810" y="5749727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 án (lên trước với người mới)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47"/>
          <p:cNvSpPr/>
          <p:nvPr/>
        </p:nvSpPr>
        <p:spPr>
          <a:xfrm>
            <a:off x="13268276" y="6325526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47"/>
          <p:cNvSpPr/>
          <p:nvPr/>
        </p:nvSpPr>
        <p:spPr>
          <a:xfrm>
            <a:off x="9623810" y="6902318"/>
            <a:ext cx="746049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Kỹ năng · học vấn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CV ML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4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Bullet point tốt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4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động + công nghệ + kết quả số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"Xây X bằng Y, đạt Z%"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48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động + công nghệ + kết quả số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48"/>
          <p:cNvSpPr/>
          <p:nvPr/>
        </p:nvSpPr>
        <p:spPr>
          <a:xfrm>
            <a:off x="11771949" y="6405646"/>
            <a:ext cx="3164137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luôn có con số đo lường được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CV ML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Bullet xấu vs tốt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Xấu: "làm việc với ML"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Tốt: "model churn F1 0.85, giảm 20% khách rời"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9"/>
          <p:cNvSpPr/>
          <p:nvPr/>
        </p:nvSpPr>
        <p:spPr>
          <a:xfrm>
            <a:off x="97779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XẤU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9"/>
          <p:cNvSpPr/>
          <p:nvPr/>
        </p:nvSpPr>
        <p:spPr>
          <a:xfrm>
            <a:off x="97779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Mơ hồ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9"/>
          <p:cNvSpPr/>
          <p:nvPr/>
        </p:nvSpPr>
        <p:spPr>
          <a:xfrm>
            <a:off x="9617905" y="5948991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"làm việc với ML"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9"/>
          <p:cNvSpPr/>
          <p:nvPr/>
        </p:nvSpPr>
        <p:spPr>
          <a:xfrm>
            <a:off x="13778425" y="5126716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TỐT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49"/>
          <p:cNvSpPr/>
          <p:nvPr/>
        </p:nvSpPr>
        <p:spPr>
          <a:xfrm>
            <a:off x="13778425" y="5437849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Cụ thể + số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49"/>
          <p:cNvSpPr/>
          <p:nvPr/>
        </p:nvSpPr>
        <p:spPr>
          <a:xfrm>
            <a:off x="13618405" y="5948991"/>
            <a:ext cx="3387986" cy="7466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F1 0.85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−20% churn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5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CV ML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ATS &amp; từ khoá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Hệ thống lọc CV tự động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Khớp từ khoá JD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0"/>
          <p:cNvSpPr/>
          <p:nvPr/>
        </p:nvSpPr>
        <p:spPr>
          <a:xfrm>
            <a:off x="9701725" y="5749727"/>
            <a:ext cx="41880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0"/>
          <p:cNvSpPr/>
          <p:nvPr/>
        </p:nvSpPr>
        <p:spPr>
          <a:xfrm>
            <a:off x="1046865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0"/>
          <p:cNvSpPr/>
          <p:nvPr/>
        </p:nvSpPr>
        <p:spPr>
          <a:xfrm>
            <a:off x="10773420" y="5553935"/>
            <a:ext cx="134830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50"/>
          <p:cNvSpPr/>
          <p:nvPr/>
        </p:nvSpPr>
        <p:spPr>
          <a:xfrm>
            <a:off x="10988262" y="5749727"/>
            <a:ext cx="91861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ATS lọc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0"/>
          <p:cNvSpPr/>
          <p:nvPr/>
        </p:nvSpPr>
        <p:spPr>
          <a:xfrm>
            <a:off x="1225500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0"/>
          <p:cNvSpPr/>
          <p:nvPr/>
        </p:nvSpPr>
        <p:spPr>
          <a:xfrm>
            <a:off x="12774613" y="5749727"/>
            <a:ext cx="110680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Recruiter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5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CV ML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5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51"/>
          <p:cNvSpPr/>
          <p:nvPr/>
        </p:nvSpPr>
        <p:spPr>
          <a:xfrm>
            <a:off x="130065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cấu trúc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51"/>
          <p:cNvSpPr/>
          <p:nvPr/>
        </p:nvSpPr>
        <p:spPr>
          <a:xfrm>
            <a:off x="3227487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bullet có số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51"/>
          <p:cNvSpPr/>
          <p:nvPr/>
        </p:nvSpPr>
        <p:spPr>
          <a:xfrm>
            <a:off x="5702912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51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51"/>
          <p:cNvSpPr/>
          <p:nvPr/>
        </p:nvSpPr>
        <p:spPr>
          <a:xfrm>
            <a:off x="2449711" y="9085792"/>
            <a:ext cx="232234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LinkedIn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51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52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52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03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52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Tối ưu LinkedIn cho vị trí AI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52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52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5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LINKEDIN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5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Headline &amp; About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53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Headline rõ vai trò + từ khoá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About kể câu chuyện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53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3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53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Headline: "AI/ML Engineer · LLM · MLOps" + About kể hành trình &amp; thế mạnh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LINKEDIN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5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Featured &amp; dự án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5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Ghim dự án, bài viết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 GitHub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54"/>
          <p:cNvSpPr/>
          <p:nvPr/>
        </p:nvSpPr>
        <p:spPr>
          <a:xfrm>
            <a:off x="9701725" y="5749727"/>
            <a:ext cx="107951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54"/>
          <p:cNvSpPr/>
          <p:nvPr/>
        </p:nvSpPr>
        <p:spPr>
          <a:xfrm>
            <a:off x="1112936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54"/>
          <p:cNvSpPr/>
          <p:nvPr/>
        </p:nvSpPr>
        <p:spPr>
          <a:xfrm>
            <a:off x="11434135" y="5553935"/>
            <a:ext cx="222150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4"/>
          <p:cNvSpPr/>
          <p:nvPr/>
        </p:nvSpPr>
        <p:spPr>
          <a:xfrm>
            <a:off x="11648976" y="5749727"/>
            <a:ext cx="17918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 án + GitHub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54"/>
          <p:cNvSpPr/>
          <p:nvPr/>
        </p:nvSpPr>
        <p:spPr>
          <a:xfrm>
            <a:off x="1378892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54"/>
          <p:cNvSpPr/>
          <p:nvPr/>
        </p:nvSpPr>
        <p:spPr>
          <a:xfrm>
            <a:off x="14308535" y="5749727"/>
            <a:ext cx="11983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Trang đầu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LINKEDIN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5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Networking &amp; nội dung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p5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nối, chia sẻ học tập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thương hiệu cá nhân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55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KẾT NỐI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55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 lưới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55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đồng nghiệp, recruiter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55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NỘI DUNG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55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sẻ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55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hành trình học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LINKEDIN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5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56"/>
          <p:cNvSpPr/>
          <p:nvPr/>
        </p:nvSpPr>
        <p:spPr>
          <a:xfrm>
            <a:off x="1300659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headline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56"/>
          <p:cNvSpPr/>
          <p:nvPr/>
        </p:nvSpPr>
        <p:spPr>
          <a:xfrm>
            <a:off x="3227487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featured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56"/>
          <p:cNvSpPr/>
          <p:nvPr/>
        </p:nvSpPr>
        <p:spPr>
          <a:xfrm>
            <a:off x="5154315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networking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56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56"/>
          <p:cNvSpPr/>
          <p:nvPr/>
        </p:nvSpPr>
        <p:spPr>
          <a:xfrm>
            <a:off x="2449711" y="9085792"/>
            <a:ext cx="276370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Phỏng vấn coding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56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57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04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57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04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57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Phỏng vấn coding — ôn DSA với Python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57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57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~8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5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PHỎNG VẤN CODING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5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DSA cần biết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5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Array, string, hash map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pointers, sorting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58"/>
          <p:cNvSpPr/>
          <p:nvPr/>
        </p:nvSpPr>
        <p:spPr>
          <a:xfrm>
            <a:off x="9777925" y="558576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CẤU TRÚC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58"/>
          <p:cNvSpPr/>
          <p:nvPr/>
        </p:nvSpPr>
        <p:spPr>
          <a:xfrm>
            <a:off x="9777925" y="589690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Array · String · Hash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58"/>
          <p:cNvSpPr/>
          <p:nvPr/>
        </p:nvSpPr>
        <p:spPr>
          <a:xfrm>
            <a:off x="13778425" y="558576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KỸ THUẬT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9" name="Google Shape;709;p58"/>
          <p:cNvSpPr/>
          <p:nvPr/>
        </p:nvSpPr>
        <p:spPr>
          <a:xfrm>
            <a:off x="13778425" y="589690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Two pointers · Sort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5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PHỎNG VẤN CODING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trình giải bài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9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đề → ví dụ → tiếp cận → code → test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Nói to suy nghĩ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9"/>
          <p:cNvSpPr/>
          <p:nvPr/>
        </p:nvSpPr>
        <p:spPr>
          <a:xfrm>
            <a:off x="9701725" y="5344915"/>
            <a:ext cx="93837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đề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9"/>
          <p:cNvSpPr/>
          <p:nvPr/>
        </p:nvSpPr>
        <p:spPr>
          <a:xfrm>
            <a:off x="10988229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11507837" y="5344915"/>
            <a:ext cx="64328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59"/>
          <p:cNvSpPr/>
          <p:nvPr/>
        </p:nvSpPr>
        <p:spPr>
          <a:xfrm>
            <a:off x="12499248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59"/>
          <p:cNvSpPr/>
          <p:nvPr/>
        </p:nvSpPr>
        <p:spPr>
          <a:xfrm>
            <a:off x="12804015" y="5149123"/>
            <a:ext cx="1459012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59"/>
          <p:cNvSpPr/>
          <p:nvPr/>
        </p:nvSpPr>
        <p:spPr>
          <a:xfrm>
            <a:off x="13018857" y="5344915"/>
            <a:ext cx="102932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Tiếp cận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14396311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59"/>
          <p:cNvSpPr/>
          <p:nvPr/>
        </p:nvSpPr>
        <p:spPr>
          <a:xfrm>
            <a:off x="14915919" y="5344915"/>
            <a:ext cx="67925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59"/>
          <p:cNvSpPr/>
          <p:nvPr/>
        </p:nvSpPr>
        <p:spPr>
          <a:xfrm>
            <a:off x="15943297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9"/>
          <p:cNvSpPr/>
          <p:nvPr/>
        </p:nvSpPr>
        <p:spPr>
          <a:xfrm>
            <a:off x="9701725" y="6154540"/>
            <a:ext cx="54820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60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PHỎNG VẤN CODING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0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Big-O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60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tích độ phức tạp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 &amp; space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60"/>
          <p:cNvSpPr/>
          <p:nvPr/>
        </p:nvSpPr>
        <p:spPr>
          <a:xfrm>
            <a:off x="10128562" y="5445704"/>
            <a:ext cx="6450994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O(1) &lt; O(log n) &lt; O(n) &lt; O(n²)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60"/>
          <p:cNvSpPr/>
          <p:nvPr/>
        </p:nvSpPr>
        <p:spPr>
          <a:xfrm>
            <a:off x="10585376" y="6142798"/>
            <a:ext cx="5537283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luôn nói về time &amp; space complexity của giải pháp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PHỎNG VẤN CODING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6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Luyện tập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6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LeetCode, HackerRank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ngày vài bài — đều đặn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61"/>
          <p:cNvSpPr/>
          <p:nvPr/>
        </p:nvSpPr>
        <p:spPr>
          <a:xfrm>
            <a:off x="9701725" y="5749727"/>
            <a:ext cx="109944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ngày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1"/>
          <p:cNvSpPr/>
          <p:nvPr/>
        </p:nvSpPr>
        <p:spPr>
          <a:xfrm>
            <a:off x="1114929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61"/>
          <p:cNvSpPr/>
          <p:nvPr/>
        </p:nvSpPr>
        <p:spPr>
          <a:xfrm>
            <a:off x="11454061" y="5553935"/>
            <a:ext cx="124594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61"/>
          <p:cNvSpPr/>
          <p:nvPr/>
        </p:nvSpPr>
        <p:spPr>
          <a:xfrm>
            <a:off x="11668903" y="5749727"/>
            <a:ext cx="81625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Vài bài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61"/>
          <p:cNvSpPr/>
          <p:nvPr/>
        </p:nvSpPr>
        <p:spPr>
          <a:xfrm>
            <a:off x="1283328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61"/>
          <p:cNvSpPr/>
          <p:nvPr/>
        </p:nvSpPr>
        <p:spPr>
          <a:xfrm>
            <a:off x="13349557" y="5749727"/>
            <a:ext cx="233940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Đều đặn &gt; nhồi nhét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6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PHỎNG VẤN CODING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6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62"/>
          <p:cNvSpPr/>
          <p:nvPr/>
        </p:nvSpPr>
        <p:spPr>
          <a:xfrm>
            <a:off x="1300659" y="5120746"/>
            <a:ext cx="69709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DSA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62"/>
          <p:cNvSpPr/>
          <p:nvPr/>
        </p:nvSpPr>
        <p:spPr>
          <a:xfrm>
            <a:off x="2541720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quy trình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62"/>
          <p:cNvSpPr/>
          <p:nvPr/>
        </p:nvSpPr>
        <p:spPr>
          <a:xfrm>
            <a:off x="4605635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Big-O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2" name="Google Shape;762;p62"/>
          <p:cNvSpPr/>
          <p:nvPr/>
        </p:nvSpPr>
        <p:spPr>
          <a:xfrm>
            <a:off x="6120954" y="5120746"/>
            <a:ext cx="151994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luyện tập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62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62"/>
          <p:cNvSpPr/>
          <p:nvPr/>
        </p:nvSpPr>
        <p:spPr>
          <a:xfrm>
            <a:off x="2449711" y="9085792"/>
            <a:ext cx="27979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system design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62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63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05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63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63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system design — khung tư duy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63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63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 phút · 6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6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Khung tư duy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64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 → Data → Model → Eval → Deploy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4"/>
          <p:cNvSpPr/>
          <p:nvPr/>
        </p:nvSpPr>
        <p:spPr>
          <a:xfrm>
            <a:off x="9701725" y="5749727"/>
            <a:ext cx="101237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64"/>
          <p:cNvSpPr/>
          <p:nvPr/>
        </p:nvSpPr>
        <p:spPr>
          <a:xfrm>
            <a:off x="1106222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64"/>
          <p:cNvSpPr/>
          <p:nvPr/>
        </p:nvSpPr>
        <p:spPr>
          <a:xfrm>
            <a:off x="11581839" y="5749727"/>
            <a:ext cx="60566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7" name="Google Shape;787;p64"/>
          <p:cNvSpPr/>
          <p:nvPr/>
        </p:nvSpPr>
        <p:spPr>
          <a:xfrm>
            <a:off x="1253562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8" name="Google Shape;788;p64"/>
          <p:cNvSpPr/>
          <p:nvPr/>
        </p:nvSpPr>
        <p:spPr>
          <a:xfrm>
            <a:off x="12840395" y="5553935"/>
            <a:ext cx="1205921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9" name="Google Shape;789;p64"/>
          <p:cNvSpPr/>
          <p:nvPr/>
        </p:nvSpPr>
        <p:spPr>
          <a:xfrm>
            <a:off x="13055237" y="5749727"/>
            <a:ext cx="77623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64"/>
          <p:cNvSpPr/>
          <p:nvPr/>
        </p:nvSpPr>
        <p:spPr>
          <a:xfrm>
            <a:off x="14179601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64"/>
          <p:cNvSpPr/>
          <p:nvPr/>
        </p:nvSpPr>
        <p:spPr>
          <a:xfrm>
            <a:off x="14699209" y="5749727"/>
            <a:ext cx="54183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64"/>
          <p:cNvSpPr/>
          <p:nvPr/>
        </p:nvSpPr>
        <p:spPr>
          <a:xfrm>
            <a:off x="1558916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64"/>
          <p:cNvSpPr/>
          <p:nvPr/>
        </p:nvSpPr>
        <p:spPr>
          <a:xfrm>
            <a:off x="16108776" y="5749727"/>
            <a:ext cx="8640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Deploy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6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6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rõ yêu cầu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6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Hỏi lại scope, ràng buộc, quy mô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Đừng vội code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65"/>
          <p:cNvSpPr/>
          <p:nvPr/>
        </p:nvSpPr>
        <p:spPr>
          <a:xfrm>
            <a:off x="9701725" y="5749727"/>
            <a:ext cx="79219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Scope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65"/>
          <p:cNvSpPr/>
          <p:nvPr/>
        </p:nvSpPr>
        <p:spPr>
          <a:xfrm>
            <a:off x="1084204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65"/>
          <p:cNvSpPr/>
          <p:nvPr/>
        </p:nvSpPr>
        <p:spPr>
          <a:xfrm>
            <a:off x="11146814" y="5553935"/>
            <a:ext cx="1705653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65"/>
          <p:cNvSpPr/>
          <p:nvPr/>
        </p:nvSpPr>
        <p:spPr>
          <a:xfrm>
            <a:off x="11361655" y="5749727"/>
            <a:ext cx="127597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Ràng buộc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65"/>
          <p:cNvSpPr/>
          <p:nvPr/>
        </p:nvSpPr>
        <p:spPr>
          <a:xfrm>
            <a:off x="12985750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65"/>
          <p:cNvSpPr/>
          <p:nvPr/>
        </p:nvSpPr>
        <p:spPr>
          <a:xfrm>
            <a:off x="13505360" y="5749727"/>
            <a:ext cx="9450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Quy mô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2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6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6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&amp; feature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5" name="Google Shape;815;p66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 data, feature, labeling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66"/>
          <p:cNvSpPr/>
          <p:nvPr/>
        </p:nvSpPr>
        <p:spPr>
          <a:xfrm>
            <a:off x="9701725" y="5749727"/>
            <a:ext cx="13825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Nguồn data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66"/>
          <p:cNvSpPr/>
          <p:nvPr/>
        </p:nvSpPr>
        <p:spPr>
          <a:xfrm>
            <a:off x="1143239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66"/>
          <p:cNvSpPr/>
          <p:nvPr/>
        </p:nvSpPr>
        <p:spPr>
          <a:xfrm>
            <a:off x="11737165" y="5553935"/>
            <a:ext cx="136177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66"/>
          <p:cNvSpPr/>
          <p:nvPr/>
        </p:nvSpPr>
        <p:spPr>
          <a:xfrm>
            <a:off x="11952007" y="5749727"/>
            <a:ext cx="932094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66"/>
          <p:cNvSpPr/>
          <p:nvPr/>
        </p:nvSpPr>
        <p:spPr>
          <a:xfrm>
            <a:off x="13232226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66"/>
          <p:cNvSpPr/>
          <p:nvPr/>
        </p:nvSpPr>
        <p:spPr>
          <a:xfrm>
            <a:off x="13751835" y="5749727"/>
            <a:ext cx="104007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Labeling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6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6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 &amp; monitoring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9" name="Google Shape;829;p6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Latency, scale, drift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MLOps Section 14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67"/>
          <p:cNvSpPr/>
          <p:nvPr/>
        </p:nvSpPr>
        <p:spPr>
          <a:xfrm>
            <a:off x="9701725" y="5749727"/>
            <a:ext cx="94110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Serving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67"/>
          <p:cNvSpPr/>
          <p:nvPr/>
        </p:nvSpPr>
        <p:spPr>
          <a:xfrm>
            <a:off x="1099095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67"/>
          <p:cNvSpPr/>
          <p:nvPr/>
        </p:nvSpPr>
        <p:spPr>
          <a:xfrm>
            <a:off x="11295724" y="5553935"/>
            <a:ext cx="218231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67"/>
          <p:cNvSpPr/>
          <p:nvPr/>
        </p:nvSpPr>
        <p:spPr>
          <a:xfrm>
            <a:off x="11510566" y="5749727"/>
            <a:ext cx="175263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Latency / scale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67"/>
          <p:cNvSpPr/>
          <p:nvPr/>
        </p:nvSpPr>
        <p:spPr>
          <a:xfrm>
            <a:off x="1361132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67"/>
          <p:cNvSpPr/>
          <p:nvPr/>
        </p:nvSpPr>
        <p:spPr>
          <a:xfrm>
            <a:off x="14130933" y="5749727"/>
            <a:ext cx="147217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Monitor drift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6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6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Ví dụ thực hành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6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hệ recommendation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Hoặc fraud detection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8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RECOMMENDATION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68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Gợi ý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68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ranking, embedding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68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FRAUD DETECTION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8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gian lận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68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imbalanced, real-time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p6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ML SYSTEM DESIGN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6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69"/>
          <p:cNvSpPr/>
          <p:nvPr/>
        </p:nvSpPr>
        <p:spPr>
          <a:xfrm>
            <a:off x="1300659" y="5120746"/>
            <a:ext cx="193145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khung 5 bước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69"/>
          <p:cNvSpPr/>
          <p:nvPr/>
        </p:nvSpPr>
        <p:spPr>
          <a:xfrm>
            <a:off x="3776084" y="5120746"/>
            <a:ext cx="2068546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clarify trước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69"/>
          <p:cNvSpPr/>
          <p:nvPr/>
        </p:nvSpPr>
        <p:spPr>
          <a:xfrm>
            <a:off x="6388596" y="5120746"/>
            <a:ext cx="2631290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serving + monitor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9"/>
          <p:cNvSpPr/>
          <p:nvPr/>
        </p:nvSpPr>
        <p:spPr>
          <a:xfrm>
            <a:off x="2449711" y="9085792"/>
            <a:ext cx="3977612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Phỏng vấn hành vi (STAR)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06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70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06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70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Phỏng vấn hành vi — STAR, câu hỏi ML hay gặp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70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0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p7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PHỎNG VẤN HÀNH VI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7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Phương pháp STAR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71"/>
          <p:cNvSpPr/>
          <p:nvPr/>
        </p:nvSpPr>
        <p:spPr>
          <a:xfrm>
            <a:off x="840072" y="5678372"/>
            <a:ext cx="8037245" cy="465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Situation, Task, Action, Result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71"/>
          <p:cNvSpPr/>
          <p:nvPr/>
        </p:nvSpPr>
        <p:spPr>
          <a:xfrm>
            <a:off x="9701725" y="5749727"/>
            <a:ext cx="1086131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71"/>
          <p:cNvSpPr/>
          <p:nvPr/>
        </p:nvSpPr>
        <p:spPr>
          <a:xfrm>
            <a:off x="111359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71"/>
          <p:cNvSpPr/>
          <p:nvPr/>
        </p:nvSpPr>
        <p:spPr>
          <a:xfrm>
            <a:off x="11655591" y="5749727"/>
            <a:ext cx="59061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Task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71"/>
          <p:cNvSpPr/>
          <p:nvPr/>
        </p:nvSpPr>
        <p:spPr>
          <a:xfrm>
            <a:off x="1259433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71"/>
          <p:cNvSpPr/>
          <p:nvPr/>
        </p:nvSpPr>
        <p:spPr>
          <a:xfrm>
            <a:off x="12899100" y="5553935"/>
            <a:ext cx="1236100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71"/>
          <p:cNvSpPr/>
          <p:nvPr/>
        </p:nvSpPr>
        <p:spPr>
          <a:xfrm>
            <a:off x="13113942" y="5749727"/>
            <a:ext cx="80641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7" name="Google Shape;887;p71"/>
          <p:cNvSpPr/>
          <p:nvPr/>
        </p:nvSpPr>
        <p:spPr>
          <a:xfrm>
            <a:off x="1426848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71"/>
          <p:cNvSpPr/>
          <p:nvPr/>
        </p:nvSpPr>
        <p:spPr>
          <a:xfrm>
            <a:off x="14788093" y="5749727"/>
            <a:ext cx="78616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PHỎNG VẤN HÀNH VI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7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hỏi hay gặp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7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"Kể về dự án ML đã ship"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"Model dở trong production, xử lý sao?"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72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72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"Dự án đã ship"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9" name="Google Shape;899;p72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STAR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72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SỰ CỐ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1" name="Google Shape;901;p72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"Model dở, xử lý?"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72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debug + monitor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7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PHỎNG VẤN HÀNH VI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9" name="Google Shape;909;p7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thích cho non-tech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7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Diễn giải model cho người không kỹ thuật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storytelling các Capstone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1" name="Google Shape;911;p73"/>
          <p:cNvSpPr/>
          <p:nvPr/>
        </p:nvSpPr>
        <p:spPr>
          <a:xfrm>
            <a:off x="9701295" y="5344915"/>
            <a:ext cx="2139868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Ngôn ngữ kỹ thuật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73"/>
          <p:cNvSpPr/>
          <p:nvPr/>
        </p:nvSpPr>
        <p:spPr>
          <a:xfrm>
            <a:off x="12188858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73"/>
          <p:cNvSpPr/>
          <p:nvPr/>
        </p:nvSpPr>
        <p:spPr>
          <a:xfrm>
            <a:off x="12493626" y="5149123"/>
            <a:ext cx="1446279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73"/>
          <p:cNvSpPr/>
          <p:nvPr/>
        </p:nvSpPr>
        <p:spPr>
          <a:xfrm>
            <a:off x="12708467" y="5344915"/>
            <a:ext cx="101659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diễn giải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73"/>
          <p:cNvSpPr/>
          <p:nvPr/>
        </p:nvSpPr>
        <p:spPr>
          <a:xfrm>
            <a:off x="14073189" y="5344418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73"/>
          <p:cNvSpPr/>
          <p:nvPr/>
        </p:nvSpPr>
        <p:spPr>
          <a:xfrm>
            <a:off x="9696366" y="6154540"/>
            <a:ext cx="247830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Ngôn ngữ kinh doanh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p7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PHỎNG VẤN HÀNH VI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7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74"/>
          <p:cNvSpPr/>
          <p:nvPr/>
        </p:nvSpPr>
        <p:spPr>
          <a:xfrm>
            <a:off x="1300659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74"/>
          <p:cNvSpPr/>
          <p:nvPr/>
        </p:nvSpPr>
        <p:spPr>
          <a:xfrm>
            <a:off x="2678890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câu chuyện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74"/>
          <p:cNvSpPr/>
          <p:nvPr/>
        </p:nvSpPr>
        <p:spPr>
          <a:xfrm>
            <a:off x="4879975" y="5120746"/>
            <a:ext cx="2913775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giải thích non-tech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7" name="Google Shape;927;p7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74"/>
          <p:cNvSpPr/>
          <p:nvPr/>
        </p:nvSpPr>
        <p:spPr>
          <a:xfrm>
            <a:off x="2449711" y="9085792"/>
            <a:ext cx="2391966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Đàm phán offer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75"/>
          <p:cNvSpPr/>
          <p:nvPr/>
        </p:nvSpPr>
        <p:spPr>
          <a:xfrm>
            <a:off x="1066767" y="378478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07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75"/>
          <p:cNvSpPr/>
          <p:nvPr/>
        </p:nvSpPr>
        <p:spPr>
          <a:xfrm>
            <a:off x="1066767" y="4728601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Đàm phán offer — số liệu thị trường VN &amp; quốc tế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75"/>
          <p:cNvSpPr/>
          <p:nvPr/>
        </p:nvSpPr>
        <p:spPr>
          <a:xfrm>
            <a:off x="1066767" y="601439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75"/>
          <p:cNvSpPr/>
          <p:nvPr/>
        </p:nvSpPr>
        <p:spPr>
          <a:xfrm>
            <a:off x="1066767" y="6338176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~7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7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ĐÀM PHÁN OFFER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7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Nghiên cứu thị trường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7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Mức lương theo cấp &amp; vùng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VN vs remote quốc tế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76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76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Thị trường nội địa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76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cấp &amp; vùng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76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REMOTE QUỐC TẾ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76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Mức cao hơn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76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cạnh tranh toàn cầu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7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ĐÀM PHÁN OFFER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7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Nguyên tắc đàm phán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7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Đừng nói số đầu tiên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Dựa vào giá trị mang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2" name="Google Shape;962;p77"/>
          <p:cNvSpPr/>
          <p:nvPr/>
        </p:nvSpPr>
        <p:spPr>
          <a:xfrm>
            <a:off x="9768749" y="5182857"/>
            <a:ext cx="7170619" cy="10894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 7 dự án = đòn bẩy đàm phán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77"/>
          <p:cNvSpPr/>
          <p:nvPr/>
        </p:nvSpPr>
        <p:spPr>
          <a:xfrm>
            <a:off x="10472449" y="6405646"/>
            <a:ext cx="5763220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dựa vào giá trị mang lại — đừng nói con số đầu tiên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7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ĐÀM PHÁN OFFER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7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Ngoài lương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7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tập, remote, cổ phần, lộ trình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 đãi ngộ, không chỉ lương cứng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78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LƯƠNG CỨNG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78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4" name="Google Shape;974;p78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CỔ PHẦN · THƯỞNG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5" name="Google Shape;975;p78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Equity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78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HỌC TẬP · REMOTE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78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Phúc lợi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7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ĐÀM PHÁN OFFER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7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9"/>
          <p:cNvSpPr/>
          <p:nvPr/>
        </p:nvSpPr>
        <p:spPr>
          <a:xfrm>
            <a:off x="1300659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nghiên cứu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9"/>
          <p:cNvSpPr/>
          <p:nvPr/>
        </p:nvSpPr>
        <p:spPr>
          <a:xfrm>
            <a:off x="3501744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nguyên tắc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9"/>
          <p:cNvSpPr/>
          <p:nvPr/>
        </p:nvSpPr>
        <p:spPr>
          <a:xfrm>
            <a:off x="5702829" y="5120746"/>
            <a:ext cx="1657119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total comp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8" name="Google Shape;988;p7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79"/>
          <p:cNvSpPr/>
          <p:nvPr/>
        </p:nvSpPr>
        <p:spPr>
          <a:xfrm>
            <a:off x="2449711" y="9085792"/>
            <a:ext cx="2529384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tập suốt đời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7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08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80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08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80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tiếp — paper, blog, hội nghị (NeurIPS, KubeCon, KCD Vietnam)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9" name="Google Shape;999;p80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80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8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HỌC TẬP SUỐT ĐỜI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8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nghiên cứu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8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arXiv, Papers with Code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paper có chọn lọc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81"/>
          <p:cNvSpPr/>
          <p:nvPr/>
        </p:nvSpPr>
        <p:spPr>
          <a:xfrm>
            <a:off x="9701725" y="5749727"/>
            <a:ext cx="657589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arXiv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81"/>
          <p:cNvSpPr/>
          <p:nvPr/>
        </p:nvSpPr>
        <p:spPr>
          <a:xfrm>
            <a:off x="10707439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81"/>
          <p:cNvSpPr/>
          <p:nvPr/>
        </p:nvSpPr>
        <p:spPr>
          <a:xfrm>
            <a:off x="11012207" y="5553935"/>
            <a:ext cx="2476996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81"/>
          <p:cNvSpPr/>
          <p:nvPr/>
        </p:nvSpPr>
        <p:spPr>
          <a:xfrm>
            <a:off x="11227049" y="5749727"/>
            <a:ext cx="204731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Papers with Code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81"/>
          <p:cNvSpPr/>
          <p:nvPr/>
        </p:nvSpPr>
        <p:spPr>
          <a:xfrm>
            <a:off x="13622487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81"/>
          <p:cNvSpPr/>
          <p:nvPr/>
        </p:nvSpPr>
        <p:spPr>
          <a:xfrm>
            <a:off x="14142095" y="5749727"/>
            <a:ext cx="106992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lọc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p8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HỌC TẬP SUỐT ĐỜI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8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Blog &amp; newsletter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8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blog kỹ thuật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Viết blog chia sẻ lại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82"/>
          <p:cNvSpPr/>
          <p:nvPr/>
        </p:nvSpPr>
        <p:spPr>
          <a:xfrm>
            <a:off x="97779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ĐỌC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82"/>
          <p:cNvSpPr/>
          <p:nvPr/>
        </p:nvSpPr>
        <p:spPr>
          <a:xfrm>
            <a:off x="97779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Blog · newsletter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82"/>
          <p:cNvSpPr/>
          <p:nvPr/>
        </p:nvSpPr>
        <p:spPr>
          <a:xfrm>
            <a:off x="96179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cập nhật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82"/>
          <p:cNvSpPr/>
          <p:nvPr/>
        </p:nvSpPr>
        <p:spPr>
          <a:xfrm>
            <a:off x="13778425" y="5332429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VIẾT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7" name="Google Shape;1027;p82"/>
          <p:cNvSpPr/>
          <p:nvPr/>
        </p:nvSpPr>
        <p:spPr>
          <a:xfrm>
            <a:off x="13778425" y="5643563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sẻ lại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82"/>
          <p:cNvSpPr/>
          <p:nvPr/>
        </p:nvSpPr>
        <p:spPr>
          <a:xfrm>
            <a:off x="13618405" y="6154705"/>
            <a:ext cx="3387986" cy="3352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hiểu sâu + thương hiệu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8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HỌC TẬP SUỐT ĐỜI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8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Hội nghị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83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Quốc tế: NeurIPS, KubeCon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Việt Nam: KCD Vietnam, OpenInfra Days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83"/>
          <p:cNvSpPr/>
          <p:nvPr/>
        </p:nvSpPr>
        <p:spPr>
          <a:xfrm>
            <a:off x="9777925" y="558576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QUỐC TẾ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83"/>
          <p:cNvSpPr/>
          <p:nvPr/>
        </p:nvSpPr>
        <p:spPr>
          <a:xfrm>
            <a:off x="9777925" y="589690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NeurIPS · KubeCon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9" name="Google Shape;1039;p83"/>
          <p:cNvSpPr/>
          <p:nvPr/>
        </p:nvSpPr>
        <p:spPr>
          <a:xfrm>
            <a:off x="13778425" y="5585768"/>
            <a:ext cx="3246319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VIỆT NAM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83"/>
          <p:cNvSpPr/>
          <p:nvPr/>
        </p:nvSpPr>
        <p:spPr>
          <a:xfrm>
            <a:off x="13778425" y="5896901"/>
            <a:ext cx="324631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KCD VN · OpenInfra Days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8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HỌC TẬP SUỐT ĐỜI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8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84"/>
          <p:cNvSpPr/>
          <p:nvPr/>
        </p:nvSpPr>
        <p:spPr>
          <a:xfrm>
            <a:off x="1300659" y="5120746"/>
            <a:ext cx="97135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paper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84"/>
          <p:cNvSpPr/>
          <p:nvPr/>
        </p:nvSpPr>
        <p:spPr>
          <a:xfrm>
            <a:off x="2815977" y="5120746"/>
            <a:ext cx="83426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blog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84"/>
          <p:cNvSpPr/>
          <p:nvPr/>
        </p:nvSpPr>
        <p:spPr>
          <a:xfrm>
            <a:off x="4194208" y="5120746"/>
            <a:ext cx="1382861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hội nghị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84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84"/>
          <p:cNvSpPr/>
          <p:nvPr/>
        </p:nvSpPr>
        <p:spPr>
          <a:xfrm>
            <a:off x="2449711" y="9085792"/>
            <a:ext cx="348562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góp open source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84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85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0" name="Google Shape;1060;p85"/>
          <p:cNvSpPr/>
          <p:nvPr/>
        </p:nvSpPr>
        <p:spPr>
          <a:xfrm>
            <a:off x="1066767" y="3476212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09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85"/>
          <p:cNvSpPr/>
          <p:nvPr/>
        </p:nvSpPr>
        <p:spPr>
          <a:xfrm>
            <a:off x="1066767" y="4420030"/>
            <a:ext cx="12978464" cy="127238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 đường đóng góp open source (Hugging Face, scikit-learn, Airflow)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85"/>
          <p:cNvSpPr/>
          <p:nvPr/>
        </p:nvSpPr>
        <p:spPr>
          <a:xfrm>
            <a:off x="1066767" y="6322963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3" name="Google Shape;1063;p85"/>
          <p:cNvSpPr/>
          <p:nvPr/>
        </p:nvSpPr>
        <p:spPr>
          <a:xfrm>
            <a:off x="1066767" y="6646747"/>
            <a:ext cx="271234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~6 phút · 5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OPEN SOURCE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8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Vì sao đóng góp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86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từ code chất lượng cao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Portfolio đáng tin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86"/>
          <p:cNvSpPr/>
          <p:nvPr/>
        </p:nvSpPr>
        <p:spPr>
          <a:xfrm>
            <a:off x="9940353" y="5445704"/>
            <a:ext cx="6827329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được merge = chứng chỉ sống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86"/>
          <p:cNvSpPr/>
          <p:nvPr/>
        </p:nvSpPr>
        <p:spPr>
          <a:xfrm>
            <a:off x="10246428" y="6142798"/>
            <a:ext cx="6215263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học từ code chất lượng cao + xây danh tiếng &amp; mạng lưới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7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OPEN SOURCE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0" name="Google Shape;1080;p87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Bắt đầu thế nào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87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first issue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Sửa docs, viết test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2" name="Google Shape;1082;p87"/>
          <p:cNvSpPr/>
          <p:nvPr/>
        </p:nvSpPr>
        <p:spPr>
          <a:xfrm>
            <a:off x="9701725" y="5749727"/>
            <a:ext cx="183523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Good first issue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87"/>
          <p:cNvSpPr/>
          <p:nvPr/>
        </p:nvSpPr>
        <p:spPr>
          <a:xfrm>
            <a:off x="11885084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4" name="Google Shape;1084;p87"/>
          <p:cNvSpPr/>
          <p:nvPr/>
        </p:nvSpPr>
        <p:spPr>
          <a:xfrm>
            <a:off x="12189851" y="5553935"/>
            <a:ext cx="2163878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5" name="Google Shape;1085;p87"/>
          <p:cNvSpPr/>
          <p:nvPr/>
        </p:nvSpPr>
        <p:spPr>
          <a:xfrm>
            <a:off x="12404693" y="5749727"/>
            <a:ext cx="1734195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Sửa docs / 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87"/>
          <p:cNvSpPr/>
          <p:nvPr/>
        </p:nvSpPr>
        <p:spPr>
          <a:xfrm>
            <a:off x="1448701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87"/>
          <p:cNvSpPr/>
          <p:nvPr/>
        </p:nvSpPr>
        <p:spPr>
          <a:xfrm>
            <a:off x="15006621" y="5749727"/>
            <a:ext cx="1347986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 đầu tiên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8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OPEN SOURCE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88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 án gợi ý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5" name="Google Shape;1095;p88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Hugging Face, scikit-learn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Airflow — chọn dự án bạn đã dùng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88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HUGGING FACE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88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NLP / LLM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88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SCIKIT-LEARN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88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cổ điển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88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AIRFLOW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88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MLOps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89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OPEN SOURCE — TÓM TẮT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89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9" name="Google Shape;1109;p89"/>
          <p:cNvSpPr/>
          <p:nvPr/>
        </p:nvSpPr>
        <p:spPr>
          <a:xfrm>
            <a:off x="1300659" y="5120746"/>
            <a:ext cx="1108522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vì sao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89"/>
          <p:cNvSpPr/>
          <p:nvPr/>
        </p:nvSpPr>
        <p:spPr>
          <a:xfrm>
            <a:off x="2953147" y="5120746"/>
            <a:ext cx="1794288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bắt đầu nhỏ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1" name="Google Shape;1111;p89"/>
          <p:cNvSpPr/>
          <p:nvPr/>
        </p:nvSpPr>
        <p:spPr>
          <a:xfrm>
            <a:off x="5291402" y="5120746"/>
            <a:ext cx="24900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 quen thuộc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89"/>
          <p:cNvSpPr/>
          <p:nvPr/>
        </p:nvSpPr>
        <p:spPr>
          <a:xfrm>
            <a:off x="1066767" y="9178396"/>
            <a:ext cx="1173394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3" name="Google Shape;1113;p89"/>
          <p:cNvSpPr/>
          <p:nvPr/>
        </p:nvSpPr>
        <p:spPr>
          <a:xfrm>
            <a:off x="2449711" y="9085792"/>
            <a:ext cx="5482183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1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cuối — Trình bày portfolio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89"/>
          <p:cNvSpPr/>
          <p:nvPr/>
        </p:nvSpPr>
        <p:spPr>
          <a:xfrm>
            <a:off x="16958222" y="9027584"/>
            <a:ext cx="339212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Courier New"/>
              <a:buNone/>
            </a:pPr>
            <a:r>
              <a:rPr b="0" i="0" lang="en-US" sz="34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90"/>
          <p:cNvSpPr/>
          <p:nvPr/>
        </p:nvSpPr>
        <p:spPr>
          <a:xfrm>
            <a:off x="11372950" y="2714625"/>
            <a:ext cx="6121840" cy="49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000"/>
              <a:buFont typeface="Courier New"/>
              <a:buNone/>
            </a:pPr>
            <a:r>
              <a:rPr b="1" i="0" lang="en-US" sz="39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</a:t>
            </a:r>
            <a:endParaRPr b="0" i="0" sz="3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90"/>
          <p:cNvSpPr/>
          <p:nvPr/>
        </p:nvSpPr>
        <p:spPr>
          <a:xfrm>
            <a:off x="1066767" y="3744598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16 · LECTURE 10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90"/>
          <p:cNvSpPr/>
          <p:nvPr/>
        </p:nvSpPr>
        <p:spPr>
          <a:xfrm>
            <a:off x="1066767" y="4688417"/>
            <a:ext cx="12978464" cy="6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cuối — Trình bày 3 dự án portfolio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3" name="Google Shape;1123;p90"/>
          <p:cNvSpPr/>
          <p:nvPr/>
        </p:nvSpPr>
        <p:spPr>
          <a:xfrm>
            <a:off x="1066767" y="5974209"/>
            <a:ext cx="1143000" cy="38034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095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90"/>
          <p:cNvSpPr/>
          <p:nvPr/>
        </p:nvSpPr>
        <p:spPr>
          <a:xfrm>
            <a:off x="1243509" y="6369960"/>
            <a:ext cx="1769848" cy="2338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CAPSTONE CUỐI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5" name="Google Shape;1125;p90"/>
          <p:cNvSpPr/>
          <p:nvPr/>
        </p:nvSpPr>
        <p:spPr>
          <a:xfrm>
            <a:off x="3285298" y="6338176"/>
            <a:ext cx="2863002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~12 phút · 7 slides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91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CAPSTONE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91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3 dự án mạnh nhất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3" name="Google Shape;1133;p91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Đa dạng kỹ năng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demo chạy được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91"/>
          <p:cNvSpPr/>
          <p:nvPr/>
        </p:nvSpPr>
        <p:spPr>
          <a:xfrm>
            <a:off x="9777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 1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5" name="Google Shape;1135;p91"/>
          <p:cNvSpPr/>
          <p:nvPr/>
        </p:nvSpPr>
        <p:spPr>
          <a:xfrm>
            <a:off x="9777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ML / data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6" name="Google Shape;1136;p91"/>
          <p:cNvSpPr/>
          <p:nvPr/>
        </p:nvSpPr>
        <p:spPr>
          <a:xfrm>
            <a:off x="12444925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 2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91"/>
          <p:cNvSpPr/>
          <p:nvPr/>
        </p:nvSpPr>
        <p:spPr>
          <a:xfrm>
            <a:off x="12444925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CV / NLP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8" name="Google Shape;1138;p91"/>
          <p:cNvSpPr/>
          <p:nvPr/>
        </p:nvSpPr>
        <p:spPr>
          <a:xfrm>
            <a:off x="15111926" y="5585768"/>
            <a:ext cx="1894466" cy="19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Courier New"/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 3</a:t>
            </a:r>
            <a:endParaRPr b="0" i="0" sz="11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9" name="Google Shape;1139;p91"/>
          <p:cNvSpPr/>
          <p:nvPr/>
        </p:nvSpPr>
        <p:spPr>
          <a:xfrm>
            <a:off x="15111926" y="5896901"/>
            <a:ext cx="189446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1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92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CAPSTONE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92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Cấu trúc thuyết trình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7" name="Google Shape;1147;p92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 → giải pháp → kết quả → bài học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Nhấn giá trị kinh doanh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92"/>
          <p:cNvSpPr/>
          <p:nvPr/>
        </p:nvSpPr>
        <p:spPr>
          <a:xfrm>
            <a:off x="9701725" y="5749727"/>
            <a:ext cx="84494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Vấn đề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92"/>
          <p:cNvSpPr/>
          <p:nvPr/>
        </p:nvSpPr>
        <p:spPr>
          <a:xfrm>
            <a:off x="1089479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0" name="Google Shape;1150;p92"/>
          <p:cNvSpPr/>
          <p:nvPr/>
        </p:nvSpPr>
        <p:spPr>
          <a:xfrm>
            <a:off x="11199565" y="5553935"/>
            <a:ext cx="1566747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1" name="Google Shape;1151;p92"/>
          <p:cNvSpPr/>
          <p:nvPr/>
        </p:nvSpPr>
        <p:spPr>
          <a:xfrm>
            <a:off x="11414407" y="5749727"/>
            <a:ext cx="1137063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Giải pháp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92"/>
          <p:cNvSpPr/>
          <p:nvPr/>
        </p:nvSpPr>
        <p:spPr>
          <a:xfrm>
            <a:off x="12899595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92"/>
          <p:cNvSpPr/>
          <p:nvPr/>
        </p:nvSpPr>
        <p:spPr>
          <a:xfrm>
            <a:off x="13419204" y="5749727"/>
            <a:ext cx="928952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Kết quả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92"/>
          <p:cNvSpPr/>
          <p:nvPr/>
        </p:nvSpPr>
        <p:spPr>
          <a:xfrm>
            <a:off x="14696282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92"/>
          <p:cNvSpPr/>
          <p:nvPr/>
        </p:nvSpPr>
        <p:spPr>
          <a:xfrm>
            <a:off x="15215891" y="5749727"/>
            <a:ext cx="90299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Bài học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93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CAPSTONE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93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 trực tiếp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93"/>
          <p:cNvSpPr/>
          <p:nvPr/>
        </p:nvSpPr>
        <p:spPr>
          <a:xfrm>
            <a:off x="840072" y="5350371"/>
            <a:ext cx="6645040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thấy sản phẩm chạy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Chuẩn bị backup nếu lỗi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4" name="Google Shape;1164;p93"/>
          <p:cNvSpPr/>
          <p:nvPr/>
        </p:nvSpPr>
        <p:spPr>
          <a:xfrm>
            <a:off x="8094679" y="4272856"/>
            <a:ext cx="9126472" cy="3238500"/>
          </a:xfrm>
          <a:prstGeom prst="roundRect">
            <a:avLst>
              <a:gd fmla="val 5294" name="adj"/>
            </a:avLst>
          </a:prstGeom>
          <a:solidFill>
            <a:srgbClr val="FFFFFF">
              <a:alpha val="196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5" name="Google Shape;1165;p93"/>
          <p:cNvSpPr/>
          <p:nvPr/>
        </p:nvSpPr>
        <p:spPr>
          <a:xfrm>
            <a:off x="12291749" y="5428688"/>
            <a:ext cx="732334" cy="191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Courier New"/>
              <a:buNone/>
            </a:pPr>
            <a:r>
              <a:rPr b="0" i="0" lang="en-US" sz="10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SCREEN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93"/>
          <p:cNvSpPr/>
          <p:nvPr/>
        </p:nvSpPr>
        <p:spPr>
          <a:xfrm>
            <a:off x="9225602" y="5777839"/>
            <a:ext cx="6864545" cy="6782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Live demo: sản phẩm chạy thật + video backup phòng khi lỗi mạng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94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CAPSTONE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94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Pitch 90 giây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94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Tóm tắt bản thân + thế mạnh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recruiter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94"/>
          <p:cNvSpPr/>
          <p:nvPr/>
        </p:nvSpPr>
        <p:spPr>
          <a:xfrm>
            <a:off x="10184854" y="5445704"/>
            <a:ext cx="6338409" cy="5637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b="1" i="0" lang="en-US" sz="34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90 giây → bạn là ai + thế mạnh</a:t>
            </a:r>
            <a:endParaRPr b="0" i="0" sz="3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94"/>
          <p:cNvSpPr/>
          <p:nvPr/>
        </p:nvSpPr>
        <p:spPr>
          <a:xfrm>
            <a:off x="10867944" y="6142798"/>
            <a:ext cx="4972228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elevator pitch — luyện tới khi nói trôi chảy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95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CAPSTONE CUỐI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95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Chặng đường tiếp theo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95"/>
          <p:cNvSpPr/>
          <p:nvPr/>
        </p:nvSpPr>
        <p:spPr>
          <a:xfrm>
            <a:off x="840072" y="5350371"/>
            <a:ext cx="8037245" cy="112156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Apply, networking, học tiếp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b="0" i="0" lang="en-US" sz="25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Bạn đã sẵn sàng!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95"/>
          <p:cNvSpPr/>
          <p:nvPr/>
        </p:nvSpPr>
        <p:spPr>
          <a:xfrm>
            <a:off x="9701725" y="5749727"/>
            <a:ext cx="73150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95"/>
          <p:cNvSpPr/>
          <p:nvPr/>
        </p:nvSpPr>
        <p:spPr>
          <a:xfrm>
            <a:off x="10781358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95"/>
          <p:cNvSpPr/>
          <p:nvPr/>
        </p:nvSpPr>
        <p:spPr>
          <a:xfrm>
            <a:off x="11086124" y="5553935"/>
            <a:ext cx="1811404" cy="676341"/>
          </a:xfrm>
          <a:prstGeom prst="roundRect">
            <a:avLst>
              <a:gd fmla="val 19716" name="adj"/>
            </a:avLst>
          </a:prstGeom>
          <a:noFill/>
          <a:ln>
            <a:noFill/>
          </a:ln>
          <a:effectLst>
            <a:outerShdw blurRad="101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8" name="Google Shape;1188;p95"/>
          <p:cNvSpPr/>
          <p:nvPr/>
        </p:nvSpPr>
        <p:spPr>
          <a:xfrm>
            <a:off x="11300966" y="5749727"/>
            <a:ext cx="1381720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95"/>
          <p:cNvSpPr/>
          <p:nvPr/>
        </p:nvSpPr>
        <p:spPr>
          <a:xfrm>
            <a:off x="13030813" y="5749230"/>
            <a:ext cx="24768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→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95"/>
          <p:cNvSpPr/>
          <p:nvPr/>
        </p:nvSpPr>
        <p:spPr>
          <a:xfrm>
            <a:off x="13550421" y="5749727"/>
            <a:ext cx="1017257" cy="3228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96"/>
          <p:cNvSpPr/>
          <p:nvPr/>
        </p:nvSpPr>
        <p:spPr>
          <a:xfrm>
            <a:off x="1066767" y="857250"/>
            <a:ext cx="16639101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· TOÀN BỘ LỘ TRÌNH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96"/>
          <p:cNvSpPr/>
          <p:nvPr/>
        </p:nvSpPr>
        <p:spPr>
          <a:xfrm>
            <a:off x="1066767" y="1265701"/>
            <a:ext cx="16639101" cy="6126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Arial"/>
              <a:buNone/>
            </a:pPr>
            <a:r>
              <a:rPr b="1" i="0" lang="en-US" sz="4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Toàn khoá — 198 / 198 lectures · 7 Capstone projects</a:t>
            </a:r>
            <a:endParaRPr b="0" i="0" sz="4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96"/>
          <p:cNvSpPr/>
          <p:nvPr/>
        </p:nvSpPr>
        <p:spPr>
          <a:xfrm>
            <a:off x="1295367" y="2259294"/>
            <a:ext cx="1923273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96"/>
          <p:cNvSpPr/>
          <p:nvPr/>
        </p:nvSpPr>
        <p:spPr>
          <a:xfrm>
            <a:off x="3599640" y="2259294"/>
            <a:ext cx="6467555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96"/>
          <p:cNvSpPr/>
          <p:nvPr/>
        </p:nvSpPr>
        <p:spPr>
          <a:xfrm>
            <a:off x="10322702" y="2259294"/>
            <a:ext cx="1963539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96"/>
          <p:cNvSpPr/>
          <p:nvPr/>
        </p:nvSpPr>
        <p:spPr>
          <a:xfrm>
            <a:off x="12667242" y="2259294"/>
            <a:ext cx="1559471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SLIDES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96"/>
          <p:cNvSpPr/>
          <p:nvPr/>
        </p:nvSpPr>
        <p:spPr>
          <a:xfrm>
            <a:off x="14607713" y="2259294"/>
            <a:ext cx="2470185" cy="262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TRẠNG THÁI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3" name="Google Shape;1203;p96"/>
          <p:cNvSpPr/>
          <p:nvPr/>
        </p:nvSpPr>
        <p:spPr>
          <a:xfrm>
            <a:off x="1295367" y="2832332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96"/>
          <p:cNvSpPr/>
          <p:nvPr/>
        </p:nvSpPr>
        <p:spPr>
          <a:xfrm>
            <a:off x="3599640" y="2832332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 Giới thiệu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5" name="Google Shape;1205;p96"/>
          <p:cNvSpPr/>
          <p:nvPr/>
        </p:nvSpPr>
        <p:spPr>
          <a:xfrm>
            <a:off x="10322702" y="2832332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96"/>
          <p:cNvSpPr/>
          <p:nvPr/>
        </p:nvSpPr>
        <p:spPr>
          <a:xfrm>
            <a:off x="12667242" y="2832332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96"/>
          <p:cNvSpPr/>
          <p:nvPr/>
        </p:nvSpPr>
        <p:spPr>
          <a:xfrm>
            <a:off x="14607713" y="2832332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96"/>
          <p:cNvSpPr/>
          <p:nvPr/>
        </p:nvSpPr>
        <p:spPr>
          <a:xfrm>
            <a:off x="1295367" y="3471466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96"/>
          <p:cNvSpPr/>
          <p:nvPr/>
        </p:nvSpPr>
        <p:spPr>
          <a:xfrm>
            <a:off x="3599640" y="3471466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S2 Python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96"/>
          <p:cNvSpPr/>
          <p:nvPr/>
        </p:nvSpPr>
        <p:spPr>
          <a:xfrm>
            <a:off x="10322702" y="3471466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96"/>
          <p:cNvSpPr/>
          <p:nvPr/>
        </p:nvSpPr>
        <p:spPr>
          <a:xfrm>
            <a:off x="12667242" y="3471466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96"/>
          <p:cNvSpPr/>
          <p:nvPr/>
        </p:nvSpPr>
        <p:spPr>
          <a:xfrm>
            <a:off x="14607713" y="3471466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96"/>
          <p:cNvSpPr/>
          <p:nvPr/>
        </p:nvSpPr>
        <p:spPr>
          <a:xfrm>
            <a:off x="1295367" y="4110600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96"/>
          <p:cNvSpPr/>
          <p:nvPr/>
        </p:nvSpPr>
        <p:spPr>
          <a:xfrm>
            <a:off x="3599640" y="4110600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 SQL + S4 Toán/Thống kê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96"/>
          <p:cNvSpPr/>
          <p:nvPr/>
        </p:nvSpPr>
        <p:spPr>
          <a:xfrm>
            <a:off x="10322702" y="4110600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96"/>
          <p:cNvSpPr/>
          <p:nvPr/>
        </p:nvSpPr>
        <p:spPr>
          <a:xfrm>
            <a:off x="12667242" y="4110600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96"/>
          <p:cNvSpPr/>
          <p:nvPr/>
        </p:nvSpPr>
        <p:spPr>
          <a:xfrm>
            <a:off x="14607713" y="4110600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96"/>
          <p:cNvSpPr/>
          <p:nvPr/>
        </p:nvSpPr>
        <p:spPr>
          <a:xfrm>
            <a:off x="1295367" y="4749734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96"/>
          <p:cNvSpPr/>
          <p:nvPr/>
        </p:nvSpPr>
        <p:spPr>
          <a:xfrm>
            <a:off x="3599640" y="4749734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S5 ML Fundamentals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96"/>
          <p:cNvSpPr/>
          <p:nvPr/>
        </p:nvSpPr>
        <p:spPr>
          <a:xfrm>
            <a:off x="10322702" y="4749734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96"/>
          <p:cNvSpPr/>
          <p:nvPr/>
        </p:nvSpPr>
        <p:spPr>
          <a:xfrm>
            <a:off x="12667242" y="4749734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96"/>
          <p:cNvSpPr/>
          <p:nvPr/>
        </p:nvSpPr>
        <p:spPr>
          <a:xfrm>
            <a:off x="14607713" y="4749734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96"/>
          <p:cNvSpPr/>
          <p:nvPr/>
        </p:nvSpPr>
        <p:spPr>
          <a:xfrm>
            <a:off x="1295367" y="5388868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96"/>
          <p:cNvSpPr/>
          <p:nvPr/>
        </p:nvSpPr>
        <p:spPr>
          <a:xfrm>
            <a:off x="3599640" y="5388868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S6 Time Series + S7 Deep Learning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96"/>
          <p:cNvSpPr/>
          <p:nvPr/>
        </p:nvSpPr>
        <p:spPr>
          <a:xfrm>
            <a:off x="10322702" y="5388868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96"/>
          <p:cNvSpPr/>
          <p:nvPr/>
        </p:nvSpPr>
        <p:spPr>
          <a:xfrm>
            <a:off x="12667242" y="5388868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96"/>
          <p:cNvSpPr/>
          <p:nvPr/>
        </p:nvSpPr>
        <p:spPr>
          <a:xfrm>
            <a:off x="14607713" y="5388868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96"/>
          <p:cNvSpPr/>
          <p:nvPr/>
        </p:nvSpPr>
        <p:spPr>
          <a:xfrm>
            <a:off x="1295367" y="6028002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9" name="Google Shape;1229;p96"/>
          <p:cNvSpPr/>
          <p:nvPr/>
        </p:nvSpPr>
        <p:spPr>
          <a:xfrm>
            <a:off x="3599640" y="6028002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S8 Computer Vision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96"/>
          <p:cNvSpPr/>
          <p:nvPr/>
        </p:nvSpPr>
        <p:spPr>
          <a:xfrm>
            <a:off x="10322702" y="6028002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1" name="Google Shape;1231;p96"/>
          <p:cNvSpPr/>
          <p:nvPr/>
        </p:nvSpPr>
        <p:spPr>
          <a:xfrm>
            <a:off x="12667242" y="6028002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96"/>
          <p:cNvSpPr/>
          <p:nvPr/>
        </p:nvSpPr>
        <p:spPr>
          <a:xfrm>
            <a:off x="14607713" y="6028002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96"/>
          <p:cNvSpPr/>
          <p:nvPr/>
        </p:nvSpPr>
        <p:spPr>
          <a:xfrm>
            <a:off x="1295367" y="6667137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96"/>
          <p:cNvSpPr/>
          <p:nvPr/>
        </p:nvSpPr>
        <p:spPr>
          <a:xfrm>
            <a:off x="3599640" y="6667137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S9 NLP + S10 GenAI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96"/>
          <p:cNvSpPr/>
          <p:nvPr/>
        </p:nvSpPr>
        <p:spPr>
          <a:xfrm>
            <a:off x="10322702" y="6667137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96"/>
          <p:cNvSpPr/>
          <p:nvPr/>
        </p:nvSpPr>
        <p:spPr>
          <a:xfrm>
            <a:off x="12667242" y="6667137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133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96"/>
          <p:cNvSpPr/>
          <p:nvPr/>
        </p:nvSpPr>
        <p:spPr>
          <a:xfrm>
            <a:off x="14607713" y="6667137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96"/>
          <p:cNvSpPr/>
          <p:nvPr/>
        </p:nvSpPr>
        <p:spPr>
          <a:xfrm>
            <a:off x="1295367" y="7306271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96"/>
          <p:cNvSpPr/>
          <p:nvPr/>
        </p:nvSpPr>
        <p:spPr>
          <a:xfrm>
            <a:off x="3599640" y="7306271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S11 LLMs + S12 RAG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96"/>
          <p:cNvSpPr/>
          <p:nvPr/>
        </p:nvSpPr>
        <p:spPr>
          <a:xfrm>
            <a:off x="10322702" y="7306271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1" name="Google Shape;1241;p96"/>
          <p:cNvSpPr/>
          <p:nvPr/>
        </p:nvSpPr>
        <p:spPr>
          <a:xfrm>
            <a:off x="12667242" y="7306271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96"/>
          <p:cNvSpPr/>
          <p:nvPr/>
        </p:nvSpPr>
        <p:spPr>
          <a:xfrm>
            <a:off x="14607713" y="7306271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96"/>
          <p:cNvSpPr/>
          <p:nvPr/>
        </p:nvSpPr>
        <p:spPr>
          <a:xfrm>
            <a:off x="1295367" y="7945405"/>
            <a:ext cx="1923273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9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96"/>
          <p:cNvSpPr/>
          <p:nvPr/>
        </p:nvSpPr>
        <p:spPr>
          <a:xfrm>
            <a:off x="3599640" y="7945405"/>
            <a:ext cx="646755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S13 Agentic + S14 MLOps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96"/>
          <p:cNvSpPr/>
          <p:nvPr/>
        </p:nvSpPr>
        <p:spPr>
          <a:xfrm>
            <a:off x="10322702" y="7945405"/>
            <a:ext cx="1963539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6" name="Google Shape;1246;p96"/>
          <p:cNvSpPr/>
          <p:nvPr/>
        </p:nvSpPr>
        <p:spPr>
          <a:xfrm>
            <a:off x="12667242" y="7945405"/>
            <a:ext cx="1559471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96"/>
          <p:cNvSpPr/>
          <p:nvPr/>
        </p:nvSpPr>
        <p:spPr>
          <a:xfrm>
            <a:off x="14607713" y="7945405"/>
            <a:ext cx="2470185" cy="32904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96"/>
          <p:cNvSpPr/>
          <p:nvPr/>
        </p:nvSpPr>
        <p:spPr>
          <a:xfrm>
            <a:off x="1295367" y="8584539"/>
            <a:ext cx="1923273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10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96"/>
          <p:cNvSpPr/>
          <p:nvPr/>
        </p:nvSpPr>
        <p:spPr>
          <a:xfrm>
            <a:off x="3599640" y="8584539"/>
            <a:ext cx="6467555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S15 Responsible AI + S16 Career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96"/>
          <p:cNvSpPr/>
          <p:nvPr/>
        </p:nvSpPr>
        <p:spPr>
          <a:xfrm>
            <a:off x="10322702" y="8584539"/>
            <a:ext cx="1963539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96"/>
          <p:cNvSpPr/>
          <p:nvPr/>
        </p:nvSpPr>
        <p:spPr>
          <a:xfrm>
            <a:off x="12667242" y="8584539"/>
            <a:ext cx="1559471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91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96"/>
          <p:cNvSpPr/>
          <p:nvPr/>
        </p:nvSpPr>
        <p:spPr>
          <a:xfrm>
            <a:off x="14607713" y="8584539"/>
            <a:ext cx="2470185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Khoá cuối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96"/>
          <p:cNvSpPr/>
          <p:nvPr/>
        </p:nvSpPr>
        <p:spPr>
          <a:xfrm>
            <a:off x="1295367" y="9228965"/>
            <a:ext cx="1923273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TỔNG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96"/>
          <p:cNvSpPr/>
          <p:nvPr/>
        </p:nvSpPr>
        <p:spPr>
          <a:xfrm>
            <a:off x="3599640" y="9228965"/>
            <a:ext cx="6467555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sections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96"/>
          <p:cNvSpPr/>
          <p:nvPr/>
        </p:nvSpPr>
        <p:spPr>
          <a:xfrm>
            <a:off x="10322702" y="9228965"/>
            <a:ext cx="1963539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6" name="Google Shape;1256;p96"/>
          <p:cNvSpPr/>
          <p:nvPr/>
        </p:nvSpPr>
        <p:spPr>
          <a:xfrm>
            <a:off x="12667242" y="9228965"/>
            <a:ext cx="1559471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~1.175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96"/>
          <p:cNvSpPr/>
          <p:nvPr/>
        </p:nvSpPr>
        <p:spPr>
          <a:xfrm>
            <a:off x="14607713" y="9228965"/>
            <a:ext cx="2470185" cy="334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✓ Hoàn tất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97"/>
          <p:cNvSpPr/>
          <p:nvPr/>
        </p:nvSpPr>
        <p:spPr>
          <a:xfrm>
            <a:off x="6813352" y="2161811"/>
            <a:ext cx="4661214" cy="313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Courier New"/>
              <a:buNone/>
            </a:pPr>
            <a:r>
              <a:rPr b="0" i="0" lang="en-US" sz="16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97"/>
          <p:cNvSpPr/>
          <p:nvPr/>
        </p:nvSpPr>
        <p:spPr>
          <a:xfrm>
            <a:off x="7539137" y="2722728"/>
            <a:ext cx="3209644" cy="503701"/>
          </a:xfrm>
          <a:prstGeom prst="roundRect">
            <a:avLst>
              <a:gd fmla="val 50000" name="adj"/>
            </a:avLst>
          </a:prstGeom>
          <a:noFill/>
          <a:ln>
            <a:noFill/>
          </a:ln>
          <a:effectLst>
            <a:outerShdw blurRad="2857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5" name="Google Shape;1265;p97"/>
          <p:cNvSpPr/>
          <p:nvPr/>
        </p:nvSpPr>
        <p:spPr>
          <a:xfrm>
            <a:off x="7762984" y="2842320"/>
            <a:ext cx="2761950" cy="3026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Courier New"/>
              <a:buNone/>
            </a:pPr>
            <a:r>
              <a:rPr b="0" i="0" lang="en-US" sz="157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🎓 COURSE COMPLETE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6" name="Google Shape;1266;p97"/>
          <p:cNvSpPr/>
          <p:nvPr/>
        </p:nvSpPr>
        <p:spPr>
          <a:xfrm>
            <a:off x="3974025" y="4112039"/>
            <a:ext cx="10339952" cy="951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50"/>
              <a:buFont typeface="Arial"/>
              <a:buNone/>
            </a:pPr>
            <a:r>
              <a:rPr b="1" i="0" lang="en-US" sz="70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con số 0 → AI Engineer</a:t>
            </a:r>
            <a:endParaRPr b="0" i="0" sz="7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97"/>
          <p:cNvSpPr/>
          <p:nvPr/>
        </p:nvSpPr>
        <p:spPr>
          <a:xfrm>
            <a:off x="4915810" y="6082275"/>
            <a:ext cx="1063675" cy="75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8" name="Google Shape;1268;p97"/>
          <p:cNvSpPr/>
          <p:nvPr/>
        </p:nvSpPr>
        <p:spPr>
          <a:xfrm>
            <a:off x="4915810" y="6878506"/>
            <a:ext cx="1063675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97"/>
          <p:cNvSpPr/>
          <p:nvPr/>
        </p:nvSpPr>
        <p:spPr>
          <a:xfrm>
            <a:off x="6589051" y="6082275"/>
            <a:ext cx="1458813" cy="75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198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0" name="Google Shape;1270;p97"/>
          <p:cNvSpPr/>
          <p:nvPr/>
        </p:nvSpPr>
        <p:spPr>
          <a:xfrm>
            <a:off x="6589051" y="6878506"/>
            <a:ext cx="1458813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97"/>
          <p:cNvSpPr/>
          <p:nvPr/>
        </p:nvSpPr>
        <p:spPr>
          <a:xfrm>
            <a:off x="8657431" y="6082275"/>
            <a:ext cx="2174511" cy="75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7"/>
          <p:cNvSpPr/>
          <p:nvPr/>
        </p:nvSpPr>
        <p:spPr>
          <a:xfrm>
            <a:off x="8657431" y="6878506"/>
            <a:ext cx="2174511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CAPSTONE PROJECTS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97"/>
          <p:cNvSpPr/>
          <p:nvPr/>
        </p:nvSpPr>
        <p:spPr>
          <a:xfrm>
            <a:off x="11441510" y="6082275"/>
            <a:ext cx="1930599" cy="75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~120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97"/>
          <p:cNvSpPr/>
          <p:nvPr/>
        </p:nvSpPr>
        <p:spPr>
          <a:xfrm>
            <a:off x="11441510" y="6878506"/>
            <a:ext cx="1930599" cy="233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Courier New"/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GIỜ VIDEO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97"/>
          <p:cNvSpPr/>
          <p:nvPr/>
        </p:nvSpPr>
        <p:spPr>
          <a:xfrm>
            <a:off x="4162150" y="7493331"/>
            <a:ext cx="9963618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75"/>
              <a:buFont typeface="Arial"/>
              <a:buNone/>
            </a:pPr>
            <a:r>
              <a:rPr b="0" i="0" lang="en-US" sz="24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Bạn đã hoàn thành hành trình. Chúc bạn thành công — và hẹn gặp lại! 🚀</a:t>
            </a:r>
            <a:endParaRPr b="0" i="0" sz="24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