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150" Type="http://schemas.openxmlformats.org/officeDocument/2006/relationships/slide" Target="slides/slide146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slide" Target="slides/slide145.xml"/><Relationship Id="rId4" Type="http://schemas.openxmlformats.org/officeDocument/2006/relationships/notesMaster" Target="notesMasters/notesMaster1.xml"/><Relationship Id="rId148" Type="http://schemas.openxmlformats.org/officeDocument/2006/relationships/slide" Target="slides/slide144.xml"/><Relationship Id="rId9" Type="http://schemas.openxmlformats.org/officeDocument/2006/relationships/slide" Target="slides/slide5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5" Type="http://schemas.openxmlformats.org/officeDocument/2006/relationships/slide" Target="slides/slide1.xml"/><Relationship Id="rId147" Type="http://schemas.openxmlformats.org/officeDocument/2006/relationships/slide" Target="slides/slide143.xml"/><Relationship Id="rId6" Type="http://schemas.openxmlformats.org/officeDocument/2006/relationships/slide" Target="slides/slide2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145" Type="http://schemas.openxmlformats.org/officeDocument/2006/relationships/slide" Target="slides/slide141.xml"/><Relationship Id="rId8" Type="http://schemas.openxmlformats.org/officeDocument/2006/relationships/slide" Target="slides/slide4.xml"/><Relationship Id="rId144" Type="http://schemas.openxmlformats.org/officeDocument/2006/relationships/slide" Target="slides/slide14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164" Type="http://schemas.openxmlformats.org/officeDocument/2006/relationships/slide" Target="slides/slide160.xml"/><Relationship Id="rId163" Type="http://schemas.openxmlformats.org/officeDocument/2006/relationships/slide" Target="slides/slide159.xml"/><Relationship Id="rId162" Type="http://schemas.openxmlformats.org/officeDocument/2006/relationships/slide" Target="slides/slide15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161" Type="http://schemas.openxmlformats.org/officeDocument/2006/relationships/slide" Target="slides/slide157.xml"/><Relationship Id="rId54" Type="http://schemas.openxmlformats.org/officeDocument/2006/relationships/slide" Target="slides/slide50.xml"/><Relationship Id="rId160" Type="http://schemas.openxmlformats.org/officeDocument/2006/relationships/slide" Target="slides/slide156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159" Type="http://schemas.openxmlformats.org/officeDocument/2006/relationships/slide" Target="slides/slide155.xml"/><Relationship Id="rId59" Type="http://schemas.openxmlformats.org/officeDocument/2006/relationships/slide" Target="slides/slide55.xml"/><Relationship Id="rId154" Type="http://schemas.openxmlformats.org/officeDocument/2006/relationships/slide" Target="slides/slide150.xml"/><Relationship Id="rId58" Type="http://schemas.openxmlformats.org/officeDocument/2006/relationships/slide" Target="slides/slide54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8" name="Google Shape;107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2" name="Google Shape;109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0" name="Google Shape;112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3" name="Google Shape;115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6" name="Google Shape;116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1" name="Google Shape;1191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6" name="Google Shape;1226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8" name="Google Shape;1238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1" name="Google Shape;1261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5" name="Google Shape;1275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0" name="Google Shape;1290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5" name="Google Shape;1315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8" name="Google Shape;1328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8" name="Google Shape;1338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4" name="Google Shape;1354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1" name="Google Shape;1381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4" name="Google Shape;1394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9" name="Google Shape;1419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1" name="Google Shape;1431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9" name="Google Shape;1459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3" name="Google Shape;1473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3" name="Google Shape;1493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7" name="Google Shape;1507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7" name="Google Shape;1547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7" name="Google Shape;1557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1" name="Google Shape;1571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4" name="Google Shape;1604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8" name="Google Shape;1618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2" name="Google Shape;1632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1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2" name="Google Shape;1642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6" name="Google Shape;1656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6" name="Google Shape;1696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6" name="Google Shape;1706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3" name="Google Shape;1723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8" name="Google Shape;1738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8" name="Google Shape;1748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1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1" name="Google Shape;1761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1" name="Google Shape;1771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5" name="Google Shape;1785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1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9" name="Google Shape;1799;p1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3" name="Google Shape;1813;p1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1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7" name="Google Shape;1827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0" name="Google Shape;1840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1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0" name="Google Shape;1850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0" name="Google Shape;1860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1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4" name="Google Shape;1874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1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5" name="Google Shape;1885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1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6" name="Google Shape;1896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1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9" name="Google Shape;1909;p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9" name="Google Shape;1919;p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3" name="Google Shape;1933;p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8" name="Google Shape;1948;p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2" name="Google Shape;1962;p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6" name="Google Shape;1976;p1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9" name="Google Shape;1989;p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0" name="Google Shape;2000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1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8" name="Google Shape;2018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1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2" name="Google Shape;2032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6" name="Google Shape;2046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0" name="Google Shape;2060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4" name="Google Shape;2074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1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5" name="Google Shape;2085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7" name="Google Shape;2097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6767" y="1741372"/>
            <a:ext cx="166391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 · BATCH 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6767" y="2852043"/>
            <a:ext cx="14519911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&amp; MLOps — Triển khai Production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66767" y="5752124"/>
            <a:ext cx="12135353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kiến trúc agent, ReAct và multi-agent (LangGraph · CrewAI · MCP) — đến MLOps đầy đủ: tracking, serving, Docker / K8s, CI/CD và giám sát drift.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57809" y="7597346"/>
            <a:ext cx="3101713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AGENTIC AI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57809" y="7834396"/>
            <a:ext cx="3101713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&amp; Hệ đa tác tử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357809" y="8209029"/>
            <a:ext cx="3101713" cy="2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 lectures · Capstone 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160781" y="7597346"/>
            <a:ext cx="2825956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MLOPS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160781" y="7834396"/>
            <a:ext cx="282595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MLOps &amp; Production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160781" y="8209029"/>
            <a:ext cx="2825956" cy="2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 lectures · Capstone 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066767" y="204440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BATCH 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66767" y="2605319"/>
            <a:ext cx="16639101" cy="17526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Courier New"/>
              <a:buNone/>
            </a:pPr>
            <a:r>
              <a:rPr b="1" i="0" lang="en-US" sz="15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66767" y="5065035"/>
            <a:ext cx="13311281" cy="751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&amp; Hệ đa tác tử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66767" y="6809135"/>
            <a:ext cx="10316192" cy="1281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kiến trúc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pattern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/ Plan-Execute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xây agent bằng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điều phối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dùng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Claude Agent SDK — và hoàn thành Capstone agent nghiên cứu.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"Agent" là gì? Vòng lặp nghĩ → hành động → quan sát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AGENT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vs Agent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hỏi-đáp một lượt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tự lập kế hoạch, dùng tool, lặp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CHATBOT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lượt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hỏi → đáp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hành động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AGENT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hành động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lập kế hoạch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tool · lặp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AGENT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Vòng lặp agent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Nghĩ → Hành động → Quan sát → lặp lại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(Section 11)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9701725" y="5749727"/>
            <a:ext cx="60558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065543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0960200" y="5553935"/>
            <a:ext cx="17402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11175041" y="5749727"/>
            <a:ext cx="13105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Hành động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283369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3353306" y="5749727"/>
            <a:ext cx="108365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sát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478508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5304692" y="5749727"/>
            <a:ext cx="2841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AGENT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Thành phần một agent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(não) +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(tay)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9777925" y="4329328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LLM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9777925" y="4640461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9617905" y="5151603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luận, quyết định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3778425" y="4329328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3778425" y="4640461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3618405" y="5151603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gọi API,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97779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MEMORY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97779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 nhớ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9617905" y="7157806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ngắn &amp; dài hạn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37784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PLANNER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137784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 hoạch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3618405" y="7157806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nhỏ task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AGENT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Ứng dụng agent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Trợ lý nghiên cứu, coding, CSKH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động hoá quy trình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9777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RESEARCH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9777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Nghiên cứu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9617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&amp; tổng hợp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2444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CODING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2444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Lập trình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12284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&amp; sửa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5111926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CSKH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5111926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Chăm sóc KH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4951906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&amp; xử lý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AGENT CƠ BẢN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2815977" y="5120746"/>
            <a:ext cx="390259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vòng lặp think–act–observe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7211451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thành phần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2449711" y="9085792"/>
            <a:ext cx="400835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pattern thiết kế agent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 ReAct, Plan-and-Execute, Reflexion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PATTERN 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 + Acting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xen kẽ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nghĩ → tool → quan sát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9701725" y="5749727"/>
            <a:ext cx="105214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nghĩ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1110200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11406767" y="5553935"/>
            <a:ext cx="17402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11621608" y="5749727"/>
            <a:ext cx="13105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Hành động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1328026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13799874" y="5749727"/>
            <a:ext cx="108365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sát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523164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15751258" y="5749727"/>
            <a:ext cx="2841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PATTERN 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Plan-and-Execute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Lập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 hoạch trước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thực thi sau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Tốt cho task nhiều bước rõ ràng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9486884" y="4401344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Lập kế hoạch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thi bước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thi bước 2 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PATTERN 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Reflexion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đánh giá &amp; sửa lỗi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từ thất bại trong phiên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9701725" y="5749727"/>
            <a:ext cx="5179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056779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10872556" y="5553935"/>
            <a:ext cx="180421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11087398" y="5749727"/>
            <a:ext cx="137452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đánh giá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1281005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13329660" y="5749727"/>
            <a:ext cx="148003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Sửa &amp; thử lại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1515781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15677423" y="5749727"/>
            <a:ext cx="2841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PATTERN 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pattern nào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giản: ReAct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Phức tạp: Plan-Execute + Reflexion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ĐƠN GIẢN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ít bước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phản ứng nhanh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PHỨC TẠP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Plan-Execute + Reflexion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bước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sửa lỗi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PATTERN AGENT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2815977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Plan-Execute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291402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Reflexion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2449711" y="9085792"/>
            <a:ext cx="377620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 &amp; LangGraph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Nền tảng LangChain &amp; LangGraph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LANGCHAIN &amp; LANGGRAPH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LLM, prompt, tool, memory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 các bước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9701725" y="5749727"/>
            <a:ext cx="90117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1095102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11255789" y="5553935"/>
            <a:ext cx="99177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11470630" y="5749727"/>
            <a:ext cx="56209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1238084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2900456" y="5749727"/>
            <a:ext cx="54092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1378950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14309114" y="5749727"/>
            <a:ext cx="86776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LANGCHAIN &amp; LANGGRAPH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thành phần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· Prompts · Chains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· Memory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97779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97779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137784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PROMPTS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137784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97779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CHAINS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97779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bước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137784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TOOLS · MEMORY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137784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· nhớ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LANGCHAIN &amp; LANGGRAPH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Hạn chế của chain tuyến tính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rẽ nhánh, lặp, điều kiện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cần luồng phức tạp hơn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9855787" y="5445704"/>
            <a:ext cx="6996462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 thẳng ✕ vòng lặp · điều kiện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0359438" y="6142798"/>
            <a:ext cx="5989242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agent cần rẽ nhánh và lặp — chain tuyến tính không đủ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LANGCHAIN &amp; LANGGRAPH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dạng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đồ thị trạng thái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Rẽ nhánh, lặp, điều kiện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9486884" y="5553935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Node: gọi LLM /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kiện → rẽ nhánh / lặp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LANGCHAIN &amp; LANGGRAPH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LangChain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3364574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components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565659" y="5120746"/>
            <a:ext cx="319634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LangGraph state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2449711" y="9085792"/>
            <a:ext cx="181509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LlamaIndex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LlamaIndex cho agent nặng truy xuất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LLAMAINDEX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LlamaIndex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LLM/RAG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nối nhiều nguồn dữ liệu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9701725" y="5749727"/>
            <a:ext cx="162629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1167614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11980913" y="5553935"/>
            <a:ext cx="112439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12195755" y="5749727"/>
            <a:ext cx="6947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1323859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13758202" y="5749727"/>
            <a:ext cx="76797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LLAMAINDEX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connector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Nạp PDF, DB, API, web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 hợp dữ liệu đa nguồn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9777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TÀI LIỆU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9777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 · Word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9617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nội bộ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12444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HỆ THỐNG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12444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· API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12284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sống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15111926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WEB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15111926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Trang web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14951906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crawl &amp; nạp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LLAMAINDEX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engine &amp; agent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Truy vấn dữ liệu thông minh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 vs LlamaIndex — bổ trợ nhau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8094679" y="4556373"/>
            <a:ext cx="9126472" cy="2671465"/>
          </a:xfrm>
          <a:prstGeom prst="roundRect">
            <a:avLst>
              <a:gd fmla="val 5705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8099971" y="4561665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9004515" y="4704540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query.py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8366671" y="5274982"/>
            <a:ext cx="8855965" cy="17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llama_index import  VectorStoreIndex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 = VectorStoreIndex. from_documents (docs)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engine = index. as_query_engine ()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engine. query("Doanh thu Q3 là bao nhiêu?") # → trả lời kèm trích dẫn nguồn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LLAMAINDEX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1300659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LlamaIndex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3501744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5565659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query engine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2449711" y="9085792"/>
            <a:ext cx="320331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systems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CrewAI, AutoGen, Swarm cho điều phối đa tác tử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MULTI-AGENT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multi-agent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agent một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 trò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Phối hợp giải bài toán phức tạp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9486884" y="4401344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9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nghiên cứu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viết · Agent kiểm tra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MULTI-AGENT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CrewAI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có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nhiệm vụ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Dễ tổ chức team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0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RESEARCHER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thông tin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WRITER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nội dung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REVIEWER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0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 tra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MULTI-AGENT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AutoGen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hội thoại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 nhau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 hoạt, mạnh (Microsoft)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9701725" y="5749727"/>
            <a:ext cx="97674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1102659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11331361" y="5553935"/>
            <a:ext cx="73454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1"/>
          <p:cNvSpPr/>
          <p:nvPr/>
        </p:nvSpPr>
        <p:spPr>
          <a:xfrm>
            <a:off x="11546202" y="5749727"/>
            <a:ext cx="30486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1219919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12718803" y="5749727"/>
            <a:ext cx="96582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MULTI-AGENT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 phối hợp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Tuần tự, phân cấp, tranh luận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9777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SEQUENTIAL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9777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Tuần tự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9617905" y="600612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→ B → 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12444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HIERARCHICAL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12444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cấp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12284905" y="6006125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manager điều phối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15111926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DEBATE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15111926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Tranh luận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14951906" y="6006125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phản biện → chốt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MULTI-AGENT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130065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2953147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AutoGen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4742805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pattern phối hợp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3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2449711" y="9085792"/>
            <a:ext cx="543551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Copilot Studio &amp; Claude Agent SDK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 Copilot Studio &amp; Claude Agent SDK — cấp doanh nghiệp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AGENTIC AI DOANH NGHIỆP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 Copilot Studio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agent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low-code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 hợp hệ sinh thái Microsoft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Copilot Studio: kéo-thả luồng agent, kết nối Microsoft 365 &amp; connectors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AGENTIC AI DOANH NGHIỆP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Claude Agent SDK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agent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code-first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mạnh mẽ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use, file, code execution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6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6"/>
          <p:cNvSpPr/>
          <p:nvPr/>
        </p:nvSpPr>
        <p:spPr>
          <a:xfrm>
            <a:off x="9004515" y="4874535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agent.py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claude_agent_sdk import  Agent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agent =  Agent (tools=[search, run_code])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agent. run("Phân tích file doanh_thu.csv") # agent tự đọc file · chạy code · trả kết quả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AGENTIC AI DOANH NGHIỆP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Low-code vs Code-first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Low-code: nhanh, business user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Code-first: linh hoạt, dev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LOW-CODE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7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Nhanh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user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kéo-thả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7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CODE-FIRST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7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Linh hoạt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phức tạp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AGENTIC AI DOANH NGHIỆP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 hợp doanh nghiệp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CRM, email, database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 mật &amp; phân quyền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8"/>
          <p:cNvSpPr/>
          <p:nvPr/>
        </p:nvSpPr>
        <p:spPr>
          <a:xfrm>
            <a:off x="9486884" y="5553935"/>
            <a:ext cx="118368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8"/>
          <p:cNvSpPr/>
          <p:nvPr/>
        </p:nvSpPr>
        <p:spPr>
          <a:xfrm>
            <a:off x="9701725" y="5749727"/>
            <a:ext cx="75399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8"/>
          <p:cNvSpPr/>
          <p:nvPr/>
        </p:nvSpPr>
        <p:spPr>
          <a:xfrm>
            <a:off x="1080384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11323457" y="5749727"/>
            <a:ext cx="190526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CRM · Email · DB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8"/>
          <p:cNvSpPr/>
          <p:nvPr/>
        </p:nvSpPr>
        <p:spPr>
          <a:xfrm>
            <a:off x="1357684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8"/>
          <p:cNvSpPr/>
          <p:nvPr/>
        </p:nvSpPr>
        <p:spPr>
          <a:xfrm>
            <a:off x="14096455" y="5749727"/>
            <a:ext cx="121122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Bảo mật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AGENTIC AI DOANH NGHIỆP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1300659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Copilot 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4050341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Claude Agent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7074363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low / code-first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2449711" y="9085792"/>
            <a:ext cx="3510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tool cho agent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tool — API, thực thi code, browser, database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THIẾT KẾ TOOL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loại tool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call, code execution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Browser, database query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1"/>
          <p:cNvSpPr/>
          <p:nvPr/>
        </p:nvSpPr>
        <p:spPr>
          <a:xfrm>
            <a:off x="97779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API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97779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Gọi dịch vụ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1"/>
          <p:cNvSpPr/>
          <p:nvPr/>
        </p:nvSpPr>
        <p:spPr>
          <a:xfrm>
            <a:off x="137784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1"/>
          <p:cNvSpPr/>
          <p:nvPr/>
        </p:nvSpPr>
        <p:spPr>
          <a:xfrm>
            <a:off x="137784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thi code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1"/>
          <p:cNvSpPr/>
          <p:nvPr/>
        </p:nvSpPr>
        <p:spPr>
          <a:xfrm>
            <a:off x="97779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BROWSER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97779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Duyệt web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1"/>
          <p:cNvSpPr/>
          <p:nvPr/>
        </p:nvSpPr>
        <p:spPr>
          <a:xfrm>
            <a:off x="137784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DATABASE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1"/>
          <p:cNvSpPr/>
          <p:nvPr/>
        </p:nvSpPr>
        <p:spPr>
          <a:xfrm>
            <a:off x="137784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Truy vấn DB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THIẾT KẾ TOOL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tool tốt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Tên rõ, mô tả rõ, tham số rõ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tốt = agent dùng đúng tool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2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2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9004515" y="4874535"/>
            <a:ext cx="75907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2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@tool def search_docs (query: str) -&gt; str: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"""Tìm tài liệu nội bộ theo từ khoá."""     return db.search(query)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THIẾT KẾ TOOL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Xử lý lỗi tool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fail → agent xử lý thế nào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Retry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fallback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3"/>
          <p:cNvSpPr/>
          <p:nvPr/>
        </p:nvSpPr>
        <p:spPr>
          <a:xfrm>
            <a:off x="9701725" y="5749727"/>
            <a:ext cx="93986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Gọi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1098971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3"/>
          <p:cNvSpPr/>
          <p:nvPr/>
        </p:nvSpPr>
        <p:spPr>
          <a:xfrm>
            <a:off x="11294484" y="5553935"/>
            <a:ext cx="97168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3"/>
          <p:cNvSpPr/>
          <p:nvPr/>
        </p:nvSpPr>
        <p:spPr>
          <a:xfrm>
            <a:off x="11509326" y="5749727"/>
            <a:ext cx="54199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Lỗi?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1239945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12919059" y="5749727"/>
            <a:ext cx="174957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Retry / fallback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THIẾT KẾ TOOL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loại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4"/>
          <p:cNvSpPr/>
          <p:nvPr/>
        </p:nvSpPr>
        <p:spPr>
          <a:xfrm>
            <a:off x="3364574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mô tả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4"/>
          <p:cNvSpPr/>
          <p:nvPr/>
        </p:nvSpPr>
        <p:spPr>
          <a:xfrm>
            <a:off x="5565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xử lý lỗi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4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4"/>
          <p:cNvSpPr/>
          <p:nvPr/>
        </p:nvSpPr>
        <p:spPr>
          <a:xfrm>
            <a:off x="2449711" y="9085792"/>
            <a:ext cx="277111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memory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memory — ngắn hạn, dài hạn, episodic, semantic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MEMORY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Short-term memory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Ngữ cảnh hội thoại hiện tại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 hạn context window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9701725" y="5749727"/>
            <a:ext cx="76061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Lượt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6"/>
          <p:cNvSpPr/>
          <p:nvPr/>
        </p:nvSpPr>
        <p:spPr>
          <a:xfrm>
            <a:off x="1081046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11330070" y="5749727"/>
            <a:ext cx="79128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Lượt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1246948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12774249" y="5553935"/>
            <a:ext cx="2216795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6"/>
          <p:cNvSpPr/>
          <p:nvPr/>
        </p:nvSpPr>
        <p:spPr>
          <a:xfrm>
            <a:off x="12989091" y="5749727"/>
            <a:ext cx="178711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 hội thoại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MEMORY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Long-term memory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lâu dài bằng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7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Truy xuất khi cần — như 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7"/>
          <p:cNvSpPr/>
          <p:nvPr/>
        </p:nvSpPr>
        <p:spPr>
          <a:xfrm>
            <a:off x="9701725" y="5749727"/>
            <a:ext cx="94201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Ghi nhớ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7"/>
          <p:cNvSpPr/>
          <p:nvPr/>
        </p:nvSpPr>
        <p:spPr>
          <a:xfrm>
            <a:off x="1099186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7"/>
          <p:cNvSpPr/>
          <p:nvPr/>
        </p:nvSpPr>
        <p:spPr>
          <a:xfrm>
            <a:off x="11296634" y="5553935"/>
            <a:ext cx="163008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7"/>
          <p:cNvSpPr/>
          <p:nvPr/>
        </p:nvSpPr>
        <p:spPr>
          <a:xfrm>
            <a:off x="11511475" y="5749727"/>
            <a:ext cx="120039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7"/>
          <p:cNvSpPr/>
          <p:nvPr/>
        </p:nvSpPr>
        <p:spPr>
          <a:xfrm>
            <a:off x="1305999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7"/>
          <p:cNvSpPr/>
          <p:nvPr/>
        </p:nvSpPr>
        <p:spPr>
          <a:xfrm>
            <a:off x="13579608" y="5749727"/>
            <a:ext cx="111622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Truy xuất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MEMORY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Episodic &amp; semantic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Episodic: sự kiện đã xảy 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Semantic: kiến thức / sự thật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EPISODIC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Sự kiện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8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đã xảy 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SEMANTIC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8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thức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8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sự thật, khái niệm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MEMORY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9"/>
          <p:cNvSpPr/>
          <p:nvPr/>
        </p:nvSpPr>
        <p:spPr>
          <a:xfrm>
            <a:off x="1300659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short / long-term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9"/>
          <p:cNvSpPr/>
          <p:nvPr/>
        </p:nvSpPr>
        <p:spPr>
          <a:xfrm>
            <a:off x="4461851" y="5120746"/>
            <a:ext cx="291377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episodic / semantic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2449711" y="9085792"/>
            <a:ext cx="481953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— Model Context Protocol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0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09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0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(Model Context Protocol) — chuẩn mới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0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0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MCP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 đề MCP giải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tool một cách tích hợp riêng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1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chung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như USB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1"/>
          <p:cNvSpPr/>
          <p:nvPr/>
        </p:nvSpPr>
        <p:spPr>
          <a:xfrm>
            <a:off x="10140570" y="5445704"/>
            <a:ext cx="6426893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Hỗn loạn tích hợp → chuẩn hoá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1"/>
          <p:cNvSpPr/>
          <p:nvPr/>
        </p:nvSpPr>
        <p:spPr>
          <a:xfrm>
            <a:off x="10698387" y="6142798"/>
            <a:ext cx="5311261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MCP = "USB cho agent" — một chuẩn kết nối chung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MCP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MCP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cung cấp tool / data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2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client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agent dùng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2"/>
          <p:cNvSpPr/>
          <p:nvPr/>
        </p:nvSpPr>
        <p:spPr>
          <a:xfrm>
            <a:off x="9701709" y="5639015"/>
            <a:ext cx="1411271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CUNG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2"/>
          <p:cNvSpPr/>
          <p:nvPr/>
        </p:nvSpPr>
        <p:spPr>
          <a:xfrm>
            <a:off x="9739809" y="5855147"/>
            <a:ext cx="141127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2"/>
          <p:cNvSpPr/>
          <p:nvPr/>
        </p:nvSpPr>
        <p:spPr>
          <a:xfrm>
            <a:off x="1146108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2"/>
          <p:cNvSpPr/>
          <p:nvPr/>
        </p:nvSpPr>
        <p:spPr>
          <a:xfrm>
            <a:off x="11765856" y="5553935"/>
            <a:ext cx="73454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2"/>
          <p:cNvSpPr/>
          <p:nvPr/>
        </p:nvSpPr>
        <p:spPr>
          <a:xfrm>
            <a:off x="11980698" y="5749727"/>
            <a:ext cx="30486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2"/>
          <p:cNvSpPr/>
          <p:nvPr/>
        </p:nvSpPr>
        <p:spPr>
          <a:xfrm>
            <a:off x="1263368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2"/>
          <p:cNvSpPr/>
          <p:nvPr/>
        </p:nvSpPr>
        <p:spPr>
          <a:xfrm>
            <a:off x="13153282" y="5639015"/>
            <a:ext cx="1335782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CẦU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52"/>
          <p:cNvSpPr/>
          <p:nvPr/>
        </p:nvSpPr>
        <p:spPr>
          <a:xfrm>
            <a:off x="13191382" y="5855147"/>
            <a:ext cx="1335781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MCP Client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MCP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quan trọng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Tái dùng tool across agents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tool một lần, dùng mọi nơi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3"/>
          <p:cNvSpPr/>
          <p:nvPr/>
        </p:nvSpPr>
        <p:spPr>
          <a:xfrm>
            <a:off x="9486884" y="4977640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3"/>
          <p:cNvSpPr/>
          <p:nvPr/>
        </p:nvSpPr>
        <p:spPr>
          <a:xfrm>
            <a:off x="9623810" y="5173431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MCP Server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1326827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9623810" y="6326023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A · Agent B · Agent 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MCP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4"/>
          <p:cNvSpPr/>
          <p:nvPr/>
        </p:nvSpPr>
        <p:spPr>
          <a:xfrm>
            <a:off x="1300659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4"/>
          <p:cNvSpPr/>
          <p:nvPr/>
        </p:nvSpPr>
        <p:spPr>
          <a:xfrm>
            <a:off x="2541720" y="5120746"/>
            <a:ext cx="234872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server /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4"/>
          <p:cNvSpPr/>
          <p:nvPr/>
        </p:nvSpPr>
        <p:spPr>
          <a:xfrm>
            <a:off x="5428572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chuẩn hoá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54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4"/>
          <p:cNvSpPr/>
          <p:nvPr/>
        </p:nvSpPr>
        <p:spPr>
          <a:xfrm>
            <a:off x="2449711" y="9085792"/>
            <a:ext cx="302404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observability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4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sát agent — LangSmith, LangFuse, Arize Phoenix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OBSERVABILITY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cần observability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 khi agent làm sai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chi phí, độ trễ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6"/>
          <p:cNvSpPr/>
          <p:nvPr/>
        </p:nvSpPr>
        <p:spPr>
          <a:xfrm>
            <a:off x="9701725" y="5749727"/>
            <a:ext cx="135220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chạy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6"/>
          <p:cNvSpPr/>
          <p:nvPr/>
        </p:nvSpPr>
        <p:spPr>
          <a:xfrm>
            <a:off x="1140205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6"/>
          <p:cNvSpPr/>
          <p:nvPr/>
        </p:nvSpPr>
        <p:spPr>
          <a:xfrm>
            <a:off x="11706820" y="5553935"/>
            <a:ext cx="232601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6"/>
          <p:cNvSpPr/>
          <p:nvPr/>
        </p:nvSpPr>
        <p:spPr>
          <a:xfrm>
            <a:off x="11921662" y="5749727"/>
            <a:ext cx="189633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Trace từng bước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6"/>
          <p:cNvSpPr/>
          <p:nvPr/>
        </p:nvSpPr>
        <p:spPr>
          <a:xfrm>
            <a:off x="1416612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6"/>
          <p:cNvSpPr/>
          <p:nvPr/>
        </p:nvSpPr>
        <p:spPr>
          <a:xfrm>
            <a:off x="14685732" y="5749727"/>
            <a:ext cx="112846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tích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OBSERVABILITY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7"/>
          <p:cNvSpPr/>
          <p:nvPr/>
        </p:nvSpPr>
        <p:spPr>
          <a:xfrm>
            <a:off x="840072" y="5678372"/>
            <a:ext cx="664504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Ghi lại từng bước: nghĩ, tool, kết quả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7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7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7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Trace một lần chạy: chuỗi suy nghĩ → tool call → observation → câu trả lời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OBSERVABILITY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cụ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8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LangSmith, LangFuse, Arize Phoenix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8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LANGSMITH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8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8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LANGFUSE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8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 nguồn mở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8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ARIZE PHOENIX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8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tích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OBSERVABILITY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Failure mode thường gặp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5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Vòng lặp vô hạn, dùng sai tool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overflow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59"/>
          <p:cNvSpPr/>
          <p:nvPr/>
        </p:nvSpPr>
        <p:spPr>
          <a:xfrm>
            <a:off x="9777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9"/>
          <p:cNvSpPr/>
          <p:nvPr/>
        </p:nvSpPr>
        <p:spPr>
          <a:xfrm>
            <a:off x="9777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Lặp vô hạn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9"/>
          <p:cNvSpPr/>
          <p:nvPr/>
        </p:nvSpPr>
        <p:spPr>
          <a:xfrm>
            <a:off x="9617905" y="6006125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 hạn số bước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9"/>
          <p:cNvSpPr/>
          <p:nvPr/>
        </p:nvSpPr>
        <p:spPr>
          <a:xfrm>
            <a:off x="12444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WRONG TOOL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9"/>
          <p:cNvSpPr/>
          <p:nvPr/>
        </p:nvSpPr>
        <p:spPr>
          <a:xfrm>
            <a:off x="12444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sai tool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9"/>
          <p:cNvSpPr/>
          <p:nvPr/>
        </p:nvSpPr>
        <p:spPr>
          <a:xfrm>
            <a:off x="12284905" y="600612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tool rõ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9"/>
          <p:cNvSpPr/>
          <p:nvPr/>
        </p:nvSpPr>
        <p:spPr>
          <a:xfrm>
            <a:off x="15111926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OVERFLOW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9"/>
          <p:cNvSpPr/>
          <p:nvPr/>
        </p:nvSpPr>
        <p:spPr>
          <a:xfrm>
            <a:off x="15111926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Tràn context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9"/>
          <p:cNvSpPr/>
          <p:nvPr/>
        </p:nvSpPr>
        <p:spPr>
          <a:xfrm>
            <a:off x="14951906" y="600612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 / cắt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OBSERVABILITY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0"/>
          <p:cNvSpPr/>
          <p:nvPr/>
        </p:nvSpPr>
        <p:spPr>
          <a:xfrm>
            <a:off x="130065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observability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60"/>
          <p:cNvSpPr/>
          <p:nvPr/>
        </p:nvSpPr>
        <p:spPr>
          <a:xfrm>
            <a:off x="3913171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0"/>
          <p:cNvSpPr/>
          <p:nvPr/>
        </p:nvSpPr>
        <p:spPr>
          <a:xfrm>
            <a:off x="570282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failure modes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0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0"/>
          <p:cNvSpPr/>
          <p:nvPr/>
        </p:nvSpPr>
        <p:spPr>
          <a:xfrm>
            <a:off x="2449711" y="9085792"/>
            <a:ext cx="469204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6 — Research Agent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60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1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1"/>
          <p:cNvSpPr/>
          <p:nvPr/>
        </p:nvSpPr>
        <p:spPr>
          <a:xfrm>
            <a:off x="1066767" y="3436028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13 · LECTURE 11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61"/>
          <p:cNvSpPr/>
          <p:nvPr/>
        </p:nvSpPr>
        <p:spPr>
          <a:xfrm>
            <a:off x="1066767" y="4379847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6 — Agent nghiên cứu (tìm kiếm, đọc, viết báo cáo)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1"/>
          <p:cNvSpPr/>
          <p:nvPr/>
        </p:nvSpPr>
        <p:spPr>
          <a:xfrm>
            <a:off x="1066767" y="6282780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61"/>
          <p:cNvSpPr/>
          <p:nvPr/>
        </p:nvSpPr>
        <p:spPr>
          <a:xfrm>
            <a:off x="1243509" y="6678530"/>
            <a:ext cx="1379008" cy="2338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CAPSTONE 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1"/>
          <p:cNvSpPr/>
          <p:nvPr/>
        </p:nvSpPr>
        <p:spPr>
          <a:xfrm>
            <a:off x="2894459" y="6646747"/>
            <a:ext cx="286300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~15 phút · 8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6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Bài toán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Nhập chủ đề → agent tự tìm, đọc, tổng hợp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Xuất báo cáo có nguồn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62"/>
          <p:cNvSpPr/>
          <p:nvPr/>
        </p:nvSpPr>
        <p:spPr>
          <a:xfrm>
            <a:off x="9701725" y="5749727"/>
            <a:ext cx="88107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Chủ đề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2"/>
          <p:cNvSpPr/>
          <p:nvPr/>
        </p:nvSpPr>
        <p:spPr>
          <a:xfrm>
            <a:off x="1093093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2"/>
          <p:cNvSpPr/>
          <p:nvPr/>
        </p:nvSpPr>
        <p:spPr>
          <a:xfrm>
            <a:off x="11235697" y="5553935"/>
            <a:ext cx="118368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2"/>
          <p:cNvSpPr/>
          <p:nvPr/>
        </p:nvSpPr>
        <p:spPr>
          <a:xfrm>
            <a:off x="11450538" y="5749727"/>
            <a:ext cx="75399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2"/>
          <p:cNvSpPr/>
          <p:nvPr/>
        </p:nvSpPr>
        <p:spPr>
          <a:xfrm>
            <a:off x="1255266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62"/>
          <p:cNvSpPr/>
          <p:nvPr/>
        </p:nvSpPr>
        <p:spPr>
          <a:xfrm>
            <a:off x="13072270" y="5749727"/>
            <a:ext cx="195462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Báo cáo + nguồn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6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kiến trúc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LangGraph state machine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Tools: search, fetch, write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63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State: chủ đề + phát hiện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3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3"/>
          <p:cNvSpPr/>
          <p:nvPr/>
        </p:nvSpPr>
        <p:spPr>
          <a:xfrm>
            <a:off x="9486884" y="5553935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63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Node: search → fetch → write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63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3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kiện: đủ thông tin? → lặp / kết thúc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&amp; memory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64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search, đọc trang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lưu phát hiện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4"/>
          <p:cNvSpPr/>
          <p:nvPr/>
        </p:nvSpPr>
        <p:spPr>
          <a:xfrm>
            <a:off x="8094679" y="4386378"/>
            <a:ext cx="9126472" cy="3011455"/>
          </a:xfrm>
          <a:prstGeom prst="roundRect">
            <a:avLst>
              <a:gd fmla="val 5061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4"/>
          <p:cNvSpPr/>
          <p:nvPr/>
        </p:nvSpPr>
        <p:spPr>
          <a:xfrm>
            <a:off x="8099971" y="439167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64"/>
          <p:cNvSpPr/>
          <p:nvPr/>
        </p:nvSpPr>
        <p:spPr>
          <a:xfrm>
            <a:off x="9004515" y="4534545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tools.py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64"/>
          <p:cNvSpPr/>
          <p:nvPr/>
        </p:nvSpPr>
        <p:spPr>
          <a:xfrm>
            <a:off x="8366671" y="5104987"/>
            <a:ext cx="8855965" cy="2078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tools = [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web_search,    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tìm nguồn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fetch_page,    </a:t>
            </a: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đọc nội dung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write_report,  </a:t>
            </a: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tổng hợp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memory.save(findings)   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nhớ phát hiện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6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Vòng lặp ReAct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5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Nghĩ → tìm → đọc → tổng hợp → lặp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5"/>
          <p:cNvSpPr/>
          <p:nvPr/>
        </p:nvSpPr>
        <p:spPr>
          <a:xfrm>
            <a:off x="9701725" y="5749727"/>
            <a:ext cx="60558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65"/>
          <p:cNvSpPr/>
          <p:nvPr/>
        </p:nvSpPr>
        <p:spPr>
          <a:xfrm>
            <a:off x="1065543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5"/>
          <p:cNvSpPr/>
          <p:nvPr/>
        </p:nvSpPr>
        <p:spPr>
          <a:xfrm>
            <a:off x="11175041" y="5749727"/>
            <a:ext cx="5126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5"/>
          <p:cNvSpPr/>
          <p:nvPr/>
        </p:nvSpPr>
        <p:spPr>
          <a:xfrm>
            <a:off x="1203581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5"/>
          <p:cNvSpPr/>
          <p:nvPr/>
        </p:nvSpPr>
        <p:spPr>
          <a:xfrm>
            <a:off x="12340580" y="5553935"/>
            <a:ext cx="961926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65"/>
          <p:cNvSpPr/>
          <p:nvPr/>
        </p:nvSpPr>
        <p:spPr>
          <a:xfrm>
            <a:off x="12555422" y="5749727"/>
            <a:ext cx="53224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5"/>
          <p:cNvSpPr/>
          <p:nvPr/>
        </p:nvSpPr>
        <p:spPr>
          <a:xfrm>
            <a:off x="1343579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5"/>
          <p:cNvSpPr/>
          <p:nvPr/>
        </p:nvSpPr>
        <p:spPr>
          <a:xfrm>
            <a:off x="13955399" y="5749727"/>
            <a:ext cx="11200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 hợp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5"/>
          <p:cNvSpPr/>
          <p:nvPr/>
        </p:nvSpPr>
        <p:spPr>
          <a:xfrm>
            <a:off x="1542355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5"/>
          <p:cNvSpPr/>
          <p:nvPr/>
        </p:nvSpPr>
        <p:spPr>
          <a:xfrm>
            <a:off x="15943164" y="5749727"/>
            <a:ext cx="2841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6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Observability &amp; guardrail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6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Trace bằng LangSmith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 hạn số bước (chống loop)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6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6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6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Trace LangSmith + giới hạn max_steps để chống vòng lặp vô hạn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6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&amp; demo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67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Báo cáo có trích dẫn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UI nhập chủ đề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7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67"/>
          <p:cNvSpPr/>
          <p:nvPr/>
        </p:nvSpPr>
        <p:spPr>
          <a:xfrm>
            <a:off x="12510443" y="5428688"/>
            <a:ext cx="29494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7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Web app: ô nhập chủ đề → agent chạy → báo cáo có trích dẫn nguồn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8"/>
          <p:cNvSpPr/>
          <p:nvPr/>
        </p:nvSpPr>
        <p:spPr>
          <a:xfrm>
            <a:off x="8429626" y="3213613"/>
            <a:ext cx="1428750" cy="1428750"/>
          </a:xfrm>
          <a:prstGeom prst="ellipse">
            <a:avLst/>
          </a:prstGeom>
          <a:noFill/>
          <a:ln>
            <a:noFill/>
          </a:ln>
          <a:effectLst>
            <a:outerShdw blurRad="4762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8"/>
          <p:cNvSpPr/>
          <p:nvPr/>
        </p:nvSpPr>
        <p:spPr>
          <a:xfrm>
            <a:off x="8428567" y="3250655"/>
            <a:ext cx="1430867" cy="1392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8"/>
          <p:cNvSpPr/>
          <p:nvPr/>
        </p:nvSpPr>
        <p:spPr>
          <a:xfrm>
            <a:off x="5955763" y="4928113"/>
            <a:ext cx="6376392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 thành Section 13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68"/>
          <p:cNvSpPr/>
          <p:nvPr/>
        </p:nvSpPr>
        <p:spPr>
          <a:xfrm>
            <a:off x="3786496" y="5928238"/>
            <a:ext cx="10715008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 / 11 lectures · Capstone 6 ✓ ·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166 / 198 lectures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8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8"/>
          <p:cNvSpPr/>
          <p:nvPr/>
        </p:nvSpPr>
        <p:spPr>
          <a:xfrm>
            <a:off x="2449711" y="9085792"/>
            <a:ext cx="316856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14 — MLOps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8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9"/>
          <p:cNvSpPr/>
          <p:nvPr/>
        </p:nvSpPr>
        <p:spPr>
          <a:xfrm>
            <a:off x="1066767" y="204440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BATCH 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9"/>
          <p:cNvSpPr/>
          <p:nvPr/>
        </p:nvSpPr>
        <p:spPr>
          <a:xfrm>
            <a:off x="1066767" y="2605319"/>
            <a:ext cx="16639101" cy="17526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Courier New"/>
              <a:buNone/>
            </a:pPr>
            <a:r>
              <a:rPr b="1" i="0" lang="en-US" sz="15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9"/>
          <p:cNvSpPr/>
          <p:nvPr/>
        </p:nvSpPr>
        <p:spPr>
          <a:xfrm>
            <a:off x="1066767" y="5065035"/>
            <a:ext cx="13311281" cy="751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MLOps &amp; Triển khai Production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9"/>
          <p:cNvSpPr/>
          <p:nvPr/>
        </p:nvSpPr>
        <p:spPr>
          <a:xfrm>
            <a:off x="1066767" y="6809135"/>
            <a:ext cx="10316192" cy="1281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Dựng pipeline MLOps đầy đủ (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tracking, registry, versioning, orchestration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đóng gói API, deploy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/ K8s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giám sát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drift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LLMOps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hoàn thành Capstone cuối.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7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7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MLOps là gì? Bốn trụ cột: code, data, model, hạ tầng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7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MLOPS LÀ GÌ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7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MLOps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7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trong notebook ≠ sản phẩm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 model không bao giờ lên production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71"/>
          <p:cNvSpPr/>
          <p:nvPr/>
        </p:nvSpPr>
        <p:spPr>
          <a:xfrm>
            <a:off x="10846995" y="5347808"/>
            <a:ext cx="5014128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 → Production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1"/>
          <p:cNvSpPr/>
          <p:nvPr/>
        </p:nvSpPr>
        <p:spPr>
          <a:xfrm>
            <a:off x="9768749" y="6044903"/>
            <a:ext cx="7170619" cy="429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80% model không bao giờ rời notebook — MLOps thu hẹp khoảng cách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MLOPS LÀ GÌ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7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Bốn trụ cột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7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· Data · Model · Hạ tầng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 4 đều cần version &amp; quản lý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72"/>
          <p:cNvSpPr/>
          <p:nvPr/>
        </p:nvSpPr>
        <p:spPr>
          <a:xfrm>
            <a:off x="97779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72"/>
          <p:cNvSpPr/>
          <p:nvPr/>
        </p:nvSpPr>
        <p:spPr>
          <a:xfrm>
            <a:off x="97779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 nguồn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72"/>
          <p:cNvSpPr/>
          <p:nvPr/>
        </p:nvSpPr>
        <p:spPr>
          <a:xfrm>
            <a:off x="137784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72"/>
          <p:cNvSpPr/>
          <p:nvPr/>
        </p:nvSpPr>
        <p:spPr>
          <a:xfrm>
            <a:off x="137784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72"/>
          <p:cNvSpPr/>
          <p:nvPr/>
        </p:nvSpPr>
        <p:spPr>
          <a:xfrm>
            <a:off x="97779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72"/>
          <p:cNvSpPr/>
          <p:nvPr/>
        </p:nvSpPr>
        <p:spPr>
          <a:xfrm>
            <a:off x="97779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hình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72"/>
          <p:cNvSpPr/>
          <p:nvPr/>
        </p:nvSpPr>
        <p:spPr>
          <a:xfrm>
            <a:off x="137784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INFRA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72"/>
          <p:cNvSpPr/>
          <p:nvPr/>
        </p:nvSpPr>
        <p:spPr>
          <a:xfrm>
            <a:off x="137784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Hạ tầng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MLOPS LÀ GÌ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Vòng đời ML thật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7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tuyến tính — vòng lặp liên tục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→ deploy → monitor → retrain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3"/>
          <p:cNvSpPr/>
          <p:nvPr/>
        </p:nvSpPr>
        <p:spPr>
          <a:xfrm>
            <a:off x="9701725" y="5749727"/>
            <a:ext cx="6301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73"/>
          <p:cNvSpPr/>
          <p:nvPr/>
        </p:nvSpPr>
        <p:spPr>
          <a:xfrm>
            <a:off x="1067999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73"/>
          <p:cNvSpPr/>
          <p:nvPr/>
        </p:nvSpPr>
        <p:spPr>
          <a:xfrm>
            <a:off x="11199598" y="5749727"/>
            <a:ext cx="8640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73"/>
          <p:cNvSpPr/>
          <p:nvPr/>
        </p:nvSpPr>
        <p:spPr>
          <a:xfrm>
            <a:off x="1241177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73"/>
          <p:cNvSpPr/>
          <p:nvPr/>
        </p:nvSpPr>
        <p:spPr>
          <a:xfrm>
            <a:off x="12716537" y="5553935"/>
            <a:ext cx="13783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3"/>
          <p:cNvSpPr/>
          <p:nvPr/>
        </p:nvSpPr>
        <p:spPr>
          <a:xfrm>
            <a:off x="12931378" y="5749727"/>
            <a:ext cx="94863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73"/>
          <p:cNvSpPr/>
          <p:nvPr/>
        </p:nvSpPr>
        <p:spPr>
          <a:xfrm>
            <a:off x="1422813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73"/>
          <p:cNvSpPr/>
          <p:nvPr/>
        </p:nvSpPr>
        <p:spPr>
          <a:xfrm>
            <a:off x="14747743" y="5749727"/>
            <a:ext cx="88050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3"/>
          <p:cNvSpPr/>
          <p:nvPr/>
        </p:nvSpPr>
        <p:spPr>
          <a:xfrm>
            <a:off x="1597636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73"/>
          <p:cNvSpPr/>
          <p:nvPr/>
        </p:nvSpPr>
        <p:spPr>
          <a:xfrm>
            <a:off x="16495978" y="5749727"/>
            <a:ext cx="2841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MLOPS LÀ GÌ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Maturity model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0: thủ công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1–2: tự động hoá dần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74"/>
          <p:cNvSpPr/>
          <p:nvPr/>
        </p:nvSpPr>
        <p:spPr>
          <a:xfrm>
            <a:off x="9701709" y="5639015"/>
            <a:ext cx="899220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THỦ CÔNG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74"/>
          <p:cNvSpPr/>
          <p:nvPr/>
        </p:nvSpPr>
        <p:spPr>
          <a:xfrm>
            <a:off x="10004061" y="5855147"/>
            <a:ext cx="370715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1094903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4"/>
          <p:cNvSpPr/>
          <p:nvPr/>
        </p:nvSpPr>
        <p:spPr>
          <a:xfrm>
            <a:off x="11468630" y="5639015"/>
            <a:ext cx="1413503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TỰ ĐỘNG TRAIN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4"/>
          <p:cNvSpPr/>
          <p:nvPr/>
        </p:nvSpPr>
        <p:spPr>
          <a:xfrm>
            <a:off x="12054086" y="5855147"/>
            <a:ext cx="318790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4"/>
          <p:cNvSpPr/>
          <p:nvPr/>
        </p:nvSpPr>
        <p:spPr>
          <a:xfrm>
            <a:off x="1323024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74"/>
          <p:cNvSpPr/>
          <p:nvPr/>
        </p:nvSpPr>
        <p:spPr>
          <a:xfrm>
            <a:off x="13535009" y="5443224"/>
            <a:ext cx="1946093" cy="897764"/>
          </a:xfrm>
          <a:prstGeom prst="roundRect">
            <a:avLst>
              <a:gd fmla="val 14854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74"/>
          <p:cNvSpPr/>
          <p:nvPr/>
        </p:nvSpPr>
        <p:spPr>
          <a:xfrm>
            <a:off x="13749834" y="5639015"/>
            <a:ext cx="1516443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TỰ ĐỘNG ĐẦY ĐỦ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74"/>
          <p:cNvSpPr/>
          <p:nvPr/>
        </p:nvSpPr>
        <p:spPr>
          <a:xfrm>
            <a:off x="14365387" y="5855147"/>
            <a:ext cx="36153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MLOPS LÀ GÌ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7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75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 trụ cột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75"/>
          <p:cNvSpPr/>
          <p:nvPr/>
        </p:nvSpPr>
        <p:spPr>
          <a:xfrm>
            <a:off x="3364574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vòng đời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75"/>
          <p:cNvSpPr/>
          <p:nvPr/>
        </p:nvSpPr>
        <p:spPr>
          <a:xfrm>
            <a:off x="5291402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maturity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7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75"/>
          <p:cNvSpPr/>
          <p:nvPr/>
        </p:nvSpPr>
        <p:spPr>
          <a:xfrm>
            <a:off x="2449711" y="9085792"/>
            <a:ext cx="312419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tracking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7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7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7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tracking — MLflow, Weights &amp; Biases, Comet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7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7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EXPERIMENT TRACKING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7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 đề khi không track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77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Quên tham số, không tái lập được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77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"Model tốt mà không nhớ chạy sao"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77"/>
          <p:cNvSpPr/>
          <p:nvPr/>
        </p:nvSpPr>
        <p:spPr>
          <a:xfrm>
            <a:off x="11093966" y="6405646"/>
            <a:ext cx="452018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không track = không tái lập được kết quả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EXPERIMENT TRACKING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7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7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Params, metrics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Artifacts, code version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78"/>
          <p:cNvSpPr/>
          <p:nvPr/>
        </p:nvSpPr>
        <p:spPr>
          <a:xfrm>
            <a:off x="97779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78"/>
          <p:cNvSpPr/>
          <p:nvPr/>
        </p:nvSpPr>
        <p:spPr>
          <a:xfrm>
            <a:off x="97779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Tham số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78"/>
          <p:cNvSpPr/>
          <p:nvPr/>
        </p:nvSpPr>
        <p:spPr>
          <a:xfrm>
            <a:off x="137784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METRICS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78"/>
          <p:cNvSpPr/>
          <p:nvPr/>
        </p:nvSpPr>
        <p:spPr>
          <a:xfrm>
            <a:off x="137784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78"/>
          <p:cNvSpPr/>
          <p:nvPr/>
        </p:nvSpPr>
        <p:spPr>
          <a:xfrm>
            <a:off x="97779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ARTIFACTS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78"/>
          <p:cNvSpPr/>
          <p:nvPr/>
        </p:nvSpPr>
        <p:spPr>
          <a:xfrm>
            <a:off x="97779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· file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8"/>
          <p:cNvSpPr/>
          <p:nvPr/>
        </p:nvSpPr>
        <p:spPr>
          <a:xfrm>
            <a:off x="137784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78"/>
          <p:cNvSpPr/>
          <p:nvPr/>
        </p:nvSpPr>
        <p:spPr>
          <a:xfrm>
            <a:off x="137784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7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EXPERIMENT TRACKING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7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79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 nguồn mở, phổ biến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 + UI so sánh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79"/>
          <p:cNvSpPr/>
          <p:nvPr/>
        </p:nvSpPr>
        <p:spPr>
          <a:xfrm>
            <a:off x="8094679" y="4556373"/>
            <a:ext cx="9126472" cy="2671465"/>
          </a:xfrm>
          <a:prstGeom prst="roundRect">
            <a:avLst>
              <a:gd fmla="val 5705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79"/>
          <p:cNvSpPr/>
          <p:nvPr/>
        </p:nvSpPr>
        <p:spPr>
          <a:xfrm>
            <a:off x="8099971" y="4561665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79"/>
          <p:cNvSpPr/>
          <p:nvPr/>
        </p:nvSpPr>
        <p:spPr>
          <a:xfrm>
            <a:off x="9004515" y="4704540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train.py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9"/>
          <p:cNvSpPr/>
          <p:nvPr/>
        </p:nvSpPr>
        <p:spPr>
          <a:xfrm>
            <a:off x="8366671" y="5274982"/>
            <a:ext cx="8855965" cy="17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mlflow with mlflow.start_run ():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mlflow. log_param("lr" , 3e-4)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mlflow. log_metric("acc" , 0.92)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mlflow. log_artifact("model.pkl")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EXPERIMENT TRACKING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8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W&amp;B &amp; Comet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80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đẹp, cộng tác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80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MLFLOW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0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 nguồn mở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80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80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W&amp;B · COMET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80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đẹp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80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cộng tác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8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EXPERIMENT TRACKING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8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1"/>
          <p:cNvSpPr/>
          <p:nvPr/>
        </p:nvSpPr>
        <p:spPr>
          <a:xfrm>
            <a:off x="1300659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81"/>
          <p:cNvSpPr/>
          <p:nvPr/>
        </p:nvSpPr>
        <p:spPr>
          <a:xfrm>
            <a:off x="3227487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MLflow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1"/>
          <p:cNvSpPr/>
          <p:nvPr/>
        </p:nvSpPr>
        <p:spPr>
          <a:xfrm>
            <a:off x="4879975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W&amp;B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8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81"/>
          <p:cNvSpPr/>
          <p:nvPr/>
        </p:nvSpPr>
        <p:spPr>
          <a:xfrm>
            <a:off x="2449711" y="9085792"/>
            <a:ext cx="224942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registry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8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82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82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registry — version, stage, lineage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82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82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8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MODEL REGISTRY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8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Versioning model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8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model một version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Biết model nào đang chạy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83"/>
          <p:cNvSpPr/>
          <p:nvPr/>
        </p:nvSpPr>
        <p:spPr>
          <a:xfrm>
            <a:off x="9701725" y="5749727"/>
            <a:ext cx="32504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83"/>
          <p:cNvSpPr/>
          <p:nvPr/>
        </p:nvSpPr>
        <p:spPr>
          <a:xfrm>
            <a:off x="1037489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83"/>
          <p:cNvSpPr/>
          <p:nvPr/>
        </p:nvSpPr>
        <p:spPr>
          <a:xfrm>
            <a:off x="10894500" y="5749727"/>
            <a:ext cx="35579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83"/>
          <p:cNvSpPr/>
          <p:nvPr/>
        </p:nvSpPr>
        <p:spPr>
          <a:xfrm>
            <a:off x="1159842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83"/>
          <p:cNvSpPr/>
          <p:nvPr/>
        </p:nvSpPr>
        <p:spPr>
          <a:xfrm>
            <a:off x="11903191" y="5553935"/>
            <a:ext cx="7920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83"/>
          <p:cNvSpPr/>
          <p:nvPr/>
        </p:nvSpPr>
        <p:spPr>
          <a:xfrm>
            <a:off x="12118033" y="5749727"/>
            <a:ext cx="36233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MODEL REGISTRY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8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Staging → Production → Archived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Promote model qua các giai đoạn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4"/>
          <p:cNvSpPr/>
          <p:nvPr/>
        </p:nvSpPr>
        <p:spPr>
          <a:xfrm>
            <a:off x="9701725" y="5749727"/>
            <a:ext cx="94755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4"/>
          <p:cNvSpPr/>
          <p:nvPr/>
        </p:nvSpPr>
        <p:spPr>
          <a:xfrm>
            <a:off x="1099740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4"/>
          <p:cNvSpPr/>
          <p:nvPr/>
        </p:nvSpPr>
        <p:spPr>
          <a:xfrm>
            <a:off x="11302174" y="5553935"/>
            <a:ext cx="173897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84"/>
          <p:cNvSpPr/>
          <p:nvPr/>
        </p:nvSpPr>
        <p:spPr>
          <a:xfrm>
            <a:off x="11517016" y="5749727"/>
            <a:ext cx="130929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84"/>
          <p:cNvSpPr/>
          <p:nvPr/>
        </p:nvSpPr>
        <p:spPr>
          <a:xfrm>
            <a:off x="1317443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84"/>
          <p:cNvSpPr/>
          <p:nvPr/>
        </p:nvSpPr>
        <p:spPr>
          <a:xfrm>
            <a:off x="13694040" y="5749727"/>
            <a:ext cx="10789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Archived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MODEL REGISTRY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Lineage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từ data nào, code nào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Tái lập &amp; audit khi cần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5"/>
          <p:cNvSpPr/>
          <p:nvPr/>
        </p:nvSpPr>
        <p:spPr>
          <a:xfrm>
            <a:off x="9701725" y="5749727"/>
            <a:ext cx="60566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5"/>
          <p:cNvSpPr/>
          <p:nvPr/>
        </p:nvSpPr>
        <p:spPr>
          <a:xfrm>
            <a:off x="1065551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85"/>
          <p:cNvSpPr/>
          <p:nvPr/>
        </p:nvSpPr>
        <p:spPr>
          <a:xfrm>
            <a:off x="11175124" y="5749727"/>
            <a:ext cx="67925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85"/>
          <p:cNvSpPr/>
          <p:nvPr/>
        </p:nvSpPr>
        <p:spPr>
          <a:xfrm>
            <a:off x="1220250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85"/>
          <p:cNvSpPr/>
          <p:nvPr/>
        </p:nvSpPr>
        <p:spPr>
          <a:xfrm>
            <a:off x="12507268" y="5553935"/>
            <a:ext cx="120592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85"/>
          <p:cNvSpPr/>
          <p:nvPr/>
        </p:nvSpPr>
        <p:spPr>
          <a:xfrm>
            <a:off x="12722110" y="5749727"/>
            <a:ext cx="7762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MODEL REGISTRY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8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86"/>
          <p:cNvSpPr/>
          <p:nvPr/>
        </p:nvSpPr>
        <p:spPr>
          <a:xfrm>
            <a:off x="130065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86"/>
          <p:cNvSpPr/>
          <p:nvPr/>
        </p:nvSpPr>
        <p:spPr>
          <a:xfrm>
            <a:off x="3090317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86"/>
          <p:cNvSpPr/>
          <p:nvPr/>
        </p:nvSpPr>
        <p:spPr>
          <a:xfrm>
            <a:off x="4605635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8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86"/>
          <p:cNvSpPr/>
          <p:nvPr/>
        </p:nvSpPr>
        <p:spPr>
          <a:xfrm>
            <a:off x="2449711" y="9085792"/>
            <a:ext cx="242586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versioning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8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87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87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87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versioning với DVC + S3 / MinIO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87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87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DATA VERSIONING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8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version data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8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Tái lập kết quả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đổi → model đổi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88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Cùng code + khác data = khác kết quả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88"/>
          <p:cNvSpPr/>
          <p:nvPr/>
        </p:nvSpPr>
        <p:spPr>
          <a:xfrm>
            <a:off x="11206978" y="6405646"/>
            <a:ext cx="4294162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reproducibility cần version cả dữ liệu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DATA VERSIONING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8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DVC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89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cho dữ liệu lớn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89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lưu con trỏ, data ở storage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89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9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9"/>
          <p:cNvSpPr/>
          <p:nvPr/>
        </p:nvSpPr>
        <p:spPr>
          <a:xfrm>
            <a:off x="9004515" y="5044529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89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dvc add data/train.csv $ dvc push </a:t>
            </a: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Git lưu .dvc (con trỏ) · data lên storage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DATA VERSIONING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9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/ MinIO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9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data thật trên object storage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MinIO: S3 tự host (on-premise)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90"/>
          <p:cNvSpPr/>
          <p:nvPr/>
        </p:nvSpPr>
        <p:spPr>
          <a:xfrm>
            <a:off x="9701725" y="5749727"/>
            <a:ext cx="58697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DVC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90"/>
          <p:cNvSpPr/>
          <p:nvPr/>
        </p:nvSpPr>
        <p:spPr>
          <a:xfrm>
            <a:off x="1063683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90"/>
          <p:cNvSpPr/>
          <p:nvPr/>
        </p:nvSpPr>
        <p:spPr>
          <a:xfrm>
            <a:off x="10941596" y="5553935"/>
            <a:ext cx="166819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90"/>
          <p:cNvSpPr/>
          <p:nvPr/>
        </p:nvSpPr>
        <p:spPr>
          <a:xfrm>
            <a:off x="11156438" y="5749727"/>
            <a:ext cx="123851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MinIO / S3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DATA VERSIONING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9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91"/>
          <p:cNvSpPr/>
          <p:nvPr/>
        </p:nvSpPr>
        <p:spPr>
          <a:xfrm>
            <a:off x="1300659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DVC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91"/>
          <p:cNvSpPr/>
          <p:nvPr/>
        </p:nvSpPr>
        <p:spPr>
          <a:xfrm>
            <a:off x="2541720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S3 / MinIO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91"/>
          <p:cNvSpPr/>
          <p:nvPr/>
        </p:nvSpPr>
        <p:spPr>
          <a:xfrm>
            <a:off x="4742805" y="5120746"/>
            <a:ext cx="234872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reproducibility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9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91"/>
          <p:cNvSpPr/>
          <p:nvPr/>
        </p:nvSpPr>
        <p:spPr>
          <a:xfrm>
            <a:off x="2449711" y="9085792"/>
            <a:ext cx="206892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store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9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92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92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store — Feast, Hopsworks (online vs offline)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92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92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FEATURE STORE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9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không có feature store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9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/ serve tính feature khác nhau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9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Training–serving skew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93"/>
          <p:cNvSpPr/>
          <p:nvPr/>
        </p:nvSpPr>
        <p:spPr>
          <a:xfrm>
            <a:off x="11111000" y="5445704"/>
            <a:ext cx="4486119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≠ Serve → skew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93"/>
          <p:cNvSpPr/>
          <p:nvPr/>
        </p:nvSpPr>
        <p:spPr>
          <a:xfrm>
            <a:off x="10189881" y="6142798"/>
            <a:ext cx="632827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lệch định nghĩa feature giữa train và serve gây model dở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FEATURE STORE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9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vs Offline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9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Offline: train (lịch sử)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Online: serve (real-time)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94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OFFLINE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94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94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lịch sử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94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ONLINE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94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94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FEATURE STORE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9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Feast &amp; Hopsworks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95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Feast: nhẹ, mã nguồn mở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Đảm bảo nhất quán train–serve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95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95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95"/>
          <p:cNvSpPr/>
          <p:nvPr/>
        </p:nvSpPr>
        <p:spPr>
          <a:xfrm>
            <a:off x="9004515" y="4874535"/>
            <a:ext cx="114933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features.py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95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feast import  FeatureStore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store =  FeatureStore("." 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store. get_online_features(...)      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serve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store.get_historical_features(...)  </a:t>
            </a: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train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9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FEATURE STORE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9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96"/>
          <p:cNvSpPr/>
          <p:nvPr/>
        </p:nvSpPr>
        <p:spPr>
          <a:xfrm>
            <a:off x="130065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feature store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96"/>
          <p:cNvSpPr/>
          <p:nvPr/>
        </p:nvSpPr>
        <p:spPr>
          <a:xfrm>
            <a:off x="3913171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online / offline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96"/>
          <p:cNvSpPr/>
          <p:nvPr/>
        </p:nvSpPr>
        <p:spPr>
          <a:xfrm>
            <a:off x="6937194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skew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9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96"/>
          <p:cNvSpPr/>
          <p:nvPr/>
        </p:nvSpPr>
        <p:spPr>
          <a:xfrm>
            <a:off x="2449711" y="9085792"/>
            <a:ext cx="21637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7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97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97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Orchestration — Airflow, Prefect, Dagster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97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97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9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ORCHESTRATION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9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orchestration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9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chạy thủ công từng bước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Lập lịch, retry, theo dõi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98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THỦ CÔNG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98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tay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98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dễ quên, dễ lỗi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98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TỰ ĐỘNG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98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lịch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8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retry · theo dõi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ORCHESTRATION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9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9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Đồ thị các task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phụ thuộc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9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→ task → task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99"/>
          <p:cNvSpPr/>
          <p:nvPr/>
        </p:nvSpPr>
        <p:spPr>
          <a:xfrm>
            <a:off x="9701725" y="5749727"/>
            <a:ext cx="78062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99"/>
          <p:cNvSpPr/>
          <p:nvPr/>
        </p:nvSpPr>
        <p:spPr>
          <a:xfrm>
            <a:off x="1083047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99"/>
          <p:cNvSpPr/>
          <p:nvPr/>
        </p:nvSpPr>
        <p:spPr>
          <a:xfrm>
            <a:off x="11135238" y="5553935"/>
            <a:ext cx="105982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99"/>
          <p:cNvSpPr/>
          <p:nvPr/>
        </p:nvSpPr>
        <p:spPr>
          <a:xfrm>
            <a:off x="11350079" y="5749727"/>
            <a:ext cx="6301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99"/>
          <p:cNvSpPr/>
          <p:nvPr/>
        </p:nvSpPr>
        <p:spPr>
          <a:xfrm>
            <a:off x="1232834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99"/>
          <p:cNvSpPr/>
          <p:nvPr/>
        </p:nvSpPr>
        <p:spPr>
          <a:xfrm>
            <a:off x="12847952" y="5749727"/>
            <a:ext cx="8640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ORCHESTRATION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10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100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ngành, lập lịch mạnh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Phổ biến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100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00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100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Airflow UI: DAG dạng đồ thị, trạng thái từng task, lịch chạy &amp; retry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0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ORCHESTRATION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10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Prefect &amp; Dagster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01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 đại hơn, dev experience tốt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101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AIRFLOW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101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ngành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01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DN dùng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101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PREFECT · DAGSTER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101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 đại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101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DX tốt hơn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0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ORCHESTRATION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10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102"/>
          <p:cNvSpPr/>
          <p:nvPr/>
        </p:nvSpPr>
        <p:spPr>
          <a:xfrm>
            <a:off x="130065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orchestration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102"/>
          <p:cNvSpPr/>
          <p:nvPr/>
        </p:nvSpPr>
        <p:spPr>
          <a:xfrm>
            <a:off x="3913171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102"/>
          <p:cNvSpPr/>
          <p:nvPr/>
        </p:nvSpPr>
        <p:spPr>
          <a:xfrm>
            <a:off x="5154233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Airflow / Prefect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102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02"/>
          <p:cNvSpPr/>
          <p:nvPr/>
        </p:nvSpPr>
        <p:spPr>
          <a:xfrm>
            <a:off x="2449711" y="9085792"/>
            <a:ext cx="212655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cho ML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102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3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103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103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cho ML — GitHub Actions (test, lint, build, deploy)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103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03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0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CI/CD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10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10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CI: tự động test khi push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CD: tự động deploy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104"/>
          <p:cNvSpPr/>
          <p:nvPr/>
        </p:nvSpPr>
        <p:spPr>
          <a:xfrm>
            <a:off x="9701725" y="5749727"/>
            <a:ext cx="6417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104"/>
          <p:cNvSpPr/>
          <p:nvPr/>
        </p:nvSpPr>
        <p:spPr>
          <a:xfrm>
            <a:off x="1069164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104"/>
          <p:cNvSpPr/>
          <p:nvPr/>
        </p:nvSpPr>
        <p:spPr>
          <a:xfrm>
            <a:off x="10996415" y="5553935"/>
            <a:ext cx="97788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04"/>
          <p:cNvSpPr/>
          <p:nvPr/>
        </p:nvSpPr>
        <p:spPr>
          <a:xfrm>
            <a:off x="11211257" y="5749727"/>
            <a:ext cx="54820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104"/>
          <p:cNvSpPr/>
          <p:nvPr/>
        </p:nvSpPr>
        <p:spPr>
          <a:xfrm>
            <a:off x="1210758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104"/>
          <p:cNvSpPr/>
          <p:nvPr/>
        </p:nvSpPr>
        <p:spPr>
          <a:xfrm>
            <a:off x="12627191" y="5749727"/>
            <a:ext cx="64419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104"/>
          <p:cNvSpPr/>
          <p:nvPr/>
        </p:nvSpPr>
        <p:spPr>
          <a:xfrm>
            <a:off x="1361951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104"/>
          <p:cNvSpPr/>
          <p:nvPr/>
        </p:nvSpPr>
        <p:spPr>
          <a:xfrm>
            <a:off x="14139118" y="5749727"/>
            <a:ext cx="8640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0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CI/CD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10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Khác biệt cho ML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105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cả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&amp;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105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Reproducibility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105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SOFTWARE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105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code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105"/>
          <p:cNvSpPr/>
          <p:nvPr/>
        </p:nvSpPr>
        <p:spPr>
          <a:xfrm>
            <a:off x="9617905" y="5948991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05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105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data &amp; model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105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CI/CD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10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106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động test, build Docker, push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Git / GitHub Section 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106"/>
          <p:cNvSpPr/>
          <p:nvPr/>
        </p:nvSpPr>
        <p:spPr>
          <a:xfrm>
            <a:off x="8094679" y="4386378"/>
            <a:ext cx="9126472" cy="3011455"/>
          </a:xfrm>
          <a:prstGeom prst="roundRect">
            <a:avLst>
              <a:gd fmla="val 5061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06"/>
          <p:cNvSpPr/>
          <p:nvPr/>
        </p:nvSpPr>
        <p:spPr>
          <a:xfrm>
            <a:off x="8099971" y="439167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06"/>
          <p:cNvSpPr/>
          <p:nvPr/>
        </p:nvSpPr>
        <p:spPr>
          <a:xfrm>
            <a:off x="9004515" y="4534545"/>
            <a:ext cx="66150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ci.yml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106"/>
          <p:cNvSpPr/>
          <p:nvPr/>
        </p:nvSpPr>
        <p:spPr>
          <a:xfrm>
            <a:off x="8366671" y="5104987"/>
            <a:ext cx="8855965" cy="2078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: [push]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jobs: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test: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steps: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-  run : pytest tests/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-  run: docker build -t app 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0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CI/CD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10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107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CI/CD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107"/>
          <p:cNvSpPr/>
          <p:nvPr/>
        </p:nvSpPr>
        <p:spPr>
          <a:xfrm>
            <a:off x="2815977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test data /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107"/>
          <p:cNvSpPr/>
          <p:nvPr/>
        </p:nvSpPr>
        <p:spPr>
          <a:xfrm>
            <a:off x="5977169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GitHub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107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07"/>
          <p:cNvSpPr/>
          <p:nvPr/>
        </p:nvSpPr>
        <p:spPr>
          <a:xfrm>
            <a:off x="2449711" y="9085792"/>
            <a:ext cx="220138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serving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107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08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108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108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serving — FastAPI, BentoML, TorchServe, Triton, vLLM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108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08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0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MODEL SERVING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10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serving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10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Bọc model thành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10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input → trả prediction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109"/>
          <p:cNvSpPr/>
          <p:nvPr/>
        </p:nvSpPr>
        <p:spPr>
          <a:xfrm>
            <a:off x="9701725" y="5749727"/>
            <a:ext cx="100956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09"/>
          <p:cNvSpPr/>
          <p:nvPr/>
        </p:nvSpPr>
        <p:spPr>
          <a:xfrm>
            <a:off x="1105941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109"/>
          <p:cNvSpPr/>
          <p:nvPr/>
        </p:nvSpPr>
        <p:spPr>
          <a:xfrm>
            <a:off x="11364185" y="5553935"/>
            <a:ext cx="120592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09"/>
          <p:cNvSpPr/>
          <p:nvPr/>
        </p:nvSpPr>
        <p:spPr>
          <a:xfrm>
            <a:off x="11579027" y="5749727"/>
            <a:ext cx="7762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109"/>
          <p:cNvSpPr/>
          <p:nvPr/>
        </p:nvSpPr>
        <p:spPr>
          <a:xfrm>
            <a:off x="1270339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109"/>
          <p:cNvSpPr/>
          <p:nvPr/>
        </p:nvSpPr>
        <p:spPr>
          <a:xfrm>
            <a:off x="13222999" y="5749727"/>
            <a:ext cx="119097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1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MODEL SERVING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11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110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giản, nhanh, phổ biến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Lựa chọn số 1 cho người mới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110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110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10"/>
          <p:cNvSpPr/>
          <p:nvPr/>
        </p:nvSpPr>
        <p:spPr>
          <a:xfrm>
            <a:off x="9004515" y="5044529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serve.py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110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@app.post("/predict") def predict (x: Input):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{"y": model.predict(x.features)}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1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MODEL SERVING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11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BentoML &amp; TorchServe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11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Chuyên cho ML serving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Đóng gói + serve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111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FASTAPI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111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 quát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111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lắp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111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BENTOML · TORCHSERVE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11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Chuyên ML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111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đóng gói sẵn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MODEL SERVING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11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Triton &amp; vLLM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11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Triton: hiệu năng cao đa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vLLM: serve LLM tốc độ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112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TRITON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112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Đa model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112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 năng 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12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VLLM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112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112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throughput 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1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MODEL SERVING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11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113"/>
          <p:cNvSpPr/>
          <p:nvPr/>
        </p:nvSpPr>
        <p:spPr>
          <a:xfrm>
            <a:off x="130065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FastAPI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113"/>
          <p:cNvSpPr/>
          <p:nvPr/>
        </p:nvSpPr>
        <p:spPr>
          <a:xfrm>
            <a:off x="3090317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BentoML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113"/>
          <p:cNvSpPr/>
          <p:nvPr/>
        </p:nvSpPr>
        <p:spPr>
          <a:xfrm>
            <a:off x="4879975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Triton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13"/>
          <p:cNvSpPr/>
          <p:nvPr/>
        </p:nvSpPr>
        <p:spPr>
          <a:xfrm>
            <a:off x="6532464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13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113"/>
          <p:cNvSpPr/>
          <p:nvPr/>
        </p:nvSpPr>
        <p:spPr>
          <a:xfrm>
            <a:off x="2449711" y="9085792"/>
            <a:ext cx="400239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&amp; containerization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13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1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114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09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14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Containerization — Docker, Docker Compose, multi-stage build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14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14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1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DOCKER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11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 đề Docker giải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11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"Trên máy tôi chạy được"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Khác môi trường = khác kết quả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15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"Máy tôi chạy được" → chạy mọi nơi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115"/>
          <p:cNvSpPr/>
          <p:nvPr/>
        </p:nvSpPr>
        <p:spPr>
          <a:xfrm>
            <a:off x="11545927" y="6405646"/>
            <a:ext cx="3616181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container đóng gói cả môi trường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1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DOCKER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11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&amp; container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11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Image: bản thiết kế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Container: thực thể chạy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116"/>
          <p:cNvSpPr/>
          <p:nvPr/>
        </p:nvSpPr>
        <p:spPr>
          <a:xfrm>
            <a:off x="9701709" y="5639015"/>
            <a:ext cx="1310647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BẢN THIẾT KẾ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16"/>
          <p:cNvSpPr/>
          <p:nvPr/>
        </p:nvSpPr>
        <p:spPr>
          <a:xfrm>
            <a:off x="10008775" y="5855147"/>
            <a:ext cx="772632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116"/>
          <p:cNvSpPr/>
          <p:nvPr/>
        </p:nvSpPr>
        <p:spPr>
          <a:xfrm>
            <a:off x="1136046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116"/>
          <p:cNvSpPr/>
          <p:nvPr/>
        </p:nvSpPr>
        <p:spPr>
          <a:xfrm>
            <a:off x="11665232" y="5443224"/>
            <a:ext cx="1843154" cy="897764"/>
          </a:xfrm>
          <a:prstGeom prst="roundRect">
            <a:avLst>
              <a:gd fmla="val 14854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16"/>
          <p:cNvSpPr/>
          <p:nvPr/>
        </p:nvSpPr>
        <p:spPr>
          <a:xfrm>
            <a:off x="11880056" y="5639015"/>
            <a:ext cx="1413503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THỰC THỂ CHẠY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116"/>
          <p:cNvSpPr/>
          <p:nvPr/>
        </p:nvSpPr>
        <p:spPr>
          <a:xfrm>
            <a:off x="12032424" y="5855147"/>
            <a:ext cx="118488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1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DOCKER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11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117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thức build image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FROM, COPY, RUN, CMD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117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17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17"/>
          <p:cNvSpPr/>
          <p:nvPr/>
        </p:nvSpPr>
        <p:spPr>
          <a:xfrm>
            <a:off x="9004515" y="4874535"/>
            <a:ext cx="105176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117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python:3.11-slim COPY . /app RUN pip install -r requirements.txt CMD ["uvicorn", "serve:app"]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1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DOCKER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11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Multi-stage &amp; Compose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11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Multi-stage: image nhỏ gọn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Compose: nhiều service cùng lúc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118"/>
          <p:cNvSpPr/>
          <p:nvPr/>
        </p:nvSpPr>
        <p:spPr>
          <a:xfrm>
            <a:off x="9701725" y="5749727"/>
            <a:ext cx="46427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118"/>
          <p:cNvSpPr/>
          <p:nvPr/>
        </p:nvSpPr>
        <p:spPr>
          <a:xfrm>
            <a:off x="1051412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118"/>
          <p:cNvSpPr/>
          <p:nvPr/>
        </p:nvSpPr>
        <p:spPr>
          <a:xfrm>
            <a:off x="11033737" y="5749727"/>
            <a:ext cx="62220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118"/>
          <p:cNvSpPr/>
          <p:nvPr/>
        </p:nvSpPr>
        <p:spPr>
          <a:xfrm>
            <a:off x="1200406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18"/>
          <p:cNvSpPr/>
          <p:nvPr/>
        </p:nvSpPr>
        <p:spPr>
          <a:xfrm>
            <a:off x="12308831" y="5553935"/>
            <a:ext cx="184249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118"/>
          <p:cNvSpPr/>
          <p:nvPr/>
        </p:nvSpPr>
        <p:spPr>
          <a:xfrm>
            <a:off x="12523673" y="5749727"/>
            <a:ext cx="141280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Vector DB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1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DOCKER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11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119"/>
          <p:cNvSpPr/>
          <p:nvPr/>
        </p:nvSpPr>
        <p:spPr>
          <a:xfrm>
            <a:off x="1300659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image / container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119"/>
          <p:cNvSpPr/>
          <p:nvPr/>
        </p:nvSpPr>
        <p:spPr>
          <a:xfrm>
            <a:off x="4461851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119"/>
          <p:cNvSpPr/>
          <p:nvPr/>
        </p:nvSpPr>
        <p:spPr>
          <a:xfrm>
            <a:off x="6662936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multi-stage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119"/>
          <p:cNvSpPr/>
          <p:nvPr/>
        </p:nvSpPr>
        <p:spPr>
          <a:xfrm>
            <a:off x="9001191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11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119"/>
          <p:cNvSpPr/>
          <p:nvPr/>
        </p:nvSpPr>
        <p:spPr>
          <a:xfrm>
            <a:off x="2449711" y="9085792"/>
            <a:ext cx="299636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Kubernetes cho ML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11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2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12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12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Kubernetes cho ML — K8s cơ bản, Kubeflow, KServe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12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2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2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KUBERNETES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2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Kubernetes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2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co giãn, tự phục hồi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nhiều container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21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 CONTAINER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21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121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đơn lẻ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121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NHIỀU CONTAINER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121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121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 giãn · phục hồi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2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KUBERNETES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12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Khái niệm cơ bản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122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Pod, Deployment, Service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22"/>
          <p:cNvSpPr/>
          <p:nvPr/>
        </p:nvSpPr>
        <p:spPr>
          <a:xfrm>
            <a:off x="9701709" y="5639015"/>
            <a:ext cx="1619300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ĐƠN VỊ NHỎ NHẤT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122"/>
          <p:cNvSpPr/>
          <p:nvPr/>
        </p:nvSpPr>
        <p:spPr>
          <a:xfrm>
            <a:off x="10292705" y="5855147"/>
            <a:ext cx="51350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122"/>
          <p:cNvSpPr/>
          <p:nvPr/>
        </p:nvSpPr>
        <p:spPr>
          <a:xfrm>
            <a:off x="1166911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122"/>
          <p:cNvSpPr/>
          <p:nvPr/>
        </p:nvSpPr>
        <p:spPr>
          <a:xfrm>
            <a:off x="12188710" y="5639015"/>
            <a:ext cx="1442442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QUẢN LÝ POD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22"/>
          <p:cNvSpPr/>
          <p:nvPr/>
        </p:nvSpPr>
        <p:spPr>
          <a:xfrm>
            <a:off x="12226810" y="5855147"/>
            <a:ext cx="1442442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22"/>
          <p:cNvSpPr/>
          <p:nvPr/>
        </p:nvSpPr>
        <p:spPr>
          <a:xfrm>
            <a:off x="1397926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22"/>
          <p:cNvSpPr/>
          <p:nvPr/>
        </p:nvSpPr>
        <p:spPr>
          <a:xfrm>
            <a:off x="14284028" y="5443224"/>
            <a:ext cx="1354005" cy="897764"/>
          </a:xfrm>
          <a:prstGeom prst="roundRect">
            <a:avLst>
              <a:gd fmla="val 14854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22"/>
          <p:cNvSpPr/>
          <p:nvPr/>
        </p:nvSpPr>
        <p:spPr>
          <a:xfrm>
            <a:off x="14498853" y="5639015"/>
            <a:ext cx="924355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EXPOSE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22"/>
          <p:cNvSpPr/>
          <p:nvPr/>
        </p:nvSpPr>
        <p:spPr>
          <a:xfrm>
            <a:off x="14536953" y="5855147"/>
            <a:ext cx="924355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2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KUBERNETES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2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Autoscaling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12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tăng / giảm theo tải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Tiết kiệm chi phí + chịu tải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123"/>
          <p:cNvSpPr/>
          <p:nvPr/>
        </p:nvSpPr>
        <p:spPr>
          <a:xfrm>
            <a:off x="9701725" y="5749727"/>
            <a:ext cx="85553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 cao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123"/>
          <p:cNvSpPr/>
          <p:nvPr/>
        </p:nvSpPr>
        <p:spPr>
          <a:xfrm>
            <a:off x="1090538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123"/>
          <p:cNvSpPr/>
          <p:nvPr/>
        </p:nvSpPr>
        <p:spPr>
          <a:xfrm>
            <a:off x="11210148" y="5553935"/>
            <a:ext cx="115556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23"/>
          <p:cNvSpPr/>
          <p:nvPr/>
        </p:nvSpPr>
        <p:spPr>
          <a:xfrm>
            <a:off x="11424990" y="5749727"/>
            <a:ext cx="72588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Pod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23"/>
          <p:cNvSpPr/>
          <p:nvPr/>
        </p:nvSpPr>
        <p:spPr>
          <a:xfrm>
            <a:off x="1249900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123"/>
          <p:cNvSpPr/>
          <p:nvPr/>
        </p:nvSpPr>
        <p:spPr>
          <a:xfrm>
            <a:off x="13018609" y="5749727"/>
            <a:ext cx="9571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 thấp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23"/>
          <p:cNvSpPr/>
          <p:nvPr/>
        </p:nvSpPr>
        <p:spPr>
          <a:xfrm>
            <a:off x="1432388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123"/>
          <p:cNvSpPr/>
          <p:nvPr/>
        </p:nvSpPr>
        <p:spPr>
          <a:xfrm>
            <a:off x="14843489" y="5749727"/>
            <a:ext cx="72588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 Pod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2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KUBERNETES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2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Kubeflow &amp; KServe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2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Kubeflow: ML platform trên K8s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KServe: serve model trên K8s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24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KUBEFLOW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24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platform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124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trên K8s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124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KSERVE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124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124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2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KUBERNETES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2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25"/>
          <p:cNvSpPr/>
          <p:nvPr/>
        </p:nvSpPr>
        <p:spPr>
          <a:xfrm>
            <a:off x="1300659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K8s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25"/>
          <p:cNvSpPr/>
          <p:nvPr/>
        </p:nvSpPr>
        <p:spPr>
          <a:xfrm>
            <a:off x="2541720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pod / deployment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25"/>
          <p:cNvSpPr/>
          <p:nvPr/>
        </p:nvSpPr>
        <p:spPr>
          <a:xfrm>
            <a:off x="5565742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autoscale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25"/>
          <p:cNvSpPr/>
          <p:nvPr/>
        </p:nvSpPr>
        <p:spPr>
          <a:xfrm>
            <a:off x="7629658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Kubeflow / KServe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12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125"/>
          <p:cNvSpPr/>
          <p:nvPr/>
        </p:nvSpPr>
        <p:spPr>
          <a:xfrm>
            <a:off x="2449711" y="9085792"/>
            <a:ext cx="30275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ML platforms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12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2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12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12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— AWS SageMaker, GCP Vertex AI, Azure ML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12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12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2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CLOUD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2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managed platform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2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lo hạ tầng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Train, deploy, monitor tích hợp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127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SELF-HOST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27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quản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127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 soát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tốn công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127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MANAGED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127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lo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127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tiện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 phí + khoá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2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CLOUD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2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SageMaker · Vertex · Azure ML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2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cloud một platform ML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1, suy ra cái khác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28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AWS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28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SageMaker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28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GCP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28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28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AZURE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128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Azure ML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2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CLOUD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2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Bedrock &amp; managed LLM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2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Gọi LLM qua cloud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lo hạ tầng GPU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29"/>
          <p:cNvSpPr/>
          <p:nvPr/>
        </p:nvSpPr>
        <p:spPr>
          <a:xfrm>
            <a:off x="9701725" y="5749727"/>
            <a:ext cx="53894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129"/>
          <p:cNvSpPr/>
          <p:nvPr/>
        </p:nvSpPr>
        <p:spPr>
          <a:xfrm>
            <a:off x="1058879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129"/>
          <p:cNvSpPr/>
          <p:nvPr/>
        </p:nvSpPr>
        <p:spPr>
          <a:xfrm>
            <a:off x="10893558" y="5553935"/>
            <a:ext cx="253958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129"/>
          <p:cNvSpPr/>
          <p:nvPr/>
        </p:nvSpPr>
        <p:spPr>
          <a:xfrm>
            <a:off x="11108400" y="5749727"/>
            <a:ext cx="210990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Managed LLM 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29"/>
          <p:cNvSpPr/>
          <p:nvPr/>
        </p:nvSpPr>
        <p:spPr>
          <a:xfrm>
            <a:off x="1356642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129"/>
          <p:cNvSpPr/>
          <p:nvPr/>
        </p:nvSpPr>
        <p:spPr>
          <a:xfrm>
            <a:off x="14086037" y="5749727"/>
            <a:ext cx="74556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3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CLOUD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3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130"/>
          <p:cNvSpPr/>
          <p:nvPr/>
        </p:nvSpPr>
        <p:spPr>
          <a:xfrm>
            <a:off x="1300659" y="5120746"/>
            <a:ext cx="390259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SageMaker / Vertex / Azure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130"/>
          <p:cNvSpPr/>
          <p:nvPr/>
        </p:nvSpPr>
        <p:spPr>
          <a:xfrm>
            <a:off x="5696132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managed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130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130"/>
          <p:cNvSpPr/>
          <p:nvPr/>
        </p:nvSpPr>
        <p:spPr>
          <a:xfrm>
            <a:off x="2449711" y="9085792"/>
            <a:ext cx="314889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Lakehouse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130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131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31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131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Lakehouse — Delta Lake, Iceberg, Hudi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131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31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3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LAKEHOUSE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3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Lake vs Warehouse vs Lakehouse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132"/>
          <p:cNvSpPr/>
          <p:nvPr/>
        </p:nvSpPr>
        <p:spPr>
          <a:xfrm>
            <a:off x="840072" y="5022371"/>
            <a:ext cx="8037245" cy="1777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Lake: rẻ, linh hoạt, lộn xộn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Warehouse: cấu trúc, đắt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Lakehouse: cả hai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132"/>
          <p:cNvSpPr/>
          <p:nvPr/>
        </p:nvSpPr>
        <p:spPr>
          <a:xfrm>
            <a:off x="9777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LAKE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32"/>
          <p:cNvSpPr/>
          <p:nvPr/>
        </p:nvSpPr>
        <p:spPr>
          <a:xfrm>
            <a:off x="9777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Rẻ · linh hoạt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132"/>
          <p:cNvSpPr/>
          <p:nvPr/>
        </p:nvSpPr>
        <p:spPr>
          <a:xfrm>
            <a:off x="9617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lộn xộn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132"/>
          <p:cNvSpPr/>
          <p:nvPr/>
        </p:nvSpPr>
        <p:spPr>
          <a:xfrm>
            <a:off x="12444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WAREHOUSE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132"/>
          <p:cNvSpPr/>
          <p:nvPr/>
        </p:nvSpPr>
        <p:spPr>
          <a:xfrm>
            <a:off x="12444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Cấu trúc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132"/>
          <p:cNvSpPr/>
          <p:nvPr/>
        </p:nvSpPr>
        <p:spPr>
          <a:xfrm>
            <a:off x="12284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đắt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132"/>
          <p:cNvSpPr/>
          <p:nvPr/>
        </p:nvSpPr>
        <p:spPr>
          <a:xfrm>
            <a:off x="15111926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LAKEHOUSE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132"/>
          <p:cNvSpPr/>
          <p:nvPr/>
        </p:nvSpPr>
        <p:spPr>
          <a:xfrm>
            <a:off x="15111926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 hai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132"/>
          <p:cNvSpPr/>
          <p:nvPr/>
        </p:nvSpPr>
        <p:spPr>
          <a:xfrm>
            <a:off x="14951906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rẻ + tin cậy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3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LAKEHOUSE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13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Bảng giao dịch (ACID)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13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Delta / Iceberg / Hudi thêm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ACID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lake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13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Tin cậy như warehouse, rẻ như lake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133"/>
          <p:cNvSpPr/>
          <p:nvPr/>
        </p:nvSpPr>
        <p:spPr>
          <a:xfrm>
            <a:off x="9701725" y="5749727"/>
            <a:ext cx="111688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lake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133"/>
          <p:cNvSpPr/>
          <p:nvPr/>
        </p:nvSpPr>
        <p:spPr>
          <a:xfrm>
            <a:off x="1116674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133"/>
          <p:cNvSpPr/>
          <p:nvPr/>
        </p:nvSpPr>
        <p:spPr>
          <a:xfrm>
            <a:off x="11471507" y="5553935"/>
            <a:ext cx="129778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133"/>
          <p:cNvSpPr/>
          <p:nvPr/>
        </p:nvSpPr>
        <p:spPr>
          <a:xfrm>
            <a:off x="11686348" y="5749727"/>
            <a:ext cx="86809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ACID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133"/>
          <p:cNvSpPr/>
          <p:nvPr/>
        </p:nvSpPr>
        <p:spPr>
          <a:xfrm>
            <a:off x="1290257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133"/>
          <p:cNvSpPr/>
          <p:nvPr/>
        </p:nvSpPr>
        <p:spPr>
          <a:xfrm>
            <a:off x="13418022" y="5749727"/>
            <a:ext cx="239586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Delta · Iceberg · Hudi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3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LAKEHOUSE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13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 năng chính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13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travel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evolution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134"/>
          <p:cNvSpPr/>
          <p:nvPr/>
        </p:nvSpPr>
        <p:spPr>
          <a:xfrm>
            <a:off x="10125070" y="5445704"/>
            <a:ext cx="6457978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travel + schema evolution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134"/>
          <p:cNvSpPr/>
          <p:nvPr/>
        </p:nvSpPr>
        <p:spPr>
          <a:xfrm>
            <a:off x="10472449" y="6142798"/>
            <a:ext cx="5763220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quay lại trạng thái dữ liệu cũ · đổi schema an toàn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3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LAKEHOUSE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13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135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lakehouse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35"/>
          <p:cNvSpPr/>
          <p:nvPr/>
        </p:nvSpPr>
        <p:spPr>
          <a:xfrm>
            <a:off x="3364574" y="5120746"/>
            <a:ext cx="333754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Delta / Iceberg / Hudi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35"/>
          <p:cNvSpPr/>
          <p:nvPr/>
        </p:nvSpPr>
        <p:spPr>
          <a:xfrm>
            <a:off x="7211451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13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135"/>
          <p:cNvSpPr/>
          <p:nvPr/>
        </p:nvSpPr>
        <p:spPr>
          <a:xfrm>
            <a:off x="2449711" y="9085792"/>
            <a:ext cx="27027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&amp; CDC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13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3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13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13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&amp; CDC — Kafka, Debezium, Trino, MinIO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13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3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13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STREAMING &amp; CDC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13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vs Streaming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13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Batch: xử lý theo lô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Streaming: xử lý liên tục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137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BATCH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137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lô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137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 kỳ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137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STREAMING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137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Liên tục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137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3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STREAMING &amp; CDC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13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13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Hàng đợi message phân tán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Xương sống streaming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138"/>
          <p:cNvSpPr/>
          <p:nvPr/>
        </p:nvSpPr>
        <p:spPr>
          <a:xfrm>
            <a:off x="9701725" y="5749727"/>
            <a:ext cx="110514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138"/>
          <p:cNvSpPr/>
          <p:nvPr/>
        </p:nvSpPr>
        <p:spPr>
          <a:xfrm>
            <a:off x="1115499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138"/>
          <p:cNvSpPr/>
          <p:nvPr/>
        </p:nvSpPr>
        <p:spPr>
          <a:xfrm>
            <a:off x="11459766" y="5553935"/>
            <a:ext cx="115110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138"/>
          <p:cNvSpPr/>
          <p:nvPr/>
        </p:nvSpPr>
        <p:spPr>
          <a:xfrm>
            <a:off x="11674607" y="5749727"/>
            <a:ext cx="72142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138"/>
          <p:cNvSpPr/>
          <p:nvPr/>
        </p:nvSpPr>
        <p:spPr>
          <a:xfrm>
            <a:off x="1274415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138"/>
          <p:cNvSpPr/>
          <p:nvPr/>
        </p:nvSpPr>
        <p:spPr>
          <a:xfrm>
            <a:off x="13263761" y="5749727"/>
            <a:ext cx="124372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3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STREAMING &amp; CDC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13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CDC &amp; Debezium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13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Bắt thay đổi từ database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 vào Kafka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139"/>
          <p:cNvSpPr/>
          <p:nvPr/>
        </p:nvSpPr>
        <p:spPr>
          <a:xfrm>
            <a:off x="9701725" y="5749727"/>
            <a:ext cx="130176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change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139"/>
          <p:cNvSpPr/>
          <p:nvPr/>
        </p:nvSpPr>
        <p:spPr>
          <a:xfrm>
            <a:off x="1135161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139"/>
          <p:cNvSpPr/>
          <p:nvPr/>
        </p:nvSpPr>
        <p:spPr>
          <a:xfrm>
            <a:off x="11656385" y="5553935"/>
            <a:ext cx="164207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39"/>
          <p:cNvSpPr/>
          <p:nvPr/>
        </p:nvSpPr>
        <p:spPr>
          <a:xfrm>
            <a:off x="11871227" y="5749727"/>
            <a:ext cx="121238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Debezium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139"/>
          <p:cNvSpPr/>
          <p:nvPr/>
        </p:nvSpPr>
        <p:spPr>
          <a:xfrm>
            <a:off x="1343173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39"/>
          <p:cNvSpPr/>
          <p:nvPr/>
        </p:nvSpPr>
        <p:spPr>
          <a:xfrm>
            <a:off x="13951347" y="5749727"/>
            <a:ext cx="72142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4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STREAMING &amp; CDC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14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Trino &amp; MinIO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14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Trino: truy vấn dữ liệu phân tán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MinIO: object storage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140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TRINO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40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engine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40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truy vấn phân tán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40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MINIO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40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40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store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4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STREAMING &amp; CDC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14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141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Kafka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141"/>
          <p:cNvSpPr/>
          <p:nvPr/>
        </p:nvSpPr>
        <p:spPr>
          <a:xfrm>
            <a:off x="2815977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CDC / Debezium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141"/>
          <p:cNvSpPr/>
          <p:nvPr/>
        </p:nvSpPr>
        <p:spPr>
          <a:xfrm>
            <a:off x="556565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Trino · MinIO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14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141"/>
          <p:cNvSpPr/>
          <p:nvPr/>
        </p:nvSpPr>
        <p:spPr>
          <a:xfrm>
            <a:off x="2449711" y="9085792"/>
            <a:ext cx="272188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&amp; drift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14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4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142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142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— Prometheus, Grafana, EvidentlyAI (drift)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142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42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4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MONITORING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14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model "xuống cấp"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14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Thế giới thay đổi, dữ liệu đổi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giảm dần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143"/>
          <p:cNvSpPr/>
          <p:nvPr/>
        </p:nvSpPr>
        <p:spPr>
          <a:xfrm>
            <a:off x="10553100" y="5445704"/>
            <a:ext cx="5601836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Thế giới đổi → accuracy ↓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143"/>
          <p:cNvSpPr/>
          <p:nvPr/>
        </p:nvSpPr>
        <p:spPr>
          <a:xfrm>
            <a:off x="10698387" y="6142798"/>
            <a:ext cx="5311261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không tự xấu — phân phối dữ liệu thay đổi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4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MONITORING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14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loại drift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144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drift, concept drift, label drift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144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DRIFT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144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144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CONCEPT DRIFT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144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hệ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44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LABEL DRIFT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144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Nhãn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4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MONITORING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14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production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145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Latency, error rate, throughput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Prometheus + Grafana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145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145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145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Grafana dashboard: latency P95, error rate, throughput theo thời gian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4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MONITORING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14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EvidentlyAI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146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drift tự động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Cảnh báo khi cần retrain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146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146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146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Evidently drift report: so phân phối train vs production, cảnh báo drift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4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MONITORING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14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147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drift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147"/>
          <p:cNvSpPr/>
          <p:nvPr/>
        </p:nvSpPr>
        <p:spPr>
          <a:xfrm>
            <a:off x="2815977" y="5120746"/>
            <a:ext cx="305505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Prometheus / Grafana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147"/>
          <p:cNvSpPr/>
          <p:nvPr/>
        </p:nvSpPr>
        <p:spPr>
          <a:xfrm>
            <a:off x="6388596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Evidently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47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47"/>
          <p:cNvSpPr/>
          <p:nvPr/>
        </p:nvSpPr>
        <p:spPr>
          <a:xfrm>
            <a:off x="2449711" y="9085792"/>
            <a:ext cx="253178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LLMOps đặc thù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47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48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148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148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LLMOps — TTFT, TPS, P95 latency, hallucination rate, prompt versioning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148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48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4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LLMOPS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14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LLM khác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14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văn bản, không phải nhãn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 phí token, độ trễ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49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ML OPS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149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Nhãn · accuracy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149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quen thuộc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149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LLM OPS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149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Văn bản · token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149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riêng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15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LLMOPS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15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tốc độ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15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TTFT (Time To First Token)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TPS (Tokens/sec) · P95 latency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150"/>
          <p:cNvSpPr/>
          <p:nvPr/>
        </p:nvSpPr>
        <p:spPr>
          <a:xfrm>
            <a:off x="9777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TTFT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150"/>
          <p:cNvSpPr/>
          <p:nvPr/>
        </p:nvSpPr>
        <p:spPr>
          <a:xfrm>
            <a:off x="9777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đầu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50"/>
          <p:cNvSpPr/>
          <p:nvPr/>
        </p:nvSpPr>
        <p:spPr>
          <a:xfrm>
            <a:off x="9617905" y="6006125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hưởng UX nhất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150"/>
          <p:cNvSpPr/>
          <p:nvPr/>
        </p:nvSpPr>
        <p:spPr>
          <a:xfrm>
            <a:off x="12444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TPS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150"/>
          <p:cNvSpPr/>
          <p:nvPr/>
        </p:nvSpPr>
        <p:spPr>
          <a:xfrm>
            <a:off x="12444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Tốc độ sinh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150"/>
          <p:cNvSpPr/>
          <p:nvPr/>
        </p:nvSpPr>
        <p:spPr>
          <a:xfrm>
            <a:off x="15111926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P95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150"/>
          <p:cNvSpPr/>
          <p:nvPr/>
        </p:nvSpPr>
        <p:spPr>
          <a:xfrm>
            <a:off x="15111926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trễ đuôi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5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LLMOPS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15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chất lượng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15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 rate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Faithfulness, relevance — nối lại RAGAS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151"/>
          <p:cNvSpPr/>
          <p:nvPr/>
        </p:nvSpPr>
        <p:spPr>
          <a:xfrm>
            <a:off x="9701725" y="5749727"/>
            <a:ext cx="204904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 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151"/>
          <p:cNvSpPr/>
          <p:nvPr/>
        </p:nvSpPr>
        <p:spPr>
          <a:xfrm>
            <a:off x="1209890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151"/>
          <p:cNvSpPr/>
          <p:nvPr/>
        </p:nvSpPr>
        <p:spPr>
          <a:xfrm>
            <a:off x="12403667" y="5553935"/>
            <a:ext cx="188342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51"/>
          <p:cNvSpPr/>
          <p:nvPr/>
        </p:nvSpPr>
        <p:spPr>
          <a:xfrm>
            <a:off x="12618509" y="5749727"/>
            <a:ext cx="145373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151"/>
          <p:cNvSpPr/>
          <p:nvPr/>
        </p:nvSpPr>
        <p:spPr>
          <a:xfrm>
            <a:off x="1442037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151"/>
          <p:cNvSpPr/>
          <p:nvPr/>
        </p:nvSpPr>
        <p:spPr>
          <a:xfrm>
            <a:off x="14939980" y="5749727"/>
            <a:ext cx="123884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15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LLMOPS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15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versioning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15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cũng cần version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A/B test prompt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152"/>
          <p:cNvSpPr/>
          <p:nvPr/>
        </p:nvSpPr>
        <p:spPr>
          <a:xfrm>
            <a:off x="9701725" y="5749727"/>
            <a:ext cx="120312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v1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152"/>
          <p:cNvSpPr/>
          <p:nvPr/>
        </p:nvSpPr>
        <p:spPr>
          <a:xfrm>
            <a:off x="1125297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152"/>
          <p:cNvSpPr/>
          <p:nvPr/>
        </p:nvSpPr>
        <p:spPr>
          <a:xfrm>
            <a:off x="11557745" y="5553935"/>
            <a:ext cx="1663485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52"/>
          <p:cNvSpPr/>
          <p:nvPr/>
        </p:nvSpPr>
        <p:spPr>
          <a:xfrm>
            <a:off x="11772586" y="5749727"/>
            <a:ext cx="123380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v2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152"/>
          <p:cNvSpPr/>
          <p:nvPr/>
        </p:nvSpPr>
        <p:spPr>
          <a:xfrm>
            <a:off x="1335451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152"/>
          <p:cNvSpPr/>
          <p:nvPr/>
        </p:nvSpPr>
        <p:spPr>
          <a:xfrm>
            <a:off x="13874122" y="5749727"/>
            <a:ext cx="96954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A/B 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15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LLMOPS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15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153"/>
          <p:cNvSpPr/>
          <p:nvPr/>
        </p:nvSpPr>
        <p:spPr>
          <a:xfrm>
            <a:off x="1300659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TTFT / TPS / P95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153"/>
          <p:cNvSpPr/>
          <p:nvPr/>
        </p:nvSpPr>
        <p:spPr>
          <a:xfrm>
            <a:off x="4324681" y="5120746"/>
            <a:ext cx="27724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hallucination 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153"/>
          <p:cNvSpPr/>
          <p:nvPr/>
        </p:nvSpPr>
        <p:spPr>
          <a:xfrm>
            <a:off x="7622960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prompt 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153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153"/>
          <p:cNvSpPr/>
          <p:nvPr/>
        </p:nvSpPr>
        <p:spPr>
          <a:xfrm>
            <a:off x="2449711" y="9085792"/>
            <a:ext cx="521264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7 — Pipeline Production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153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5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154"/>
          <p:cNvSpPr/>
          <p:nvPr/>
        </p:nvSpPr>
        <p:spPr>
          <a:xfrm>
            <a:off x="1066767" y="3436028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14 · LECTURE 16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154"/>
          <p:cNvSpPr/>
          <p:nvPr/>
        </p:nvSpPr>
        <p:spPr>
          <a:xfrm>
            <a:off x="1066767" y="4379847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7 — Pipeline production đầy đủ (train → register → serve → monitor → alert)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154"/>
          <p:cNvSpPr/>
          <p:nvPr/>
        </p:nvSpPr>
        <p:spPr>
          <a:xfrm>
            <a:off x="1066767" y="6282780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54"/>
          <p:cNvSpPr/>
          <p:nvPr/>
        </p:nvSpPr>
        <p:spPr>
          <a:xfrm>
            <a:off x="1243509" y="6678530"/>
            <a:ext cx="1379008" cy="2338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CAPSTONE 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154"/>
          <p:cNvSpPr/>
          <p:nvPr/>
        </p:nvSpPr>
        <p:spPr>
          <a:xfrm>
            <a:off x="2894459" y="6646747"/>
            <a:ext cx="286300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~18 phút · 8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15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CAPSTONE 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15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tổng thể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155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→ Register → Serve → Monitor → Alert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155"/>
          <p:cNvSpPr/>
          <p:nvPr/>
        </p:nvSpPr>
        <p:spPr>
          <a:xfrm>
            <a:off x="9701725" y="5344915"/>
            <a:ext cx="6301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155"/>
          <p:cNvSpPr/>
          <p:nvPr/>
        </p:nvSpPr>
        <p:spPr>
          <a:xfrm>
            <a:off x="10679990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155"/>
          <p:cNvSpPr/>
          <p:nvPr/>
        </p:nvSpPr>
        <p:spPr>
          <a:xfrm>
            <a:off x="11199598" y="5344915"/>
            <a:ext cx="101444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155"/>
          <p:cNvSpPr/>
          <p:nvPr/>
        </p:nvSpPr>
        <p:spPr>
          <a:xfrm>
            <a:off x="12562169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155"/>
          <p:cNvSpPr/>
          <p:nvPr/>
        </p:nvSpPr>
        <p:spPr>
          <a:xfrm>
            <a:off x="12866937" y="5149123"/>
            <a:ext cx="115498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155"/>
          <p:cNvSpPr/>
          <p:nvPr/>
        </p:nvSpPr>
        <p:spPr>
          <a:xfrm>
            <a:off x="13081778" y="5344915"/>
            <a:ext cx="72530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155"/>
          <p:cNvSpPr/>
          <p:nvPr/>
        </p:nvSpPr>
        <p:spPr>
          <a:xfrm>
            <a:off x="14155209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155"/>
          <p:cNvSpPr/>
          <p:nvPr/>
        </p:nvSpPr>
        <p:spPr>
          <a:xfrm>
            <a:off x="14674817" y="5344915"/>
            <a:ext cx="94863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155"/>
          <p:cNvSpPr/>
          <p:nvPr/>
        </p:nvSpPr>
        <p:spPr>
          <a:xfrm>
            <a:off x="15971574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155"/>
          <p:cNvSpPr/>
          <p:nvPr/>
        </p:nvSpPr>
        <p:spPr>
          <a:xfrm>
            <a:off x="9701725" y="6154540"/>
            <a:ext cx="62418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15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CAPSTONE 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15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&amp; track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15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+ MLflow tracking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Đăng ký vào registry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156"/>
          <p:cNvSpPr/>
          <p:nvPr/>
        </p:nvSpPr>
        <p:spPr>
          <a:xfrm>
            <a:off x="9701725" y="5749727"/>
            <a:ext cx="6301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156"/>
          <p:cNvSpPr/>
          <p:nvPr/>
        </p:nvSpPr>
        <p:spPr>
          <a:xfrm>
            <a:off x="1067999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156"/>
          <p:cNvSpPr/>
          <p:nvPr/>
        </p:nvSpPr>
        <p:spPr>
          <a:xfrm>
            <a:off x="10984756" y="5553935"/>
            <a:ext cx="133540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156"/>
          <p:cNvSpPr/>
          <p:nvPr/>
        </p:nvSpPr>
        <p:spPr>
          <a:xfrm>
            <a:off x="11199598" y="5749727"/>
            <a:ext cx="90571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156"/>
          <p:cNvSpPr/>
          <p:nvPr/>
        </p:nvSpPr>
        <p:spPr>
          <a:xfrm>
            <a:off x="1245344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156"/>
          <p:cNvSpPr/>
          <p:nvPr/>
        </p:nvSpPr>
        <p:spPr>
          <a:xfrm>
            <a:off x="12973050" y="5749727"/>
            <a:ext cx="101593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5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CAPSTONE 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15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Đóng gói &amp; serve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15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+ Docker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Expose API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157"/>
          <p:cNvSpPr/>
          <p:nvPr/>
        </p:nvSpPr>
        <p:spPr>
          <a:xfrm>
            <a:off x="9701725" y="5749727"/>
            <a:ext cx="7762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157"/>
          <p:cNvSpPr/>
          <p:nvPr/>
        </p:nvSpPr>
        <p:spPr>
          <a:xfrm>
            <a:off x="1082608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157"/>
          <p:cNvSpPr/>
          <p:nvPr/>
        </p:nvSpPr>
        <p:spPr>
          <a:xfrm>
            <a:off x="11130855" y="5553935"/>
            <a:ext cx="244169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157"/>
          <p:cNvSpPr/>
          <p:nvPr/>
        </p:nvSpPr>
        <p:spPr>
          <a:xfrm>
            <a:off x="11345697" y="5749727"/>
            <a:ext cx="201200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+ Docker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157"/>
          <p:cNvSpPr/>
          <p:nvPr/>
        </p:nvSpPr>
        <p:spPr>
          <a:xfrm>
            <a:off x="1370583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157"/>
          <p:cNvSpPr/>
          <p:nvPr/>
        </p:nvSpPr>
        <p:spPr>
          <a:xfrm>
            <a:off x="14225439" y="5749727"/>
            <a:ext cx="46427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5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CAPSTONE 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15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&amp; orchestration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15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Actions tự build / deploy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Airflow lập lịch retrain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158"/>
          <p:cNvSpPr/>
          <p:nvPr/>
        </p:nvSpPr>
        <p:spPr>
          <a:xfrm>
            <a:off x="9701725" y="5749727"/>
            <a:ext cx="17847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158"/>
          <p:cNvSpPr/>
          <p:nvPr/>
        </p:nvSpPr>
        <p:spPr>
          <a:xfrm>
            <a:off x="1183464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158"/>
          <p:cNvSpPr/>
          <p:nvPr/>
        </p:nvSpPr>
        <p:spPr>
          <a:xfrm>
            <a:off x="12139415" y="5553935"/>
            <a:ext cx="204365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158"/>
          <p:cNvSpPr/>
          <p:nvPr/>
        </p:nvSpPr>
        <p:spPr>
          <a:xfrm>
            <a:off x="12354257" y="5749727"/>
            <a:ext cx="161397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/ 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158"/>
          <p:cNvSpPr/>
          <p:nvPr/>
        </p:nvSpPr>
        <p:spPr>
          <a:xfrm>
            <a:off x="1431635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158"/>
          <p:cNvSpPr/>
          <p:nvPr/>
        </p:nvSpPr>
        <p:spPr>
          <a:xfrm>
            <a:off x="14835965" y="5749727"/>
            <a:ext cx="166069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Airflow retrain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5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CAPSTONE 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15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&amp; alert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15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Grafana dashboard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Cảnh báo drift → retrain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159"/>
          <p:cNvSpPr/>
          <p:nvPr/>
        </p:nvSpPr>
        <p:spPr>
          <a:xfrm>
            <a:off x="9701725" y="5749727"/>
            <a:ext cx="97054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Grafana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159"/>
          <p:cNvSpPr/>
          <p:nvPr/>
        </p:nvSpPr>
        <p:spPr>
          <a:xfrm>
            <a:off x="1102039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159"/>
          <p:cNvSpPr/>
          <p:nvPr/>
        </p:nvSpPr>
        <p:spPr>
          <a:xfrm>
            <a:off x="11325160" y="5553935"/>
            <a:ext cx="113473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59"/>
          <p:cNvSpPr/>
          <p:nvPr/>
        </p:nvSpPr>
        <p:spPr>
          <a:xfrm>
            <a:off x="11540002" y="5749727"/>
            <a:ext cx="70504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Drift?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159"/>
          <p:cNvSpPr/>
          <p:nvPr/>
        </p:nvSpPr>
        <p:spPr>
          <a:xfrm>
            <a:off x="1259317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159"/>
          <p:cNvSpPr/>
          <p:nvPr/>
        </p:nvSpPr>
        <p:spPr>
          <a:xfrm>
            <a:off x="13112783" y="5749727"/>
            <a:ext cx="169434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 → retrain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16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CAPSTONE 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16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end-to-end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160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toàn pipeline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phỏng drift → tự cảnh báo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160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160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160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Demo: chạy toàn pipeline · mô phỏng drift → dashboard cảnh báo → trigger retrain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161"/>
          <p:cNvSpPr/>
          <p:nvPr/>
        </p:nvSpPr>
        <p:spPr>
          <a:xfrm>
            <a:off x="8429626" y="3213613"/>
            <a:ext cx="1428750" cy="1428750"/>
          </a:xfrm>
          <a:prstGeom prst="ellipse">
            <a:avLst/>
          </a:prstGeom>
          <a:noFill/>
          <a:ln>
            <a:noFill/>
          </a:ln>
          <a:effectLst>
            <a:outerShdw blurRad="4762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61"/>
          <p:cNvSpPr/>
          <p:nvPr/>
        </p:nvSpPr>
        <p:spPr>
          <a:xfrm>
            <a:off x="8428567" y="3250655"/>
            <a:ext cx="1430867" cy="1392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161"/>
          <p:cNvSpPr/>
          <p:nvPr/>
        </p:nvSpPr>
        <p:spPr>
          <a:xfrm>
            <a:off x="5949631" y="4928113"/>
            <a:ext cx="6388655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 thành Section 14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161"/>
          <p:cNvSpPr/>
          <p:nvPr/>
        </p:nvSpPr>
        <p:spPr>
          <a:xfrm>
            <a:off x="3786496" y="5928238"/>
            <a:ext cx="10715008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 / 16 lectures · Capstone 7 ✓ ·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182 / 198 lectures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16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161"/>
          <p:cNvSpPr/>
          <p:nvPr/>
        </p:nvSpPr>
        <p:spPr>
          <a:xfrm>
            <a:off x="2449711" y="9085792"/>
            <a:ext cx="436816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15 — Responsible 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16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16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LỘ TRÌNH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16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Tiến độ tổng — 182 / 198 lectures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162"/>
          <p:cNvSpPr/>
          <p:nvPr/>
        </p:nvSpPr>
        <p:spPr>
          <a:xfrm>
            <a:off x="1295367" y="2259294"/>
            <a:ext cx="2500588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BATCH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162"/>
          <p:cNvSpPr/>
          <p:nvPr/>
        </p:nvSpPr>
        <p:spPr>
          <a:xfrm>
            <a:off x="4167006" y="2259294"/>
            <a:ext cx="6190861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162"/>
          <p:cNvSpPr/>
          <p:nvPr/>
        </p:nvSpPr>
        <p:spPr>
          <a:xfrm>
            <a:off x="10621434" y="2259294"/>
            <a:ext cx="2552367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162"/>
          <p:cNvSpPr/>
          <p:nvPr/>
        </p:nvSpPr>
        <p:spPr>
          <a:xfrm>
            <a:off x="13543343" y="2259294"/>
            <a:ext cx="3566485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TRẠNG THÁI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162"/>
          <p:cNvSpPr/>
          <p:nvPr/>
        </p:nvSpPr>
        <p:spPr>
          <a:xfrm>
            <a:off x="1295367" y="2832332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162"/>
          <p:cNvSpPr/>
          <p:nvPr/>
        </p:nvSpPr>
        <p:spPr>
          <a:xfrm>
            <a:off x="4167006" y="2832332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162"/>
          <p:cNvSpPr/>
          <p:nvPr/>
        </p:nvSpPr>
        <p:spPr>
          <a:xfrm>
            <a:off x="10621434" y="2832332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162"/>
          <p:cNvSpPr/>
          <p:nvPr/>
        </p:nvSpPr>
        <p:spPr>
          <a:xfrm>
            <a:off x="13543343" y="2832332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162"/>
          <p:cNvSpPr/>
          <p:nvPr/>
        </p:nvSpPr>
        <p:spPr>
          <a:xfrm>
            <a:off x="1295367" y="3471466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162"/>
          <p:cNvSpPr/>
          <p:nvPr/>
        </p:nvSpPr>
        <p:spPr>
          <a:xfrm>
            <a:off x="4167006" y="3471466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· Python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162"/>
          <p:cNvSpPr/>
          <p:nvPr/>
        </p:nvSpPr>
        <p:spPr>
          <a:xfrm>
            <a:off x="10621434" y="3471466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162"/>
          <p:cNvSpPr/>
          <p:nvPr/>
        </p:nvSpPr>
        <p:spPr>
          <a:xfrm>
            <a:off x="13543343" y="3471466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162"/>
          <p:cNvSpPr/>
          <p:nvPr/>
        </p:nvSpPr>
        <p:spPr>
          <a:xfrm>
            <a:off x="1295367" y="4110600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162"/>
          <p:cNvSpPr/>
          <p:nvPr/>
        </p:nvSpPr>
        <p:spPr>
          <a:xfrm>
            <a:off x="4167006" y="4110600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+ S4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162"/>
          <p:cNvSpPr/>
          <p:nvPr/>
        </p:nvSpPr>
        <p:spPr>
          <a:xfrm>
            <a:off x="10621434" y="4110600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162"/>
          <p:cNvSpPr/>
          <p:nvPr/>
        </p:nvSpPr>
        <p:spPr>
          <a:xfrm>
            <a:off x="13543343" y="4110600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162"/>
          <p:cNvSpPr/>
          <p:nvPr/>
        </p:nvSpPr>
        <p:spPr>
          <a:xfrm>
            <a:off x="1295367" y="4749734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162"/>
          <p:cNvSpPr/>
          <p:nvPr/>
        </p:nvSpPr>
        <p:spPr>
          <a:xfrm>
            <a:off x="4167006" y="4749734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S5 · ML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162"/>
          <p:cNvSpPr/>
          <p:nvPr/>
        </p:nvSpPr>
        <p:spPr>
          <a:xfrm>
            <a:off x="10621434" y="4749734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162"/>
          <p:cNvSpPr/>
          <p:nvPr/>
        </p:nvSpPr>
        <p:spPr>
          <a:xfrm>
            <a:off x="13543343" y="4749734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162"/>
          <p:cNvSpPr/>
          <p:nvPr/>
        </p:nvSpPr>
        <p:spPr>
          <a:xfrm>
            <a:off x="1295367" y="5388868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162"/>
          <p:cNvSpPr/>
          <p:nvPr/>
        </p:nvSpPr>
        <p:spPr>
          <a:xfrm>
            <a:off x="4167006" y="5388868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S6 + S7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162"/>
          <p:cNvSpPr/>
          <p:nvPr/>
        </p:nvSpPr>
        <p:spPr>
          <a:xfrm>
            <a:off x="10621434" y="5388868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162"/>
          <p:cNvSpPr/>
          <p:nvPr/>
        </p:nvSpPr>
        <p:spPr>
          <a:xfrm>
            <a:off x="13543343" y="5388868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162"/>
          <p:cNvSpPr/>
          <p:nvPr/>
        </p:nvSpPr>
        <p:spPr>
          <a:xfrm>
            <a:off x="1295367" y="6028002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162"/>
          <p:cNvSpPr/>
          <p:nvPr/>
        </p:nvSpPr>
        <p:spPr>
          <a:xfrm>
            <a:off x="4167006" y="6028002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S8 · CV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162"/>
          <p:cNvSpPr/>
          <p:nvPr/>
        </p:nvSpPr>
        <p:spPr>
          <a:xfrm>
            <a:off x="10621434" y="6028002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162"/>
          <p:cNvSpPr/>
          <p:nvPr/>
        </p:nvSpPr>
        <p:spPr>
          <a:xfrm>
            <a:off x="13543343" y="6028002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162"/>
          <p:cNvSpPr/>
          <p:nvPr/>
        </p:nvSpPr>
        <p:spPr>
          <a:xfrm>
            <a:off x="1295367" y="6667137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162"/>
          <p:cNvSpPr/>
          <p:nvPr/>
        </p:nvSpPr>
        <p:spPr>
          <a:xfrm>
            <a:off x="4167006" y="6667137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S9 + S10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162"/>
          <p:cNvSpPr/>
          <p:nvPr/>
        </p:nvSpPr>
        <p:spPr>
          <a:xfrm>
            <a:off x="10621434" y="6667137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162"/>
          <p:cNvSpPr/>
          <p:nvPr/>
        </p:nvSpPr>
        <p:spPr>
          <a:xfrm>
            <a:off x="13543343" y="6667137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162"/>
          <p:cNvSpPr/>
          <p:nvPr/>
        </p:nvSpPr>
        <p:spPr>
          <a:xfrm>
            <a:off x="1295367" y="7306271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162"/>
          <p:cNvSpPr/>
          <p:nvPr/>
        </p:nvSpPr>
        <p:spPr>
          <a:xfrm>
            <a:off x="4167006" y="7306271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S11 + S12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162"/>
          <p:cNvSpPr/>
          <p:nvPr/>
        </p:nvSpPr>
        <p:spPr>
          <a:xfrm>
            <a:off x="10621434" y="7306271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162"/>
          <p:cNvSpPr/>
          <p:nvPr/>
        </p:nvSpPr>
        <p:spPr>
          <a:xfrm>
            <a:off x="13543343" y="7306271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162"/>
          <p:cNvSpPr/>
          <p:nvPr/>
        </p:nvSpPr>
        <p:spPr>
          <a:xfrm>
            <a:off x="1295367" y="7945405"/>
            <a:ext cx="2500588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162"/>
          <p:cNvSpPr/>
          <p:nvPr/>
        </p:nvSpPr>
        <p:spPr>
          <a:xfrm>
            <a:off x="4167006" y="7945405"/>
            <a:ext cx="619086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S13 Agentic + S14 MLOps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162"/>
          <p:cNvSpPr/>
          <p:nvPr/>
        </p:nvSpPr>
        <p:spPr>
          <a:xfrm>
            <a:off x="10621434" y="7945405"/>
            <a:ext cx="2552367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162"/>
          <p:cNvSpPr/>
          <p:nvPr/>
        </p:nvSpPr>
        <p:spPr>
          <a:xfrm>
            <a:off x="13543343" y="7945405"/>
            <a:ext cx="35664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Batch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162"/>
          <p:cNvSpPr/>
          <p:nvPr/>
        </p:nvSpPr>
        <p:spPr>
          <a:xfrm>
            <a:off x="1295367" y="8584539"/>
            <a:ext cx="2500588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162"/>
          <p:cNvSpPr/>
          <p:nvPr/>
        </p:nvSpPr>
        <p:spPr>
          <a:xfrm>
            <a:off x="4167006" y="8584539"/>
            <a:ext cx="6190861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S15 + S16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162"/>
          <p:cNvSpPr/>
          <p:nvPr/>
        </p:nvSpPr>
        <p:spPr>
          <a:xfrm>
            <a:off x="10621434" y="8584539"/>
            <a:ext cx="2552367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162"/>
          <p:cNvSpPr/>
          <p:nvPr/>
        </p:nvSpPr>
        <p:spPr>
          <a:xfrm>
            <a:off x="13543343" y="8584539"/>
            <a:ext cx="3566485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⏳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